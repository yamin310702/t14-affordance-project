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bee6dc3227402e" /><Relationship Type="http://schemas.openxmlformats.org/officeDocument/2006/relationships/extended-properties" Target="/docProps/app.xml" Id="R20955ec5dd4441aa" /><Relationship Type="http://schemas.openxmlformats.org/officeDocument/2006/relationships/officeDocument" Target="/ppt/presentation.xml" Id="R63b2222950164116" /></Relationships>
</file>

<file path=ppt/presentation.xml><?xml version="1.0" encoding="utf-8"?>
<p:presentation xmlns:p="http://schemas.openxmlformats.org/presentationml/2006/main">
  <p:sldMasterIdLst>
    <p:sldMasterId xmlns:r="http://schemas.openxmlformats.org/officeDocument/2006/relationships" id="2147483648" r:id="R0803f03ce4ed4b4e"/>
  </p:sldMasterIdLst>
  <p:notesMasterIdLst>
    <p:notesMasterId xmlns:r="http://schemas.openxmlformats.org/officeDocument/2006/relationships" r:id="R5e574474b58d48db"/>
  </p:notesMasterIdLst>
  <p:sldIdLst>
    <p:sldId xmlns:r="http://schemas.openxmlformats.org/officeDocument/2006/relationships" id="256" r:id="R031180336e22457d"/>
    <p:sldId xmlns:r="http://schemas.openxmlformats.org/officeDocument/2006/relationships" id="257" r:id="R5c95312cf2ea4a65"/>
    <p:sldId xmlns:r="http://schemas.openxmlformats.org/officeDocument/2006/relationships" id="258" r:id="Rff0af0b8711e49db"/>
    <p:sldId xmlns:r="http://schemas.openxmlformats.org/officeDocument/2006/relationships" id="259" r:id="R468ef8a432db43e2"/>
    <p:sldId xmlns:r="http://schemas.openxmlformats.org/officeDocument/2006/relationships" id="260" r:id="Re81cc619b1b642ca"/>
    <p:sldId xmlns:r="http://schemas.openxmlformats.org/officeDocument/2006/relationships" id="261" r:id="R5b16417a3a214208"/>
    <p:sldId xmlns:r="http://schemas.openxmlformats.org/officeDocument/2006/relationships" id="262" r:id="R8c9ad6ea786f4c99"/>
    <p:sldId xmlns:r="http://schemas.openxmlformats.org/officeDocument/2006/relationships" id="263" r:id="Rc2d070729cf9433c"/>
    <p:sldId xmlns:r="http://schemas.openxmlformats.org/officeDocument/2006/relationships" id="264" r:id="R27eefaee75ab4e78"/>
    <p:sldId xmlns:r="http://schemas.openxmlformats.org/officeDocument/2006/relationships" id="265" r:id="R2fa944d0ae2a45e1"/>
    <p:sldId xmlns:r="http://schemas.openxmlformats.org/officeDocument/2006/relationships" id="266" r:id="R3b4372afcee74cc5"/>
    <p:sldId xmlns:r="http://schemas.openxmlformats.org/officeDocument/2006/relationships" id="267" r:id="R4b145a8d764745cc"/>
    <p:sldId xmlns:r="http://schemas.openxmlformats.org/officeDocument/2006/relationships" id="268" r:id="R0c6fc29505a24bf1"/>
    <p:sldId xmlns:r="http://schemas.openxmlformats.org/officeDocument/2006/relationships" id="269" r:id="Re981654b2784418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722dd78f264301" /><Relationship Type="http://schemas.openxmlformats.org/officeDocument/2006/relationships/slideMaster" Target="/ppt/slideMasters/slideMaster1.xml" Id="R0803f03ce4ed4b4e" /><Relationship Type="http://schemas.openxmlformats.org/officeDocument/2006/relationships/notesMaster" Target="/ppt/notesMasters/notesMaster1.xml" Id="R5e574474b58d48db" /><Relationship Type="http://schemas.openxmlformats.org/officeDocument/2006/relationships/presProps" Target="/ppt/presProps.xml" Id="Ra8be1a92a2ca4f06" /><Relationship Type="http://schemas.openxmlformats.org/officeDocument/2006/relationships/tableStyles" Target="/ppt/tableStyles.xml" Id="Rd6be662927ed4c73" /><Relationship Type="http://schemas.openxmlformats.org/officeDocument/2006/relationships/slide" Target="/ppt/slides/slide1.xml" Id="R031180336e22457d" /><Relationship Type="http://schemas.openxmlformats.org/officeDocument/2006/relationships/slide" Target="/ppt/slides/slide2.xml" Id="R5c95312cf2ea4a65" /><Relationship Type="http://schemas.openxmlformats.org/officeDocument/2006/relationships/slide" Target="/ppt/slides/slide3.xml" Id="Rff0af0b8711e49db" /><Relationship Type="http://schemas.openxmlformats.org/officeDocument/2006/relationships/slide" Target="/ppt/slides/slide4.xml" Id="R468ef8a432db43e2" /><Relationship Type="http://schemas.openxmlformats.org/officeDocument/2006/relationships/slide" Target="/ppt/slides/slide5.xml" Id="Re81cc619b1b642ca" /><Relationship Type="http://schemas.openxmlformats.org/officeDocument/2006/relationships/slide" Target="/ppt/slides/slide6.xml" Id="R5b16417a3a214208" /><Relationship Type="http://schemas.openxmlformats.org/officeDocument/2006/relationships/slide" Target="/ppt/slides/slide7.xml" Id="R8c9ad6ea786f4c99" /><Relationship Type="http://schemas.openxmlformats.org/officeDocument/2006/relationships/slide" Target="/ppt/slides/slide8.xml" Id="Rc2d070729cf9433c" /><Relationship Type="http://schemas.openxmlformats.org/officeDocument/2006/relationships/slide" Target="/ppt/slides/slide9.xml" Id="R27eefaee75ab4e78" /><Relationship Type="http://schemas.openxmlformats.org/officeDocument/2006/relationships/slide" Target="/ppt/slides/slide10.xml" Id="R2fa944d0ae2a45e1" /><Relationship Type="http://schemas.openxmlformats.org/officeDocument/2006/relationships/slide" Target="/ppt/slides/slide11.xml" Id="R3b4372afcee74cc5" /><Relationship Type="http://schemas.openxmlformats.org/officeDocument/2006/relationships/slide" Target="/ppt/slides/slide12.xml" Id="R4b145a8d764745cc" /><Relationship Type="http://schemas.openxmlformats.org/officeDocument/2006/relationships/slide" Target="/ppt/slides/slide13.xml" Id="R0c6fc29505a24bf1" /><Relationship Type="http://schemas.openxmlformats.org/officeDocument/2006/relationships/slide" Target="/ppt/slides/slide14.xml" Id="Re981654b278441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4e5941868f4f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1cea8f52084874" /><Relationship Type="http://schemas.openxmlformats.org/officeDocument/2006/relationships/notesMaster" Target="/ppt/notesMasters/notesMaster1.xml" Id="R0d5462b62b1646a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683fb93e674535" /><Relationship Type="http://schemas.openxmlformats.org/officeDocument/2006/relationships/notesMaster" Target="/ppt/notesMasters/notesMaster1.xml" Id="R0b7fd2337afa41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7564d5cb32418f" /><Relationship Type="http://schemas.openxmlformats.org/officeDocument/2006/relationships/notesMaster" Target="/ppt/notesMasters/notesMaster1.xml" Id="R81d7e81063c449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5a6bd360314f54" /><Relationship Type="http://schemas.openxmlformats.org/officeDocument/2006/relationships/notesMaster" Target="/ppt/notesMasters/notesMaster1.xml" Id="Rf64bcc14098a422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31a433547c4aa5" /><Relationship Type="http://schemas.openxmlformats.org/officeDocument/2006/relationships/notesMaster" Target="/ppt/notesMasters/notesMaster1.xml" Id="Ra31b44d31f454c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0cb92f9c5b4382" /><Relationship Type="http://schemas.openxmlformats.org/officeDocument/2006/relationships/notesMaster" Target="/ppt/notesMasters/notesMaster1.xml" Id="R3632ea128dcf46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02176a72ad484c" /><Relationship Type="http://schemas.openxmlformats.org/officeDocument/2006/relationships/notesMaster" Target="/ppt/notesMasters/notesMaster1.xml" Id="Rf43b37bfd7844c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b3e85747e54cf0" /><Relationship Type="http://schemas.openxmlformats.org/officeDocument/2006/relationships/notesMaster" Target="/ppt/notesMasters/notesMaster1.xml" Id="R289b23735c2349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ffc25f6ac6433b" /><Relationship Type="http://schemas.openxmlformats.org/officeDocument/2006/relationships/notesMaster" Target="/ppt/notesMasters/notesMaster1.xml" Id="R439eb747cc3244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215804620d4c7e" /><Relationship Type="http://schemas.openxmlformats.org/officeDocument/2006/relationships/notesMaster" Target="/ppt/notesMasters/notesMaster1.xml" Id="R3e3094aac7d542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d21d90debb4bc5" /><Relationship Type="http://schemas.openxmlformats.org/officeDocument/2006/relationships/notesMaster" Target="/ppt/notesMasters/notesMaster1.xml" Id="R933a8d69f2524ff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b1f7928e0aa403e" /><Relationship Type="http://schemas.openxmlformats.org/officeDocument/2006/relationships/notesMaster" Target="/ppt/notesMasters/notesMaster1.xml" Id="Rac94e006f79d44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285da3264db4f8f" /><Relationship Type="http://schemas.openxmlformats.org/officeDocument/2006/relationships/notesMaster" Target="/ppt/notesMasters/notesMaster1.xml" Id="Rddda621a8ba04c9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45ae25466eb44af" /><Relationship Type="http://schemas.openxmlformats.org/officeDocument/2006/relationships/notesMaster" Target="/ppt/notesMasters/notesMaster1.xml" Id="R21c1b35cd9424d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15 seconds.</a:t>
            </a:r>
          </a:p>
          <a:p xmlns:a="http://schemas.openxmlformats.org/drawingml/2006/main">
            <a:r>
              <a:t/>
            </a:r>
          </a:p>
          <a:p xmlns:a="http://schemas.openxmlformats.org/drawingml/2006/main">
            <a:r>
              <a:t>My proposal studies a failure in a pretrained 3D affordance model. I will test whether one background-score adjustment can recover missed regions on partial point clouds.</a:t>
            </a:r>
          </a:p>
          <a:p xmlns:a="http://schemas.openxmlformats.org/drawingml/2006/main">
            <a:r>
              <a:t/>
            </a:r>
          </a:p>
          <a:p xmlns:a="http://schemas.openxmlformats.org/drawingml/2006/main">
            <a:r>
              <a:t>Sources:</a:t>
            </a:r>
          </a:p>
          <a:p xmlns:a="http://schemas.openxmlformats.org/drawingml/2006/main">
            <a:r>
              <a:t>https://arxiv.org/abs/2303.02401</a:t>
            </a:r>
          </a:p>
          <a:p xmlns:a="http://schemas.openxmlformats.org/drawingml/2006/main">
            <a:r>
              <a:t>https://github.com/Fsoft-AIC/Open-Vocabulary-Affordance-Detection-in-3D-Point-Clouds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60 seconds.</a:t>
            </a:r>
          </a:p>
          <a:p xmlns:a="http://schemas.openxmlformats.org/drawingml/2006/main">
            <a:r>
              <a:t/>
            </a:r>
          </a:p>
          <a:p xmlns:a="http://schemas.openxmlformats.org/drawingml/2006/main">
            <a:r>
              <a:t>The input is an object point cloud and an affordance text query, such as pour. The output is a score or label at each observed point. This tells us which surface region supports an action. In our archived OpenAD implementation, inference scores a fixed query list jointly and predicts the highest-scoring label at each point. I focus on partial clouds because a depth sensor observes only part of an object. My study evaluates the visible points. It cannot recover missing geometry or establish physical robot success.</a:t>
            </a:r>
          </a:p>
          <a:p xmlns:a="http://schemas.openxmlformats.org/drawingml/2006/main">
            <a:r>
              <a:t/>
            </a:r>
          </a:p>
          <a:p xmlns:a="http://schemas.openxmlformats.org/drawingml/2006/main">
            <a:r>
              <a:t>Sources:</a:t>
            </a:r>
          </a:p>
          <a:p xmlns:a="http://schemas.openxmlformats.org/drawingml/2006/main">
            <a:r>
              <a:t>https://arxiv.org/abs/2303.02401</a:t>
            </a:r>
          </a:p>
          <a:p xmlns:a="http://schemas.openxmlformats.org/drawingml/2006/main">
            <a:r>
              <a:t>https://github.com/Fsoft-AIC/Open-Vocabulary-Affordance-Detection-in-3D-Point-Clouds</a:t>
            </a:r>
          </a:p>
          <a:p xmlns:a="http://schemas.openxmlformats.org/drawingml/2006/main">
            <a:r>
              <a:t>/Users/yaminmyataung/Documents/ChatGPT/3D Vision Research/research_archive/2026-10-05/code/openad/models/openad_pn2.py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60 seconds.</a:t>
            </a:r>
          </a:p>
          <a:p xmlns:a="http://schemas.openxmlformats.org/drawingml/2006/main">
            <a:r>
              <a:t/>
            </a:r>
          </a:p>
          <a:p xmlns:a="http://schemas.openxmlformats.org/drawingml/2006/main">
            <a:r>
              <a:t>I chose OpenAD because the topic guide recommends it and its official repository supplies code and pretrained weights. The baseline status is public. I use the released PointNet++ checkpoint with local MPS adaptations on an Apple M3 Pro. The point-text model stays frozen. My primary evidence comes from a completed evaluation of all 9,140 partial validation views. There are 18 affordance queries plus none. The archived evaluator pools point counts across views and then averages class IoUs. Local device and batch-size changes mean I report an adapted evaluation of the public checkpoint, rather than an unchanged CUDA reproduction.</a:t>
            </a:r>
          </a:p>
          <a:p xmlns:a="http://schemas.openxmlformats.org/drawingml/2006/main">
            <a:r>
              <a:t/>
            </a:r>
          </a:p>
          <a:p xmlns:a="http://schemas.openxmlformats.org/drawingml/2006/main">
            <a:r>
              <a:t>Sources:</a:t>
            </a:r>
          </a:p>
          <a:p xmlns:a="http://schemas.openxmlformats.org/drawingml/2006/main">
            <a:r>
              <a:t>https://arxiv.org/abs/2303.02401</a:t>
            </a:r>
          </a:p>
          <a:p xmlns:a="http://schemas.openxmlformats.org/drawingml/2006/main">
            <a:r>
              <a:t>https://github.com/Fsoft-AIC/Open-Vocabulary-Affordance-Detection-in-3D-Point-Clouds</a:t>
            </a:r>
          </a:p>
          <a:p xmlns:a="http://schemas.openxmlformats.org/drawingml/2006/main">
            <a:r>
              <a:t>/Users/yaminmyataung/Documents/ChatGPT/3D Vision Research/research_archive/2026-10-05/E05_openad_dataset_analysis/summary.json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55 seconds.</a:t>
            </a:r>
          </a:p>
          <a:p xmlns:a="http://schemas.openxmlformats.org/drawingml/2006/main">
            <a:r>
              <a:t/>
            </a:r>
          </a:p>
          <a:p xmlns:a="http://schemas.openxmlformats.org/drawingml/2006/main">
            <a:r>
              <a:t>These are measured results from the archive. The historical full-shape run obtained 14.4121 percent mean IoU, and the historical partial run obtained 12.4964 percent. A later all-view MPS partial evaluation obtained 12.5364 percent on 9,140 views. I keep these records separate because the source notes different stochastic sampling and batch sizes. These numbers are not a controlled estimate of the effect of occlusion, nor a comparison with Affogato or Affostruction. For the proposed method comparison, I will evaluate both methods on exactly the same saved inputs with the same class-IoU calculation.</a:t>
            </a:r>
          </a:p>
          <a:p xmlns:a="http://schemas.openxmlformats.org/drawingml/2006/main">
            <a:r>
              <a:t/>
            </a:r>
          </a:p>
          <a:p xmlns:a="http://schemas.openxmlformats.org/drawingml/2006/main">
            <a:r>
              <a:t>Sources:</a:t>
            </a:r>
          </a:p>
          <a:p xmlns:a="http://schemas.openxmlformats.org/drawingml/2006/main">
            <a:r>
              <a:t>/Users/yaminmyataung/Documents/ChatGPT/3D Vision Research/research_archive/2026-10-11/PROPOSAL_BASELINE_AUDIT.md</a:t>
            </a:r>
          </a:p>
          <a:p xmlns:a="http://schemas.openxmlformats.org/drawingml/2006/main">
            <a:r>
              <a:t>/Users/yaminmyataung/Documents/ChatGPT/3D Vision Research/research_archive/2026-10-05/E01_openad_original_baselines/full_shape_baseline_result.log</a:t>
            </a:r>
          </a:p>
          <a:p xmlns:a="http://schemas.openxmlformats.org/drawingml/2006/main">
            <a:r>
              <a:t>/Users/yaminmyataung/Documents/ChatGPT/3D Vision Research/research_archive/2026-10-05/E01_openad_original_baselines/partial_view_baseline_result.log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50 seconds.</a:t>
            </a:r>
          </a:p>
          <a:p xmlns:a="http://schemas.openxmlformats.org/drawingml/2006/main">
            <a:r>
              <a:t/>
            </a:r>
          </a:p>
          <a:p xmlns:a="http://schemas.openxmlformats.org/drawingml/2006/main">
            <a:r>
              <a:t>A saved instrumented run used partial validation sample 452, a vase with 2,048 points, on the M3 Pro integrated GPU. The synchronized forward took 0.5456 seconds after model and data setup. This was one cold forward without warm-up, so it is not steady-state latency. Sampling the Metal driver allocation every five milliseconds observed a high-water value of approximately 1.295 gibibytes. Apple Silicon uses unified memory. This is an allocation estimate, not a guaranteed physical peak VRAM value. The current tensor allocation after the forward was about 0.677 gibibytes. I will repeat profiling with warm-up for the final experiment.</a:t>
            </a:r>
          </a:p>
          <a:p xmlns:a="http://schemas.openxmlformats.org/drawingml/2006/main">
            <a:r>
              <a:t/>
            </a:r>
          </a:p>
          <a:p xmlns:a="http://schemas.openxmlformats.org/drawingml/2006/main">
            <a:r>
              <a:t>Sources:</a:t>
            </a:r>
          </a:p>
          <a:p xmlns:a="http://schemas.openxmlformats.org/drawingml/2006/main">
            <a:r>
              <a:t>/Users/yaminmyataung/Documents/ChatGPT/3D Vision Research/research_archive/2026-10-11/openad_sample452_mps_profile.json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75 seconds.</a:t>
            </a:r>
          </a:p>
          <a:p xmlns:a="http://schemas.openxmlformats.org/drawingml/2006/main">
            <a:r>
              <a:t/>
            </a:r>
          </a:p>
          <a:p xmlns:a="http://schemas.openxmlformats.org/drawingml/2006/main">
            <a:r>
              <a:t>This figure comes from our archived run, not from a paper. The orange region contains annotated pour points, while the prediction contains no pour region. In the matching saved failure diagnostic for this vase, all 563 pour points received none. Pour IoU was zero. This observation supports a possible explanation: the background class may dominate the decision even when the point features retain some useful affordance information. That is only a hypothesis. If the underlying features do not rank the correct foreground action, lowering the background score will simply produce wrong labels. The experiment will distinguish these explanations.</a:t>
            </a:r>
          </a:p>
          <a:p xmlns:a="http://schemas.openxmlformats.org/drawingml/2006/main">
            <a:r>
              <a:t/>
            </a:r>
          </a:p>
          <a:p xmlns:a="http://schemas.openxmlformats.org/drawingml/2006/main">
            <a:r>
              <a:t>Sources:</a:t>
            </a:r>
          </a:p>
          <a:p xmlns:a="http://schemas.openxmlformats.org/drawingml/2006/main">
            <a:r>
              <a:t>/Users/yaminmyataung/Documents/ChatGPT/3D Vision Research/research_archive/2026-10-05/E02_openad_selected_failures/figures/failure_pour.png</a:t>
            </a:r>
          </a:p>
          <a:p xmlns:a="http://schemas.openxmlformats.org/drawingml/2006/main">
            <a:r>
              <a:t>/Users/yaminmyataung/Documents/ChatGPT/3D Vision Research/research_archive/2026-10-05/E04_openad_mps_check/sample_regions.csv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45 seconds.</a:t>
            </a:r>
          </a:p>
          <a:p xmlns:a="http://schemas.openxmlformats.org/drawingml/2006/main">
            <a:r>
              <a:t/>
            </a:r>
          </a:p>
          <a:p xmlns:a="http://schemas.openxmlformats.org/drawingml/2006/main">
            <a:r>
              <a:t>My question is whether adjusting only the none score improves partial-cloud localization without excessive false positives. I propose a single scalar bias, selected using development objects and then frozen. The hypothesis is that this adjustment will increase mean IoU across the same 19 classes relative to unchanged OpenAD, while increasing the background-point false-positive rate by no more than five percentage points. I will support the hypothesis only if the paired object-bootstrap confidence interval for the IoU gain lies above zero and the false-positive guardrail holds. An IoU loss, an uncertain gain, or too many false positives would leave the hypothesis unsupported. Five percentage points is a predeclared study tolerance, not a robot safety limit.</a:t>
            </a:r>
          </a:p>
          <a:p xmlns:a="http://schemas.openxmlformats.org/drawingml/2006/main">
            <a:r>
              <a:t/>
            </a:r>
          </a:p>
          <a:p xmlns:a="http://schemas.openxmlformats.org/drawingml/2006/main">
            <a:r>
              <a:t>Sources:</a:t>
            </a:r>
          </a:p>
          <a:p xmlns:a="http://schemas.openxmlformats.org/drawingml/2006/main">
            <a:r>
              <a:t>/Users/yaminmyataung/Documents/ChatGPT/3D Vision Research/research_archive/2026-10-11/PROPOSAL_BASELINE_AUDIT.md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75 seconds.</a:t>
            </a:r>
          </a:p>
          <a:p xmlns:a="http://schemas.openxmlformats.org/drawingml/2006/main">
            <a:r>
              <a:t/>
            </a:r>
          </a:p>
          <a:p xmlns:a="http://schemas.openxmlformats.org/drawingml/2006/main">
            <a:r>
              <a:t>The output module is the only change. For each point, I subtract one scalar b from the none log score, keep the other scores unchanged, and take argmax. At b equals zero this is exactly the baseline. I will cache scores and use the same points, checkpoint, query ordering, and metric for every comparison. On development objects from the official training split, I will choose b from zero, point two five, point five, one, one point five, two, and three. I will maximize the official 19-class mean IoU subject to the false-positive constraint, breaking ties toward the smaller bias. I then freeze the selected bias and reevaluate the official validation split. Existing validation inspection means this is exploratory evaluation. Ablations include the bias curve and a full-cloud control. I will group all views of an object together and bootstrap objects, not individual views.</a:t>
            </a:r>
          </a:p>
          <a:p xmlns:a="http://schemas.openxmlformats.org/drawingml/2006/main">
            <a:r>
              <a:t/>
            </a:r>
          </a:p>
          <a:p xmlns:a="http://schemas.openxmlformats.org/drawingml/2006/main">
            <a:r>
              <a:t>Sources:</a:t>
            </a:r>
          </a:p>
          <a:p xmlns:a="http://schemas.openxmlformats.org/drawingml/2006/main">
            <a:r>
              <a:t>/Users/yaminmyataung/Documents/ChatGPT/3D Vision Research/research_archive/2026-10-05/code/openad/models/openad_pn2.py</a:t>
            </a:r>
          </a:p>
          <a:p xmlns:a="http://schemas.openxmlformats.org/drawingml/2006/main">
            <a:r>
              <a:t>/Users/yaminmyataung/Documents/ChatGPT/3D Vision Research/research_archive/2026-10-05/code/openad/utils/eval.py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30 seconds.</a:t>
            </a:r>
          </a:p>
          <a:p xmlns:a="http://schemas.openxmlformats.org/drawingml/2006/main">
            <a:r>
              <a:t/>
            </a:r>
          </a:p>
          <a:p xmlns:a="http://schemas.openxmlformats.org/drawingml/2006/main">
            <a:r>
              <a:t>By Week 7 I will finish the reproduction manifest and presentation. Weeks 8 and 9 cover cached scores and development calibration. Weeks 10 and 11 cover the frozen comparison and uncertainty estimates. Weeks 12 and 13 cover full-cloud controls and failure analysis. Weeks 14 and 15 cover the final report and presentation. The main risk is that a background bias recovers points but mislabels them. The fallback is to report this negative result and the measured precision-recall trade-off. The project does not depend on obtaining additional GPUs or training a large model.</a:t>
            </a:r>
          </a:p>
          <a:p xmlns:a="http://schemas.openxmlformats.org/drawingml/2006/main">
            <a:r>
              <a:t/>
            </a:r>
          </a:p>
          <a:p xmlns:a="http://schemas.openxmlformats.org/drawingml/2006/main">
            <a:r>
              <a:t>Sources:</a:t>
            </a:r>
          </a:p>
          <a:p xmlns:a="http://schemas.openxmlformats.org/drawingml/2006/main">
            <a:r>
              <a:t>/Users/yaminmyataung/Documents/ChatGPT/3D Vision Research/research_archive/2026-10-11/PROPOSAL_BASELINE_AUDIT.md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duration: 15 seconds.</a:t>
            </a:r>
          </a:p>
          <a:p xmlns:a="http://schemas.openxmlformats.org/drawingml/2006/main">
            <a:r>
              <a:t/>
            </a:r>
          </a:p>
          <a:p xmlns:a="http://schemas.openxmlformats.org/drawingml/2006/main">
            <a:r>
              <a:t>The contribution is a controlled diagnosis of background suppression in a frozen 3D affordance model. One scalar adjustment gives a feasible experiment on existing hardware. The result will tell us whether the observed failure comes partly from the decision rule or whether better features are needed.</a:t>
            </a:r>
          </a:p>
          <a:p xmlns:a="http://schemas.openxmlformats.org/drawingml/2006/main">
            <a:r>
              <a:t/>
            </a:r>
          </a:p>
          <a:p xmlns:a="http://schemas.openxmlformats.org/drawingml/2006/main">
            <a:r>
              <a:t>Sources:</a:t>
            </a:r>
          </a:p>
          <a:p xmlns:a="http://schemas.openxmlformats.org/drawingml/2006/main">
            <a:r>
              <a:t>/Users/yaminmyataung/Documents/ChatGPT/3D Vision Research/research_archive/2026-10-11/PROPOSAL_BASELINE_AUDIT.md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commit and checkpoint hash below identify the archived partial-cloud run. The full-shape E01 checkpoint hash and exact manifest remain to be recovered. Record local diffs and the exact object/view manifest before calling the setup fully reproducible.</a:t>
            </a:r>
          </a:p>
          <a:p xmlns:a="http://schemas.openxmlformats.org/drawingml/2006/main">
            <a:r>
              <a:t/>
            </a:r>
          </a:p>
          <a:p xmlns:a="http://schemas.openxmlformats.org/drawingml/2006/main">
            <a:r>
              <a:t>Sources:</a:t>
            </a:r>
          </a:p>
          <a:p xmlns:a="http://schemas.openxmlformats.org/drawingml/2006/main">
            <a:r>
              <a:t>/Users/yaminmyataung/Documents/ChatGPT/3D Vision Research/research_archive/2026-10-05/E05_openad_dataset_analysis/summary.json</a:t>
            </a:r>
          </a:p>
          <a:p xmlns:a="http://schemas.openxmlformats.org/drawingml/2006/main">
            <a:r>
              <a:t>/Users/yaminmyataung/Documents/ChatGPT/3D Vision Research/research_archive/2026-10-11/openad_sample452_mps_profile.json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archived config replaces each training affordance name with a corresponding evaluation phrase at the same class index. These examples show why a new word must not automatically be described as a new affordance concept. The proposal tests the archived replacement-query condition. The professor’s requested seen/unseen grouping still needs to be mapped explicitly before separate aggregates can be reported. For the official metric, sum intersections and unions across views per class, then average 19 class IoUs using the released epsilon convention. Also report the mean across the 18 foreground classes. AUC needs a specified one-versus-rest score convention.</a:t>
            </a:r>
          </a:p>
          <a:p xmlns:a="http://schemas.openxmlformats.org/drawingml/2006/main">
            <a:r>
              <a:t/>
            </a:r>
          </a:p>
          <a:p xmlns:a="http://schemas.openxmlformats.org/drawingml/2006/main">
            <a:r>
              <a:t>Sources:</a:t>
            </a:r>
          </a:p>
          <a:p xmlns:a="http://schemas.openxmlformats.org/drawingml/2006/main">
            <a:r>
              <a:t>/Users/yaminmyataung/Documents/ChatGPT/3D Vision Research/research_archive/2026-10-05/code/openad/config/openad_pn2/partial_view_open_vocab_cfg.py</a:t>
            </a:r>
          </a:p>
          <a:p xmlns:a="http://schemas.openxmlformats.org/drawingml/2006/main">
            <a:r>
              <a:t>/Users/yaminmyataung/Documents/ChatGPT/3D Vision Research/research_archive/2026-10-05/code/openad/utils/eval.py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Development will use a deterministic category-stratified sample of up to 200 official training object IDs with all selected views grouped by object. Verify disjoint IDs against validation. Tune no parameter on validation. Existing full-validation inspection prevents an untouched-test claim. Background false-positive rate is the fraction of ground-truth none points assigned any foreground class. Use the same definition in calibration and validation. Also report alarms on objects without the queried affordance, but do not use unlabeled affordances as negatives. The method can only promote the best foreground class already present in the scores. It cannot improve ranking among foreground classes or reconstruct hidden surfaces.</a:t>
            </a:r>
          </a:p>
          <a:p xmlns:a="http://schemas.openxmlformats.org/drawingml/2006/main">
            <a:r>
              <a:t/>
            </a:r>
          </a:p>
          <a:p xmlns:a="http://schemas.openxmlformats.org/drawingml/2006/main">
            <a:r>
              <a:t>Sources:</a:t>
            </a:r>
          </a:p>
          <a:p xmlns:a="http://schemas.openxmlformats.org/drawingml/2006/main">
            <a:r>
              <a:t>/Users/yaminmyataung/Documents/ChatGPT/3D Vision Research/research_archive/2026-10-11/PROPOSAL_BASELINE_AUDIT.md</a:t>
            </a:r>
          </a:p>
          <a:p xmlns:a="http://schemas.openxmlformats.org/drawingml/2006/main">
            <a:r>
              <a:t>/Users/yaminmyataung/Documents/ChatGPT/3D Vision Research/research_archive/2026-10-11/E16_operating_point_mps/RESULTS.md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OpenAD is the executable baseline. Affogato provides large-scale automatically generated query-conditioned heatmaps and Espresso models. Affostruction reconstructs object geometry and grounds affordances on both observed and unobserved regions from RGBD. These motivate broader directions but are outside this controlled OpenAD study. The saved Espresso experiments use an unofficial reimplementation on a different evaluation protocol and therefore stay outside the OpenAD baseline table. Affostruction has not run locally. No three-model benchmark is claimed.</a:t>
            </a:r>
          </a:p>
          <a:p xmlns:a="http://schemas.openxmlformats.org/drawingml/2006/main">
            <a:r>
              <a:t/>
            </a:r>
          </a:p>
          <a:p xmlns:a="http://schemas.openxmlformats.org/drawingml/2006/main">
            <a:r>
              <a:t>Sources:</a:t>
            </a:r>
          </a:p>
          <a:p xmlns:a="http://schemas.openxmlformats.org/drawingml/2006/main">
            <a:r>
              <a:t>https://arxiv.org/abs/2303.02401</a:t>
            </a:r>
          </a:p>
          <a:p xmlns:a="http://schemas.openxmlformats.org/drawingml/2006/main">
            <a:r>
              <a:t>https://github.com/Fsoft-AIC/Open-Vocabulary-Affordance-Detection-in-3D-Point-Clouds</a:t>
            </a:r>
          </a:p>
          <a:p xmlns:a="http://schemas.openxmlformats.org/drawingml/2006/main">
            <a:r>
              <a:t>https://arxiv.org/abs/2506.12009</a:t>
            </a:r>
          </a:p>
          <a:p xmlns:a="http://schemas.openxmlformats.org/drawingml/2006/main">
            <a:r>
              <a:t>https://arxiv.org/abs/2601.09211</a:t>
            </a:r>
          </a:p>
          <a:p xmlns:a="http://schemas.openxmlformats.org/drawingml/2006/main">
            <a:r>
              <a:t>/Users/yaminmyataung/Documents/ChatGPT/3D Vision Research/research_archive/MAC_MPS_REPRODUCIBILITY_AUDIT.md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35e68abe43147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fad6543ec1a4b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f6cee1ac2a404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b8c4102d1a947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4d140fe119d4c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6e6f446aa9446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734962-1DD2-4465-90D3-DF43A5A1D30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2FE489-2911-4044-B362-05C87CD3D1E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B6E4821-4DCD-48BA-9FCA-76B78652595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765190-28E0-4CD8-B078-DBBCFBAE68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3CF9E01-F9B5-42A3-AED5-4F39A107B4E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3BFC4D-C4F5-4D69-AFD2-185C5979FD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7DB984-EDD0-4AC1-B790-1E5CAFE7B2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1763D60-02F7-4EA2-A3CD-C5994316B37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6AAEA9-46E4-43C8-8479-EC42065D18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DEB04B-F754-4681-B69D-4BC214F68B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764930609404a04" /><Relationship Type="http://schemas.openxmlformats.org/officeDocument/2006/relationships/slideLayout" Target="/ppt/slideLayouts/slideLayout1.xml" Id="Re6806d425bce47c1" /><Relationship Type="http://schemas.openxmlformats.org/officeDocument/2006/relationships/slideLayout" Target="/ppt/slideLayouts/slideLayout2.xml" Id="R64458648dafa4e01" /><Relationship Type="http://schemas.openxmlformats.org/officeDocument/2006/relationships/slideLayout" Target="/ppt/slideLayouts/slideLayout3.xml" Id="R02f9b5aa2ace43a4" /><Relationship Type="http://schemas.openxmlformats.org/officeDocument/2006/relationships/slideLayout" Target="/ppt/slideLayouts/slideLayout4.xml" Id="R0720938bc0944cf4" /><Relationship Type="http://schemas.openxmlformats.org/officeDocument/2006/relationships/slideLayout" Target="/ppt/slideLayouts/slideLayout5.xml" Id="R92f5563d2db443ff" /><Relationship Type="http://schemas.openxmlformats.org/officeDocument/2006/relationships/slideLayout" Target="/ppt/slideLayouts/slideLayout6.xml" Id="Rb17e6ea9060343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806d425bce47c1"/>
    <p:sldLayoutId xmlns:r="http://schemas.openxmlformats.org/officeDocument/2006/relationships" id="2147483650" r:id="R64458648dafa4e01"/>
    <p:sldLayoutId xmlns:r="http://schemas.openxmlformats.org/officeDocument/2006/relationships" id="2147483651" r:id="R02f9b5aa2ace43a4"/>
    <p:sldLayoutId xmlns:r="http://schemas.openxmlformats.org/officeDocument/2006/relationships" id="2147483652" r:id="R0720938bc0944cf4"/>
    <p:sldLayoutId xmlns:r="http://schemas.openxmlformats.org/officeDocument/2006/relationships" id="2147483653" r:id="R92f5563d2db443ff"/>
    <p:sldLayoutId xmlns:r="http://schemas.openxmlformats.org/officeDocument/2006/relationships" id="2147483654" r:id="Rb17e6ea9060343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db2990edf246ac" /><Relationship Type="http://schemas.openxmlformats.org/officeDocument/2006/relationships/notesSlide" Target="/ppt/notesSlides/notesSlide1.xml" Id="Rde712041e2c543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46f3dedb96e4005" /><Relationship Type="http://schemas.openxmlformats.org/officeDocument/2006/relationships/notesSlide" Target="/ppt/notesSlides/notesSlide2.xml" Id="R24c6f20043954b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7839d0c6b114b6b" /><Relationship Type="http://schemas.openxmlformats.org/officeDocument/2006/relationships/notesSlide" Target="/ppt/notesSlides/notesSlide3.xml" Id="R6950153450684e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75aeee9977144e1" /><Relationship Type="http://schemas.openxmlformats.org/officeDocument/2006/relationships/notesSlide" Target="/ppt/notesSlides/notesSlide4.xml" Id="R970289aa263942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e0d97ce9b2848a5" /><Relationship Type="http://schemas.openxmlformats.org/officeDocument/2006/relationships/notesSlide" Target="/ppt/notesSlides/notesSlide5.xml" Id="Rde664f20385645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e1469f369cb4d29" /><Relationship Type="http://schemas.openxmlformats.org/officeDocument/2006/relationships/image" Target="/ppt/media/image.png" Id="R5dbf281599f84b58" /><Relationship Type="http://schemas.openxmlformats.org/officeDocument/2006/relationships/notesSlide" Target="/ppt/notesSlides/notesSlide6.xml" Id="R9a97cca020b940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ede3448d1f94462" /><Relationship Type="http://schemas.openxmlformats.org/officeDocument/2006/relationships/notesSlide" Target="/ppt/notesSlides/notesSlide7.xml" Id="Rf494e88c5d564f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6ae3314b1904c70" /><Relationship Type="http://schemas.openxmlformats.org/officeDocument/2006/relationships/notesSlide" Target="/ppt/notesSlides/notesSlide8.xml" Id="Rfb31bfac706a44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1f1c9bacdea49ac" /><Relationship Type="http://schemas.openxmlformats.org/officeDocument/2006/relationships/notesSlide" Target="/ppt/notesSlides/notesSlide9.xml" Id="R26a1a5eaebb746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e2f938c6ea5463b" /><Relationship Type="http://schemas.openxmlformats.org/officeDocument/2006/relationships/notesSlide" Target="/ppt/notesSlides/notesSlide10.xml" Id="R7ffe51eaa94f4e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09c05d8182a41cd" /><Relationship Type="http://schemas.openxmlformats.org/officeDocument/2006/relationships/notesSlide" Target="/ppt/notesSlides/notesSlide11.xml" Id="Rcae331593d4844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64a8da75e31453a" /><Relationship Type="http://schemas.openxmlformats.org/officeDocument/2006/relationships/notesSlide" Target="/ppt/notesSlides/notesSlide12.xml" Id="R620efb0388814e3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6d098d2145f4a77" /><Relationship Type="http://schemas.openxmlformats.org/officeDocument/2006/relationships/notesSlide" Target="/ppt/notesSlides/notesSlide13.xml" Id="R0e33d77a323f483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3aff46007a24b6a" /><Relationship Type="http://schemas.openxmlformats.org/officeDocument/2006/relationships/notesSlide" Target="/ppt/notesSlides/notesSlide14.xml" Id="R4248a3746fae402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2A69B85-2CCE-48BF-B8DA-2A4B6EBBDA76}"/>
              </a:ext>
            </a:extLst>
          </p:cNvPr>
          <p:cNvSpPr>
            <a:spLocks xmlns:a="http://schemas.openxmlformats.org/drawingml/2006/main" noGrp="1"/>
          </p:cNvSpPr>
          <p:nvPr/>
        </p:nvSpPr>
        <p:spPr>
          <a:xfrm xmlns:a="http://schemas.openxmlformats.org/drawingml/2006/main">
            <a:off x="609600" y="381000"/>
            <a:ext cx="108966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72C3B"/>
                </a:solidFill>
                <a:latin typeface="Arial"/>
                <a:ea typeface="Arial"/>
                <a:cs typeface="Arial"/>
              </a:defRPr>
            </a:defPPr>
          </a:lstStyle>
          <a:p xmlns:a="http://schemas.openxmlformats.org/drawingml/2006/main">
            <a:pPr>
              <a:defRPr sz="4500" b="1">
                <a:solidFill>
                  <a:srgbClr val="172C3B"/>
                </a:solidFill>
                <a:latin typeface="Arial"/>
                <a:ea typeface="Arial"/>
                <a:cs typeface="Arial"/>
              </a:defRPr>
            </a:pPr>
            <a:r>
              <a:rPr sz="4500" b="1">
                <a:solidFill>
                  <a:srgbClr val="172C3B"/>
                </a:solidFill>
                <a:latin typeface="Arial"/>
                <a:ea typeface="Arial"/>
                <a:cs typeface="Arial"/>
              </a:rPr>
              <a:t>Background suppression</a:t>
            </a:r>
          </a:p>
          <a:p xmlns:a="http://schemas.openxmlformats.org/drawingml/2006/main">
            <a:pPr>
              <a:defRPr sz="4500" b="1">
                <a:solidFill>
                  <a:srgbClr val="172C3B"/>
                </a:solidFill>
                <a:latin typeface="Arial"/>
                <a:ea typeface="Arial"/>
                <a:cs typeface="Arial"/>
              </a:defRPr>
            </a:pPr>
            <a:r>
              <a:rPr sz="4500" b="1">
                <a:solidFill>
                  <a:srgbClr val="172C3B"/>
                </a:solidFill>
                <a:latin typeface="Arial"/>
                <a:ea typeface="Arial"/>
                <a:cs typeface="Arial"/>
              </a:rPr>
              <a:t>in 3D affordance prediction</a:t>
            </a:r>
          </a:p>
        </p:txBody>
      </p:sp>
      <p:sp>
        <p:nvSpPr>
          <p:cNvPr id="2" name="">
            <a:extLst xmlns:a="http://schemas.openxmlformats.org/drawingml/2006/main">
              <a:ext uri="{FF2B5EF4-FFF2-40B4-BE49-F238E27FC236}">
                <a16:creationId xmlns:a16="http://schemas.microsoft.com/office/drawing/2014/main" id="{B7B279DD-7FB6-44EC-9ADE-4452EBC8A3CB}"/>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a:t>
            </a:r>
          </a:p>
        </p:txBody>
      </p:sp>
      <p:sp>
        <p:nvSpPr>
          <p:cNvPr id="3" name="">
            <a:extLst xmlns:a="http://schemas.openxmlformats.org/drawingml/2006/main">
              <a:ext uri="{FF2B5EF4-FFF2-40B4-BE49-F238E27FC236}">
                <a16:creationId xmlns:a16="http://schemas.microsoft.com/office/drawing/2014/main" id="{9FEF1FDD-926F-422D-8201-A55A38331263}"/>
              </a:ext>
            </a:extLst>
          </p:cNvPr>
          <p:cNvSpPr>
            <a:spLocks xmlns:a="http://schemas.openxmlformats.org/drawingml/2006/main" noGrp="1"/>
          </p:cNvSpPr>
          <p:nvPr/>
        </p:nvSpPr>
        <p:spPr>
          <a:xfrm xmlns:a="http://schemas.openxmlformats.org/drawingml/2006/main">
            <a:off x="609600" y="2505075"/>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06D77"/>
                </a:solidFill>
                <a:latin typeface="Arial"/>
                <a:ea typeface="Arial"/>
                <a:cs typeface="Arial"/>
              </a:defRPr>
            </a:defPPr>
          </a:lstStyle>
          <a:p xmlns:a="http://schemas.openxmlformats.org/drawingml/2006/main">
            <a:pPr>
              <a:defRPr sz="2400" b="1">
                <a:solidFill>
                  <a:srgbClr val="006D77"/>
                </a:solidFill>
                <a:latin typeface="Arial"/>
                <a:ea typeface="Arial"/>
                <a:cs typeface="Arial"/>
              </a:defRPr>
            </a:pPr>
            <a:r>
              <a:rPr sz="2400" b="1">
                <a:solidFill>
                  <a:srgbClr val="006D77"/>
                </a:solidFill>
                <a:latin typeface="Arial"/>
                <a:ea typeface="Arial"/>
                <a:cs typeface="Arial"/>
              </a:rPr>
              <a:t>T14  3D affordance prediction</a:t>
            </a:r>
          </a:p>
        </p:txBody>
      </p:sp>
      <p:sp>
        <p:nvSpPr>
          <p:cNvPr id="4" name="">
            <a:extLst xmlns:a="http://schemas.openxmlformats.org/drawingml/2006/main">
              <a:ext uri="{FF2B5EF4-FFF2-40B4-BE49-F238E27FC236}">
                <a16:creationId xmlns:a16="http://schemas.microsoft.com/office/drawing/2014/main" id="{B5DD5B85-6BEE-4FFB-B864-EA47EA3346F2}"/>
              </a:ext>
            </a:extLst>
          </p:cNvPr>
          <p:cNvSpPr>
            <a:spLocks xmlns:a="http://schemas.openxmlformats.org/drawingml/2006/main" noGrp="1"/>
          </p:cNvSpPr>
          <p:nvPr/>
        </p:nvSpPr>
        <p:spPr>
          <a:xfrm xmlns:a="http://schemas.openxmlformats.org/drawingml/2006/main">
            <a:off x="609600" y="34004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172C3B"/>
                </a:solidFill>
                <a:latin typeface="Arial"/>
                <a:ea typeface="Arial"/>
                <a:cs typeface="Arial"/>
              </a:defRPr>
            </a:defPPr>
          </a:lstStyle>
          <a:p xmlns:a="http://schemas.openxmlformats.org/drawingml/2006/main">
            <a:pPr>
              <a:defRPr sz="2625" b="0">
                <a:solidFill>
                  <a:srgbClr val="172C3B"/>
                </a:solidFill>
                <a:latin typeface="Arial"/>
                <a:ea typeface="Arial"/>
                <a:cs typeface="Arial"/>
              </a:defRPr>
            </a:pPr>
            <a:r>
              <a:rPr sz="2625" b="0">
                <a:solidFill>
                  <a:srgbClr val="172C3B"/>
                </a:solidFill>
                <a:latin typeface="Arial"/>
                <a:ea typeface="Arial"/>
                <a:cs typeface="Arial"/>
              </a:rPr>
              <a:t>OpenAD on partial point clouds</a:t>
            </a:r>
          </a:p>
        </p:txBody>
      </p:sp>
      <p:sp>
        <p:nvSpPr>
          <p:cNvPr id="5" name="">
            <a:extLst xmlns:a="http://schemas.openxmlformats.org/drawingml/2006/main">
              <a:ext uri="{FF2B5EF4-FFF2-40B4-BE49-F238E27FC236}">
                <a16:creationId xmlns:a16="http://schemas.microsoft.com/office/drawing/2014/main" id="{97466A33-F252-45D8-B9BE-529212B98C7A}"/>
              </a:ext>
            </a:extLst>
          </p:cNvPr>
          <p:cNvSpPr>
            <a:spLocks xmlns:a="http://schemas.openxmlformats.org/drawingml/2006/main" noGrp="1"/>
          </p:cNvSpPr>
          <p:nvPr/>
        </p:nvSpPr>
        <p:spPr>
          <a:xfrm xmlns:a="http://schemas.openxmlformats.org/drawingml/2006/main">
            <a:off x="609600" y="50673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16A"/>
                </a:solidFill>
                <a:latin typeface="Arial"/>
                <a:ea typeface="Arial"/>
                <a:cs typeface="Arial"/>
              </a:defRPr>
            </a:defPPr>
          </a:lstStyle>
          <a:p xmlns:a="http://schemas.openxmlformats.org/drawingml/2006/main">
            <a:pPr>
              <a:defRPr sz="1800" b="0">
                <a:solidFill>
                  <a:srgbClr val="52616A"/>
                </a:solidFill>
                <a:latin typeface="Arial"/>
                <a:ea typeface="Arial"/>
                <a:cs typeface="Arial"/>
              </a:defRPr>
            </a:pPr>
            <a:r>
              <a:rPr sz="1800" b="0">
                <a:solidFill>
                  <a:srgbClr val="52616A"/>
                </a:solidFill>
                <a:latin typeface="Arial"/>
                <a:ea typeface="Arial"/>
                <a:cs typeface="Arial"/>
              </a:rPr>
              <a:t>CSE 59358-01  3D Machine Intelligence</a:t>
            </a:r>
          </a:p>
          <a:p xmlns:a="http://schemas.openxmlformats.org/drawingml/2006/main">
            <a:pPr>
              <a:defRPr sz="1800" b="0">
                <a:solidFill>
                  <a:srgbClr val="52616A"/>
                </a:solidFill>
                <a:latin typeface="Arial"/>
                <a:ea typeface="Arial"/>
                <a:cs typeface="Arial"/>
              </a:defRPr>
            </a:pPr>
            <a:r>
              <a:rPr sz="1800" b="0">
                <a:solidFill>
                  <a:srgbClr val="52616A"/>
                </a:solidFill>
                <a:latin typeface="Arial"/>
                <a:ea typeface="Arial"/>
                <a:cs typeface="Arial"/>
              </a:rPr>
              <a:t>Week 7 proposal  /  October 15, 2026</a:t>
            </a:r>
          </a:p>
        </p:txBody>
      </p:sp>
    </p:spTree>
    <p:extLst>
      <p:ext uri="{BB962C8B-B14F-4D97-AF65-F5344CB8AC3E}">
        <p14:creationId xmlns:p14="http://schemas.microsoft.com/office/powerpoint/2010/main" val="4381293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4FD0317-3443-41B1-8EEF-D57B67FBE376}"/>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Task and research scope</a:t>
            </a:r>
          </a:p>
        </p:txBody>
      </p:sp>
      <p:sp>
        <p:nvSpPr>
          <p:cNvPr id="2" name="">
            <a:extLst xmlns:a="http://schemas.openxmlformats.org/drawingml/2006/main">
              <a:ext uri="{FF2B5EF4-FFF2-40B4-BE49-F238E27FC236}">
                <a16:creationId xmlns:a16="http://schemas.microsoft.com/office/drawing/2014/main" id="{E8AEFA84-29E8-4205-8721-08D300F5A70C}"/>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2</a:t>
            </a:r>
          </a:p>
        </p:txBody>
      </p:sp>
      <p:sp>
        <p:nvSpPr>
          <p:cNvPr id="3" name="">
            <a:extLst xmlns:a="http://schemas.openxmlformats.org/drawingml/2006/main">
              <a:ext uri="{FF2B5EF4-FFF2-40B4-BE49-F238E27FC236}">
                <a16:creationId xmlns:a16="http://schemas.microsoft.com/office/drawing/2014/main" id="{8BC94E8C-B204-4674-A22B-F80CFBAF93D6}"/>
              </a:ext>
            </a:extLst>
          </p:cNvPr>
          <p:cNvSpPr>
            <a:spLocks xmlns:a="http://schemas.openxmlformats.org/drawingml/2006/main" noGrp="1"/>
          </p:cNvSpPr>
          <p:nvPr/>
        </p:nvSpPr>
        <p:spPr>
          <a:xfrm xmlns:a="http://schemas.openxmlformats.org/drawingml/2006/main">
            <a:off x="609600" y="157162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D77"/>
                </a:solidFill>
                <a:latin typeface="Arial"/>
                <a:ea typeface="Arial"/>
                <a:cs typeface="Arial"/>
              </a:defRPr>
            </a:defPPr>
          </a:lstStyle>
          <a:p xmlns:a="http://schemas.openxmlformats.org/drawingml/2006/main">
            <a:pPr>
              <a:defRPr sz="2100" b="1">
                <a:solidFill>
                  <a:srgbClr val="006D77"/>
                </a:solidFill>
                <a:latin typeface="Arial"/>
                <a:ea typeface="Arial"/>
                <a:cs typeface="Arial"/>
              </a:defRPr>
            </a:pPr>
            <a:r>
              <a:rPr sz="2100" b="1">
                <a:solidFill>
                  <a:srgbClr val="006D77"/>
                </a:solidFill>
                <a:latin typeface="Arial"/>
                <a:ea typeface="Arial"/>
                <a:cs typeface="Arial"/>
              </a:rPr>
              <a:t>Input</a:t>
            </a:r>
          </a:p>
        </p:txBody>
      </p:sp>
      <p:sp>
        <p:nvSpPr>
          <p:cNvPr id="4" name="">
            <a:extLst xmlns:a="http://schemas.openxmlformats.org/drawingml/2006/main">
              <a:ext uri="{FF2B5EF4-FFF2-40B4-BE49-F238E27FC236}">
                <a16:creationId xmlns:a16="http://schemas.microsoft.com/office/drawing/2014/main" id="{B40A957F-C296-4C3C-A146-8F30E6846D8D}"/>
              </a:ext>
            </a:extLst>
          </p:cNvPr>
          <p:cNvSpPr>
            <a:spLocks xmlns:a="http://schemas.openxmlformats.org/drawingml/2006/main" noGrp="1"/>
          </p:cNvSpPr>
          <p:nvPr/>
        </p:nvSpPr>
        <p:spPr>
          <a:xfrm xmlns:a="http://schemas.openxmlformats.org/drawingml/2006/main">
            <a:off x="609600" y="2028825"/>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Object point cloud with 2,048 points and affordance text queries</a:t>
            </a:r>
          </a:p>
        </p:txBody>
      </p:sp>
      <p:sp>
        <p:nvSpPr>
          <p:cNvPr id="5" name="">
            <a:extLst xmlns:a="http://schemas.openxmlformats.org/drawingml/2006/main">
              <a:ext uri="{FF2B5EF4-FFF2-40B4-BE49-F238E27FC236}">
                <a16:creationId xmlns:a16="http://schemas.microsoft.com/office/drawing/2014/main" id="{62CA5963-F878-4ADD-861F-C93846188747}"/>
              </a:ext>
            </a:extLst>
          </p:cNvPr>
          <p:cNvSpPr>
            <a:spLocks xmlns:a="http://schemas.openxmlformats.org/drawingml/2006/main" noGrp="1"/>
          </p:cNvSpPr>
          <p:nvPr/>
        </p:nvSpPr>
        <p:spPr>
          <a:xfrm xmlns:a="http://schemas.openxmlformats.org/drawingml/2006/main">
            <a:off x="609600" y="306705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D77"/>
                </a:solidFill>
                <a:latin typeface="Arial"/>
                <a:ea typeface="Arial"/>
                <a:cs typeface="Arial"/>
              </a:defRPr>
            </a:defPPr>
          </a:lstStyle>
          <a:p xmlns:a="http://schemas.openxmlformats.org/drawingml/2006/main">
            <a:pPr>
              <a:defRPr sz="2100" b="1">
                <a:solidFill>
                  <a:srgbClr val="006D77"/>
                </a:solidFill>
                <a:latin typeface="Arial"/>
                <a:ea typeface="Arial"/>
                <a:cs typeface="Arial"/>
              </a:defRPr>
            </a:pPr>
            <a:r>
              <a:rPr sz="2100" b="1">
                <a:solidFill>
                  <a:srgbClr val="006D77"/>
                </a:solidFill>
                <a:latin typeface="Arial"/>
                <a:ea typeface="Arial"/>
                <a:cs typeface="Arial"/>
              </a:rPr>
              <a:t>Output</a:t>
            </a:r>
          </a:p>
        </p:txBody>
      </p:sp>
      <p:sp>
        <p:nvSpPr>
          <p:cNvPr id="6" name="">
            <a:extLst xmlns:a="http://schemas.openxmlformats.org/drawingml/2006/main">
              <a:ext uri="{FF2B5EF4-FFF2-40B4-BE49-F238E27FC236}">
                <a16:creationId xmlns:a16="http://schemas.microsoft.com/office/drawing/2014/main" id="{A2111DB5-AE88-46A0-9BD0-AB41053C5940}"/>
              </a:ext>
            </a:extLst>
          </p:cNvPr>
          <p:cNvSpPr>
            <a:spLocks xmlns:a="http://schemas.openxmlformats.org/drawingml/2006/main" noGrp="1"/>
          </p:cNvSpPr>
          <p:nvPr/>
        </p:nvSpPr>
        <p:spPr>
          <a:xfrm xmlns:a="http://schemas.openxmlformats.org/drawingml/2006/main">
            <a:off x="609600" y="3524250"/>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A score for each point and query, then a label from joint argmax</a:t>
            </a:r>
          </a:p>
        </p:txBody>
      </p:sp>
      <p:sp>
        <p:nvSpPr>
          <p:cNvPr id="7" name="">
            <a:extLst xmlns:a="http://schemas.openxmlformats.org/drawingml/2006/main">
              <a:ext uri="{FF2B5EF4-FFF2-40B4-BE49-F238E27FC236}">
                <a16:creationId xmlns:a16="http://schemas.microsoft.com/office/drawing/2014/main" id="{ED059B1E-47FD-4501-9611-30F1E446F228}"/>
              </a:ext>
            </a:extLst>
          </p:cNvPr>
          <p:cNvSpPr>
            <a:spLocks xmlns:a="http://schemas.openxmlformats.org/drawingml/2006/main" noGrp="1"/>
          </p:cNvSpPr>
          <p:nvPr/>
        </p:nvSpPr>
        <p:spPr>
          <a:xfrm xmlns:a="http://schemas.openxmlformats.org/drawingml/2006/main">
            <a:off x="609600" y="45624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D77"/>
                </a:solidFill>
                <a:latin typeface="Arial"/>
                <a:ea typeface="Arial"/>
                <a:cs typeface="Arial"/>
              </a:defRPr>
            </a:defPPr>
          </a:lstStyle>
          <a:p xmlns:a="http://schemas.openxmlformats.org/drawingml/2006/main">
            <a:pPr>
              <a:defRPr sz="2100" b="1">
                <a:solidFill>
                  <a:srgbClr val="006D77"/>
                </a:solidFill>
                <a:latin typeface="Arial"/>
                <a:ea typeface="Arial"/>
                <a:cs typeface="Arial"/>
              </a:defRPr>
            </a:pPr>
            <a:r>
              <a:rPr sz="2100" b="1">
                <a:solidFill>
                  <a:srgbClr val="006D77"/>
                </a:solidFill>
                <a:latin typeface="Arial"/>
                <a:ea typeface="Arial"/>
                <a:cs typeface="Arial"/>
              </a:rPr>
              <a:t>Scope</a:t>
            </a:r>
          </a:p>
        </p:txBody>
      </p:sp>
      <p:sp>
        <p:nvSpPr>
          <p:cNvPr id="8" name="">
            <a:extLst xmlns:a="http://schemas.openxmlformats.org/drawingml/2006/main">
              <a:ext uri="{FF2B5EF4-FFF2-40B4-BE49-F238E27FC236}">
                <a16:creationId xmlns:a16="http://schemas.microsoft.com/office/drawing/2014/main" id="{05C1B2CE-FBCC-47C1-88E1-2A3883D99E33}"/>
              </a:ext>
            </a:extLst>
          </p:cNvPr>
          <p:cNvSpPr>
            <a:spLocks xmlns:a="http://schemas.openxmlformats.org/drawingml/2006/main" noGrp="1"/>
          </p:cNvSpPr>
          <p:nvPr/>
        </p:nvSpPr>
        <p:spPr>
          <a:xfrm xmlns:a="http://schemas.openxmlformats.org/drawingml/2006/main">
            <a:off x="609600" y="5019675"/>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Localization on observed surfaces of partial point clouds</a:t>
            </a:r>
          </a:p>
        </p:txBody>
      </p:sp>
    </p:spTree>
    <p:extLst>
      <p:ext uri="{BB962C8B-B14F-4D97-AF65-F5344CB8AC3E}">
        <p14:creationId xmlns:p14="http://schemas.microsoft.com/office/powerpoint/2010/main" val="4193744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478C33-4196-423B-9ACF-C982709DD908}"/>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Baseline choice and setup</a:t>
            </a:r>
          </a:p>
        </p:txBody>
      </p:sp>
      <p:sp>
        <p:nvSpPr>
          <p:cNvPr id="2" name="">
            <a:extLst xmlns:a="http://schemas.openxmlformats.org/drawingml/2006/main">
              <a:ext uri="{FF2B5EF4-FFF2-40B4-BE49-F238E27FC236}">
                <a16:creationId xmlns:a16="http://schemas.microsoft.com/office/drawing/2014/main" id="{AD3C3286-3BA1-4E98-BAA5-1B50DD5ECD8D}"/>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3</a:t>
            </a:r>
          </a:p>
        </p:txBody>
      </p:sp>
      <p:sp>
        <p:nvSpPr>
          <p:cNvPr id="3" name="">
            <a:extLst xmlns:a="http://schemas.openxmlformats.org/drawingml/2006/main">
              <a:ext uri="{FF2B5EF4-FFF2-40B4-BE49-F238E27FC236}">
                <a16:creationId xmlns:a16="http://schemas.microsoft.com/office/drawing/2014/main" id="{D75FAE6A-14E9-4B71-B92B-804C87C43D5C}"/>
              </a:ext>
            </a:extLst>
          </p:cNvPr>
          <p:cNvSpPr>
            <a:spLocks xmlns:a="http://schemas.openxmlformats.org/drawingml/2006/main" noGrp="1"/>
          </p:cNvSpPr>
          <p:nvPr/>
        </p:nvSpPr>
        <p:spPr>
          <a:xfrm xmlns:a="http://schemas.openxmlformats.org/drawingml/2006/main">
            <a:off x="609600" y="157162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D77"/>
                </a:solidFill>
                <a:latin typeface="Arial"/>
                <a:ea typeface="Arial"/>
                <a:cs typeface="Arial"/>
              </a:defRPr>
            </a:defPPr>
          </a:lstStyle>
          <a:p xmlns:a="http://schemas.openxmlformats.org/drawingml/2006/main">
            <a:pPr>
              <a:defRPr sz="2100" b="1">
                <a:solidFill>
                  <a:srgbClr val="006D77"/>
                </a:solidFill>
                <a:latin typeface="Arial"/>
                <a:ea typeface="Arial"/>
                <a:cs typeface="Arial"/>
              </a:defRPr>
            </a:pPr>
            <a:r>
              <a:rPr sz="2100" b="1">
                <a:solidFill>
                  <a:srgbClr val="006D77"/>
                </a:solidFill>
                <a:latin typeface="Arial"/>
                <a:ea typeface="Arial"/>
                <a:cs typeface="Arial"/>
              </a:rPr>
              <a:t>Public baseline</a:t>
            </a:r>
          </a:p>
        </p:txBody>
      </p:sp>
      <p:sp>
        <p:nvSpPr>
          <p:cNvPr id="4" name="">
            <a:extLst xmlns:a="http://schemas.openxmlformats.org/drawingml/2006/main">
              <a:ext uri="{FF2B5EF4-FFF2-40B4-BE49-F238E27FC236}">
                <a16:creationId xmlns:a16="http://schemas.microsoft.com/office/drawing/2014/main" id="{5CCAC092-7B15-4C98-86BE-2BDD95C9E060}"/>
              </a:ext>
            </a:extLst>
          </p:cNvPr>
          <p:cNvSpPr>
            <a:spLocks xmlns:a="http://schemas.openxmlformats.org/drawingml/2006/main" noGrp="1"/>
          </p:cNvSpPr>
          <p:nvPr/>
        </p:nvSpPr>
        <p:spPr>
          <a:xfrm xmlns:a="http://schemas.openxmlformats.org/drawingml/2006/main">
            <a:off x="609600" y="2028825"/>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OpenAD PointNet++ with released pretrained weights</a:t>
            </a:r>
          </a:p>
        </p:txBody>
      </p:sp>
      <p:sp>
        <p:nvSpPr>
          <p:cNvPr id="5" name="">
            <a:extLst xmlns:a="http://schemas.openxmlformats.org/drawingml/2006/main">
              <a:ext uri="{FF2B5EF4-FFF2-40B4-BE49-F238E27FC236}">
                <a16:creationId xmlns:a16="http://schemas.microsoft.com/office/drawing/2014/main" id="{0F45F66F-A19B-4242-B335-8EAF074B8336}"/>
              </a:ext>
            </a:extLst>
          </p:cNvPr>
          <p:cNvSpPr>
            <a:spLocks xmlns:a="http://schemas.openxmlformats.org/drawingml/2006/main" noGrp="1"/>
          </p:cNvSpPr>
          <p:nvPr/>
        </p:nvSpPr>
        <p:spPr>
          <a:xfrm xmlns:a="http://schemas.openxmlformats.org/drawingml/2006/main">
            <a:off x="609600" y="301942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D77"/>
                </a:solidFill>
                <a:latin typeface="Arial"/>
                <a:ea typeface="Arial"/>
                <a:cs typeface="Arial"/>
              </a:defRPr>
            </a:defPPr>
          </a:lstStyle>
          <a:p xmlns:a="http://schemas.openxmlformats.org/drawingml/2006/main">
            <a:pPr>
              <a:defRPr sz="2100" b="1">
                <a:solidFill>
                  <a:srgbClr val="006D77"/>
                </a:solidFill>
                <a:latin typeface="Arial"/>
                <a:ea typeface="Arial"/>
                <a:cs typeface="Arial"/>
              </a:defRPr>
            </a:pPr>
            <a:r>
              <a:rPr sz="2100" b="1">
                <a:solidFill>
                  <a:srgbClr val="006D77"/>
                </a:solidFill>
                <a:latin typeface="Arial"/>
                <a:ea typeface="Arial"/>
                <a:cs typeface="Arial"/>
              </a:rPr>
              <a:t>Data and evaluation</a:t>
            </a:r>
          </a:p>
        </p:txBody>
      </p:sp>
      <p:sp>
        <p:nvSpPr>
          <p:cNvPr id="6" name="">
            <a:extLst xmlns:a="http://schemas.openxmlformats.org/drawingml/2006/main">
              <a:ext uri="{FF2B5EF4-FFF2-40B4-BE49-F238E27FC236}">
                <a16:creationId xmlns:a16="http://schemas.microsoft.com/office/drawing/2014/main" id="{B4DF83A3-39C8-4B1F-936D-0A63C77F2CAC}"/>
              </a:ext>
            </a:extLst>
          </p:cNvPr>
          <p:cNvSpPr>
            <a:spLocks xmlns:a="http://schemas.openxmlformats.org/drawingml/2006/main" noGrp="1"/>
          </p:cNvSpPr>
          <p:nvPr/>
        </p:nvSpPr>
        <p:spPr>
          <a:xfrm xmlns:a="http://schemas.openxmlformats.org/drawingml/2006/main">
            <a:off x="609600" y="3476625"/>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3D-AffordanceNet partial validation: 9,140 views</a:t>
            </a:r>
          </a:p>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18 affordance queries plus the none class</a:t>
            </a:r>
          </a:p>
        </p:txBody>
      </p:sp>
      <p:sp>
        <p:nvSpPr>
          <p:cNvPr id="7" name="">
            <a:extLst xmlns:a="http://schemas.openxmlformats.org/drawingml/2006/main">
              <a:ext uri="{FF2B5EF4-FFF2-40B4-BE49-F238E27FC236}">
                <a16:creationId xmlns:a16="http://schemas.microsoft.com/office/drawing/2014/main" id="{4343DBE9-0CB2-4CAE-8308-60265329B255}"/>
              </a:ext>
            </a:extLst>
          </p:cNvPr>
          <p:cNvSpPr>
            <a:spLocks xmlns:a="http://schemas.openxmlformats.org/drawingml/2006/main" noGrp="1"/>
          </p:cNvSpPr>
          <p:nvPr/>
        </p:nvSpPr>
        <p:spPr>
          <a:xfrm xmlns:a="http://schemas.openxmlformats.org/drawingml/2006/main">
            <a:off x="609600" y="465772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D77"/>
                </a:solidFill>
                <a:latin typeface="Arial"/>
                <a:ea typeface="Arial"/>
                <a:cs typeface="Arial"/>
              </a:defRPr>
            </a:defPPr>
          </a:lstStyle>
          <a:p xmlns:a="http://schemas.openxmlformats.org/drawingml/2006/main">
            <a:pPr>
              <a:defRPr sz="2100" b="1">
                <a:solidFill>
                  <a:srgbClr val="006D77"/>
                </a:solidFill>
                <a:latin typeface="Arial"/>
                <a:ea typeface="Arial"/>
                <a:cs typeface="Arial"/>
              </a:defRPr>
            </a:pPr>
            <a:r>
              <a:rPr sz="2100" b="1">
                <a:solidFill>
                  <a:srgbClr val="006D77"/>
                </a:solidFill>
                <a:latin typeface="Arial"/>
                <a:ea typeface="Arial"/>
                <a:cs typeface="Arial"/>
              </a:rPr>
              <a:t>Local execution</a:t>
            </a:r>
          </a:p>
        </p:txBody>
      </p:sp>
      <p:sp>
        <p:nvSpPr>
          <p:cNvPr id="8" name="">
            <a:extLst xmlns:a="http://schemas.openxmlformats.org/drawingml/2006/main">
              <a:ext uri="{FF2B5EF4-FFF2-40B4-BE49-F238E27FC236}">
                <a16:creationId xmlns:a16="http://schemas.microsoft.com/office/drawing/2014/main" id="{A9A03E2B-616C-45DE-89E3-F978532AA2D0}"/>
              </a:ext>
            </a:extLst>
          </p:cNvPr>
          <p:cNvSpPr>
            <a:spLocks xmlns:a="http://schemas.openxmlformats.org/drawingml/2006/main" noGrp="1"/>
          </p:cNvSpPr>
          <p:nvPr/>
        </p:nvSpPr>
        <p:spPr>
          <a:xfrm xmlns:a="http://schemas.openxmlformats.org/drawingml/2006/main">
            <a:off x="609600" y="5114925"/>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Apple M3 Pro, MPS, batch 1, seed 1</a:t>
            </a:r>
          </a:p>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Frozen model with locally adapted evaluation</a:t>
            </a:r>
          </a:p>
        </p:txBody>
      </p:sp>
    </p:spTree>
    <p:extLst>
      <p:ext uri="{BB962C8B-B14F-4D97-AF65-F5344CB8AC3E}">
        <p14:creationId xmlns:p14="http://schemas.microsoft.com/office/powerpoint/2010/main" val="11659557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FC5C8D-E254-4E80-81B8-2B742CFA31E2}"/>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Measured baseline evidence</a:t>
            </a:r>
          </a:p>
        </p:txBody>
      </p:sp>
      <p:sp>
        <p:nvSpPr>
          <p:cNvPr id="2" name="">
            <a:extLst xmlns:a="http://schemas.openxmlformats.org/drawingml/2006/main">
              <a:ext uri="{FF2B5EF4-FFF2-40B4-BE49-F238E27FC236}">
                <a16:creationId xmlns:a16="http://schemas.microsoft.com/office/drawing/2014/main" id="{3D0295AE-E896-4556-AAB7-232F7319400E}"/>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4</a:t>
            </a:r>
          </a:p>
        </p:txBody>
      </p:sp>
      <p:graphicFrame>
        <p:nvGraphicFramePr>
          <p:cNvPr id="3" name="">
            <a:extLst xmlns:a="http://schemas.openxmlformats.org/drawingml/2006/main">
              <a:ext uri="{FF2B5EF4-FFF2-40B4-BE49-F238E27FC236}">
                <a16:creationId xmlns:a16="http://schemas.microsoft.com/office/drawing/2014/main" id="{B1F52DB6-73B6-4848-8DD2-F06A143A1DF7}"/>
              </a:ext>
            </a:extLst>
          </p:cNvPr>
          <p:cNvGraphicFramePr/>
          <p:nvPr/>
        </p:nvGraphicFramePr>
        <p:xfrm>
          <a:off xmlns:a="http://schemas.openxmlformats.org/drawingml/2006/main" x="609600" y="1647825"/>
          <a:ext xmlns:a="http://schemas.openxmlformats.org/drawingml/2006/main" cx="10972800" cy="2714625"/>
        </p:xfrm>
        <a:graphic xmlns:a="http://schemas.openxmlformats.org/drawingml/2006/main">
          <a:graphicData uri="http://schemas.openxmlformats.org/drawingml/2006/table">
            <a:tbl>
              <a:tblPr/>
              <a:tblGrid>
                <a:gridCol w="5048250"/>
                <a:gridCol w="3733800"/>
                <a:gridCol w="2190750"/>
              </a:tblGrid>
              <a:tr h="678656">
                <a:tc>
                  <a:txBody>
                    <a:bodyPr/>
                    <a:lstStyle/>
                    <a:p>
                      <a:r>
                        <a:rPr sz="2025" b="1">
                          <a:solidFill>
                            <a:srgbClr val="FFFFFF"/>
                          </a:solidFill>
                          <a:latin typeface="Arial"/>
                          <a:ea typeface="Arial"/>
                          <a:cs typeface="Arial"/>
                        </a:rPr>
                        <a:t>Archived OpenAD run</a:t>
                      </a:r>
                    </a:p>
                  </a:txBody>
                  <a:tcPr marL="152400" marR="114300" marT="114300" marB="95250">
                    <a:solidFill>
                      <a:srgbClr val="006D77"/>
                    </a:solidFill>
                  </a:tcPr>
                </a:tc>
                <a:tc>
                  <a:txBody>
                    <a:bodyPr/>
                    <a:lstStyle/>
                    <a:p>
                      <a:r>
                        <a:rPr sz="2025" b="1">
                          <a:solidFill>
                            <a:srgbClr val="FFFFFF"/>
                          </a:solidFill>
                          <a:latin typeface="Arial"/>
                          <a:ea typeface="Arial"/>
                          <a:cs typeface="Arial"/>
                        </a:rPr>
                        <a:t>Input</a:t>
                      </a:r>
                    </a:p>
                  </a:txBody>
                  <a:tcPr marL="152400" marR="114300" marT="114300" marB="95250">
                    <a:solidFill>
                      <a:srgbClr val="006D77"/>
                    </a:solidFill>
                  </a:tcPr>
                </a:tc>
                <a:tc>
                  <a:txBody>
                    <a:bodyPr/>
                    <a:lstStyle/>
                    <a:p>
                      <a:r>
                        <a:rPr sz="2025" b="1">
                          <a:solidFill>
                            <a:srgbClr val="FFFFFF"/>
                          </a:solidFill>
                          <a:latin typeface="Arial"/>
                          <a:ea typeface="Arial"/>
                          <a:cs typeface="Arial"/>
                        </a:rPr>
                        <a:t>mIoU</a:t>
                      </a:r>
                    </a:p>
                  </a:txBody>
                  <a:tcPr marL="152400" marR="114300" marT="114300" marB="95250">
                    <a:solidFill>
                      <a:srgbClr val="006D77"/>
                    </a:solidFill>
                  </a:tcPr>
                </a:tc>
              </a:tr>
              <a:tr h="678656">
                <a:tc>
                  <a:txBody>
                    <a:bodyPr/>
                    <a:lstStyle/>
                    <a:p>
                      <a:r>
                        <a:rPr sz="2025">
                          <a:solidFill>
                            <a:srgbClr val="172C3B"/>
                          </a:solidFill>
                          <a:latin typeface="Arial"/>
                          <a:ea typeface="Arial"/>
                          <a:cs typeface="Arial"/>
                        </a:rPr>
                        <a:t>E01 historical baseline</a:t>
                      </a:r>
                    </a:p>
                  </a:txBody>
                  <a:tcPr marL="152400" marR="114300" marT="114300" marB="95250"/>
                </a:tc>
                <a:tc>
                  <a:txBody>
                    <a:bodyPr/>
                    <a:lstStyle/>
                    <a:p>
                      <a:r>
                        <a:rPr sz="2025">
                          <a:solidFill>
                            <a:srgbClr val="172C3B"/>
                          </a:solidFill>
                          <a:latin typeface="Arial"/>
                          <a:ea typeface="Arial"/>
                          <a:cs typeface="Arial"/>
                        </a:rPr>
                        <a:t>Full shape</a:t>
                      </a:r>
                    </a:p>
                  </a:txBody>
                  <a:tcPr marL="152400" marR="114300" marT="114300" marB="95250"/>
                </a:tc>
                <a:tc>
                  <a:txBody>
                    <a:bodyPr/>
                    <a:lstStyle/>
                    <a:p>
                      <a:r>
                        <a:rPr sz="2025">
                          <a:solidFill>
                            <a:srgbClr val="172C3B"/>
                          </a:solidFill>
                          <a:latin typeface="Arial"/>
                          <a:ea typeface="Arial"/>
                          <a:cs typeface="Arial"/>
                        </a:rPr>
                        <a:t>14.4121%</a:t>
                      </a:r>
                    </a:p>
                  </a:txBody>
                  <a:tcPr marL="152400" marR="114300" marT="114300" marB="95250"/>
                </a:tc>
              </a:tr>
              <a:tr h="678656">
                <a:tc>
                  <a:txBody>
                    <a:bodyPr/>
                    <a:lstStyle/>
                    <a:p>
                      <a:r>
                        <a:rPr sz="2025">
                          <a:solidFill>
                            <a:srgbClr val="172C3B"/>
                          </a:solidFill>
                          <a:latin typeface="Arial"/>
                          <a:ea typeface="Arial"/>
                          <a:cs typeface="Arial"/>
                        </a:rPr>
                        <a:t>E01 historical baseline</a:t>
                      </a:r>
                    </a:p>
                  </a:txBody>
                  <a:tcPr marL="152400" marR="114300" marT="114300" marB="95250"/>
                </a:tc>
                <a:tc>
                  <a:txBody>
                    <a:bodyPr/>
                    <a:lstStyle/>
                    <a:p>
                      <a:r>
                        <a:rPr sz="2025">
                          <a:solidFill>
                            <a:srgbClr val="172C3B"/>
                          </a:solidFill>
                          <a:latin typeface="Arial"/>
                          <a:ea typeface="Arial"/>
                          <a:cs typeface="Arial"/>
                        </a:rPr>
                        <a:t>Partial view</a:t>
                      </a:r>
                    </a:p>
                  </a:txBody>
                  <a:tcPr marL="152400" marR="114300" marT="114300" marB="95250"/>
                </a:tc>
                <a:tc>
                  <a:txBody>
                    <a:bodyPr/>
                    <a:lstStyle/>
                    <a:p>
                      <a:r>
                        <a:rPr sz="2025">
                          <a:solidFill>
                            <a:srgbClr val="172C3B"/>
                          </a:solidFill>
                          <a:latin typeface="Arial"/>
                          <a:ea typeface="Arial"/>
                          <a:cs typeface="Arial"/>
                        </a:rPr>
                        <a:t>12.4964%</a:t>
                      </a:r>
                    </a:p>
                  </a:txBody>
                  <a:tcPr marL="152400" marR="114300" marT="114300" marB="95250"/>
                </a:tc>
              </a:tr>
              <a:tr h="678656">
                <a:tc>
                  <a:txBody>
                    <a:bodyPr/>
                    <a:lstStyle/>
                    <a:p>
                      <a:r>
                        <a:rPr sz="2025">
                          <a:solidFill>
                            <a:srgbClr val="172C3B"/>
                          </a:solidFill>
                          <a:latin typeface="Arial"/>
                          <a:ea typeface="Arial"/>
                          <a:cs typeface="Arial"/>
                        </a:rPr>
                        <a:t>E05 all-view MPS evaluation</a:t>
                      </a:r>
                    </a:p>
                  </a:txBody>
                  <a:tcPr marL="152400" marR="114300" marT="114300" marB="95250"/>
                </a:tc>
                <a:tc>
                  <a:txBody>
                    <a:bodyPr/>
                    <a:lstStyle/>
                    <a:p>
                      <a:r>
                        <a:rPr sz="2025">
                          <a:solidFill>
                            <a:srgbClr val="172C3B"/>
                          </a:solidFill>
                          <a:latin typeface="Arial"/>
                          <a:ea typeface="Arial"/>
                          <a:cs typeface="Arial"/>
                        </a:rPr>
                        <a:t>9,140 partial views</a:t>
                      </a:r>
                    </a:p>
                  </a:txBody>
                  <a:tcPr marL="152400" marR="114300" marT="114300" marB="95250"/>
                </a:tc>
                <a:tc>
                  <a:txBody>
                    <a:bodyPr/>
                    <a:lstStyle/>
                    <a:p>
                      <a:r>
                        <a:rPr sz="2025">
                          <a:solidFill>
                            <a:srgbClr val="172C3B"/>
                          </a:solidFill>
                          <a:latin typeface="Arial"/>
                          <a:ea typeface="Arial"/>
                          <a:cs typeface="Arial"/>
                        </a:rPr>
                        <a:t>12.5364%</a:t>
                      </a:r>
                    </a:p>
                  </a:txBody>
                  <a:tcPr marL="152400" marR="114300" marT="114300" marB="95250"/>
                </a:tc>
              </a:tr>
            </a:tbl>
          </a:graphicData>
        </a:graphic>
      </p:graphicFrame>
      <p:sp>
        <p:nvSpPr>
          <p:cNvPr id="4" name="">
            <a:extLst xmlns:a="http://schemas.openxmlformats.org/drawingml/2006/main">
              <a:ext uri="{FF2B5EF4-FFF2-40B4-BE49-F238E27FC236}">
                <a16:creationId xmlns:a16="http://schemas.microsoft.com/office/drawing/2014/main" id="{983498AD-38AE-4585-BE65-FB325882F16D}"/>
              </a:ext>
            </a:extLst>
          </p:cNvPr>
          <p:cNvSpPr>
            <a:spLocks xmlns:a="http://schemas.openxmlformats.org/drawingml/2006/main" noGrp="1"/>
          </p:cNvSpPr>
          <p:nvPr/>
        </p:nvSpPr>
        <p:spPr>
          <a:xfrm xmlns:a="http://schemas.openxmlformats.org/drawingml/2006/main">
            <a:off x="609600" y="47529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06D77"/>
                </a:solidFill>
                <a:latin typeface="Arial"/>
                <a:ea typeface="Arial"/>
                <a:cs typeface="Arial"/>
              </a:defRPr>
            </a:defPPr>
          </a:lstStyle>
          <a:p xmlns:a="http://schemas.openxmlformats.org/drawingml/2006/main">
            <a:pPr>
              <a:defRPr sz="2025" b="1">
                <a:solidFill>
                  <a:srgbClr val="006D77"/>
                </a:solidFill>
                <a:latin typeface="Arial"/>
                <a:ea typeface="Arial"/>
                <a:cs typeface="Arial"/>
              </a:defRPr>
            </a:pPr>
            <a:r>
              <a:rPr sz="2025" b="1">
                <a:solidFill>
                  <a:srgbClr val="006D77"/>
                </a:solidFill>
                <a:latin typeface="Arial"/>
                <a:ea typeface="Arial"/>
                <a:cs typeface="Arial"/>
              </a:rPr>
              <a:t>Metric: mean of 19 class IoUs, including none</a:t>
            </a:r>
          </a:p>
        </p:txBody>
      </p:sp>
      <p:sp>
        <p:nvSpPr>
          <p:cNvPr id="5" name="">
            <a:extLst xmlns:a="http://schemas.openxmlformats.org/drawingml/2006/main">
              <a:ext uri="{FF2B5EF4-FFF2-40B4-BE49-F238E27FC236}">
                <a16:creationId xmlns:a16="http://schemas.microsoft.com/office/drawing/2014/main" id="{AD8D4804-9CB9-4D87-B99A-06B9261BC03A}"/>
              </a:ext>
            </a:extLst>
          </p:cNvPr>
          <p:cNvSpPr>
            <a:spLocks xmlns:a="http://schemas.openxmlformats.org/drawingml/2006/main" noGrp="1"/>
          </p:cNvSpPr>
          <p:nvPr/>
        </p:nvSpPr>
        <p:spPr>
          <a:xfrm xmlns:a="http://schemas.openxmlformats.org/drawingml/2006/main">
            <a:off x="609600" y="531495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16A"/>
                </a:solidFill>
                <a:latin typeface="Arial"/>
                <a:ea typeface="Arial"/>
                <a:cs typeface="Arial"/>
              </a:defRPr>
            </a:defPPr>
          </a:lstStyle>
          <a:p xmlns:a="http://schemas.openxmlformats.org/drawingml/2006/main">
            <a:pPr>
              <a:defRPr sz="1800" b="0">
                <a:solidFill>
                  <a:srgbClr val="52616A"/>
                </a:solidFill>
                <a:latin typeface="Arial"/>
                <a:ea typeface="Arial"/>
                <a:cs typeface="Arial"/>
              </a:defRPr>
            </a:pPr>
            <a:r>
              <a:rPr sz="1800" b="0">
                <a:solidFill>
                  <a:srgbClr val="52616A"/>
                </a:solidFill>
                <a:latin typeface="Arial"/>
                <a:ea typeface="Arial"/>
                <a:cs typeface="Arial"/>
              </a:rPr>
              <a:t>Sampling and batch size differ across run records.</a:t>
            </a:r>
          </a:p>
          <a:p xmlns:a="http://schemas.openxmlformats.org/drawingml/2006/main">
            <a:pPr>
              <a:defRPr sz="1800" b="0">
                <a:solidFill>
                  <a:srgbClr val="52616A"/>
                </a:solidFill>
                <a:latin typeface="Arial"/>
                <a:ea typeface="Arial"/>
                <a:cs typeface="Arial"/>
              </a:defRPr>
            </a:pPr>
            <a:r>
              <a:rPr sz="1800" b="0">
                <a:solidFill>
                  <a:srgbClr val="52616A"/>
                </a:solidFill>
                <a:latin typeface="Arial"/>
                <a:ea typeface="Arial"/>
                <a:cs typeface="Arial"/>
              </a:rPr>
              <a:t>The planned comparison will use identical saved inputs.</a:t>
            </a:r>
          </a:p>
        </p:txBody>
      </p:sp>
    </p:spTree>
    <p:extLst>
      <p:ext uri="{BB962C8B-B14F-4D97-AF65-F5344CB8AC3E}">
        <p14:creationId xmlns:p14="http://schemas.microsoft.com/office/powerpoint/2010/main" val="2407825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263B53-C8D8-4EE0-836E-9683B37B8880}"/>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Measured cost on one input</a:t>
            </a:r>
          </a:p>
        </p:txBody>
      </p:sp>
      <p:sp>
        <p:nvSpPr>
          <p:cNvPr id="2" name="">
            <a:extLst xmlns:a="http://schemas.openxmlformats.org/drawingml/2006/main">
              <a:ext uri="{FF2B5EF4-FFF2-40B4-BE49-F238E27FC236}">
                <a16:creationId xmlns:a16="http://schemas.microsoft.com/office/drawing/2014/main" id="{9F94F0DF-E63A-4303-BF77-062AF0AFDBEE}"/>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5</a:t>
            </a:r>
          </a:p>
        </p:txBody>
      </p:sp>
      <p:sp>
        <p:nvSpPr>
          <p:cNvPr id="3" name="">
            <a:extLst xmlns:a="http://schemas.openxmlformats.org/drawingml/2006/main">
              <a:ext uri="{FF2B5EF4-FFF2-40B4-BE49-F238E27FC236}">
                <a16:creationId xmlns:a16="http://schemas.microsoft.com/office/drawing/2014/main" id="{EC4706FB-7A58-42BC-8301-4EA09C899F53}"/>
              </a:ext>
            </a:extLst>
          </p:cNvPr>
          <p:cNvSpPr>
            <a:spLocks xmlns:a="http://schemas.openxmlformats.org/drawingml/2006/main" noGrp="1"/>
          </p:cNvSpPr>
          <p:nvPr/>
        </p:nvSpPr>
        <p:spPr>
          <a:xfrm xmlns:a="http://schemas.openxmlformats.org/drawingml/2006/main">
            <a:off x="609600" y="1657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006D77"/>
                </a:solidFill>
                <a:latin typeface="Arial"/>
                <a:ea typeface="Arial"/>
                <a:cs typeface="Arial"/>
              </a:defRPr>
            </a:defPPr>
          </a:lstStyle>
          <a:p xmlns:a="http://schemas.openxmlformats.org/drawingml/2006/main">
            <a:pPr>
              <a:defRPr sz="5250" b="1">
                <a:solidFill>
                  <a:srgbClr val="006D77"/>
                </a:solidFill>
                <a:latin typeface="Arial"/>
                <a:ea typeface="Arial"/>
                <a:cs typeface="Arial"/>
              </a:defRPr>
            </a:pPr>
            <a:r>
              <a:rPr sz="5250" b="1">
                <a:solidFill>
                  <a:srgbClr val="006D77"/>
                </a:solidFill>
                <a:latin typeface="Arial"/>
                <a:ea typeface="Arial"/>
                <a:cs typeface="Arial"/>
              </a:rPr>
              <a:t>0.5456 s</a:t>
            </a:r>
          </a:p>
        </p:txBody>
      </p:sp>
      <p:sp>
        <p:nvSpPr>
          <p:cNvPr id="4" name="">
            <a:extLst xmlns:a="http://schemas.openxmlformats.org/drawingml/2006/main">
              <a:ext uri="{FF2B5EF4-FFF2-40B4-BE49-F238E27FC236}">
                <a16:creationId xmlns:a16="http://schemas.microsoft.com/office/drawing/2014/main" id="{37A22857-DAE9-4B4D-9EF4-4D2DD4CEAA00}"/>
              </a:ext>
            </a:extLst>
          </p:cNvPr>
          <p:cNvSpPr>
            <a:spLocks xmlns:a="http://schemas.openxmlformats.org/drawingml/2006/main" noGrp="1"/>
          </p:cNvSpPr>
          <p:nvPr/>
        </p:nvSpPr>
        <p:spPr>
          <a:xfrm xmlns:a="http://schemas.openxmlformats.org/drawingml/2006/main">
            <a:off x="609600" y="2809875"/>
            <a:ext cx="1028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C3B"/>
                </a:solidFill>
                <a:latin typeface="Arial"/>
                <a:ea typeface="Arial"/>
                <a:cs typeface="Arial"/>
              </a:defRPr>
            </a:defPPr>
          </a:lstStyle>
          <a:p xmlns:a="http://schemas.openxmlformats.org/drawingml/2006/main">
            <a:pPr>
              <a:defRPr sz="2250" b="0">
                <a:solidFill>
                  <a:srgbClr val="172C3B"/>
                </a:solidFill>
                <a:latin typeface="Arial"/>
                <a:ea typeface="Arial"/>
                <a:cs typeface="Arial"/>
              </a:defRPr>
            </a:pPr>
            <a:r>
              <a:rPr sz="2250" b="0">
                <a:solidFill>
                  <a:srgbClr val="172C3B"/>
                </a:solidFill>
                <a:latin typeface="Arial"/>
                <a:ea typeface="Arial"/>
                <a:cs typeface="Arial"/>
              </a:rPr>
              <a:t>Synchronized forward after setup</a:t>
            </a:r>
          </a:p>
          <a:p xmlns:a="http://schemas.openxmlformats.org/drawingml/2006/main">
            <a:pPr>
              <a:defRPr sz="2250" b="0">
                <a:solidFill>
                  <a:srgbClr val="172C3B"/>
                </a:solidFill>
                <a:latin typeface="Arial"/>
                <a:ea typeface="Arial"/>
                <a:cs typeface="Arial"/>
              </a:defRPr>
            </a:pPr>
            <a:r>
              <a:rPr sz="2250" b="0">
                <a:solidFill>
                  <a:srgbClr val="172C3B"/>
                </a:solidFill>
                <a:latin typeface="Arial"/>
                <a:ea typeface="Arial"/>
                <a:cs typeface="Arial"/>
              </a:rPr>
              <a:t>One cold run, no warm-up</a:t>
            </a:r>
          </a:p>
        </p:txBody>
      </p:sp>
      <p:sp>
        <p:nvSpPr>
          <p:cNvPr id="5" name="">
            <a:extLst xmlns:a="http://schemas.openxmlformats.org/drawingml/2006/main">
              <a:ext uri="{FF2B5EF4-FFF2-40B4-BE49-F238E27FC236}">
                <a16:creationId xmlns:a16="http://schemas.microsoft.com/office/drawing/2014/main" id="{4DCEA9A1-31FA-4045-B3A2-3AF4BC5D9E3F}"/>
              </a:ext>
            </a:extLst>
          </p:cNvPr>
          <p:cNvSpPr>
            <a:spLocks xmlns:a="http://schemas.openxmlformats.org/drawingml/2006/main" noGrp="1"/>
          </p:cNvSpPr>
          <p:nvPr/>
        </p:nvSpPr>
        <p:spPr>
          <a:xfrm xmlns:a="http://schemas.openxmlformats.org/drawingml/2006/main">
            <a:off x="609600" y="4086225"/>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75" b="1">
                <a:solidFill>
                  <a:srgbClr val="006D77"/>
                </a:solidFill>
                <a:latin typeface="Arial"/>
                <a:ea typeface="Arial"/>
                <a:cs typeface="Arial"/>
              </a:defRPr>
            </a:defPPr>
          </a:lstStyle>
          <a:p xmlns:a="http://schemas.openxmlformats.org/drawingml/2006/main">
            <a:pPr>
              <a:defRPr sz="4575" b="1">
                <a:solidFill>
                  <a:srgbClr val="006D77"/>
                </a:solidFill>
                <a:latin typeface="Arial"/>
                <a:ea typeface="Arial"/>
                <a:cs typeface="Arial"/>
              </a:defRPr>
            </a:pPr>
            <a:r>
              <a:rPr sz="4575" b="1">
                <a:solidFill>
                  <a:srgbClr val="006D77"/>
                </a:solidFill>
                <a:latin typeface="Arial"/>
                <a:ea typeface="Arial"/>
                <a:cs typeface="Arial"/>
              </a:rPr>
              <a:t>1.295 GiB</a:t>
            </a:r>
          </a:p>
        </p:txBody>
      </p:sp>
      <p:sp>
        <p:nvSpPr>
          <p:cNvPr id="6" name="">
            <a:extLst xmlns:a="http://schemas.openxmlformats.org/drawingml/2006/main">
              <a:ext uri="{FF2B5EF4-FFF2-40B4-BE49-F238E27FC236}">
                <a16:creationId xmlns:a16="http://schemas.microsoft.com/office/drawing/2014/main" id="{BC9D9A80-281A-47AA-B8D8-C073886011CF}"/>
              </a:ext>
            </a:extLst>
          </p:cNvPr>
          <p:cNvSpPr>
            <a:spLocks xmlns:a="http://schemas.openxmlformats.org/drawingml/2006/main" noGrp="1"/>
          </p:cNvSpPr>
          <p:nvPr/>
        </p:nvSpPr>
        <p:spPr>
          <a:xfrm xmlns:a="http://schemas.openxmlformats.org/drawingml/2006/main">
            <a:off x="609600" y="50863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2C3B"/>
                </a:solidFill>
                <a:latin typeface="Arial"/>
                <a:ea typeface="Arial"/>
                <a:cs typeface="Arial"/>
              </a:defRPr>
            </a:defPPr>
          </a:lstStyle>
          <a:p xmlns:a="http://schemas.openxmlformats.org/drawingml/2006/main">
            <a:pPr>
              <a:defRPr sz="2100" b="0">
                <a:solidFill>
                  <a:srgbClr val="172C3B"/>
                </a:solidFill>
                <a:latin typeface="Arial"/>
                <a:ea typeface="Arial"/>
                <a:cs typeface="Arial"/>
              </a:defRPr>
            </a:pPr>
            <a:r>
              <a:rPr sz="2100" b="0">
                <a:solidFill>
                  <a:srgbClr val="172C3B"/>
                </a:solidFill>
                <a:latin typeface="Arial"/>
                <a:ea typeface="Arial"/>
                <a:cs typeface="Arial"/>
              </a:rPr>
              <a:t>Observed Metal-driver allocation high-water</a:t>
            </a:r>
          </a:p>
          <a:p xmlns:a="http://schemas.openxmlformats.org/drawingml/2006/main">
            <a:pPr>
              <a:defRPr sz="2100" b="0">
                <a:solidFill>
                  <a:srgbClr val="172C3B"/>
                </a:solidFill>
                <a:latin typeface="Arial"/>
                <a:ea typeface="Arial"/>
                <a:cs typeface="Arial"/>
              </a:defRPr>
            </a:pPr>
            <a:r>
              <a:rPr sz="2100" b="0">
                <a:solidFill>
                  <a:srgbClr val="172C3B"/>
                </a:solidFill>
                <a:latin typeface="Arial"/>
                <a:ea typeface="Arial"/>
                <a:cs typeface="Arial"/>
              </a:rPr>
              <a:t>5 ms sampling on Apple M3 Pro unified memory</a:t>
            </a:r>
          </a:p>
        </p:txBody>
      </p:sp>
    </p:spTree>
    <p:extLst>
      <p:ext uri="{BB962C8B-B14F-4D97-AF65-F5344CB8AC3E}">
        <p14:creationId xmlns:p14="http://schemas.microsoft.com/office/powerpoint/2010/main" val="4911036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6FA89E-2497-4BD5-9EC5-F6B87A543CD3}"/>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Observed failure: pour becomes none</a:t>
            </a:r>
          </a:p>
        </p:txBody>
      </p:sp>
      <p:sp>
        <p:nvSpPr>
          <p:cNvPr id="2" name="">
            <a:extLst xmlns:a="http://schemas.openxmlformats.org/drawingml/2006/main">
              <a:ext uri="{FF2B5EF4-FFF2-40B4-BE49-F238E27FC236}">
                <a16:creationId xmlns:a16="http://schemas.microsoft.com/office/drawing/2014/main" id="{6C8E9717-D478-4849-802A-D80CE11005FF}"/>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6</a:t>
            </a:r>
          </a:p>
        </p:txBody>
      </p:sp>
      <p:pic>
        <p:nvPicPr>
          <p:cNvPr id="3" name="">
            <a:extLst xmlns:a="http://schemas.openxmlformats.org/drawingml/2006/main">
              <a:ext uri="{FF2B5EF4-FFF2-40B4-BE49-F238E27FC236}">
                <a16:creationId xmlns:a16="http://schemas.microsoft.com/office/drawing/2014/main" id="{1E8C4A04-980E-4BD0-ABE8-A90770AF08D2}"/>
              </a:ext>
            </a:extLst>
          </p:cNvPr>
          <p:cNvPicPr>
            <a:picLocks xmlns:a="http://schemas.openxmlformats.org/drawingml/2006/main" noChangeAspect="1"/>
          </p:cNvPicPr>
          <p:nvPr/>
        </p:nvPicPr>
        <p:blipFill>
          <a:blip xmlns:r="http://schemas.openxmlformats.org/officeDocument/2006/relationships" xmlns:a="http://schemas.openxmlformats.org/drawingml/2006/main" r:embed="R5dbf281599f84b58"/>
          <a:stretch xmlns:a="http://schemas.openxmlformats.org/drawingml/2006/main"/>
        </p:blipFill>
        <p:spPr>
          <a:xfrm xmlns:a="http://schemas.openxmlformats.org/drawingml/2006/main">
            <a:off x="438150" y="1467619"/>
            <a:ext cx="11315700" cy="386561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688475D-B828-4CC1-8566-4FF976D8418F}"/>
              </a:ext>
            </a:extLst>
          </p:cNvPr>
          <p:cNvSpPr>
            <a:spLocks xmlns:a="http://schemas.openxmlformats.org/drawingml/2006/main" noGrp="1"/>
          </p:cNvSpPr>
          <p:nvPr/>
        </p:nvSpPr>
        <p:spPr>
          <a:xfrm xmlns:a="http://schemas.openxmlformats.org/drawingml/2006/main">
            <a:off x="609600" y="549592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B95522"/>
                </a:solidFill>
                <a:latin typeface="Arial"/>
                <a:ea typeface="Arial"/>
                <a:cs typeface="Arial"/>
              </a:defRPr>
            </a:defPPr>
          </a:lstStyle>
          <a:p xmlns:a="http://schemas.openxmlformats.org/drawingml/2006/main">
            <a:pPr>
              <a:defRPr sz="2175" b="1">
                <a:solidFill>
                  <a:srgbClr val="B95522"/>
                </a:solidFill>
                <a:latin typeface="Arial"/>
                <a:ea typeface="Arial"/>
                <a:cs typeface="Arial"/>
              </a:defRPr>
            </a:pPr>
            <a:r>
              <a:rPr sz="2175" b="1">
                <a:solidFill>
                  <a:srgbClr val="B95522"/>
                </a:solidFill>
                <a:latin typeface="Arial"/>
                <a:ea typeface="Arial"/>
                <a:cs typeface="Arial"/>
              </a:rPr>
              <a:t>563 / 563 annotated pour points received none</a:t>
            </a:r>
          </a:p>
        </p:txBody>
      </p:sp>
    </p:spTree>
    <p:extLst>
      <p:ext uri="{BB962C8B-B14F-4D97-AF65-F5344CB8AC3E}">
        <p14:creationId xmlns:p14="http://schemas.microsoft.com/office/powerpoint/2010/main" val="136834240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21250C-314A-40C9-BC2C-06311376022B}"/>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Research question and hypothesis</a:t>
            </a:r>
          </a:p>
        </p:txBody>
      </p:sp>
      <p:sp>
        <p:nvSpPr>
          <p:cNvPr id="2" name="">
            <a:extLst xmlns:a="http://schemas.openxmlformats.org/drawingml/2006/main">
              <a:ext uri="{FF2B5EF4-FFF2-40B4-BE49-F238E27FC236}">
                <a16:creationId xmlns:a16="http://schemas.microsoft.com/office/drawing/2014/main" id="{80A3F367-F84D-43AF-87CB-54513EA45720}"/>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7F0E106D-A119-43EC-AC00-A2D652E548B7}"/>
              </a:ext>
            </a:extLst>
          </p:cNvPr>
          <p:cNvSpPr>
            <a:spLocks xmlns:a="http://schemas.openxmlformats.org/drawingml/2006/main" noGrp="1"/>
          </p:cNvSpPr>
          <p:nvPr/>
        </p:nvSpPr>
        <p:spPr>
          <a:xfrm xmlns:a="http://schemas.openxmlformats.org/drawingml/2006/main">
            <a:off x="609600" y="1628775"/>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06D77"/>
                </a:solidFill>
                <a:latin typeface="Arial"/>
                <a:ea typeface="Arial"/>
                <a:cs typeface="Arial"/>
              </a:defRPr>
            </a:defPPr>
          </a:lstStyle>
          <a:p xmlns:a="http://schemas.openxmlformats.org/drawingml/2006/main">
            <a:pPr>
              <a:defRPr sz="2775" b="1">
                <a:solidFill>
                  <a:srgbClr val="006D77"/>
                </a:solidFill>
                <a:latin typeface="Arial"/>
                <a:ea typeface="Arial"/>
                <a:cs typeface="Arial"/>
              </a:defRPr>
            </a:pPr>
            <a:r>
              <a:rPr sz="2775" b="1">
                <a:solidFill>
                  <a:srgbClr val="006D77"/>
                </a:solidFill>
                <a:latin typeface="Arial"/>
                <a:ea typeface="Arial"/>
                <a:cs typeface="Arial"/>
              </a:rPr>
              <a:t>Can adjusting only the none score improve</a:t>
            </a:r>
          </a:p>
          <a:p xmlns:a="http://schemas.openxmlformats.org/drawingml/2006/main">
            <a:pPr>
              <a:defRPr sz="2775" b="1">
                <a:solidFill>
                  <a:srgbClr val="006D77"/>
                </a:solidFill>
                <a:latin typeface="Arial"/>
                <a:ea typeface="Arial"/>
                <a:cs typeface="Arial"/>
              </a:defRPr>
            </a:pPr>
            <a:r>
              <a:rPr sz="2775" b="1">
                <a:solidFill>
                  <a:srgbClr val="006D77"/>
                </a:solidFill>
                <a:latin typeface="Arial"/>
                <a:ea typeface="Arial"/>
                <a:cs typeface="Arial"/>
              </a:rPr>
              <a:t>localization on partial point clouds?</a:t>
            </a:r>
          </a:p>
        </p:txBody>
      </p:sp>
      <p:sp>
        <p:nvSpPr>
          <p:cNvPr id="4" name="">
            <a:extLst xmlns:a="http://schemas.openxmlformats.org/drawingml/2006/main">
              <a:ext uri="{FF2B5EF4-FFF2-40B4-BE49-F238E27FC236}">
                <a16:creationId xmlns:a16="http://schemas.microsoft.com/office/drawing/2014/main" id="{B8FC3207-4304-443F-90DE-5EF128AA218F}"/>
              </a:ext>
            </a:extLst>
          </p:cNvPr>
          <p:cNvSpPr>
            <a:spLocks xmlns:a="http://schemas.openxmlformats.org/drawingml/2006/main" noGrp="1"/>
          </p:cNvSpPr>
          <p:nvPr/>
        </p:nvSpPr>
        <p:spPr>
          <a:xfrm xmlns:a="http://schemas.openxmlformats.org/drawingml/2006/main">
            <a:off x="609600" y="325755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72C3B"/>
                </a:solidFill>
                <a:latin typeface="Arial"/>
                <a:ea typeface="Arial"/>
                <a:cs typeface="Arial"/>
              </a:defRPr>
            </a:defPPr>
          </a:lstStyle>
          <a:p xmlns:a="http://schemas.openxmlformats.org/drawingml/2006/main">
            <a:pPr>
              <a:defRPr sz="2175" b="1">
                <a:solidFill>
                  <a:srgbClr val="172C3B"/>
                </a:solidFill>
                <a:latin typeface="Arial"/>
                <a:ea typeface="Arial"/>
                <a:cs typeface="Arial"/>
              </a:defRPr>
            </a:pPr>
            <a:r>
              <a:rPr sz="2175" b="1">
                <a:solidFill>
                  <a:srgbClr val="172C3B"/>
                </a:solidFill>
                <a:latin typeface="Arial"/>
                <a:ea typeface="Arial"/>
                <a:cs typeface="Arial"/>
              </a:rPr>
              <a:t>Hypothesis</a:t>
            </a:r>
          </a:p>
        </p:txBody>
      </p:sp>
      <p:sp>
        <p:nvSpPr>
          <p:cNvPr id="5" name="">
            <a:extLst xmlns:a="http://schemas.openxmlformats.org/drawingml/2006/main">
              <a:ext uri="{FF2B5EF4-FFF2-40B4-BE49-F238E27FC236}">
                <a16:creationId xmlns:a16="http://schemas.microsoft.com/office/drawing/2014/main" id="{D334DEF7-903A-4563-BB34-4E342FC61195}"/>
              </a:ext>
            </a:extLst>
          </p:cNvPr>
          <p:cNvSpPr>
            <a:spLocks xmlns:a="http://schemas.openxmlformats.org/drawingml/2006/main" noGrp="1"/>
          </p:cNvSpPr>
          <p:nvPr/>
        </p:nvSpPr>
        <p:spPr>
          <a:xfrm xmlns:a="http://schemas.openxmlformats.org/drawingml/2006/main">
            <a:off x="609600" y="38481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C3B"/>
                </a:solidFill>
                <a:latin typeface="Arial"/>
                <a:ea typeface="Arial"/>
                <a:cs typeface="Arial"/>
              </a:defRPr>
            </a:defPPr>
          </a:lstStyle>
          <a:p xmlns:a="http://schemas.openxmlformats.org/drawingml/2006/main">
            <a:pPr>
              <a:defRPr sz="2250" b="0">
                <a:solidFill>
                  <a:srgbClr val="172C3B"/>
                </a:solidFill>
                <a:latin typeface="Arial"/>
                <a:ea typeface="Arial"/>
                <a:cs typeface="Arial"/>
              </a:defRPr>
            </a:pPr>
            <a:r>
              <a:rPr sz="2250" b="0">
                <a:solidFill>
                  <a:srgbClr val="172C3B"/>
                </a:solidFill>
                <a:latin typeface="Arial"/>
                <a:ea typeface="Arial"/>
                <a:cs typeface="Arial"/>
              </a:rPr>
              <a:t>A development-selected scalar bias increases 19-class mIoU</a:t>
            </a:r>
          </a:p>
          <a:p xmlns:a="http://schemas.openxmlformats.org/drawingml/2006/main">
            <a:pPr>
              <a:defRPr sz="2250" b="0">
                <a:solidFill>
                  <a:srgbClr val="172C3B"/>
                </a:solidFill>
                <a:latin typeface="Arial"/>
                <a:ea typeface="Arial"/>
                <a:cs typeface="Arial"/>
              </a:defRPr>
            </a:pPr>
            <a:r>
              <a:rPr sz="2250" b="0">
                <a:solidFill>
                  <a:srgbClr val="172C3B"/>
                </a:solidFill>
                <a:latin typeface="Arial"/>
                <a:ea typeface="Arial"/>
                <a:cs typeface="Arial"/>
              </a:rPr>
              <a:t>with a background false-positive increase of at most 5 pp.</a:t>
            </a:r>
          </a:p>
        </p:txBody>
      </p:sp>
      <p:sp>
        <p:nvSpPr>
          <p:cNvPr id="6" name="">
            <a:extLst xmlns:a="http://schemas.openxmlformats.org/drawingml/2006/main">
              <a:ext uri="{FF2B5EF4-FFF2-40B4-BE49-F238E27FC236}">
                <a16:creationId xmlns:a16="http://schemas.microsoft.com/office/drawing/2014/main" id="{A6678FA5-6ABA-45EC-BF20-4D2BE8B49DD8}"/>
              </a:ext>
            </a:extLst>
          </p:cNvPr>
          <p:cNvSpPr>
            <a:spLocks xmlns:a="http://schemas.openxmlformats.org/drawingml/2006/main" noGrp="1"/>
          </p:cNvSpPr>
          <p:nvPr/>
        </p:nvSpPr>
        <p:spPr>
          <a:xfrm xmlns:a="http://schemas.openxmlformats.org/drawingml/2006/main">
            <a:off x="609600" y="532447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Support requires a positive paired 95% interval for the IoU gain</a:t>
            </a:r>
          </a:p>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and the predeclared false-positive guardrail.</a:t>
            </a:r>
          </a:p>
        </p:txBody>
      </p:sp>
    </p:spTree>
    <p:extLst>
      <p:ext uri="{BB962C8B-B14F-4D97-AF65-F5344CB8AC3E}">
        <p14:creationId xmlns:p14="http://schemas.microsoft.com/office/powerpoint/2010/main" val="17633601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83A1E8B-84D1-4DFE-86A9-A2F7CEB760CA}"/>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One change, fixed comparison</a:t>
            </a:r>
          </a:p>
        </p:txBody>
      </p:sp>
      <p:sp>
        <p:nvSpPr>
          <p:cNvPr id="2" name="">
            <a:extLst xmlns:a="http://schemas.openxmlformats.org/drawingml/2006/main">
              <a:ext uri="{FF2B5EF4-FFF2-40B4-BE49-F238E27FC236}">
                <a16:creationId xmlns:a16="http://schemas.microsoft.com/office/drawing/2014/main" id="{1459A35F-7677-4757-84DC-88E0EB88BD8B}"/>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8</a:t>
            </a:r>
          </a:p>
        </p:txBody>
      </p:sp>
      <p:sp>
        <p:nvSpPr>
          <p:cNvPr id="3" name="">
            <a:extLst xmlns:a="http://schemas.openxmlformats.org/drawingml/2006/main">
              <a:ext uri="{FF2B5EF4-FFF2-40B4-BE49-F238E27FC236}">
                <a16:creationId xmlns:a16="http://schemas.microsoft.com/office/drawing/2014/main" id="{2B113915-9CEA-496A-890B-A83CEFA2B114}"/>
              </a:ext>
            </a:extLst>
          </p:cNvPr>
          <p:cNvSpPr>
            <a:spLocks xmlns:a="http://schemas.openxmlformats.org/drawingml/2006/main" noGrp="1"/>
          </p:cNvSpPr>
          <p:nvPr/>
        </p:nvSpPr>
        <p:spPr>
          <a:xfrm xmlns:a="http://schemas.openxmlformats.org/drawingml/2006/main">
            <a:off x="609600" y="1504950"/>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6D77"/>
                </a:solidFill>
                <a:latin typeface="Arial"/>
                <a:ea typeface="Arial"/>
                <a:cs typeface="Arial"/>
              </a:defRPr>
            </a:defPPr>
          </a:lstStyle>
          <a:p xmlns:a="http://schemas.openxmlformats.org/drawingml/2006/main">
            <a:pPr>
              <a:defRPr sz="2550" b="1">
                <a:solidFill>
                  <a:srgbClr val="006D77"/>
                </a:solidFill>
                <a:latin typeface="Arial"/>
                <a:ea typeface="Arial"/>
                <a:cs typeface="Arial"/>
              </a:defRPr>
            </a:pPr>
            <a:r>
              <a:rPr sz="2550" b="1">
                <a:solidFill>
                  <a:srgbClr val="006D77"/>
                </a:solidFill>
                <a:latin typeface="Arial"/>
                <a:ea typeface="Arial"/>
                <a:cs typeface="Arial"/>
              </a:rPr>
              <a:t>Adjusted none log score = original log score - b</a:t>
            </a:r>
          </a:p>
        </p:txBody>
      </p:sp>
      <p:graphicFrame>
        <p:nvGraphicFramePr>
          <p:cNvPr id="4" name="">
            <a:extLst xmlns:a="http://schemas.openxmlformats.org/drawingml/2006/main">
              <a:ext uri="{FF2B5EF4-FFF2-40B4-BE49-F238E27FC236}">
                <a16:creationId xmlns:a16="http://schemas.microsoft.com/office/drawing/2014/main" id="{3779B78E-38E7-4F8D-8A11-54C116A4A7FF}"/>
              </a:ext>
            </a:extLst>
          </p:cNvPr>
          <p:cNvGraphicFramePr/>
          <p:nvPr/>
        </p:nvGraphicFramePr>
        <p:xfrm>
          <a:off xmlns:a="http://schemas.openxmlformats.org/drawingml/2006/main" x="609600" y="2419350"/>
          <a:ext xmlns:a="http://schemas.openxmlformats.org/drawingml/2006/main" cx="10972800" cy="2628900"/>
        </p:xfrm>
        <a:graphic xmlns:a="http://schemas.openxmlformats.org/drawingml/2006/main">
          <a:graphicData uri="http://schemas.openxmlformats.org/drawingml/2006/table">
            <a:tbl>
              <a:tblPr/>
              <a:tblGrid>
                <a:gridCol w="3429000"/>
                <a:gridCol w="3429000"/>
                <a:gridCol w="4114800"/>
              </a:tblGrid>
              <a:tr h="657225">
                <a:tc>
                  <a:txBody>
                    <a:bodyPr/>
                    <a:lstStyle/>
                    <a:p>
                      <a:r>
                        <a:rPr sz="1800" b="1">
                          <a:solidFill>
                            <a:srgbClr val="FFFFFF"/>
                          </a:solidFill>
                          <a:latin typeface="Arial"/>
                          <a:ea typeface="Arial"/>
                          <a:cs typeface="Arial"/>
                        </a:rPr>
                        <a:t>Comparison</a:t>
                      </a:r>
                    </a:p>
                  </a:txBody>
                  <a:tcPr marL="152400" marR="114300" marT="114300" marB="95250">
                    <a:solidFill>
                      <a:srgbClr val="006D77"/>
                    </a:solidFill>
                  </a:tcPr>
                </a:tc>
                <a:tc>
                  <a:txBody>
                    <a:bodyPr/>
                    <a:lstStyle/>
                    <a:p>
                      <a:r>
                        <a:rPr sz="1800" b="1">
                          <a:solidFill>
                            <a:srgbClr val="FFFFFF"/>
                          </a:solidFill>
                          <a:latin typeface="Arial"/>
                          <a:ea typeface="Arial"/>
                          <a:cs typeface="Arial"/>
                        </a:rPr>
                        <a:t>Changed module</a:t>
                      </a:r>
                    </a:p>
                  </a:txBody>
                  <a:tcPr marL="152400" marR="114300" marT="114300" marB="95250">
                    <a:solidFill>
                      <a:srgbClr val="006D77"/>
                    </a:solidFill>
                  </a:tcPr>
                </a:tc>
                <a:tc>
                  <a:txBody>
                    <a:bodyPr/>
                    <a:lstStyle/>
                    <a:p>
                      <a:r>
                        <a:rPr sz="1800" b="1">
                          <a:solidFill>
                            <a:srgbClr val="FFFFFF"/>
                          </a:solidFill>
                          <a:latin typeface="Arial"/>
                          <a:ea typeface="Arial"/>
                          <a:cs typeface="Arial"/>
                        </a:rPr>
                        <a:t>Controls</a:t>
                      </a:r>
                    </a:p>
                  </a:txBody>
                  <a:tcPr marL="152400" marR="114300" marT="114300" marB="95250">
                    <a:solidFill>
                      <a:srgbClr val="006D77"/>
                    </a:solidFill>
                  </a:tcPr>
                </a:tc>
              </a:tr>
              <a:tr h="657225">
                <a:tc>
                  <a:txBody>
                    <a:bodyPr/>
                    <a:lstStyle/>
                    <a:p>
                      <a:r>
                        <a:rPr sz="1800">
                          <a:solidFill>
                            <a:srgbClr val="172C3B"/>
                          </a:solidFill>
                          <a:latin typeface="Arial"/>
                          <a:ea typeface="Arial"/>
                          <a:cs typeface="Arial"/>
                        </a:rPr>
                        <a:t>OpenAD, b = 0</a:t>
                      </a:r>
                    </a:p>
                  </a:txBody>
                  <a:tcPr marL="152400" marR="114300" marT="114300" marB="95250"/>
                </a:tc>
                <a:tc>
                  <a:txBody>
                    <a:bodyPr/>
                    <a:lstStyle/>
                    <a:p>
                      <a:r>
                        <a:rPr sz="1800">
                          <a:solidFill>
                            <a:srgbClr val="172C3B"/>
                          </a:solidFill>
                          <a:latin typeface="Arial"/>
                          <a:ea typeface="Arial"/>
                          <a:cs typeface="Arial"/>
                        </a:rPr>
                        <a:t>None</a:t>
                      </a:r>
                    </a:p>
                  </a:txBody>
                  <a:tcPr marL="152400" marR="114300" marT="114300" marB="95250"/>
                </a:tc>
                <a:tc>
                  <a:txBody>
                    <a:bodyPr/>
                    <a:lstStyle/>
                    <a:p>
                      <a:r>
                        <a:rPr sz="1800">
                          <a:solidFill>
                            <a:srgbClr val="172C3B"/>
                          </a:solidFill>
                          <a:latin typeface="Arial"/>
                          <a:ea typeface="Arial"/>
                          <a:cs typeface="Arial"/>
                        </a:rPr>
                        <a:t>Checkpoint, points, queries</a:t>
                      </a:r>
                    </a:p>
                  </a:txBody>
                  <a:tcPr marL="152400" marR="114300" marT="114300" marB="95250"/>
                </a:tc>
              </a:tr>
              <a:tr h="657225">
                <a:tc>
                  <a:txBody>
                    <a:bodyPr/>
                    <a:lstStyle/>
                    <a:p>
                      <a:r>
                        <a:rPr sz="1800">
                          <a:solidFill>
                            <a:srgbClr val="172C3B"/>
                          </a:solidFill>
                          <a:latin typeface="Arial"/>
                          <a:ea typeface="Arial"/>
                          <a:cs typeface="Arial"/>
                        </a:rPr>
                        <a:t>OpenAD, frozen b</a:t>
                      </a:r>
                    </a:p>
                  </a:txBody>
                  <a:tcPr marL="152400" marR="114300" marT="114300" marB="95250"/>
                </a:tc>
                <a:tc>
                  <a:txBody>
                    <a:bodyPr/>
                    <a:lstStyle/>
                    <a:p>
                      <a:r>
                        <a:rPr sz="1800">
                          <a:solidFill>
                            <a:srgbClr val="172C3B"/>
                          </a:solidFill>
                          <a:latin typeface="Arial"/>
                          <a:ea typeface="Arial"/>
                          <a:cs typeface="Arial"/>
                        </a:rPr>
                        <a:t>Output decision only</a:t>
                      </a:r>
                    </a:p>
                  </a:txBody>
                  <a:tcPr marL="152400" marR="114300" marT="114300" marB="95250"/>
                </a:tc>
                <a:tc>
                  <a:txBody>
                    <a:bodyPr/>
                    <a:lstStyle/>
                    <a:p>
                      <a:r>
                        <a:rPr sz="1800">
                          <a:solidFill>
                            <a:srgbClr val="172C3B"/>
                          </a:solidFill>
                          <a:latin typeface="Arial"/>
                          <a:ea typeface="Arial"/>
                          <a:cs typeface="Arial"/>
                        </a:rPr>
                        <a:t>Same inputs and metric</a:t>
                      </a:r>
                    </a:p>
                  </a:txBody>
                  <a:tcPr marL="152400" marR="114300" marT="114300" marB="95250"/>
                </a:tc>
              </a:tr>
              <a:tr h="657225">
                <a:tc>
                  <a:txBody>
                    <a:bodyPr/>
                    <a:lstStyle/>
                    <a:p>
                      <a:r>
                        <a:rPr sz="1800">
                          <a:solidFill>
                            <a:srgbClr val="172C3B"/>
                          </a:solidFill>
                          <a:latin typeface="Arial"/>
                          <a:ea typeface="Arial"/>
                          <a:cs typeface="Arial"/>
                        </a:rPr>
                        <a:t>Bias sweep / full-cloud control</a:t>
                      </a:r>
                    </a:p>
                  </a:txBody>
                  <a:tcPr marL="152400" marR="114300" marT="114300" marB="95250"/>
                </a:tc>
                <a:tc>
                  <a:txBody>
                    <a:bodyPr/>
                    <a:lstStyle/>
                    <a:p>
                      <a:r>
                        <a:rPr sz="1800">
                          <a:solidFill>
                            <a:srgbClr val="172C3B"/>
                          </a:solidFill>
                          <a:latin typeface="Arial"/>
                          <a:ea typeface="Arial"/>
                          <a:cs typeface="Arial"/>
                        </a:rPr>
                        <a:t>One factor per analysis</a:t>
                      </a:r>
                    </a:p>
                  </a:txBody>
                  <a:tcPr marL="152400" marR="114300" marT="114300" marB="95250"/>
                </a:tc>
                <a:tc>
                  <a:txBody>
                    <a:bodyPr/>
                    <a:lstStyle/>
                    <a:p>
                      <a:r>
                        <a:rPr sz="1800">
                          <a:solidFill>
                            <a:srgbClr val="172C3B"/>
                          </a:solidFill>
                          <a:latin typeface="Arial"/>
                          <a:ea typeface="Arial"/>
                          <a:cs typeface="Arial"/>
                        </a:rPr>
                        <a:t>Object IDs and view grouping</a:t>
                      </a:r>
                    </a:p>
                  </a:txBody>
                  <a:tcPr marL="152400" marR="114300" marT="114300" marB="95250"/>
                </a:tc>
              </a:tr>
            </a:tbl>
          </a:graphicData>
        </a:graphic>
      </p:graphicFrame>
      <p:sp>
        <p:nvSpPr>
          <p:cNvPr id="5" name="">
            <a:extLst xmlns:a="http://schemas.openxmlformats.org/drawingml/2006/main">
              <a:ext uri="{FF2B5EF4-FFF2-40B4-BE49-F238E27FC236}">
                <a16:creationId xmlns:a16="http://schemas.microsoft.com/office/drawing/2014/main" id="{01E8617C-B9D5-4272-8C5F-0381B293FB7C}"/>
              </a:ext>
            </a:extLst>
          </p:cNvPr>
          <p:cNvSpPr>
            <a:spLocks xmlns:a="http://schemas.openxmlformats.org/drawingml/2006/main" noGrp="1"/>
          </p:cNvSpPr>
          <p:nvPr/>
        </p:nvSpPr>
        <p:spPr>
          <a:xfrm xmlns:a="http://schemas.openxmlformats.org/drawingml/2006/main">
            <a:off x="609600" y="53721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3B"/>
                </a:solidFill>
                <a:latin typeface="Arial"/>
                <a:ea typeface="Arial"/>
                <a:cs typeface="Arial"/>
              </a:defRPr>
            </a:defPPr>
          </a:lstStyle>
          <a:p xmlns:a="http://schemas.openxmlformats.org/drawingml/2006/main">
            <a:pPr>
              <a:defRPr sz="1875" b="0">
                <a:solidFill>
                  <a:srgbClr val="172C3B"/>
                </a:solidFill>
                <a:latin typeface="Arial"/>
                <a:ea typeface="Arial"/>
                <a:cs typeface="Arial"/>
              </a:defRPr>
            </a:pPr>
            <a:r>
              <a:rPr sz="1875" b="0">
                <a:solidFill>
                  <a:srgbClr val="172C3B"/>
                </a:solidFill>
                <a:latin typeface="Arial"/>
                <a:ea typeface="Arial"/>
                <a:cs typeface="Arial"/>
              </a:rPr>
              <a:t>Select b on development objects. Lock it before validation.</a:t>
            </a:r>
          </a:p>
          <a:p xmlns:a="http://schemas.openxmlformats.org/drawingml/2006/main">
            <a:pPr>
              <a:defRPr sz="1875" b="0">
                <a:solidFill>
                  <a:srgbClr val="172C3B"/>
                </a:solidFill>
                <a:latin typeface="Arial"/>
                <a:ea typeface="Arial"/>
                <a:cs typeface="Arial"/>
              </a:defRPr>
            </a:pPr>
            <a:r>
              <a:rPr sz="1875" b="0">
                <a:solidFill>
                  <a:srgbClr val="172C3B"/>
                </a:solidFill>
                <a:latin typeface="Arial"/>
                <a:ea typeface="Arial"/>
                <a:cs typeface="Arial"/>
              </a:rPr>
              <a:t>Report 19-class mIoU, foreground IoU, recall, and background errors.</a:t>
            </a:r>
          </a:p>
        </p:txBody>
      </p:sp>
    </p:spTree>
    <p:extLst>
      <p:ext uri="{BB962C8B-B14F-4D97-AF65-F5344CB8AC3E}">
        <p14:creationId xmlns:p14="http://schemas.microsoft.com/office/powerpoint/2010/main" val="9554527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88233D-2BB7-46FD-8957-8D1CA61C10FD}"/>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Milestones through Week 15</a:t>
            </a:r>
          </a:p>
        </p:txBody>
      </p:sp>
      <p:sp>
        <p:nvSpPr>
          <p:cNvPr id="2" name="">
            <a:extLst xmlns:a="http://schemas.openxmlformats.org/drawingml/2006/main">
              <a:ext uri="{FF2B5EF4-FFF2-40B4-BE49-F238E27FC236}">
                <a16:creationId xmlns:a16="http://schemas.microsoft.com/office/drawing/2014/main" id="{15E5CB7E-DFB6-428D-B097-2C641DAA5A22}"/>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9</a:t>
            </a:r>
          </a:p>
        </p:txBody>
      </p:sp>
      <p:graphicFrame>
        <p:nvGraphicFramePr>
          <p:cNvPr id="3" name="">
            <a:extLst xmlns:a="http://schemas.openxmlformats.org/drawingml/2006/main">
              <a:ext uri="{FF2B5EF4-FFF2-40B4-BE49-F238E27FC236}">
                <a16:creationId xmlns:a16="http://schemas.microsoft.com/office/drawing/2014/main" id="{C911EABF-3D27-4BD0-83AB-A8A24CB6EC16}"/>
              </a:ext>
            </a:extLst>
          </p:cNvPr>
          <p:cNvGraphicFramePr/>
          <p:nvPr/>
        </p:nvGraphicFramePr>
        <p:xfrm>
          <a:off xmlns:a="http://schemas.openxmlformats.org/drawingml/2006/main" x="609600" y="1543050"/>
          <a:ext xmlns:a="http://schemas.openxmlformats.org/drawingml/2006/main" cx="10972800" cy="3333750"/>
        </p:xfrm>
        <a:graphic xmlns:a="http://schemas.openxmlformats.org/drawingml/2006/main">
          <a:graphicData uri="http://schemas.openxmlformats.org/drawingml/2006/table">
            <a:tbl>
              <a:tblPr/>
              <a:tblGrid>
                <a:gridCol w="1905000"/>
                <a:gridCol w="9067800"/>
              </a:tblGrid>
              <a:tr h="555625">
                <a:tc>
                  <a:txBody>
                    <a:bodyPr/>
                    <a:lstStyle/>
                    <a:p>
                      <a:r>
                        <a:rPr sz="1875" b="1">
                          <a:solidFill>
                            <a:srgbClr val="FFFFFF"/>
                          </a:solidFill>
                          <a:latin typeface="Arial"/>
                          <a:ea typeface="Arial"/>
                          <a:cs typeface="Arial"/>
                        </a:rPr>
                        <a:t>Weeks</a:t>
                      </a:r>
                    </a:p>
                  </a:txBody>
                  <a:tcPr marL="152400" marR="114300" marT="114300" marB="95250">
                    <a:solidFill>
                      <a:srgbClr val="006D77"/>
                    </a:solidFill>
                  </a:tcPr>
                </a:tc>
                <a:tc>
                  <a:txBody>
                    <a:bodyPr/>
                    <a:lstStyle/>
                    <a:p>
                      <a:r>
                        <a:rPr sz="1875" b="1">
                          <a:solidFill>
                            <a:srgbClr val="FFFFFF"/>
                          </a:solidFill>
                          <a:latin typeface="Arial"/>
                          <a:ea typeface="Arial"/>
                          <a:cs typeface="Arial"/>
                        </a:rPr>
                        <a:t>Deliverable</a:t>
                      </a:r>
                    </a:p>
                  </a:txBody>
                  <a:tcPr marL="152400" marR="114300" marT="114300" marB="95250">
                    <a:solidFill>
                      <a:srgbClr val="006D77"/>
                    </a:solidFill>
                  </a:tcPr>
                </a:tc>
              </a:tr>
              <a:tr h="555625">
                <a:tc>
                  <a:txBody>
                    <a:bodyPr/>
                    <a:lstStyle/>
                    <a:p>
                      <a:r>
                        <a:rPr sz="1875">
                          <a:solidFill>
                            <a:srgbClr val="172C3B"/>
                          </a:solidFill>
                          <a:latin typeface="Arial"/>
                          <a:ea typeface="Arial"/>
                          <a:cs typeface="Arial"/>
                        </a:rPr>
                        <a:t>7</a:t>
                      </a:r>
                    </a:p>
                  </a:txBody>
                  <a:tcPr marL="152400" marR="114300" marT="114300" marB="95250"/>
                </a:tc>
                <a:tc>
                  <a:txBody>
                    <a:bodyPr/>
                    <a:lstStyle/>
                    <a:p>
                      <a:r>
                        <a:rPr sz="1875">
                          <a:solidFill>
                            <a:srgbClr val="172C3B"/>
                          </a:solidFill>
                          <a:latin typeface="Arial"/>
                          <a:ea typeface="Arial"/>
                          <a:cs typeface="Arial"/>
                        </a:rPr>
                        <a:t>Baseline manifest, failure figure, proposal</a:t>
                      </a:r>
                    </a:p>
                  </a:txBody>
                  <a:tcPr marL="152400" marR="114300" marT="114300" marB="95250"/>
                </a:tc>
              </a:tr>
              <a:tr h="555625">
                <a:tc>
                  <a:txBody>
                    <a:bodyPr/>
                    <a:lstStyle/>
                    <a:p>
                      <a:r>
                        <a:rPr sz="1875">
                          <a:solidFill>
                            <a:srgbClr val="172C3B"/>
                          </a:solidFill>
                          <a:latin typeface="Arial"/>
                          <a:ea typeface="Arial"/>
                          <a:cs typeface="Arial"/>
                        </a:rPr>
                        <a:t>8-9</a:t>
                      </a:r>
                    </a:p>
                  </a:txBody>
                  <a:tcPr marL="152400" marR="114300" marT="114300" marB="95250"/>
                </a:tc>
                <a:tc>
                  <a:txBody>
                    <a:bodyPr/>
                    <a:lstStyle/>
                    <a:p>
                      <a:r>
                        <a:rPr sz="1875">
                          <a:solidFill>
                            <a:srgbClr val="172C3B"/>
                          </a:solidFill>
                          <a:latin typeface="Arial"/>
                          <a:ea typeface="Arial"/>
                          <a:cs typeface="Arial"/>
                        </a:rPr>
                        <a:t>Object-grouped development split and bias calibration</a:t>
                      </a:r>
                    </a:p>
                  </a:txBody>
                  <a:tcPr marL="152400" marR="114300" marT="114300" marB="95250"/>
                </a:tc>
              </a:tr>
              <a:tr h="555625">
                <a:tc>
                  <a:txBody>
                    <a:bodyPr/>
                    <a:lstStyle/>
                    <a:p>
                      <a:r>
                        <a:rPr sz="1875">
                          <a:solidFill>
                            <a:srgbClr val="172C3B"/>
                          </a:solidFill>
                          <a:latin typeface="Arial"/>
                          <a:ea typeface="Arial"/>
                          <a:cs typeface="Arial"/>
                        </a:rPr>
                        <a:t>10-11</a:t>
                      </a:r>
                    </a:p>
                  </a:txBody>
                  <a:tcPr marL="152400" marR="114300" marT="114300" marB="95250"/>
                </a:tc>
                <a:tc>
                  <a:txBody>
                    <a:bodyPr/>
                    <a:lstStyle/>
                    <a:p>
                      <a:r>
                        <a:rPr sz="1875">
                          <a:solidFill>
                            <a:srgbClr val="172C3B"/>
                          </a:solidFill>
                          <a:latin typeface="Arial"/>
                          <a:ea typeface="Arial"/>
                          <a:cs typeface="Arial"/>
                        </a:rPr>
                        <a:t>Frozen partial-cloud comparison and object bootstrap</a:t>
                      </a:r>
                    </a:p>
                  </a:txBody>
                  <a:tcPr marL="152400" marR="114300" marT="114300" marB="95250"/>
                </a:tc>
              </a:tr>
              <a:tr h="555625">
                <a:tc>
                  <a:txBody>
                    <a:bodyPr/>
                    <a:lstStyle/>
                    <a:p>
                      <a:r>
                        <a:rPr sz="1875">
                          <a:solidFill>
                            <a:srgbClr val="172C3B"/>
                          </a:solidFill>
                          <a:latin typeface="Arial"/>
                          <a:ea typeface="Arial"/>
                          <a:cs typeface="Arial"/>
                        </a:rPr>
                        <a:t>12-13</a:t>
                      </a:r>
                    </a:p>
                  </a:txBody>
                  <a:tcPr marL="152400" marR="114300" marT="114300" marB="95250"/>
                </a:tc>
                <a:tc>
                  <a:txBody>
                    <a:bodyPr/>
                    <a:lstStyle/>
                    <a:p>
                      <a:r>
                        <a:rPr sz="1875">
                          <a:solidFill>
                            <a:srgbClr val="172C3B"/>
                          </a:solidFill>
                          <a:latin typeface="Arial"/>
                          <a:ea typeface="Arial"/>
                          <a:cs typeface="Arial"/>
                        </a:rPr>
                        <a:t>Full-cloud control and failure analysis</a:t>
                      </a:r>
                    </a:p>
                  </a:txBody>
                  <a:tcPr marL="152400" marR="114300" marT="114300" marB="95250"/>
                </a:tc>
              </a:tr>
              <a:tr h="555625">
                <a:tc>
                  <a:txBody>
                    <a:bodyPr/>
                    <a:lstStyle/>
                    <a:p>
                      <a:r>
                        <a:rPr sz="1875">
                          <a:solidFill>
                            <a:srgbClr val="172C3B"/>
                          </a:solidFill>
                          <a:latin typeface="Arial"/>
                          <a:ea typeface="Arial"/>
                          <a:cs typeface="Arial"/>
                        </a:rPr>
                        <a:t>14-15</a:t>
                      </a:r>
                    </a:p>
                  </a:txBody>
                  <a:tcPr marL="152400" marR="114300" marT="114300" marB="95250"/>
                </a:tc>
                <a:tc>
                  <a:txBody>
                    <a:bodyPr/>
                    <a:lstStyle/>
                    <a:p>
                      <a:r>
                        <a:rPr sz="1875">
                          <a:solidFill>
                            <a:srgbClr val="172C3B"/>
                          </a:solidFill>
                          <a:latin typeface="Arial"/>
                          <a:ea typeface="Arial"/>
                          <a:cs typeface="Arial"/>
                        </a:rPr>
                        <a:t>Reproducible report and final presentation</a:t>
                      </a:r>
                    </a:p>
                  </a:txBody>
                  <a:tcPr marL="152400" marR="114300" marT="114300" marB="95250"/>
                </a:tc>
              </a:tr>
            </a:tbl>
          </a:graphicData>
        </a:graphic>
      </p:graphicFrame>
      <p:sp>
        <p:nvSpPr>
          <p:cNvPr id="4" name="">
            <a:extLst xmlns:a="http://schemas.openxmlformats.org/drawingml/2006/main">
              <a:ext uri="{FF2B5EF4-FFF2-40B4-BE49-F238E27FC236}">
                <a16:creationId xmlns:a16="http://schemas.microsoft.com/office/drawing/2014/main" id="{9DB84D12-2276-4A7F-97AA-9006788413A1}"/>
              </a:ext>
            </a:extLst>
          </p:cNvPr>
          <p:cNvSpPr>
            <a:spLocks xmlns:a="http://schemas.openxmlformats.org/drawingml/2006/main" noGrp="1"/>
          </p:cNvSpPr>
          <p:nvPr/>
        </p:nvSpPr>
        <p:spPr>
          <a:xfrm xmlns:a="http://schemas.openxmlformats.org/drawingml/2006/main">
            <a:off x="609600" y="525780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95522"/>
                </a:solidFill>
                <a:latin typeface="Arial"/>
                <a:ea typeface="Arial"/>
                <a:cs typeface="Arial"/>
              </a:defRPr>
            </a:defPPr>
          </a:lstStyle>
          <a:p xmlns:a="http://schemas.openxmlformats.org/drawingml/2006/main">
            <a:pPr>
              <a:defRPr sz="2025" b="0">
                <a:solidFill>
                  <a:srgbClr val="B95522"/>
                </a:solidFill>
                <a:latin typeface="Arial"/>
                <a:ea typeface="Arial"/>
                <a:cs typeface="Arial"/>
              </a:defRPr>
            </a:pPr>
            <a:r>
              <a:rPr sz="2025" b="0">
                <a:solidFill>
                  <a:srgbClr val="B95522"/>
                </a:solidFill>
                <a:latin typeface="Arial"/>
                <a:ea typeface="Arial"/>
                <a:cs typeface="Arial"/>
              </a:rPr>
              <a:t>Main risk: recovered points receive the wrong affordance.</a:t>
            </a:r>
          </a:p>
          <a:p xmlns:a="http://schemas.openxmlformats.org/drawingml/2006/main">
            <a:pPr>
              <a:defRPr sz="2025" b="0">
                <a:solidFill>
                  <a:srgbClr val="B95522"/>
                </a:solidFill>
                <a:latin typeface="Arial"/>
                <a:ea typeface="Arial"/>
                <a:cs typeface="Arial"/>
              </a:defRPr>
            </a:pPr>
            <a:r>
              <a:rPr sz="2025" b="0">
                <a:solidFill>
                  <a:srgbClr val="B95522"/>
                </a:solidFill>
                <a:latin typeface="Arial"/>
                <a:ea typeface="Arial"/>
                <a:cs typeface="Arial"/>
              </a:rPr>
              <a:t>Fallback: a reproducible negative result with error trade-offs.</a:t>
            </a:r>
          </a:p>
        </p:txBody>
      </p:sp>
    </p:spTree>
    <p:extLst>
      <p:ext uri="{BB962C8B-B14F-4D97-AF65-F5344CB8AC3E}">
        <p14:creationId xmlns:p14="http://schemas.microsoft.com/office/powerpoint/2010/main" val="19859752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E79C0E3-AFDB-424D-94E1-F15DB4CC2244}"/>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Proposed contribution</a:t>
            </a:r>
          </a:p>
        </p:txBody>
      </p:sp>
      <p:sp>
        <p:nvSpPr>
          <p:cNvPr id="2" name="">
            <a:extLst xmlns:a="http://schemas.openxmlformats.org/drawingml/2006/main">
              <a:ext uri="{FF2B5EF4-FFF2-40B4-BE49-F238E27FC236}">
                <a16:creationId xmlns:a16="http://schemas.microsoft.com/office/drawing/2014/main" id="{9B6E7478-AC48-4085-9C00-6BBE9DC03E9C}"/>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6E68745F-DA18-48B4-AD14-39BD903076FD}"/>
              </a:ext>
            </a:extLst>
          </p:cNvPr>
          <p:cNvSpPr>
            <a:spLocks xmlns:a="http://schemas.openxmlformats.org/drawingml/2006/main" noGrp="1"/>
          </p:cNvSpPr>
          <p:nvPr/>
        </p:nvSpPr>
        <p:spPr>
          <a:xfrm xmlns:a="http://schemas.openxmlformats.org/drawingml/2006/main">
            <a:off x="609600" y="19526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006D77"/>
                </a:solidFill>
                <a:latin typeface="Arial"/>
                <a:ea typeface="Arial"/>
                <a:cs typeface="Arial"/>
              </a:defRPr>
            </a:defPPr>
          </a:lstStyle>
          <a:p xmlns:a="http://schemas.openxmlformats.org/drawingml/2006/main">
            <a:pPr>
              <a:defRPr sz="3375" b="1">
                <a:solidFill>
                  <a:srgbClr val="006D77"/>
                </a:solidFill>
                <a:latin typeface="Arial"/>
                <a:ea typeface="Arial"/>
                <a:cs typeface="Arial"/>
              </a:defRPr>
            </a:pPr>
            <a:r>
              <a:rPr sz="3375" b="1">
                <a:solidFill>
                  <a:srgbClr val="006D77"/>
                </a:solidFill>
                <a:latin typeface="Arial"/>
                <a:ea typeface="Arial"/>
                <a:cs typeface="Arial"/>
              </a:rPr>
              <a:t>A controlled test of background suppression</a:t>
            </a:r>
          </a:p>
          <a:p xmlns:a="http://schemas.openxmlformats.org/drawingml/2006/main">
            <a:pPr>
              <a:defRPr sz="3375" b="1">
                <a:solidFill>
                  <a:srgbClr val="006D77"/>
                </a:solidFill>
                <a:latin typeface="Arial"/>
                <a:ea typeface="Arial"/>
                <a:cs typeface="Arial"/>
              </a:defRPr>
            </a:pPr>
            <a:r>
              <a:rPr sz="3375" b="1">
                <a:solidFill>
                  <a:srgbClr val="006D77"/>
                </a:solidFill>
                <a:latin typeface="Arial"/>
                <a:ea typeface="Arial"/>
                <a:cs typeface="Arial"/>
              </a:rPr>
              <a:t>in a frozen 3D affordance model</a:t>
            </a:r>
          </a:p>
        </p:txBody>
      </p:sp>
      <p:sp>
        <p:nvSpPr>
          <p:cNvPr id="4" name="">
            <a:extLst xmlns:a="http://schemas.openxmlformats.org/drawingml/2006/main">
              <a:ext uri="{FF2B5EF4-FFF2-40B4-BE49-F238E27FC236}">
                <a16:creationId xmlns:a16="http://schemas.microsoft.com/office/drawing/2014/main" id="{3F950F52-01C1-407B-BEA8-9BC509CB21CC}"/>
              </a:ext>
            </a:extLst>
          </p:cNvPr>
          <p:cNvSpPr>
            <a:spLocks xmlns:a="http://schemas.openxmlformats.org/drawingml/2006/main" noGrp="1"/>
          </p:cNvSpPr>
          <p:nvPr/>
        </p:nvSpPr>
        <p:spPr>
          <a:xfrm xmlns:a="http://schemas.openxmlformats.org/drawingml/2006/main">
            <a:off x="609600" y="41910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2C3B"/>
                </a:solidFill>
                <a:latin typeface="Arial"/>
                <a:ea typeface="Arial"/>
                <a:cs typeface="Arial"/>
              </a:defRPr>
            </a:defPPr>
          </a:lstStyle>
          <a:p xmlns:a="http://schemas.openxmlformats.org/drawingml/2006/main">
            <a:pPr>
              <a:defRPr sz="2250" b="0">
                <a:solidFill>
                  <a:srgbClr val="172C3B"/>
                </a:solidFill>
                <a:latin typeface="Arial"/>
                <a:ea typeface="Arial"/>
                <a:cs typeface="Arial"/>
              </a:defRPr>
            </a:pPr>
            <a:r>
              <a:rPr sz="2250" b="0">
                <a:solidFill>
                  <a:srgbClr val="172C3B"/>
                </a:solidFill>
                <a:latin typeface="Arial"/>
                <a:ea typeface="Arial"/>
                <a:cs typeface="Arial"/>
              </a:rPr>
              <a:t>Measured baseline. Observed failure. One scalar adjustment.</a:t>
            </a:r>
          </a:p>
          <a:p xmlns:a="http://schemas.openxmlformats.org/drawingml/2006/main">
            <a:pPr>
              <a:defRPr sz="2250" b="0">
                <a:solidFill>
                  <a:srgbClr val="172C3B"/>
                </a:solidFill>
                <a:latin typeface="Arial"/>
                <a:ea typeface="Arial"/>
                <a:cs typeface="Arial"/>
              </a:defRPr>
            </a:pPr>
            <a:r>
              <a:rPr sz="2250" b="0">
                <a:solidFill>
                  <a:srgbClr val="172C3B"/>
                </a:solidFill>
                <a:latin typeface="Arial"/>
                <a:ea typeface="Arial"/>
                <a:cs typeface="Arial"/>
              </a:rPr>
              <a:t>A result that can support or reject the hypothesis.</a:t>
            </a:r>
          </a:p>
        </p:txBody>
      </p:sp>
    </p:spTree>
    <p:extLst>
      <p:ext uri="{BB962C8B-B14F-4D97-AF65-F5344CB8AC3E}">
        <p14:creationId xmlns:p14="http://schemas.microsoft.com/office/powerpoint/2010/main" val="16634289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9D2A28-917B-4BA4-B2A7-B546DC26F5E3}"/>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Appendix: reproduction record</a:t>
            </a:r>
          </a:p>
        </p:txBody>
      </p:sp>
      <p:sp>
        <p:nvSpPr>
          <p:cNvPr id="2" name="">
            <a:extLst xmlns:a="http://schemas.openxmlformats.org/drawingml/2006/main">
              <a:ext uri="{FF2B5EF4-FFF2-40B4-BE49-F238E27FC236}">
                <a16:creationId xmlns:a16="http://schemas.microsoft.com/office/drawing/2014/main" id="{0AA8CD63-FD1A-4F1E-AA0F-80E3A9E45F5A}"/>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9D4651C9-1396-4A79-86C9-CBF80C9866BF}"/>
              </a:ext>
            </a:extLst>
          </p:cNvPr>
          <p:cNvSpPr>
            <a:spLocks xmlns:a="http://schemas.openxmlformats.org/drawingml/2006/main" noGrp="1"/>
          </p:cNvSpPr>
          <p:nvPr/>
        </p:nvSpPr>
        <p:spPr>
          <a:xfrm xmlns:a="http://schemas.openxmlformats.org/drawingml/2006/main">
            <a:off x="609600" y="15525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06D77"/>
                </a:solidFill>
                <a:latin typeface="Arial"/>
                <a:ea typeface="Arial"/>
                <a:cs typeface="Arial"/>
              </a:defRPr>
            </a:defPPr>
          </a:lstStyle>
          <a:p xmlns:a="http://schemas.openxmlformats.org/drawingml/2006/main">
            <a:pPr>
              <a:defRPr sz="2175" b="1">
                <a:solidFill>
                  <a:srgbClr val="006D77"/>
                </a:solidFill>
                <a:latin typeface="Arial"/>
                <a:ea typeface="Arial"/>
                <a:cs typeface="Arial"/>
              </a:defRPr>
            </a:pPr>
            <a:r>
              <a:rPr sz="2175" b="1">
                <a:solidFill>
                  <a:srgbClr val="006D77"/>
                </a:solidFill>
                <a:latin typeface="Arial"/>
                <a:ea typeface="Arial"/>
                <a:cs typeface="Arial"/>
              </a:rPr>
              <a:t>OpenAD_PN2 / partial checkpoint</a:t>
            </a:r>
          </a:p>
        </p:txBody>
      </p:sp>
      <p:sp>
        <p:nvSpPr>
          <p:cNvPr id="4" name="">
            <a:extLst xmlns:a="http://schemas.openxmlformats.org/drawingml/2006/main">
              <a:ext uri="{FF2B5EF4-FFF2-40B4-BE49-F238E27FC236}">
                <a16:creationId xmlns:a16="http://schemas.microsoft.com/office/drawing/2014/main" id="{A4C9BC24-15D3-481C-80F3-F4C78693FEA3}"/>
              </a:ext>
            </a:extLst>
          </p:cNvPr>
          <p:cNvSpPr>
            <a:spLocks xmlns:a="http://schemas.openxmlformats.org/drawingml/2006/main" noGrp="1"/>
          </p:cNvSpPr>
          <p:nvPr/>
        </p:nvSpPr>
        <p:spPr>
          <a:xfrm xmlns:a="http://schemas.openxmlformats.org/drawingml/2006/main">
            <a:off x="609600" y="2114550"/>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2C3B"/>
                </a:solidFill>
                <a:latin typeface="Arial"/>
                <a:ea typeface="Arial"/>
                <a:cs typeface="Arial"/>
              </a:defRPr>
            </a:defPPr>
          </a:lstStyle>
          <a:p xmlns:a="http://schemas.openxmlformats.org/drawingml/2006/main">
            <a:pPr>
              <a:defRPr sz="1875" b="0">
                <a:solidFill>
                  <a:srgbClr val="172C3B"/>
                </a:solidFill>
                <a:latin typeface="Arial"/>
                <a:ea typeface="Arial"/>
                <a:cs typeface="Arial"/>
              </a:defRPr>
            </a:pPr>
            <a:r>
              <a:rPr sz="1875" b="0">
                <a:solidFill>
                  <a:srgbClr val="172C3B"/>
                </a:solidFill>
                <a:latin typeface="Arial"/>
                <a:ea typeface="Arial"/>
                <a:cs typeface="Arial"/>
              </a:rPr>
              <a:t>Repository commit</a:t>
            </a:r>
          </a:p>
          <a:p xmlns:a="http://schemas.openxmlformats.org/drawingml/2006/main">
            <a:pPr>
              <a:defRPr sz="1875" b="0">
                <a:solidFill>
                  <a:srgbClr val="172C3B"/>
                </a:solidFill>
                <a:latin typeface="Arial"/>
                <a:ea typeface="Arial"/>
                <a:cs typeface="Arial"/>
              </a:defRPr>
            </a:pPr>
            <a:r>
              <a:rPr sz="1875" b="0">
                <a:solidFill>
                  <a:srgbClr val="172C3B"/>
                </a:solidFill>
                <a:latin typeface="Arial"/>
                <a:ea typeface="Arial"/>
                <a:cs typeface="Arial"/>
              </a:rPr>
              <a:t>b082265ed085455a3fdc80b0d8d95dc51351e7b4</a:t>
            </a:r>
          </a:p>
        </p:txBody>
      </p:sp>
      <p:sp>
        <p:nvSpPr>
          <p:cNvPr id="5" name="">
            <a:extLst xmlns:a="http://schemas.openxmlformats.org/drawingml/2006/main">
              <a:ext uri="{FF2B5EF4-FFF2-40B4-BE49-F238E27FC236}">
                <a16:creationId xmlns:a16="http://schemas.microsoft.com/office/drawing/2014/main" id="{229F91C1-C680-4DD5-A94C-927C48CF95D4}"/>
              </a:ext>
            </a:extLst>
          </p:cNvPr>
          <p:cNvSpPr>
            <a:spLocks xmlns:a="http://schemas.openxmlformats.org/drawingml/2006/main" noGrp="1"/>
          </p:cNvSpPr>
          <p:nvPr/>
        </p:nvSpPr>
        <p:spPr>
          <a:xfrm xmlns:a="http://schemas.openxmlformats.org/drawingml/2006/main">
            <a:off x="609600" y="3105150"/>
            <a:ext cx="109347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172C3B"/>
                </a:solidFill>
                <a:latin typeface="Arial"/>
                <a:ea typeface="Arial"/>
                <a:cs typeface="Arial"/>
              </a:defRPr>
            </a:defPPr>
          </a:lstStyle>
          <a:p xmlns:a="http://schemas.openxmlformats.org/drawingml/2006/main">
            <a:pPr>
              <a:defRPr sz="1650" b="0">
                <a:solidFill>
                  <a:srgbClr val="172C3B"/>
                </a:solidFill>
                <a:latin typeface="Arial"/>
                <a:ea typeface="Arial"/>
                <a:cs typeface="Arial"/>
              </a:defRPr>
            </a:pPr>
            <a:r>
              <a:rPr sz="1650" b="0">
                <a:solidFill>
                  <a:srgbClr val="172C3B"/>
                </a:solidFill>
                <a:latin typeface="Arial"/>
                <a:ea typeface="Arial"/>
                <a:cs typeface="Arial"/>
              </a:rPr>
              <a:t>Checkpoint SHA-256</a:t>
            </a:r>
          </a:p>
          <a:p xmlns:a="http://schemas.openxmlformats.org/drawingml/2006/main">
            <a:pPr>
              <a:defRPr sz="1650" b="0">
                <a:solidFill>
                  <a:srgbClr val="172C3B"/>
                </a:solidFill>
                <a:latin typeface="Arial"/>
                <a:ea typeface="Arial"/>
                <a:cs typeface="Arial"/>
              </a:defRPr>
            </a:pPr>
            <a:r>
              <a:rPr sz="1650" b="0">
                <a:solidFill>
                  <a:srgbClr val="172C3B"/>
                </a:solidFill>
                <a:latin typeface="Arial"/>
                <a:ea typeface="Arial"/>
                <a:cs typeface="Arial"/>
              </a:rPr>
              <a:t>cbcfe9ff70448d97a7047f1ade817645a9be29dd2782fba57776792a8210f2ae</a:t>
            </a:r>
          </a:p>
        </p:txBody>
      </p:sp>
      <p:sp>
        <p:nvSpPr>
          <p:cNvPr id="6" name="">
            <a:extLst xmlns:a="http://schemas.openxmlformats.org/drawingml/2006/main">
              <a:ext uri="{FF2B5EF4-FFF2-40B4-BE49-F238E27FC236}">
                <a16:creationId xmlns:a16="http://schemas.microsoft.com/office/drawing/2014/main" id="{1444DE32-1E96-4C59-9C64-BC163AA23420}"/>
              </a:ext>
            </a:extLst>
          </p:cNvPr>
          <p:cNvSpPr>
            <a:spLocks xmlns:a="http://schemas.openxmlformats.org/drawingml/2006/main" noGrp="1"/>
          </p:cNvSpPr>
          <p:nvPr/>
        </p:nvSpPr>
        <p:spPr>
          <a:xfrm xmlns:a="http://schemas.openxmlformats.org/drawingml/2006/main">
            <a:off x="609600" y="4162425"/>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Python 3.10.21 / PyTorch 2.14.1 / seed 1 / batch 1</a:t>
            </a:r>
          </a:p>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PointNet++ / 2,048 points for profiled sample / MPS</a:t>
            </a:r>
          </a:p>
        </p:txBody>
      </p:sp>
      <p:sp>
        <p:nvSpPr>
          <p:cNvPr id="7" name="">
            <a:extLst xmlns:a="http://schemas.openxmlformats.org/drawingml/2006/main">
              <a:ext uri="{FF2B5EF4-FFF2-40B4-BE49-F238E27FC236}">
                <a16:creationId xmlns:a16="http://schemas.microsoft.com/office/drawing/2014/main" id="{28C4D3FC-7F68-4A85-BD11-CF5BB92501BB}"/>
              </a:ext>
            </a:extLst>
          </p:cNvPr>
          <p:cNvSpPr>
            <a:spLocks xmlns:a="http://schemas.openxmlformats.org/drawingml/2006/main" noGrp="1"/>
          </p:cNvSpPr>
          <p:nvPr/>
        </p:nvSpPr>
        <p:spPr>
          <a:xfrm xmlns:a="http://schemas.openxmlformats.org/drawingml/2006/main">
            <a:off x="609600" y="5324475"/>
            <a:ext cx="108585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95522"/>
                </a:solidFill>
                <a:latin typeface="Arial"/>
                <a:ea typeface="Arial"/>
                <a:cs typeface="Arial"/>
              </a:defRPr>
            </a:defPPr>
          </a:lstStyle>
          <a:p xmlns:a="http://schemas.openxmlformats.org/drawingml/2006/main">
            <a:pPr>
              <a:defRPr sz="1800" b="0">
                <a:solidFill>
                  <a:srgbClr val="B95522"/>
                </a:solidFill>
                <a:latin typeface="Arial"/>
                <a:ea typeface="Arial"/>
                <a:cs typeface="Arial"/>
              </a:defRPr>
            </a:pPr>
            <a:r>
              <a:rPr sz="1800" b="0">
                <a:solidFill>
                  <a:srgbClr val="B95522"/>
                </a:solidFill>
                <a:latin typeface="Arial"/>
                <a:ea typeface="Arial"/>
                <a:cs typeface="Arial"/>
              </a:rPr>
              <a:t>Local changes: model device handling, test runner, evaluator</a:t>
            </a:r>
          </a:p>
          <a:p xmlns:a="http://schemas.openxmlformats.org/drawingml/2006/main">
            <a:pPr>
              <a:defRPr sz="1800" b="0">
                <a:solidFill>
                  <a:srgbClr val="B95522"/>
                </a:solidFill>
                <a:latin typeface="Arial"/>
                <a:ea typeface="Arial"/>
                <a:cs typeface="Arial"/>
              </a:defRPr>
            </a:pPr>
            <a:r>
              <a:rPr sz="1800" b="0">
                <a:solidFill>
                  <a:srgbClr val="B95522"/>
                </a:solidFill>
                <a:latin typeface="Arial"/>
                <a:ea typeface="Arial"/>
                <a:cs typeface="Arial"/>
              </a:rPr>
              <a:t>Complete local diff and exact data manifest still need packaging.</a:t>
            </a:r>
          </a:p>
        </p:txBody>
      </p:sp>
    </p:spTree>
    <p:extLst>
      <p:ext uri="{BB962C8B-B14F-4D97-AF65-F5344CB8AC3E}">
        <p14:creationId xmlns:p14="http://schemas.microsoft.com/office/powerpoint/2010/main" val="14430247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ACDC006-B687-47AA-86A3-F39BBD171FF1}"/>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Appendix: vocabulary and evaluation</a:t>
            </a:r>
          </a:p>
        </p:txBody>
      </p:sp>
      <p:sp>
        <p:nvSpPr>
          <p:cNvPr id="2" name="">
            <a:extLst xmlns:a="http://schemas.openxmlformats.org/drawingml/2006/main">
              <a:ext uri="{FF2B5EF4-FFF2-40B4-BE49-F238E27FC236}">
                <a16:creationId xmlns:a16="http://schemas.microsoft.com/office/drawing/2014/main" id="{A86EE037-BECD-4199-B1A4-2249B0CE1548}"/>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345B7404-B5FD-4387-8446-1452328969EC}"/>
              </a:ext>
            </a:extLst>
          </p:cNvPr>
          <p:cNvGraphicFramePr/>
          <p:nvPr/>
        </p:nvGraphicFramePr>
        <p:xfrm>
          <a:off xmlns:a="http://schemas.openxmlformats.org/drawingml/2006/main" x="609600" y="1524000"/>
          <a:ext xmlns:a="http://schemas.openxmlformats.org/drawingml/2006/main" cx="10972800" cy="3200400"/>
        </p:xfrm>
        <a:graphic xmlns:a="http://schemas.openxmlformats.org/drawingml/2006/main">
          <a:graphicData uri="http://schemas.openxmlformats.org/drawingml/2006/table">
            <a:tbl>
              <a:tblPr/>
              <a:tblGrid>
                <a:gridCol w="5486400"/>
                <a:gridCol w="5486400"/>
              </a:tblGrid>
              <a:tr h="533400">
                <a:tc>
                  <a:txBody>
                    <a:bodyPr/>
                    <a:lstStyle/>
                    <a:p>
                      <a:r>
                        <a:rPr sz="1950" b="1">
                          <a:solidFill>
                            <a:srgbClr val="FFFFFF"/>
                          </a:solidFill>
                          <a:latin typeface="Arial"/>
                          <a:ea typeface="Arial"/>
                          <a:cs typeface="Arial"/>
                        </a:rPr>
                        <a:t>Training query</a:t>
                      </a:r>
                    </a:p>
                  </a:txBody>
                  <a:tcPr marL="152400" marR="114300" marT="114300" marB="95250">
                    <a:solidFill>
                      <a:srgbClr val="006D77"/>
                    </a:solidFill>
                  </a:tcPr>
                </a:tc>
                <a:tc>
                  <a:txBody>
                    <a:bodyPr/>
                    <a:lstStyle/>
                    <a:p>
                      <a:r>
                        <a:rPr sz="1950" b="1">
                          <a:solidFill>
                            <a:srgbClr val="FFFFFF"/>
                          </a:solidFill>
                          <a:latin typeface="Arial"/>
                          <a:ea typeface="Arial"/>
                          <a:cs typeface="Arial"/>
                        </a:rPr>
                        <a:t>Replacement evaluation query</a:t>
                      </a:r>
                    </a:p>
                  </a:txBody>
                  <a:tcPr marL="152400" marR="114300" marT="114300" marB="95250">
                    <a:solidFill>
                      <a:srgbClr val="006D77"/>
                    </a:solidFill>
                  </a:tcPr>
                </a:tc>
              </a:tr>
              <a:tr h="533400">
                <a:tc>
                  <a:txBody>
                    <a:bodyPr/>
                    <a:lstStyle/>
                    <a:p>
                      <a:r>
                        <a:rPr sz="1950">
                          <a:solidFill>
                            <a:srgbClr val="172C3B"/>
                          </a:solidFill>
                          <a:latin typeface="Arial"/>
                          <a:ea typeface="Arial"/>
                          <a:cs typeface="Arial"/>
                        </a:rPr>
                        <a:t>grasp</a:t>
                      </a:r>
                    </a:p>
                  </a:txBody>
                  <a:tcPr marL="152400" marR="114300" marT="114300" marB="95250"/>
                </a:tc>
                <a:tc>
                  <a:txBody>
                    <a:bodyPr/>
                    <a:lstStyle/>
                    <a:p>
                      <a:r>
                        <a:rPr sz="1950">
                          <a:solidFill>
                            <a:srgbClr val="172C3B"/>
                          </a:solidFill>
                          <a:latin typeface="Arial"/>
                          <a:ea typeface="Arial"/>
                          <a:cs typeface="Arial"/>
                        </a:rPr>
                        <a:t>grab</a:t>
                      </a:r>
                    </a:p>
                  </a:txBody>
                  <a:tcPr marL="152400" marR="114300" marT="114300" marB="95250"/>
                </a:tc>
              </a:tr>
              <a:tr h="533400">
                <a:tc>
                  <a:txBody>
                    <a:bodyPr/>
                    <a:lstStyle/>
                    <a:p>
                      <a:r>
                        <a:rPr sz="1950">
                          <a:solidFill>
                            <a:srgbClr val="172C3B"/>
                          </a:solidFill>
                          <a:latin typeface="Arial"/>
                          <a:ea typeface="Arial"/>
                          <a:cs typeface="Arial"/>
                        </a:rPr>
                        <a:t>contain</a:t>
                      </a:r>
                    </a:p>
                  </a:txBody>
                  <a:tcPr marL="152400" marR="114300" marT="114300" marB="95250"/>
                </a:tc>
                <a:tc>
                  <a:txBody>
                    <a:bodyPr/>
                    <a:lstStyle/>
                    <a:p>
                      <a:r>
                        <a:rPr sz="1950">
                          <a:solidFill>
                            <a:srgbClr val="172C3B"/>
                          </a:solidFill>
                          <a:latin typeface="Arial"/>
                          <a:ea typeface="Arial"/>
                          <a:cs typeface="Arial"/>
                        </a:rPr>
                        <a:t>accommodate</a:t>
                      </a:r>
                    </a:p>
                  </a:txBody>
                  <a:tcPr marL="152400" marR="114300" marT="114300" marB="95250"/>
                </a:tc>
              </a:tr>
              <a:tr h="533400">
                <a:tc>
                  <a:txBody>
                    <a:bodyPr/>
                    <a:lstStyle/>
                    <a:p>
                      <a:r>
                        <a:rPr sz="1950">
                          <a:solidFill>
                            <a:srgbClr val="172C3B"/>
                          </a:solidFill>
                          <a:latin typeface="Arial"/>
                          <a:ea typeface="Arial"/>
                          <a:cs typeface="Arial"/>
                        </a:rPr>
                        <a:t>pourable</a:t>
                      </a:r>
                    </a:p>
                  </a:txBody>
                  <a:tcPr marL="152400" marR="114300" marT="114300" marB="95250"/>
                </a:tc>
                <a:tc>
                  <a:txBody>
                    <a:bodyPr/>
                    <a:lstStyle/>
                    <a:p>
                      <a:r>
                        <a:rPr sz="1950">
                          <a:solidFill>
                            <a:srgbClr val="172C3B"/>
                          </a:solidFill>
                          <a:latin typeface="Arial"/>
                          <a:ea typeface="Arial"/>
                          <a:cs typeface="Arial"/>
                        </a:rPr>
                        <a:t>pour</a:t>
                      </a:r>
                    </a:p>
                  </a:txBody>
                  <a:tcPr marL="152400" marR="114300" marT="114300" marB="95250"/>
                </a:tc>
              </a:tr>
              <a:tr h="533400">
                <a:tc>
                  <a:txBody>
                    <a:bodyPr/>
                    <a:lstStyle/>
                    <a:p>
                      <a:r>
                        <a:rPr sz="1950">
                          <a:solidFill>
                            <a:srgbClr val="172C3B"/>
                          </a:solidFill>
                          <a:latin typeface="Arial"/>
                          <a:ea typeface="Arial"/>
                          <a:cs typeface="Arial"/>
                        </a:rPr>
                        <a:t>wear</a:t>
                      </a:r>
                    </a:p>
                  </a:txBody>
                  <a:tcPr marL="152400" marR="114300" marT="114300" marB="95250"/>
                </a:tc>
                <a:tc>
                  <a:txBody>
                    <a:bodyPr/>
                    <a:lstStyle/>
                    <a:p>
                      <a:r>
                        <a:rPr sz="1950">
                          <a:solidFill>
                            <a:srgbClr val="172C3B"/>
                          </a:solidFill>
                          <a:latin typeface="Arial"/>
                          <a:ea typeface="Arial"/>
                          <a:cs typeface="Arial"/>
                        </a:rPr>
                        <a:t>clothe</a:t>
                      </a:r>
                    </a:p>
                  </a:txBody>
                  <a:tcPr marL="152400" marR="114300" marT="114300" marB="95250"/>
                </a:tc>
              </a:tr>
              <a:tr h="533400">
                <a:tc>
                  <a:txBody>
                    <a:bodyPr/>
                    <a:lstStyle/>
                    <a:p>
                      <a:r>
                        <a:rPr sz="1950">
                          <a:solidFill>
                            <a:srgbClr val="172C3B"/>
                          </a:solidFill>
                          <a:latin typeface="Arial"/>
                          <a:ea typeface="Arial"/>
                          <a:cs typeface="Arial"/>
                        </a:rPr>
                        <a:t>none</a:t>
                      </a:r>
                    </a:p>
                  </a:txBody>
                  <a:tcPr marL="152400" marR="114300" marT="114300" marB="95250"/>
                </a:tc>
                <a:tc>
                  <a:txBody>
                    <a:bodyPr/>
                    <a:lstStyle/>
                    <a:p>
                      <a:r>
                        <a:rPr sz="1950">
                          <a:solidFill>
                            <a:srgbClr val="172C3B"/>
                          </a:solidFill>
                          <a:latin typeface="Arial"/>
                          <a:ea typeface="Arial"/>
                          <a:cs typeface="Arial"/>
                        </a:rPr>
                        <a:t>none</a:t>
                      </a:r>
                    </a:p>
                  </a:txBody>
                  <a:tcPr marL="152400" marR="114300" marT="114300" marB="95250"/>
                </a:tc>
              </a:tr>
            </a:tbl>
          </a:graphicData>
        </a:graphic>
      </p:graphicFrame>
      <p:sp>
        <p:nvSpPr>
          <p:cNvPr id="4" name="">
            <a:extLst xmlns:a="http://schemas.openxmlformats.org/drawingml/2006/main">
              <a:ext uri="{FF2B5EF4-FFF2-40B4-BE49-F238E27FC236}">
                <a16:creationId xmlns:a16="http://schemas.microsoft.com/office/drawing/2014/main" id="{3EEF5EDA-7BE0-4C62-AAB1-45E7A85D61E7}"/>
              </a:ext>
            </a:extLst>
          </p:cNvPr>
          <p:cNvSpPr>
            <a:spLocks xmlns:a="http://schemas.openxmlformats.org/drawingml/2006/main" noGrp="1"/>
          </p:cNvSpPr>
          <p:nvPr/>
        </p:nvSpPr>
        <p:spPr>
          <a:xfrm xmlns:a="http://schemas.openxmlformats.org/drawingml/2006/main">
            <a:off x="609600" y="5153025"/>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B95522"/>
                </a:solidFill>
                <a:latin typeface="Arial"/>
                <a:ea typeface="Arial"/>
                <a:cs typeface="Arial"/>
              </a:defRPr>
            </a:defPPr>
          </a:lstStyle>
          <a:p xmlns:a="http://schemas.openxmlformats.org/drawingml/2006/main">
            <a:pPr>
              <a:defRPr sz="2100" b="0">
                <a:solidFill>
                  <a:srgbClr val="B95522"/>
                </a:solidFill>
                <a:latin typeface="Arial"/>
                <a:ea typeface="Arial"/>
                <a:cs typeface="Arial"/>
              </a:defRPr>
            </a:pPr>
            <a:r>
              <a:rPr sz="2100" b="0">
                <a:solidFill>
                  <a:srgbClr val="B95522"/>
                </a:solidFill>
                <a:latin typeface="Arial"/>
                <a:ea typeface="Arial"/>
                <a:cs typeface="Arial"/>
              </a:rPr>
              <a:t>The current run tests replacement query names.</a:t>
            </a:r>
          </a:p>
          <a:p xmlns:a="http://schemas.openxmlformats.org/drawingml/2006/main">
            <a:pPr>
              <a:defRPr sz="2100" b="0">
                <a:solidFill>
                  <a:srgbClr val="B95522"/>
                </a:solidFill>
                <a:latin typeface="Arial"/>
                <a:ea typeface="Arial"/>
                <a:cs typeface="Arial"/>
              </a:defRPr>
            </a:pPr>
            <a:r>
              <a:rPr sz="2100" b="0">
                <a:solidFill>
                  <a:srgbClr val="B95522"/>
                </a:solidFill>
                <a:latin typeface="Arial"/>
                <a:ea typeface="Arial"/>
                <a:cs typeface="Arial"/>
              </a:rPr>
              <a:t>Separate seen/unseen aggregates require a verified grouping.</a:t>
            </a:r>
          </a:p>
        </p:txBody>
      </p:sp>
    </p:spTree>
    <p:extLst>
      <p:ext uri="{BB962C8B-B14F-4D97-AF65-F5344CB8AC3E}">
        <p14:creationId xmlns:p14="http://schemas.microsoft.com/office/powerpoint/2010/main" val="91075963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55AFFB-B02C-4499-BE96-E113A0DFC42B}"/>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Appendix: evaluation safeguards</a:t>
            </a:r>
          </a:p>
        </p:txBody>
      </p:sp>
      <p:sp>
        <p:nvSpPr>
          <p:cNvPr id="2" name="">
            <a:extLst xmlns:a="http://schemas.openxmlformats.org/drawingml/2006/main">
              <a:ext uri="{FF2B5EF4-FFF2-40B4-BE49-F238E27FC236}">
                <a16:creationId xmlns:a16="http://schemas.microsoft.com/office/drawing/2014/main" id="{BA24566B-F678-4223-B6F9-2A7326D7EB16}"/>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D82F8D47-B56F-4069-BBC8-7533D676C253}"/>
              </a:ext>
            </a:extLst>
          </p:cNvPr>
          <p:cNvSpPr>
            <a:spLocks xmlns:a="http://schemas.openxmlformats.org/drawingml/2006/main" noGrp="1"/>
          </p:cNvSpPr>
          <p:nvPr/>
        </p:nvSpPr>
        <p:spPr>
          <a:xfrm xmlns:a="http://schemas.openxmlformats.org/drawingml/2006/main">
            <a:off x="609600" y="153352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D77"/>
                </a:solidFill>
                <a:latin typeface="Arial"/>
                <a:ea typeface="Arial"/>
                <a:cs typeface="Arial"/>
              </a:defRPr>
            </a:defPPr>
          </a:lstStyle>
          <a:p xmlns:a="http://schemas.openxmlformats.org/drawingml/2006/main">
            <a:pPr>
              <a:defRPr sz="2100" b="1">
                <a:solidFill>
                  <a:srgbClr val="006D77"/>
                </a:solidFill>
                <a:latin typeface="Arial"/>
                <a:ea typeface="Arial"/>
                <a:cs typeface="Arial"/>
              </a:defRPr>
            </a:pPr>
            <a:r>
              <a:rPr sz="2100" b="1">
                <a:solidFill>
                  <a:srgbClr val="006D77"/>
                </a:solidFill>
                <a:latin typeface="Arial"/>
                <a:ea typeface="Arial"/>
                <a:cs typeface="Arial"/>
              </a:rPr>
              <a:t>Split discipline</a:t>
            </a:r>
          </a:p>
        </p:txBody>
      </p:sp>
      <p:sp>
        <p:nvSpPr>
          <p:cNvPr id="4" name="">
            <a:extLst xmlns:a="http://schemas.openxmlformats.org/drawingml/2006/main">
              <a:ext uri="{FF2B5EF4-FFF2-40B4-BE49-F238E27FC236}">
                <a16:creationId xmlns:a16="http://schemas.microsoft.com/office/drawing/2014/main" id="{201A110E-ABE5-4EF2-B6DD-B6A2C6DAADF7}"/>
              </a:ext>
            </a:extLst>
          </p:cNvPr>
          <p:cNvSpPr>
            <a:spLocks xmlns:a="http://schemas.openxmlformats.org/drawingml/2006/main" noGrp="1"/>
          </p:cNvSpPr>
          <p:nvPr/>
        </p:nvSpPr>
        <p:spPr>
          <a:xfrm xmlns:a="http://schemas.openxmlformats.org/drawingml/2006/main">
            <a:off x="609600" y="1990725"/>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Development: official train objects, grouped by shape ID</a:t>
            </a:r>
          </a:p>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Evaluation: official validation, already examined and exploratory</a:t>
            </a:r>
          </a:p>
        </p:txBody>
      </p:sp>
      <p:sp>
        <p:nvSpPr>
          <p:cNvPr id="5" name="">
            <a:extLst xmlns:a="http://schemas.openxmlformats.org/drawingml/2006/main">
              <a:ext uri="{FF2B5EF4-FFF2-40B4-BE49-F238E27FC236}">
                <a16:creationId xmlns:a16="http://schemas.microsoft.com/office/drawing/2014/main" id="{45379348-9053-4511-8D8B-17E7605AFC28}"/>
              </a:ext>
            </a:extLst>
          </p:cNvPr>
          <p:cNvSpPr>
            <a:spLocks xmlns:a="http://schemas.openxmlformats.org/drawingml/2006/main" noGrp="1"/>
          </p:cNvSpPr>
          <p:nvPr/>
        </p:nvSpPr>
        <p:spPr>
          <a:xfrm xmlns:a="http://schemas.openxmlformats.org/drawingml/2006/main">
            <a:off x="609600" y="314325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D77"/>
                </a:solidFill>
                <a:latin typeface="Arial"/>
                <a:ea typeface="Arial"/>
                <a:cs typeface="Arial"/>
              </a:defRPr>
            </a:defPPr>
          </a:lstStyle>
          <a:p xmlns:a="http://schemas.openxmlformats.org/drawingml/2006/main">
            <a:pPr>
              <a:defRPr sz="2100" b="1">
                <a:solidFill>
                  <a:srgbClr val="006D77"/>
                </a:solidFill>
                <a:latin typeface="Arial"/>
                <a:ea typeface="Arial"/>
                <a:cs typeface="Arial"/>
              </a:defRPr>
            </a:pPr>
            <a:r>
              <a:rPr sz="2100" b="1">
                <a:solidFill>
                  <a:srgbClr val="006D77"/>
                </a:solidFill>
                <a:latin typeface="Arial"/>
                <a:ea typeface="Arial"/>
                <a:cs typeface="Arial"/>
              </a:rPr>
              <a:t>False-positive guardrail</a:t>
            </a:r>
          </a:p>
        </p:txBody>
      </p:sp>
      <p:sp>
        <p:nvSpPr>
          <p:cNvPr id="6" name="">
            <a:extLst xmlns:a="http://schemas.openxmlformats.org/drawingml/2006/main">
              <a:ext uri="{FF2B5EF4-FFF2-40B4-BE49-F238E27FC236}">
                <a16:creationId xmlns:a16="http://schemas.microsoft.com/office/drawing/2014/main" id="{B5FAA422-1375-423E-A496-BB28123B0901}"/>
              </a:ext>
            </a:extLst>
          </p:cNvPr>
          <p:cNvSpPr>
            <a:spLocks xmlns:a="http://schemas.openxmlformats.org/drawingml/2006/main" noGrp="1"/>
          </p:cNvSpPr>
          <p:nvPr/>
        </p:nvSpPr>
        <p:spPr>
          <a:xfrm xmlns:a="http://schemas.openxmlformats.org/drawingml/2006/main">
            <a:off x="609600" y="3600450"/>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Ground-truth none points predicted as any foreground class</a:t>
            </a:r>
          </a:p>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Report the change against the unchanged baseline</a:t>
            </a:r>
          </a:p>
        </p:txBody>
      </p:sp>
      <p:sp>
        <p:nvSpPr>
          <p:cNvPr id="7" name="">
            <a:extLst xmlns:a="http://schemas.openxmlformats.org/drawingml/2006/main">
              <a:ext uri="{FF2B5EF4-FFF2-40B4-BE49-F238E27FC236}">
                <a16:creationId xmlns:a16="http://schemas.microsoft.com/office/drawing/2014/main" id="{3581D20B-3811-46C9-9B77-D92EFF9EEB19}"/>
              </a:ext>
            </a:extLst>
          </p:cNvPr>
          <p:cNvSpPr>
            <a:spLocks xmlns:a="http://schemas.openxmlformats.org/drawingml/2006/main" noGrp="1"/>
          </p:cNvSpPr>
          <p:nvPr/>
        </p:nvSpPr>
        <p:spPr>
          <a:xfrm xmlns:a="http://schemas.openxmlformats.org/drawingml/2006/main">
            <a:off x="609600" y="473392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D77"/>
                </a:solidFill>
                <a:latin typeface="Arial"/>
                <a:ea typeface="Arial"/>
                <a:cs typeface="Arial"/>
              </a:defRPr>
            </a:defPPr>
          </a:lstStyle>
          <a:p xmlns:a="http://schemas.openxmlformats.org/drawingml/2006/main">
            <a:pPr>
              <a:defRPr sz="2100" b="1">
                <a:solidFill>
                  <a:srgbClr val="006D77"/>
                </a:solidFill>
                <a:latin typeface="Arial"/>
                <a:ea typeface="Arial"/>
                <a:cs typeface="Arial"/>
              </a:defRPr>
            </a:pPr>
            <a:r>
              <a:rPr sz="2100" b="1">
                <a:solidFill>
                  <a:srgbClr val="006D77"/>
                </a:solidFill>
                <a:latin typeface="Arial"/>
                <a:ea typeface="Arial"/>
                <a:cs typeface="Arial"/>
              </a:rPr>
              <a:t>Interpretation limits</a:t>
            </a:r>
          </a:p>
        </p:txBody>
      </p:sp>
      <p:sp>
        <p:nvSpPr>
          <p:cNvPr id="8" name="">
            <a:extLst xmlns:a="http://schemas.openxmlformats.org/drawingml/2006/main">
              <a:ext uri="{FF2B5EF4-FFF2-40B4-BE49-F238E27FC236}">
                <a16:creationId xmlns:a16="http://schemas.microsoft.com/office/drawing/2014/main" id="{AA77B65A-B445-45B3-AA25-DD77B527C479}"/>
              </a:ext>
            </a:extLst>
          </p:cNvPr>
          <p:cNvSpPr>
            <a:spLocks xmlns:a="http://schemas.openxmlformats.org/drawingml/2006/main" noGrp="1"/>
          </p:cNvSpPr>
          <p:nvPr/>
        </p:nvSpPr>
        <p:spPr>
          <a:xfrm xmlns:a="http://schemas.openxmlformats.org/drawingml/2006/main">
            <a:off x="609600" y="5191125"/>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The bias cannot improve ranking among foreground actions.</a:t>
            </a:r>
          </a:p>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Scores do not establish real robot success.</a:t>
            </a:r>
          </a:p>
        </p:txBody>
      </p:sp>
    </p:spTree>
    <p:extLst>
      <p:ext uri="{BB962C8B-B14F-4D97-AF65-F5344CB8AC3E}">
        <p14:creationId xmlns:p14="http://schemas.microsoft.com/office/powerpoint/2010/main" val="15486373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B4296D1-217F-4F3C-85E6-49F0BA159210}"/>
              </a:ext>
            </a:extLst>
          </p:cNvPr>
          <p:cNvSpPr>
            <a:spLocks xmlns:a="http://schemas.openxmlformats.org/drawingml/2006/main" noGrp="1"/>
          </p:cNvSpPr>
          <p:nvPr/>
        </p:nvSpPr>
        <p:spPr>
          <a:xfrm xmlns:a="http://schemas.openxmlformats.org/drawingml/2006/main">
            <a:off x="609600" y="381000"/>
            <a:ext cx="1089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72C3B"/>
                </a:solidFill>
                <a:latin typeface="Arial"/>
                <a:ea typeface="Arial"/>
                <a:cs typeface="Arial"/>
              </a:defRPr>
            </a:defPPr>
          </a:lstStyle>
          <a:p xmlns:a="http://schemas.openxmlformats.org/drawingml/2006/main">
            <a:pPr>
              <a:defRPr sz="3225" b="1">
                <a:solidFill>
                  <a:srgbClr val="172C3B"/>
                </a:solidFill>
                <a:latin typeface="Arial"/>
                <a:ea typeface="Arial"/>
                <a:cs typeface="Arial"/>
              </a:defRPr>
            </a:pPr>
            <a:r>
              <a:rPr sz="3225" b="1">
                <a:solidFill>
                  <a:srgbClr val="172C3B"/>
                </a:solidFill>
                <a:latin typeface="Arial"/>
                <a:ea typeface="Arial"/>
                <a:cs typeface="Arial"/>
              </a:rPr>
              <a:t>Appendix: related work and scope</a:t>
            </a:r>
          </a:p>
        </p:txBody>
      </p:sp>
      <p:sp>
        <p:nvSpPr>
          <p:cNvPr id="2" name="">
            <a:extLst xmlns:a="http://schemas.openxmlformats.org/drawingml/2006/main">
              <a:ext uri="{FF2B5EF4-FFF2-40B4-BE49-F238E27FC236}">
                <a16:creationId xmlns:a16="http://schemas.microsoft.com/office/drawing/2014/main" id="{6F5434A1-E6C3-450E-B020-57560D7FF402}"/>
              </a:ext>
            </a:extLst>
          </p:cNvPr>
          <p:cNvSpPr>
            <a:spLocks xmlns:a="http://schemas.openxmlformats.org/drawingml/2006/main" noGrp="1"/>
          </p:cNvSpPr>
          <p:nvPr/>
        </p:nvSpPr>
        <p:spPr>
          <a:xfrm xmlns:a="http://schemas.openxmlformats.org/drawingml/2006/main">
            <a:off x="10858500" y="6353175"/>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C1AF9501-13C2-4AC8-8601-1040D0F4F520}"/>
              </a:ext>
            </a:extLst>
          </p:cNvPr>
          <p:cNvSpPr>
            <a:spLocks xmlns:a="http://schemas.openxmlformats.org/drawingml/2006/main" noGrp="1"/>
          </p:cNvSpPr>
          <p:nvPr/>
        </p:nvSpPr>
        <p:spPr>
          <a:xfrm xmlns:a="http://schemas.openxmlformats.org/drawingml/2006/main">
            <a:off x="609600" y="150495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D77"/>
                </a:solidFill>
                <a:latin typeface="Arial"/>
                <a:ea typeface="Arial"/>
                <a:cs typeface="Arial"/>
              </a:defRPr>
            </a:defPPr>
          </a:lstStyle>
          <a:p xmlns:a="http://schemas.openxmlformats.org/drawingml/2006/main">
            <a:pPr>
              <a:defRPr sz="2100" b="1">
                <a:solidFill>
                  <a:srgbClr val="006D77"/>
                </a:solidFill>
                <a:latin typeface="Arial"/>
                <a:ea typeface="Arial"/>
                <a:cs typeface="Arial"/>
              </a:defRPr>
            </a:pPr>
            <a:r>
              <a:rPr sz="2100" b="1">
                <a:solidFill>
                  <a:srgbClr val="006D77"/>
                </a:solidFill>
                <a:latin typeface="Arial"/>
                <a:ea typeface="Arial"/>
                <a:cs typeface="Arial"/>
              </a:rPr>
              <a:t>OpenAD / IROS 2023</a:t>
            </a:r>
          </a:p>
        </p:txBody>
      </p:sp>
      <p:sp>
        <p:nvSpPr>
          <p:cNvPr id="4" name="">
            <a:extLst xmlns:a="http://schemas.openxmlformats.org/drawingml/2006/main">
              <a:ext uri="{FF2B5EF4-FFF2-40B4-BE49-F238E27FC236}">
                <a16:creationId xmlns:a16="http://schemas.microsoft.com/office/drawing/2014/main" id="{0E3BFBAB-3768-4426-8408-FB261FF0DC80}"/>
              </a:ext>
            </a:extLst>
          </p:cNvPr>
          <p:cNvSpPr>
            <a:spLocks xmlns:a="http://schemas.openxmlformats.org/drawingml/2006/main" noGrp="1"/>
          </p:cNvSpPr>
          <p:nvPr/>
        </p:nvSpPr>
        <p:spPr>
          <a:xfrm xmlns:a="http://schemas.openxmlformats.org/drawingml/2006/main">
            <a:off x="609600" y="1962150"/>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Point-text alignment for affordance prediction</a:t>
            </a:r>
          </a:p>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arXiv:2303.02401</a:t>
            </a:r>
          </a:p>
        </p:txBody>
      </p:sp>
      <p:sp>
        <p:nvSpPr>
          <p:cNvPr id="5" name="">
            <a:extLst xmlns:a="http://schemas.openxmlformats.org/drawingml/2006/main">
              <a:ext uri="{FF2B5EF4-FFF2-40B4-BE49-F238E27FC236}">
                <a16:creationId xmlns:a16="http://schemas.microsoft.com/office/drawing/2014/main" id="{F80B4401-32B5-4F2B-8DF1-632E4ECF8EDA}"/>
              </a:ext>
            </a:extLst>
          </p:cNvPr>
          <p:cNvSpPr>
            <a:spLocks xmlns:a="http://schemas.openxmlformats.org/drawingml/2006/main" noGrp="1"/>
          </p:cNvSpPr>
          <p:nvPr/>
        </p:nvSpPr>
        <p:spPr>
          <a:xfrm xmlns:a="http://schemas.openxmlformats.org/drawingml/2006/main">
            <a:off x="609600" y="3038475"/>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D77"/>
                </a:solidFill>
                <a:latin typeface="Arial"/>
                <a:ea typeface="Arial"/>
                <a:cs typeface="Arial"/>
              </a:defRPr>
            </a:defPPr>
          </a:lstStyle>
          <a:p xmlns:a="http://schemas.openxmlformats.org/drawingml/2006/main">
            <a:pPr>
              <a:defRPr sz="2100" b="1">
                <a:solidFill>
                  <a:srgbClr val="006D77"/>
                </a:solidFill>
                <a:latin typeface="Arial"/>
                <a:ea typeface="Arial"/>
                <a:cs typeface="Arial"/>
              </a:defRPr>
            </a:pPr>
            <a:r>
              <a:rPr sz="2100" b="1">
                <a:solidFill>
                  <a:srgbClr val="006D77"/>
                </a:solidFill>
                <a:latin typeface="Arial"/>
                <a:ea typeface="Arial"/>
                <a:cs typeface="Arial"/>
              </a:rPr>
              <a:t>Affogato / ECCV 2026</a:t>
            </a:r>
          </a:p>
        </p:txBody>
      </p:sp>
      <p:sp>
        <p:nvSpPr>
          <p:cNvPr id="6" name="">
            <a:extLst xmlns:a="http://schemas.openxmlformats.org/drawingml/2006/main">
              <a:ext uri="{FF2B5EF4-FFF2-40B4-BE49-F238E27FC236}">
                <a16:creationId xmlns:a16="http://schemas.microsoft.com/office/drawing/2014/main" id="{59969B32-5376-45CD-A5A3-A16407F104E7}"/>
              </a:ext>
            </a:extLst>
          </p:cNvPr>
          <p:cNvSpPr>
            <a:spLocks xmlns:a="http://schemas.openxmlformats.org/drawingml/2006/main" noGrp="1"/>
          </p:cNvSpPr>
          <p:nvPr/>
        </p:nvSpPr>
        <p:spPr>
          <a:xfrm xmlns:a="http://schemas.openxmlformats.org/drawingml/2006/main">
            <a:off x="609600" y="3495675"/>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Large-scale data and Espresso grounding models</a:t>
            </a:r>
          </a:p>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arXiv:2506.12009</a:t>
            </a:r>
          </a:p>
        </p:txBody>
      </p:sp>
      <p:sp>
        <p:nvSpPr>
          <p:cNvPr id="7" name="">
            <a:extLst xmlns:a="http://schemas.openxmlformats.org/drawingml/2006/main">
              <a:ext uri="{FF2B5EF4-FFF2-40B4-BE49-F238E27FC236}">
                <a16:creationId xmlns:a16="http://schemas.microsoft.com/office/drawing/2014/main" id="{03E6AAB3-9A87-4AA9-954B-CA45BFA55C7F}"/>
              </a:ext>
            </a:extLst>
          </p:cNvPr>
          <p:cNvSpPr>
            <a:spLocks xmlns:a="http://schemas.openxmlformats.org/drawingml/2006/main" noGrp="1"/>
          </p:cNvSpPr>
          <p:nvPr/>
        </p:nvSpPr>
        <p:spPr>
          <a:xfrm xmlns:a="http://schemas.openxmlformats.org/drawingml/2006/main">
            <a:off x="609600" y="4572000"/>
            <a:ext cx="10934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6D77"/>
                </a:solidFill>
                <a:latin typeface="Arial"/>
                <a:ea typeface="Arial"/>
                <a:cs typeface="Arial"/>
              </a:defRPr>
            </a:defPPr>
          </a:lstStyle>
          <a:p xmlns:a="http://schemas.openxmlformats.org/drawingml/2006/main">
            <a:pPr>
              <a:defRPr sz="2100" b="1">
                <a:solidFill>
                  <a:srgbClr val="006D77"/>
                </a:solidFill>
                <a:latin typeface="Arial"/>
                <a:ea typeface="Arial"/>
                <a:cs typeface="Arial"/>
              </a:defRPr>
            </a:pPr>
            <a:r>
              <a:rPr sz="2100" b="1">
                <a:solidFill>
                  <a:srgbClr val="006D77"/>
                </a:solidFill>
                <a:latin typeface="Arial"/>
                <a:ea typeface="Arial"/>
                <a:cs typeface="Arial"/>
              </a:rPr>
              <a:t>Affostruction / CVPR 2026</a:t>
            </a:r>
          </a:p>
        </p:txBody>
      </p:sp>
      <p:sp>
        <p:nvSpPr>
          <p:cNvPr id="8" name="">
            <a:extLst xmlns:a="http://schemas.openxmlformats.org/drawingml/2006/main">
              <a:ext uri="{FF2B5EF4-FFF2-40B4-BE49-F238E27FC236}">
                <a16:creationId xmlns:a16="http://schemas.microsoft.com/office/drawing/2014/main" id="{81F1BF9C-046D-42F6-B1F5-10AA4A68060F}"/>
              </a:ext>
            </a:extLst>
          </p:cNvPr>
          <p:cNvSpPr>
            <a:spLocks xmlns:a="http://schemas.openxmlformats.org/drawingml/2006/main" noGrp="1"/>
          </p:cNvSpPr>
          <p:nvPr/>
        </p:nvSpPr>
        <p:spPr>
          <a:xfrm xmlns:a="http://schemas.openxmlformats.org/drawingml/2006/main">
            <a:off x="609600" y="5029200"/>
            <a:ext cx="108108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C3B"/>
                </a:solidFill>
                <a:latin typeface="Arial"/>
                <a:ea typeface="Arial"/>
                <a:cs typeface="Arial"/>
              </a:defRPr>
            </a:defPPr>
          </a:lstStyle>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Generative reconstruction and grounding from RGBD</a:t>
            </a:r>
          </a:p>
          <a:p xmlns:a="http://schemas.openxmlformats.org/drawingml/2006/main">
            <a:pPr>
              <a:defRPr sz="2025" b="0">
                <a:solidFill>
                  <a:srgbClr val="172C3B"/>
                </a:solidFill>
                <a:latin typeface="Arial"/>
                <a:ea typeface="Arial"/>
                <a:cs typeface="Arial"/>
              </a:defRPr>
            </a:pPr>
            <a:r>
              <a:rPr sz="2025" b="0">
                <a:solidFill>
                  <a:srgbClr val="172C3B"/>
                </a:solidFill>
                <a:latin typeface="Arial"/>
                <a:ea typeface="Arial"/>
                <a:cs typeface="Arial"/>
              </a:rPr>
              <a:t>arXiv:2601.09211</a:t>
            </a:r>
          </a:p>
        </p:txBody>
      </p:sp>
    </p:spTree>
    <p:extLst>
      <p:ext uri="{BB962C8B-B14F-4D97-AF65-F5344CB8AC3E}">
        <p14:creationId xmlns:p14="http://schemas.microsoft.com/office/powerpoint/2010/main" val="7491280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2026-10-10T21:15:50.4720000Z</dcterms:created>
  <dcterms:modified xsi:type="dcterms:W3CDTF">2026-10-10T21:15:50.4720000Z</dcterms:modified>
</coreProperties>
</file>