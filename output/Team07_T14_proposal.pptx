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94"/>
  </p:normalViewPr>
  <p:slideViewPr>
    <p:cSldViewPr snapToGrid="0">
      <p:cViewPr varScale="1">
        <p:scale>
          <a:sx n="121" d="100"/>
          <a:sy n="121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is the T14 task described in the instructor guideline: input an object point cloud and affordance query; predict a score/label per point. </a:t>
            </a:r>
            <a:r>
              <a:rPr dirty="0" err="1"/>
              <a:t>OpenAD</a:t>
            </a:r>
            <a:r>
              <a:rPr dirty="0"/>
              <a:t> is the baseline. Source paper: https://</a:t>
            </a:r>
            <a:r>
              <a:rPr dirty="0" err="1"/>
              <a:t>arxiv.org</a:t>
            </a:r>
            <a:r>
              <a:rPr dirty="0"/>
              <a:t>/abs/2303.02401.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IoU</a:t>
            </a:r>
            <a:r>
              <a:rPr dirty="0"/>
              <a:t> means intersection over union: overlap between predicted points and ground-truth part points. The table reports global point-wise macro </a:t>
            </a:r>
            <a:r>
              <a:rPr dirty="0" err="1"/>
              <a:t>IoU</a:t>
            </a:r>
            <a:r>
              <a:rPr dirty="0"/>
              <a:t>. 18-action rows exclude none; 19-class rows include none. Partial scores: 40.39 vs 10.77 and including none 41.45 vs 12.53. Full scores: 35.18 vs 7.87 and including none 36.18 vs 9.76. These results show sensitivity to query wording, not proof of generalization to entirely new concepts; many aligned labels are related synonyms. Sources: archived E17 results and CPU/MPS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is one saved failure. All 563 ground-truth pour points were predicted as none, giving </a:t>
            </a:r>
            <a:r>
              <a:rPr dirty="0" err="1"/>
              <a:t>IoU</a:t>
            </a:r>
            <a:r>
              <a:rPr dirty="0"/>
              <a:t> 0.000 for this sample. Mean scores over those target points: pour 0.0584 and none 0.6440. Do not imply this is typical of the full dataset. A possible explanation is that the partial view hides cues for pouring and the held-out query wording differs from the training label vocabulary; this is a hypothesis, not a tested cause. Source: archived E02 failure visualization and score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E18 transferred five prompts selected in earlier Espresso-3D/Affogato-weight experiments to frozen </a:t>
            </a:r>
            <a:r>
              <a:rPr dirty="0" err="1"/>
              <a:t>OpenAD</a:t>
            </a:r>
            <a:r>
              <a:rPr dirty="0"/>
              <a:t>. The 1,941 shapes / 7,764 views were disjoint from those earlier prompt-study IDs, but the validation split is not an official independent test set. On MPS, for unlock: original sentence </a:t>
            </a:r>
            <a:r>
              <a:rPr dirty="0" err="1"/>
              <a:t>IoU</a:t>
            </a:r>
            <a:r>
              <a:rPr dirty="0"/>
              <a:t> 0.0927%, canonical word 3.6878%, selected paraphrase 12.3621%. Positive-object paired gain over original sentence +8.406 percentage points, 95% CI [+5.691,+11.418]. Negative-object any-alarm rate increased 0.34% to 1.61%. Other four selected paraphrases did not show comparable localization gains. Five tested total; wording “four of five” is accurate. Sources: archived E18 CPU/MPS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Research question: Across 18 actions on partial point clouds, how do one paraphrase and a three-prompt average change </a:t>
            </a:r>
            <a:r>
              <a:rPr dirty="0" err="1"/>
              <a:t>OpenAD</a:t>
            </a:r>
            <a:r>
              <a:rPr dirty="0"/>
              <a:t> </a:t>
            </a:r>
            <a:r>
              <a:rPr dirty="0" err="1"/>
              <a:t>IoU</a:t>
            </a:r>
            <a:r>
              <a:rPr dirty="0"/>
              <a:t> and false alarms versus canonical action words? Hypothesis: prompt effects vary by action; three-prompt averaging may not improve overall </a:t>
            </a:r>
            <a:r>
              <a:rPr dirty="0" err="1"/>
              <a:t>IoU</a:t>
            </a:r>
            <a:r>
              <a:rPr dirty="0"/>
              <a:t> and may trade localization gains for false alarms. Primary contrast is three-prompt average vs canonical; the one-paraphrase condition is secondary. Report paired </a:t>
            </a:r>
            <a:r>
              <a:rPr dirty="0" err="1"/>
              <a:t>IoU</a:t>
            </a:r>
            <a:r>
              <a:rPr dirty="0"/>
              <a:t> and false-alarm changes. This cautious hypothesis reflects the mixed E08–E16 exploratory record and should be treated as a new, falsifiable prediction, not an established result. Freeze prompts before test evaluation, and do not select wording using test labels or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Reproducibility record: released </a:t>
            </a:r>
            <a:r>
              <a:rPr dirty="0" err="1"/>
              <a:t>OpenAD</a:t>
            </a:r>
            <a:r>
              <a:rPr dirty="0"/>
              <a:t> PN2 checkpoint SHA-256 cbcfe9ff70448d97a7047f1ade817645a9be29dd2782fba57776792a8210f2ae. E03–E05 record commit b082265ed085455a3fdc80b0d8d95dc51351e7b4; working tree modified models/</a:t>
            </a:r>
            <a:r>
              <a:rPr dirty="0" err="1"/>
              <a:t>openad_dgcnn.py</a:t>
            </a:r>
            <a:r>
              <a:rPr dirty="0"/>
              <a:t>, models/openad_pn2.py, </a:t>
            </a:r>
            <a:r>
              <a:rPr dirty="0" err="1"/>
              <a:t>test_open_vocab.py</a:t>
            </a:r>
            <a:r>
              <a:rPr dirty="0"/>
              <a:t>, utils/</a:t>
            </a:r>
            <a:r>
              <a:rPr dirty="0" err="1"/>
              <a:t>eval.py</a:t>
            </a:r>
            <a:r>
              <a:rPr dirty="0"/>
              <a:t>. E01 log did not capture its commit. E01 scores: partial 12.4964%, full 14.4121%. E05: point-weighted partial 19-class </a:t>
            </a:r>
            <a:r>
              <a:rPr dirty="0" err="1"/>
              <a:t>mIoU</a:t>
            </a:r>
            <a:r>
              <a:rPr dirty="0"/>
              <a:t> 12.5364%, batch1, stochastic point sampling. These are distinct adapted evaluations. M3 Pro </a:t>
            </a:r>
            <a:r>
              <a:rPr dirty="0" err="1"/>
              <a:t>PyTorch</a:t>
            </a:r>
            <a:r>
              <a:rPr dirty="0"/>
              <a:t> MPS profile: one synchronized cold forward on 2,048 points after setup 0.5456 s, no warm-up. Sampled high-water Metal driver allocation was 1,390,460,928 bytes (~1.295 GiB) at 5 </a:t>
            </a:r>
            <a:r>
              <a:rPr dirty="0" err="1"/>
              <a:t>ms</a:t>
            </a:r>
            <a:r>
              <a:rPr dirty="0"/>
              <a:t> sampling. It is unified memory and not guaranteed physical peak VRAM. E01 is not an untouched official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Experiment register. E01 adapted OpenAD baseline, partial mIoU 12.4964%, full 14.4121%. E02 selected failure example. E03–E04 one-sample CPU/MPS checks. E05 all 9,140 partial views, batch1, point-weighted mIoU 12.5364%. E06 smoke test without semantic metrics. E07 one-case Espresso-3D inference. E08–E13 small prompt studies; E13 grab selected phrase +5.85 percentage points, 95% CI +1.59 to +11.00, positive-only. E14 accommodate negative-object alarms 6/20 to 13/20 at diagnostic threshold 0.5. E15 calibration selected empty predictions. E16 prespecified &lt;=10% alarm cap selected threshold 1.00 and 0/20 positive detections; MPS completed, CPU attempt aborted. E17 query-name sensitivity. E18 prompt transfer to OpenAD, unlock paraphrase 12.36% versus canonical 3.69% and original sentence 0.09%; negative object any-alarm rate 0.34% to 1.61%, other four prompts did not show similar gains. E08–E18 are exploratory validation, not official test results. E08–E16 use an unofficial Espresso-3D reimplementation with Affogato-pretrained weights. Affostruction inference did not run. References: Open-Vocabulary Affordance Detection in 3D Point Clouds, Nguyen et al., IROS 2023, arXiv:2303.02401. Affogato: Open-Vocabulary Affordance Grounding with Automated Data Generation at Scale, Lee et al., ECCV 2026, arXiv:2506.12009. Affostruction: 3D Affordance Grounding with Generative Reconstruction, Park et al., CVPR 2026, arXiv:2601.09211.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34B9EF8-0A34-4B03-9E49-82735E4D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8F77C3D-6985-48E5-B9C1-71FC3EC66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DD8C107-F51C-455F-B082-1599E132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884895-4D0D-4FE9-9254-D015F324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070B101-DAC2-48C7-A8F7-89E547FD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29BF36F-58F9-4179-86F6-A691D0EF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34A120-1CCF-401E-81A6-46EFDC262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19A603C-D61E-49C2-9E7C-ABB7CF17F3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62B754A-000B-45E4-8E1E-8E4890603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7030785-0357-4B46-ABCD-CCD719F7C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A0C7622-AA54-4796-96D3-5906720EC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392318"/>
            <a:ext cx="12192000" cy="40733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2F7C3F-D6DD-4422-800E-FDC1C50E24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CBCB8-5B89-4CA5-A114-30D1670ED5CF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RESEARCH PROPOSAL · T14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DF9198-A9AF-49F2-B309-7FC0C7B232F9}"/>
              </a:ext>
            </a:extLst>
          </p:cNvPr>
          <p:cNvSpPr>
            <a:spLocks noGrp="1"/>
          </p:cNvSpPr>
          <p:nvPr/>
        </p:nvSpPr>
        <p:spPr>
          <a:xfrm>
            <a:off x="723900" y="990600"/>
            <a:ext cx="857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31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31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31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What we learned from our</a:t>
            </a:r>
          </a:p>
          <a:p>
            <a:pPr algn="l">
              <a:defRPr sz="31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31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3D affordance experiments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751BD-65C5-4F19-8710-0950AB295237}"/>
              </a:ext>
            </a:extLst>
          </p:cNvPr>
          <p:cNvSpPr>
            <a:spLocks noGrp="1"/>
          </p:cNvSpPr>
          <p:nvPr/>
        </p:nvSpPr>
        <p:spPr>
          <a:xfrm>
            <a:off x="762000" y="2181225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6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6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And the next question we plan to test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E3682C-89F4-4ACB-9D6A-3E5BC8D40767}"/>
              </a:ext>
            </a:extLst>
          </p:cNvPr>
          <p:cNvSpPr>
            <a:spLocks noGrp="1"/>
          </p:cNvSpPr>
          <p:nvPr/>
        </p:nvSpPr>
        <p:spPr>
          <a:xfrm>
            <a:off x="723900" y="5476875"/>
            <a:ext cx="66675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1C5DD-FFB6-476C-AF63-C593D6A2E86F}"/>
              </a:ext>
            </a:extLst>
          </p:cNvPr>
          <p:cNvSpPr>
            <a:spLocks noGrp="1"/>
          </p:cNvSpPr>
          <p:nvPr/>
        </p:nvSpPr>
        <p:spPr>
          <a:xfrm>
            <a:off x="895350" y="5648325"/>
            <a:ext cx="628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Team 7 · Yamin Myat Aung (20233523) · Hakon Maelum (50261597)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0FA65-5ED2-47B3-9581-7BADA3A106DA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209754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9EF293B-3197-4F76-9354-60A16064B868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9DDBD6-E9A0-4548-83E3-3C0B6B9E7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E144A0-ED09-4904-8C96-913AF5F3FC15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The task is to find which points support an 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392499-3600-4312-87A3-4BFC92D7D5D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F07A2-2B29-4D9D-92CE-1955E8B14AEA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02 / 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45DFBD5-353C-41C7-BC28-A879F25F341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366CCD-E69E-4B6B-9A93-063ED83A71A5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104775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C427DB-DAFB-44FC-B54A-02CF03B9E4CD}"/>
              </a:ext>
            </a:extLst>
          </p:cNvPr>
          <p:cNvSpPr>
            <a:spLocks noGrp="1"/>
          </p:cNvSpPr>
          <p:nvPr/>
        </p:nvSpPr>
        <p:spPr>
          <a:xfrm>
            <a:off x="981075" y="1847850"/>
            <a:ext cx="91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06DE3D-9B05-43C8-93E0-9E00EE9B6C23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400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0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 3D object point cloud</a:t>
            </a:r>
          </a:p>
          <a:p>
            <a: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0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about 1,000–2,000 XYZ points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E0AF69-56C1-4545-A50F-80C043D3DF75}"/>
              </a:ext>
            </a:extLst>
          </p:cNvPr>
          <p:cNvSpPr>
            <a:spLocks noGrp="1"/>
          </p:cNvSpPr>
          <p:nvPr/>
        </p:nvSpPr>
        <p:spPr>
          <a:xfrm>
            <a:off x="5095875" y="25908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850" b="1">
                <a:solidFill>
                  <a:srgbClr val="F2B84B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2850" b="1">
                <a:solidFill>
                  <a:srgbClr val="F2B84B"/>
                </a:solidFill>
                <a:latin typeface="Avenir"/>
                <a:ea typeface="Avenir"/>
                <a:cs typeface="Avenir"/>
              </a:defRPr>
            </a:pPr>
            <a:r>
              <a:rPr sz="2850" b="1">
                <a:solidFill>
                  <a:srgbClr val="F2B84B"/>
                </a:solidFill>
                <a:latin typeface="Avenir"/>
                <a:ea typeface="Avenir"/>
                <a:cs typeface="Avenir"/>
              </a:rPr>
              <a:t>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652C9A-EB5E-42E5-96C8-A9F02D160B05}"/>
              </a:ext>
            </a:extLst>
          </p:cNvPr>
          <p:cNvSpPr>
            <a:spLocks noGrp="1"/>
          </p:cNvSpPr>
          <p:nvPr/>
        </p:nvSpPr>
        <p:spPr>
          <a:xfrm>
            <a:off x="5657850" y="2419350"/>
            <a:ext cx="504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0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An action in words</a:t>
            </a:r>
          </a:p>
          <a:p>
            <a: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0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“grasp”, “press”, or “sit on”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6963B5-1E0B-45B3-9112-FCD9D937F822}"/>
              </a:ext>
            </a:extLst>
          </p:cNvPr>
          <p:cNvSpPr>
            <a:spLocks noGrp="1"/>
          </p:cNvSpPr>
          <p:nvPr/>
        </p:nvSpPr>
        <p:spPr>
          <a:xfrm>
            <a:off x="914400" y="3619500"/>
            <a:ext cx="10363200" cy="9525"/>
          </a:xfrm>
          <a:prstGeom prst="rect">
            <a:avLst/>
          </a:prstGeom>
          <a:solidFill>
            <a:srgbClr val="D7E1E8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99DCC9-1234-4901-9C6E-61398FA75B78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1143000" cy="304800"/>
          </a:xfrm>
          <a:prstGeom prst="roundRect">
            <a:avLst>
              <a:gd name="adj" fmla="val 25000"/>
            </a:avLst>
          </a:prstGeom>
          <a:solidFill>
            <a:srgbClr val="FFF4D9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E6F8C8-ABF1-4B08-8952-DDC66F743627}"/>
              </a:ext>
            </a:extLst>
          </p:cNvPr>
          <p:cNvSpPr>
            <a:spLocks noGrp="1"/>
          </p:cNvSpPr>
          <p:nvPr/>
        </p:nvSpPr>
        <p:spPr>
          <a:xfrm>
            <a:off x="981075" y="3905250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OUTPUT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771EC8-00DA-4C6F-9431-F43891CEB90F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0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 score or label for every point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819339-2325-4328-9029-B09ABFA5D955}"/>
              </a:ext>
            </a:extLst>
          </p:cNvPr>
          <p:cNvSpPr>
            <a:spLocks noGrp="1"/>
          </p:cNvSpPr>
          <p:nvPr/>
        </p:nvSpPr>
        <p:spPr>
          <a:xfrm>
            <a:off x="914400" y="501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0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The same object can have different parts highlighted for different actions.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848E74-5DF1-4ADB-82E3-59047EA40AB4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7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Why it is difficult: a partial view may hide the part that matters.</a:t>
            </a:r>
          </a:p>
        </p:txBody>
      </p:sp>
    </p:spTree>
    <p:extLst>
      <p:ext uri="{BB962C8B-B14F-4D97-AF65-F5344CB8AC3E}">
        <p14:creationId xmlns:p14="http://schemas.microsoft.com/office/powerpoint/2010/main" val="211276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9764297-46A7-4451-A0C2-E417AE768BFD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538598-1772-4729-BDC9-7B12945EF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87E674-313C-439F-BED6-00B849858727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Our OpenAD baseline and evaluation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C80BB6-B777-48AE-96C4-F9C1C427C59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88C2D0-0C96-432D-9C43-AF77773BD8A2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03 / 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275F2F-3726-4586-82C7-332EA0D5DA8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181600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D0E52-D39C-4D6A-8391-C90E5F323219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PUBLIC CHECKPOINT · E01 ADAPTED EVALUATION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E5A6A8-33D6-4CEB-8988-9B574DCD4373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1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1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OpenAD PN2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AF4D28-ACB1-49F3-BA21-B4D094464770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BF71B2-A3F8-454D-9872-36F8F0984EFA}"/>
              </a:ext>
            </a:extLst>
          </p:cNvPr>
          <p:cNvSpPr>
            <a:spLocks noGrp="1"/>
          </p:cNvSpPr>
          <p:nvPr/>
        </p:nvSpPr>
        <p:spPr>
          <a:xfrm>
            <a:off x="962025" y="27717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PARTIAL · E01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F353E5-69E5-4974-893B-8AE56E24C474}"/>
              </a:ext>
            </a:extLst>
          </p:cNvPr>
          <p:cNvSpPr>
            <a:spLocks noGrp="1"/>
          </p:cNvSpPr>
          <p:nvPr/>
        </p:nvSpPr>
        <p:spPr>
          <a:xfrm>
            <a:off x="962025" y="3038475"/>
            <a:ext cx="19240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2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2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12.50%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DD8CA8C-E90D-4CB1-8347-EFEA5F84566E}"/>
              </a:ext>
            </a:extLst>
          </p:cNvPr>
          <p:cNvSpPr>
            <a:spLocks noGrp="1"/>
          </p:cNvSpPr>
          <p:nvPr/>
        </p:nvSpPr>
        <p:spPr>
          <a:xfrm>
            <a:off x="3219450" y="270510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438435-15D9-4771-BF56-E60ABB2A964C}"/>
              </a:ext>
            </a:extLst>
          </p:cNvPr>
          <p:cNvSpPr>
            <a:spLocks noGrp="1"/>
          </p:cNvSpPr>
          <p:nvPr/>
        </p:nvSpPr>
        <p:spPr>
          <a:xfrm>
            <a:off x="3343275" y="27717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FULL · E01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FB0CF4-14D6-4B65-A1F3-F0D71AB56BED}"/>
              </a:ext>
            </a:extLst>
          </p:cNvPr>
          <p:cNvSpPr>
            <a:spLocks noGrp="1"/>
          </p:cNvSpPr>
          <p:nvPr/>
        </p:nvSpPr>
        <p:spPr>
          <a:xfrm>
            <a:off x="3343275" y="3038475"/>
            <a:ext cx="19240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2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2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14.41%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475CAC-79E4-4DFA-BC10-0248A5F788EB}"/>
              </a:ext>
            </a:extLst>
          </p:cNvPr>
          <p:cNvSpPr>
            <a:spLocks noGrp="1"/>
          </p:cNvSpPr>
          <p:nvPr/>
        </p:nvSpPr>
        <p:spPr>
          <a:xfrm>
            <a:off x="857250" y="3867150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D40042-C0FB-4334-98C6-E558CD91C938}"/>
              </a:ext>
            </a:extLst>
          </p:cNvPr>
          <p:cNvSpPr>
            <a:spLocks noGrp="1"/>
          </p:cNvSpPr>
          <p:nvPr/>
        </p:nvSpPr>
        <p:spPr>
          <a:xfrm>
            <a:off x="1085850" y="3781425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Released weights fixed; no retraining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70D1086-41D0-49C7-8135-EEB024A5CCBF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6CC510-6BBF-4803-86FF-3F697548FEED}"/>
              </a:ext>
            </a:extLst>
          </p:cNvPr>
          <p:cNvSpPr>
            <a:spLocks noGrp="1"/>
          </p:cNvSpPr>
          <p:nvPr/>
        </p:nvSpPr>
        <p:spPr>
          <a:xfrm>
            <a:off x="1085850" y="4257675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E01 used an adapted evaluation; see appendix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1A6119-7F6B-4D5D-AA6B-1DD895793DDB}"/>
              </a:ext>
            </a:extLst>
          </p:cNvPr>
          <p:cNvSpPr>
            <a:spLocks noGrp="1"/>
          </p:cNvSpPr>
          <p:nvPr/>
        </p:nvSpPr>
        <p:spPr>
          <a:xfrm>
            <a:off x="857250" y="4819650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5414DD-692D-414B-B32E-1449B6A0DCAE}"/>
              </a:ext>
            </a:extLst>
          </p:cNvPr>
          <p:cNvSpPr>
            <a:spLocks noGrp="1"/>
          </p:cNvSpPr>
          <p:nvPr/>
        </p:nvSpPr>
        <p:spPr>
          <a:xfrm>
            <a:off x="1085850" y="4733925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Separate profile: Apple M3 Pro GPU via MPS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12ECCFB-7137-4E03-B5BD-D9091E6BF83E}"/>
              </a:ext>
            </a:extLst>
          </p:cNvPr>
          <p:cNvSpPr>
            <a:spLocks noGrp="1"/>
          </p:cNvSpPr>
          <p:nvPr/>
        </p:nvSpPr>
        <p:spPr>
          <a:xfrm>
            <a:off x="6057900" y="1619250"/>
            <a:ext cx="5524500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E657F2-394E-43BD-881C-308974E35B71}"/>
              </a:ext>
            </a:extLst>
          </p:cNvPr>
          <p:cNvSpPr>
            <a:spLocks noGrp="1"/>
          </p:cNvSpPr>
          <p:nvPr/>
        </p:nvSpPr>
        <p:spPr>
          <a:xfrm>
            <a:off x="6305550" y="1828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3D-AFFORDANCENET VALIDATION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C09EAA-41E5-4642-9A58-D14042BA5656}"/>
              </a:ext>
            </a:extLst>
          </p:cNvPr>
          <p:cNvSpPr>
            <a:spLocks noGrp="1"/>
          </p:cNvSpPr>
          <p:nvPr/>
        </p:nvSpPr>
        <p:spPr>
          <a:xfrm>
            <a:off x="6305550" y="220980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Partial views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9F65EB-0BAE-41B2-8DD2-A6C208BFA081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9,140 views · 2,285 objects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FA6422-F656-442C-8584-CEAC0E198A77}"/>
              </a:ext>
            </a:extLst>
          </p:cNvPr>
          <p:cNvSpPr>
            <a:spLocks noGrp="1"/>
          </p:cNvSpPr>
          <p:nvPr/>
        </p:nvSpPr>
        <p:spPr>
          <a:xfrm>
            <a:off x="6305550" y="2762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E05 all-view mIoU¹: 12.54%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6574AA-4653-441D-A293-3BC4230305D2}"/>
              </a:ext>
            </a:extLst>
          </p:cNvPr>
          <p:cNvSpPr>
            <a:spLocks noGrp="1"/>
          </p:cNvSpPr>
          <p:nvPr/>
        </p:nvSpPr>
        <p:spPr>
          <a:xfrm>
            <a:off x="6305550" y="3171825"/>
            <a:ext cx="4953000" cy="9525"/>
          </a:xfrm>
          <a:prstGeom prst="rect">
            <a:avLst/>
          </a:prstGeom>
          <a:solidFill>
            <a:srgbClr val="D7E1E8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283376-1E63-459B-95A3-73DEA960B022}"/>
              </a:ext>
            </a:extLst>
          </p:cNvPr>
          <p:cNvSpPr>
            <a:spLocks noGrp="1"/>
          </p:cNvSpPr>
          <p:nvPr/>
        </p:nvSpPr>
        <p:spPr>
          <a:xfrm>
            <a:off x="6305550" y="333375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Full shapes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E1D907-5FEA-409B-99E0-A5DABD1DC637}"/>
              </a:ext>
            </a:extLst>
          </p:cNvPr>
          <p:cNvSpPr>
            <a:spLocks noGrp="1"/>
          </p:cNvSpPr>
          <p:nvPr/>
        </p:nvSpPr>
        <p:spPr>
          <a:xfrm>
            <a:off x="6305550" y="36004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2,285 complete objects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C96E7F-1453-42EC-9487-015FCB6AE68C}"/>
              </a:ext>
            </a:extLst>
          </p:cNvPr>
          <p:cNvSpPr>
            <a:spLocks noGrp="1"/>
          </p:cNvSpPr>
          <p:nvPr/>
        </p:nvSpPr>
        <p:spPr>
          <a:xfrm>
            <a:off x="6305550" y="40195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One 2,048-point pass: 0.546 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2AC884-CA02-46CE-9719-43935D7EFFF2}"/>
              </a:ext>
            </a:extLst>
          </p:cNvPr>
          <p:cNvSpPr>
            <a:spLocks noGrp="1"/>
          </p:cNvSpPr>
          <p:nvPr/>
        </p:nvSpPr>
        <p:spPr>
          <a:xfrm>
            <a:off x="6305550" y="42957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~1.295 GiB sampled Metal allocation²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654535-139E-4C82-96F2-BA3DAF520846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¹E05 differs from E01 in batch/sampling setup. ²Unified-memory sample, not peak VRAM.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4AE401-B111-46A7-BABF-2E737FEBE4F1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E01 is an adapted baseline evaluation, not an untouched official reproduction.</a:t>
            </a:r>
          </a:p>
        </p:txBody>
      </p:sp>
    </p:spTree>
    <p:extLst>
      <p:ext uri="{BB962C8B-B14F-4D97-AF65-F5344CB8AC3E}">
        <p14:creationId xmlns:p14="http://schemas.microsoft.com/office/powerpoint/2010/main" val="74869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8B34B3F-D2D4-43CC-A5F8-44856D7BAC93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5C4AC4-E204-45AE-B347-13427E60F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15682F-1558-445F-9219-D5900EA50923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OpenAD scores change sharply with query-name choice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DB4E4-9E8C-41A9-983F-0CA462E5C083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32DE4A-CFDF-492D-A57B-4696965E832C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04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2B8932-FF9C-4D95-8A06-A8582E79B52F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Same checkpoint and point clouds; only the query vocabulary changed.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A5B1DC-6384-4E13-B063-03E5E83301C5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MEAN POINT-WISE IoU¹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0C771D-9640-4B4C-9544-DA597A045B00}"/>
              </a:ext>
            </a:extLst>
          </p:cNvPr>
          <p:cNvSpPr>
            <a:spLocks noGrp="1"/>
          </p:cNvSpPr>
          <p:nvPr/>
        </p:nvSpPr>
        <p:spPr>
          <a:xfrm>
            <a:off x="3924300" y="1885950"/>
            <a:ext cx="285750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3FC98-731B-4C3A-80D3-B1B27D5A0143}"/>
              </a:ext>
            </a:extLst>
          </p:cNvPr>
          <p:cNvSpPr>
            <a:spLocks noGrp="1"/>
          </p:cNvSpPr>
          <p:nvPr/>
        </p:nvSpPr>
        <p:spPr>
          <a:xfrm>
            <a:off x="3990975" y="1885950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TRAINING-NAME QUERIES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383630-1DA3-49F0-891B-9E773B595642}"/>
              </a:ext>
            </a:extLst>
          </p:cNvPr>
          <p:cNvSpPr>
            <a:spLocks noGrp="1"/>
          </p:cNvSpPr>
          <p:nvPr/>
        </p:nvSpPr>
        <p:spPr>
          <a:xfrm>
            <a:off x="7734300" y="1885950"/>
            <a:ext cx="3048000" cy="304800"/>
          </a:xfrm>
          <a:prstGeom prst="roundRect">
            <a:avLst>
              <a:gd name="adj" fmla="val 25000"/>
            </a:avLst>
          </a:prstGeom>
          <a:solidFill>
            <a:srgbClr val="FFF4D9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7D3971-51FC-49B7-B5DE-4D8136BDD379}"/>
              </a:ext>
            </a:extLst>
          </p:cNvPr>
          <p:cNvSpPr>
            <a:spLocks noGrp="1"/>
          </p:cNvSpPr>
          <p:nvPr/>
        </p:nvSpPr>
        <p:spPr>
          <a:xfrm>
            <a:off x="7800975" y="188595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HELD-OUT QUERY NAMES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7C8D80-AD43-4D4E-A6F7-D4FAF10F3782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DE15BC-549F-4C46-806D-1C47EB3F318C}"/>
              </a:ext>
            </a:extLst>
          </p:cNvPr>
          <p:cNvSpPr>
            <a:spLocks noGrp="1"/>
          </p:cNvSpPr>
          <p:nvPr/>
        </p:nvSpPr>
        <p:spPr>
          <a:xfrm>
            <a:off x="800100" y="235267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Partial views · 18 actions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5A28D5-4BBC-4BA4-A8FC-72A4A2FABB13}"/>
              </a:ext>
            </a:extLst>
          </p:cNvPr>
          <p:cNvSpPr>
            <a:spLocks noGrp="1"/>
          </p:cNvSpPr>
          <p:nvPr/>
        </p:nvSpPr>
        <p:spPr>
          <a:xfrm>
            <a:off x="3924300" y="23526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6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40.39%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1A78-49F9-42B2-9433-D3C46DBE8528}"/>
              </a:ext>
            </a:extLst>
          </p:cNvPr>
          <p:cNvSpPr>
            <a:spLocks noGrp="1"/>
          </p:cNvSpPr>
          <p:nvPr/>
        </p:nvSpPr>
        <p:spPr>
          <a:xfrm>
            <a:off x="7734300" y="235267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10.77%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789B4E-7DBD-49D3-A4D8-A34D8F9FC4FB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Partial views · incl. “none”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6785D3-4DF9-40F3-A91A-6DFDB2D9EDA7}"/>
              </a:ext>
            </a:extLst>
          </p:cNvPr>
          <p:cNvSpPr>
            <a:spLocks noGrp="1"/>
          </p:cNvSpPr>
          <p:nvPr/>
        </p:nvSpPr>
        <p:spPr>
          <a:xfrm>
            <a:off x="3924300" y="30289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6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41.45%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CC0798-91C7-49E2-914C-16AECDA496B6}"/>
              </a:ext>
            </a:extLst>
          </p:cNvPr>
          <p:cNvSpPr>
            <a:spLocks noGrp="1"/>
          </p:cNvSpPr>
          <p:nvPr/>
        </p:nvSpPr>
        <p:spPr>
          <a:xfrm>
            <a:off x="7734300" y="3028950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12.53%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D15FB4D-D7E1-4EA7-9716-423128038BA4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36408D-7594-4CD7-96CB-D248FFCD1D04}"/>
              </a:ext>
            </a:extLst>
          </p:cNvPr>
          <p:cNvSpPr>
            <a:spLocks noGrp="1"/>
          </p:cNvSpPr>
          <p:nvPr/>
        </p:nvSpPr>
        <p:spPr>
          <a:xfrm>
            <a:off x="800100" y="37052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Full shapes · 18 actions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D82D1-BA29-4511-9393-DF4A8BC30C9C}"/>
              </a:ext>
            </a:extLst>
          </p:cNvPr>
          <p:cNvSpPr>
            <a:spLocks noGrp="1"/>
          </p:cNvSpPr>
          <p:nvPr/>
        </p:nvSpPr>
        <p:spPr>
          <a:xfrm>
            <a:off x="3924300" y="370522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6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35.18%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EBC22B-809F-45A1-8CF4-21ECC5374F95}"/>
              </a:ext>
            </a:extLst>
          </p:cNvPr>
          <p:cNvSpPr>
            <a:spLocks noGrp="1"/>
          </p:cNvSpPr>
          <p:nvPr/>
        </p:nvSpPr>
        <p:spPr>
          <a:xfrm>
            <a:off x="7734300" y="37052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7.87%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2B26A2-627D-4AD8-8EB2-E383A0591550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Full shapes · incl. “none”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B5745E-B25B-434E-A037-1959D29FE1CE}"/>
              </a:ext>
            </a:extLst>
          </p:cNvPr>
          <p:cNvSpPr>
            <a:spLocks noGrp="1"/>
          </p:cNvSpPr>
          <p:nvPr/>
        </p:nvSpPr>
        <p:spPr>
          <a:xfrm>
            <a:off x="3924300" y="4381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6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36.18%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89A1D8-B2C0-4B1B-AC86-1E00FFB13608}"/>
              </a:ext>
            </a:extLst>
          </p:cNvPr>
          <p:cNvSpPr>
            <a:spLocks noGrp="1"/>
          </p:cNvSpPr>
          <p:nvPr/>
        </p:nvSpPr>
        <p:spPr>
          <a:xfrm>
            <a:off x="7734300" y="4381500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9.76%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3ADF9B-2659-4CB9-A6A7-DCC44732667F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¹ IoU measures overlap between predicted points and the labeled part. Higher is better.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0228DF-A7C1-466C-83FF-33D99E886230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The model scored lower with held-out query names. This shows wording sensitivity, not new-concept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35184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B37EAA5-76EC-46B7-BD7F-827EBB07F103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 dirty="0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6346AC-9959-4092-82E8-982A5E294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CA4EB2-9989-4A06-AD6D-19A0A9C462E0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We found a clear failure on one partial vase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373C97-B7CA-4021-9893-63562DAE221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02C18-B134-45EA-A76E-0CC8E14DBD95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05 / 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B4544-4694-420A-9BA6-93041DAE7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802000"/>
            <a:ext cx="7239000" cy="247295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FBD5062-A352-4427-8178-49E149B4ACBA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3409950" cy="291465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B3359-9800-4B7D-9E3C-49E11944A478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Object: vase · Query: “pour”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1DDC07-8556-417D-9BBE-E824A06E1E95}"/>
              </a:ext>
            </a:extLst>
          </p:cNvPr>
          <p:cNvSpPr>
            <a:spLocks noGrp="1"/>
          </p:cNvSpPr>
          <p:nvPr/>
        </p:nvSpPr>
        <p:spPr>
          <a:xfrm>
            <a:off x="8420100" y="240030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22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322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pPr>
            <a:r>
              <a:rPr sz="3225" b="1">
                <a:solidFill>
                  <a:srgbClr val="C94747"/>
                </a:solidFill>
                <a:latin typeface="Avenir"/>
                <a:ea typeface="Avenir"/>
                <a:cs typeface="Avenir"/>
              </a:rPr>
              <a:t>563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A26AB8-B20D-4B8D-9D29-E678663725F6}"/>
              </a:ext>
            </a:extLst>
          </p:cNvPr>
          <p:cNvSpPr>
            <a:spLocks noGrp="1"/>
          </p:cNvSpPr>
          <p:nvPr/>
        </p:nvSpPr>
        <p:spPr>
          <a:xfrm>
            <a:off x="8420100" y="2952750"/>
            <a:ext cx="2714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points marked “pour” in the labels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1B7E2A-41CA-4644-8FAC-386358180CB4}"/>
              </a:ext>
            </a:extLst>
          </p:cNvPr>
          <p:cNvSpPr>
            <a:spLocks noGrp="1"/>
          </p:cNvSpPr>
          <p:nvPr/>
        </p:nvSpPr>
        <p:spPr>
          <a:xfrm>
            <a:off x="8420100" y="347662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1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1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0 of 563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88B5F6-AF55-4E57-8C8D-9EA5BFF16E21}"/>
              </a:ext>
            </a:extLst>
          </p:cNvPr>
          <p:cNvSpPr>
            <a:spLocks noGrp="1"/>
          </p:cNvSpPr>
          <p:nvPr/>
        </p:nvSpPr>
        <p:spPr>
          <a:xfrm>
            <a:off x="8420100" y="3886200"/>
            <a:ext cx="2809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target points predicted correctly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9AFC18-5380-4C20-A35C-8E3281191732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00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On those target points: pour score 0.058; none score 0.644.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F6C72C-651C-4D4D-A7A4-4429AB4F7293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3143250" cy="304800"/>
          </a:xfrm>
          <a:prstGeom prst="roundRect">
            <a:avLst>
              <a:gd name="adj" fmla="val 25000"/>
            </a:avLst>
          </a:prstGeom>
          <a:solidFill>
            <a:srgbClr val="FFF4D9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607498-F9F5-49DC-836C-A9A774A8B96A}"/>
              </a:ext>
            </a:extLst>
          </p:cNvPr>
          <p:cNvSpPr>
            <a:spLocks noGrp="1"/>
          </p:cNvSpPr>
          <p:nvPr/>
        </p:nvSpPr>
        <p:spPr>
          <a:xfrm>
            <a:off x="676275" y="5391150"/>
            <a:ext cx="3009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ONE EXAMPLE — NOT AN AVERAGE</a:t>
            </a:r>
          </a:p>
        </p:txBody>
      </p:sp>
    </p:spTree>
    <p:extLst>
      <p:ext uri="{BB962C8B-B14F-4D97-AF65-F5344CB8AC3E}">
        <p14:creationId xmlns:p14="http://schemas.microsoft.com/office/powerpoint/2010/main" val="99605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C1E0F3-A167-4381-8A9F-645D20EAD50D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0090D6-6A28-4543-9102-EDA76FDBC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D0616E-9662-4F2A-A3D4-480A6FCDF7B8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One paraphrase helped “unlock”; it did not help every query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6FD1EF-D93E-4EA0-8E3D-C32B9A18942B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6030B-B2EF-4580-B76D-F151442B7FD0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06 / 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790243-1440-4F99-B480-B44A71D52293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38750" cy="33718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69C0E9-0E30-4D56-92CF-DE018B8A99CB}"/>
              </a:ext>
            </a:extLst>
          </p:cNvPr>
          <p:cNvSpPr>
            <a:spLocks noGrp="1"/>
          </p:cNvSpPr>
          <p:nvPr/>
        </p:nvSpPr>
        <p:spPr>
          <a:xfrm>
            <a:off x="857250" y="18669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OPENAD PROMPT-TRANSFER PILOT · 1,941 OBJECTS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1D2DB-C484-4DDF-B12D-EA6EC8B5F7D4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“unlock” point-wise IoU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E556BE-595F-4524-8326-C22B21570E0B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Original sentence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0E8078D-FF79-4801-929D-5CA11DE484A3}"/>
              </a:ext>
            </a:extLst>
          </p:cNvPr>
          <p:cNvSpPr>
            <a:spLocks noGrp="1"/>
          </p:cNvSpPr>
          <p:nvPr/>
        </p:nvSpPr>
        <p:spPr>
          <a:xfrm>
            <a:off x="2762250" y="2867025"/>
            <a:ext cx="11487" cy="209550"/>
          </a:xfrm>
          <a:prstGeom prst="roundRect">
            <a:avLst>
              <a:gd name="adj" fmla="val 50000"/>
            </a:avLst>
          </a:prstGeom>
          <a:solidFill>
            <a:srgbClr val="526777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8701B8-9BBC-4679-946C-A210EB2C778D}"/>
              </a:ext>
            </a:extLst>
          </p:cNvPr>
          <p:cNvSpPr>
            <a:spLocks noGrp="1"/>
          </p:cNvSpPr>
          <p:nvPr/>
        </p:nvSpPr>
        <p:spPr>
          <a:xfrm>
            <a:off x="4476750" y="284797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0.09%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3E71F3-0591-4F7E-A167-5B6F99B6DE34}"/>
              </a:ext>
            </a:extLst>
          </p:cNvPr>
          <p:cNvSpPr>
            <a:spLocks noGrp="1"/>
          </p:cNvSpPr>
          <p:nvPr/>
        </p:nvSpPr>
        <p:spPr>
          <a:xfrm>
            <a:off x="857250" y="344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Canonical word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013ED6B-E426-44AF-8401-F6B8203BE499}"/>
              </a:ext>
            </a:extLst>
          </p:cNvPr>
          <p:cNvSpPr>
            <a:spLocks noGrp="1"/>
          </p:cNvSpPr>
          <p:nvPr/>
        </p:nvSpPr>
        <p:spPr>
          <a:xfrm>
            <a:off x="2762250" y="3457575"/>
            <a:ext cx="470973" cy="209550"/>
          </a:xfrm>
          <a:prstGeom prst="roundRect">
            <a:avLst>
              <a:gd name="adj" fmla="val 36364"/>
            </a:avLst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79D32-4D27-4FB8-8B1B-B6D651A2A0DF}"/>
              </a:ext>
            </a:extLst>
          </p:cNvPr>
          <p:cNvSpPr>
            <a:spLocks noGrp="1"/>
          </p:cNvSpPr>
          <p:nvPr/>
        </p:nvSpPr>
        <p:spPr>
          <a:xfrm>
            <a:off x="4476750" y="343852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3.69%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192515-1CB0-4634-BCE2-923C640CA364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Preselected paraphrase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2130B07-2E58-4875-B0EB-D438BC1F430D}"/>
              </a:ext>
            </a:extLst>
          </p:cNvPr>
          <p:cNvSpPr>
            <a:spLocks noGrp="1"/>
          </p:cNvSpPr>
          <p:nvPr/>
        </p:nvSpPr>
        <p:spPr>
          <a:xfrm>
            <a:off x="2762250" y="4048125"/>
            <a:ext cx="1577569" cy="209550"/>
          </a:xfrm>
          <a:prstGeom prst="roundRect">
            <a:avLst>
              <a:gd name="adj" fmla="val 36364"/>
            </a:avLst>
          </a:prstGeom>
          <a:solidFill>
            <a:srgbClr val="167DAD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D0E868-84B5-4686-B11C-7341C6988F5A}"/>
              </a:ext>
            </a:extLst>
          </p:cNvPr>
          <p:cNvSpPr>
            <a:spLocks noGrp="1"/>
          </p:cNvSpPr>
          <p:nvPr/>
        </p:nvSpPr>
        <p:spPr>
          <a:xfrm>
            <a:off x="4476750" y="402907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12.36%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650B2F3-3B64-42D4-8E8B-9718B3A6D274}"/>
              </a:ext>
            </a:extLst>
          </p:cNvPr>
          <p:cNvSpPr>
            <a:spLocks noGrp="1"/>
          </p:cNvSpPr>
          <p:nvPr/>
        </p:nvSpPr>
        <p:spPr>
          <a:xfrm>
            <a:off x="6134100" y="1657350"/>
            <a:ext cx="5448300" cy="3371850"/>
          </a:xfrm>
          <a:prstGeom prst="roundRect">
            <a:avLst>
              <a:gd name="adj" fmla="val 2260"/>
            </a:avLst>
          </a:prstGeom>
          <a:solidFill>
            <a:srgbClr val="FFF4D9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1A3AE-5068-4998-B2D6-B65CDB5768C2}"/>
              </a:ext>
            </a:extLst>
          </p:cNvPr>
          <p:cNvSpPr>
            <a:spLocks noGrp="1"/>
          </p:cNvSpPr>
          <p:nvPr/>
        </p:nvSpPr>
        <p:spPr>
          <a:xfrm>
            <a:off x="6419850" y="18859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THE TRADE-OFF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A7909A-57A7-437A-8FE6-D487DA92622C}"/>
              </a:ext>
            </a:extLst>
          </p:cNvPr>
          <p:cNvSpPr>
            <a:spLocks noGrp="1"/>
          </p:cNvSpPr>
          <p:nvPr/>
        </p:nvSpPr>
        <p:spPr>
          <a:xfrm>
            <a:off x="6419850" y="24003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Negative objects with any false alarm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7B2973-FD23-46C4-A84A-2DBF49937823}"/>
              </a:ext>
            </a:extLst>
          </p:cNvPr>
          <p:cNvSpPr>
            <a:spLocks noGrp="1"/>
          </p:cNvSpPr>
          <p:nvPr/>
        </p:nvSpPr>
        <p:spPr>
          <a:xfrm>
            <a:off x="6419850" y="27622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250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pPr>
            <a:r>
              <a:rPr sz="2250" b="1">
                <a:solidFill>
                  <a:srgbClr val="C94747"/>
                </a:solidFill>
                <a:latin typeface="Avenir"/>
                <a:ea typeface="Avenir"/>
                <a:cs typeface="Avenir"/>
              </a:rPr>
              <a:t>0.34% → 1.61%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7005BB-FDD7-4B0F-BC1B-6137BA3EACBF}"/>
              </a:ext>
            </a:extLst>
          </p:cNvPr>
          <p:cNvSpPr>
            <a:spLocks noGrp="1"/>
          </p:cNvSpPr>
          <p:nvPr/>
        </p:nvSpPr>
        <p:spPr>
          <a:xfrm>
            <a:off x="6419850" y="3476625"/>
            <a:ext cx="471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The other four tested prompts did not show a similar gain.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4779E-9300-4190-A348-D82F61B371A7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1" dirty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7,764 partial views · exploratory validation, not an official test set</a:t>
            </a:r>
          </a:p>
        </p:txBody>
      </p:sp>
    </p:spTree>
    <p:extLst>
      <p:ext uri="{BB962C8B-B14F-4D97-AF65-F5344CB8AC3E}">
        <p14:creationId xmlns:p14="http://schemas.microsoft.com/office/powerpoint/2010/main" val="196137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E4E53E-2A44-4AC3-8656-C67256DCCBF1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207183-34DF-4673-82FD-61CA457A9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44963C-A7B3-4E1B-A9EE-DE9D22CD382E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Earlier prompt studies found mixed, action-specific effects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75F6E-9F2C-4350-A1F3-799552361ED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A6944-822C-46CE-89D8-921C01EC8A9E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07 / 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7D1ED3-8F63-4682-95B1-547305BB8BB4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5191125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DFFE6-2E39-4089-99C5-C8E8129A3A86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E08–E13 · PROMPT WORDING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66B762-55EC-48C6-9934-D8A67BDABA22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Unofficial Espresso-3D + Affogato weights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6BB993-BD61-45BF-84B4-ECB10931696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8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8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No consistent prompt winner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8D81CB-59C1-44AC-A68A-1E8D17C2B6A0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4429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Prompt averaging often lowered scores; effects varied by action.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5D90AD-495B-41B8-9132-803D811AB8F4}"/>
              </a:ext>
            </a:extLst>
          </p:cNvPr>
          <p:cNvSpPr>
            <a:spLocks noGrp="1"/>
          </p:cNvSpPr>
          <p:nvPr/>
        </p:nvSpPr>
        <p:spPr>
          <a:xfrm>
            <a:off x="857250" y="3743325"/>
            <a:ext cx="4476750" cy="9525"/>
          </a:xfrm>
          <a:prstGeom prst="rect">
            <a:avLst/>
          </a:prstGeom>
          <a:solidFill>
            <a:srgbClr val="D7E1E8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A5F672-E01E-4108-B95A-51AF05F5E80A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7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E13 grab: +5.85 points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A11A5D-32E9-4FBB-8A51-9F6DE2877BB9}"/>
              </a:ext>
            </a:extLst>
          </p:cNvPr>
          <p:cNvSpPr>
            <a:spLocks noGrp="1"/>
          </p:cNvSpPr>
          <p:nvPr/>
        </p:nvSpPr>
        <p:spPr>
          <a:xfrm>
            <a:off x="857250" y="4248150"/>
            <a:ext cx="4429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95% CI +1.59 to +11.00; positive objects only.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F6CFF8-5684-41F5-A2DE-0DBB1BAC8AEF}"/>
              </a:ext>
            </a:extLst>
          </p:cNvPr>
          <p:cNvSpPr>
            <a:spLocks noGrp="1"/>
          </p:cNvSpPr>
          <p:nvPr/>
        </p:nvSpPr>
        <p:spPr>
          <a:xfrm>
            <a:off x="6057900" y="1638300"/>
            <a:ext cx="5524500" cy="3429000"/>
          </a:xfrm>
          <a:prstGeom prst="roundRect">
            <a:avLst>
              <a:gd name="adj" fmla="val 2222"/>
            </a:avLst>
          </a:prstGeom>
          <a:solidFill>
            <a:srgbClr val="FFF4D9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3FF4F5-16C5-473B-80FC-889933A20B8A}"/>
              </a:ext>
            </a:extLst>
          </p:cNvPr>
          <p:cNvSpPr>
            <a:spLocks noGrp="1"/>
          </p:cNvSpPr>
          <p:nvPr/>
        </p:nvSpPr>
        <p:spPr>
          <a:xfrm>
            <a:off x="6305550" y="18478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E14–E16 · PRESENCE &amp; THRESHOLDS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D01508-409F-41B9-B150-6A7E36C3B936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At score cutoff 0.5, accommodate negative-object alarms rose 6/20 → 13/20 with the selected phrase.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845EF4-C17B-4BA9-A1BB-9C8D80E4885A}"/>
              </a:ext>
            </a:extLst>
          </p:cNvPr>
          <p:cNvSpPr>
            <a:spLocks noGrp="1"/>
          </p:cNvSpPr>
          <p:nvPr/>
        </p:nvSpPr>
        <p:spPr>
          <a:xfrm>
            <a:off x="6305550" y="31432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A pre-set 10% alarm cap chose cutoff 1.00 and detected 0/20 positive objects.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8EEAD7-C41B-4B6E-8970-8DF77A71B9E1}"/>
              </a:ext>
            </a:extLst>
          </p:cNvPr>
          <p:cNvSpPr>
            <a:spLocks noGrp="1"/>
          </p:cNvSpPr>
          <p:nvPr/>
        </p:nvSpPr>
        <p:spPr>
          <a:xfrm>
            <a:off x="6305550" y="40290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C94747"/>
                </a:solidFill>
                <a:latin typeface="Avenir"/>
                <a:ea typeface="Avenir"/>
                <a:cs typeface="Avenir"/>
              </a:rPr>
              <a:t>Threshold calibration did not find a useful operating point.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9AA0D5-5556-4FFE-8AA4-AC7CB495B0DD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1" dirty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Small exploratory cross-model studies; not official Affogato results. </a:t>
            </a:r>
            <a:r>
              <a:rPr sz="1275" b="1" dirty="0" err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Affostruction</a:t>
            </a:r>
            <a:r>
              <a:rPr sz="1275" b="1" dirty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 was not run</a:t>
            </a:r>
            <a:r>
              <a:rPr lang="en-US" sz="1275" b="1" dirty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 cause of lack of GPU needs.</a:t>
            </a:r>
            <a:endParaRPr sz="1275" b="1" dirty="0">
              <a:solidFill>
                <a:srgbClr val="526777"/>
              </a:solidFill>
              <a:latin typeface="Avenir"/>
              <a:ea typeface="Avenir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60735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0BC44CF-925C-48D5-8A25-A6F6921E4322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44BF69-874A-4C3B-822D-A3618E951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4E46A97-1227-43F8-82C3-4545CD56DEA0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How do prompt strategies affect localization and false alarms?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573E4-A8FF-4D4A-8654-A3BFD7D5E8C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BE5BB-2AAF-4A1A-8E54-F5C623C0C06E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08 / 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2C9C02-BDC0-4FC5-8135-62F16C33A088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10972800" cy="1943100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FF36DD-94C1-4D47-89BD-490282D93878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8C4D6"/>
                </a:solidFill>
                <a:latin typeface="Avenir"/>
                <a:ea typeface="Avenir"/>
                <a:cs typeface="Avenir"/>
              </a:rPr>
              <a:t>RESEARCH QUESTION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CDD7C-8D2D-4E14-AE57-DC97ADE3EE92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1009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9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9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9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Across 18 actions on partial point clouds, how do one paraphrase and a three-prompt average change OpenAD IoU and false alarms versus canonical action words?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6A0604-8917-405A-A443-4A63D0ED898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02E4246-0757-46BC-8E0F-E9982E63958E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2238375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AA2860-40E6-4802-A1C4-4D6D7BFA4030}"/>
              </a:ext>
            </a:extLst>
          </p:cNvPr>
          <p:cNvSpPr>
            <a:spLocks noGrp="1"/>
          </p:cNvSpPr>
          <p:nvPr/>
        </p:nvSpPr>
        <p:spPr>
          <a:xfrm>
            <a:off x="942975" y="4057650"/>
            <a:ext cx="21050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TESTABLE HYPOTHESIS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1B8662-CAC7-4C2D-9910-9F2F60E25A15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5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Prompt effects will vary by action. We predict the three-prompt average will not give a reliable positive mean-IoU gain; any gains may come with more false alarms.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D07C1F-AC15-426B-B530-110CC73858B0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10144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Primary contrast: three-prompt average vs canonical; report paired IoU change and false-alarm change.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63097B-7229-4318-8BDA-7181E0E43F25}"/>
              </a:ext>
            </a:extLst>
          </p:cNvPr>
          <p:cNvSpPr>
            <a:spLocks noGrp="1"/>
          </p:cNvSpPr>
          <p:nvPr/>
        </p:nvSpPr>
        <p:spPr>
          <a:xfrm>
            <a:off x="876300" y="5172075"/>
            <a:ext cx="10144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125" b="1" dirty="0">
                <a:solidFill>
                  <a:srgbClr val="167DAD"/>
                </a:solidFill>
                <a:latin typeface="Avenir"/>
                <a:ea typeface="Avenir"/>
                <a:cs typeface="Avenir"/>
              </a:rPr>
              <a:t>A 95% CI fully above zero would overturn our prediction.</a:t>
            </a:r>
          </a:p>
        </p:txBody>
      </p:sp>
    </p:spTree>
    <p:extLst>
      <p:ext uri="{BB962C8B-B14F-4D97-AF65-F5344CB8AC3E}">
        <p14:creationId xmlns:p14="http://schemas.microsoft.com/office/powerpoint/2010/main" val="333571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D1C764-D496-4AD3-93F5-F5C24F7EFA08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60BAAB-8A02-4B89-9A24-97DEF12B7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9E7918-2585-468C-AFCA-4F75DEFE503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Three query conditions; everything else stays fixed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1CC57A-8244-4074-B511-65F80FFA227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F601F-89AE-4FFD-81D5-06BCC40E0BAF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09 / 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BD85A04-EB96-4246-9250-03725C0CF8F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191125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9892F-EF35-40E3-8C1B-1F6BEF187737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FAIR COMPARISON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0CE195-3333-4C02-8B73-72B476BD9BC2}"/>
              </a:ext>
            </a:extLst>
          </p:cNvPr>
          <p:cNvSpPr>
            <a:spLocks noGrp="1"/>
          </p:cNvSpPr>
          <p:nvPr/>
        </p:nvSpPr>
        <p:spPr>
          <a:xfrm>
            <a:off x="857250" y="23526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E8B957-CDFA-4E01-A244-F26DCFACA318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Same frozen OpenAD model and point samples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078917-2BDC-451C-9896-2AB01C398095}"/>
              </a:ext>
            </a:extLst>
          </p:cNvPr>
          <p:cNvSpPr>
            <a:spLocks noGrp="1"/>
          </p:cNvSpPr>
          <p:nvPr/>
        </p:nvSpPr>
        <p:spPr>
          <a:xfrm>
            <a:off x="857250" y="29241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61A244-1DC6-41A0-8BE9-66130AF67E12}"/>
              </a:ext>
            </a:extLst>
          </p:cNvPr>
          <p:cNvSpPr>
            <a:spLocks noGrp="1"/>
          </p:cNvSpPr>
          <p:nvPr/>
        </p:nvSpPr>
        <p:spPr>
          <a:xfrm>
            <a:off x="1085850" y="283845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A: canonical action word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03D948-E712-4AB9-97E9-E5BF13EA4CEA}"/>
              </a:ext>
            </a:extLst>
          </p:cNvPr>
          <p:cNvSpPr>
            <a:spLocks noGrp="1"/>
          </p:cNvSpPr>
          <p:nvPr/>
        </p:nvSpPr>
        <p:spPr>
          <a:xfrm>
            <a:off x="857250" y="34956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BA82E-2261-48A7-A8B8-0330A7188242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B: one preregistered paraphrase per action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6C35DD6-FA17-449A-A0A4-C4F391DFA7AD}"/>
              </a:ext>
            </a:extLst>
          </p:cNvPr>
          <p:cNvSpPr>
            <a:spLocks noGrp="1"/>
          </p:cNvSpPr>
          <p:nvPr/>
        </p:nvSpPr>
        <p:spPr>
          <a:xfrm>
            <a:off x="857250" y="40671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C2A02C-9D1F-4716-8081-3D7CF5203C96}"/>
              </a:ext>
            </a:extLst>
          </p:cNvPr>
          <p:cNvSpPr>
            <a:spLocks noGrp="1"/>
          </p:cNvSpPr>
          <p:nvPr/>
        </p:nvSpPr>
        <p:spPr>
          <a:xfrm>
            <a:off x="1085850" y="398145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C: average of three fixed paraphrase score maps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815E9EF-AA82-4510-AE77-196EA54BCB71}"/>
              </a:ext>
            </a:extLst>
          </p:cNvPr>
          <p:cNvSpPr>
            <a:spLocks noGrp="1"/>
          </p:cNvSpPr>
          <p:nvPr/>
        </p:nvSpPr>
        <p:spPr>
          <a:xfrm>
            <a:off x="857250" y="46386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46B784-46F4-4ECC-BD79-49B336DB9E4D}"/>
              </a:ext>
            </a:extLst>
          </p:cNvPr>
          <p:cNvSpPr>
            <a:spLocks noGrp="1"/>
          </p:cNvSpPr>
          <p:nvPr/>
        </p:nvSpPr>
        <p:spPr>
          <a:xfrm>
            <a:off x="1085850" y="455295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Partial views primary; full shapes control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23300C-4344-4951-92F8-3A2E152E9A35}"/>
              </a:ext>
            </a:extLst>
          </p:cNvPr>
          <p:cNvSpPr>
            <a:spLocks noGrp="1"/>
          </p:cNvSpPr>
          <p:nvPr/>
        </p:nvSpPr>
        <p:spPr>
          <a:xfrm>
            <a:off x="6038850" y="1619250"/>
            <a:ext cx="554355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3D1376-C1A1-4B07-AA8B-0D0CE1B509EA}"/>
              </a:ext>
            </a:extLst>
          </p:cNvPr>
          <p:cNvSpPr>
            <a:spLocks noGrp="1"/>
          </p:cNvSpPr>
          <p:nvPr/>
        </p:nvSpPr>
        <p:spPr>
          <a:xfrm>
            <a:off x="6286500" y="18288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WHAT WE WILL REPORT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BAAFB7-BD62-4605-86A2-F340C128D8D6}"/>
              </a:ext>
            </a:extLst>
          </p:cNvPr>
          <p:cNvSpPr>
            <a:spLocks noGrp="1"/>
          </p:cNvSpPr>
          <p:nvPr/>
        </p:nvSpPr>
        <p:spPr>
          <a:xfrm>
            <a:off x="6286500" y="23526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275B64-078B-485E-8BA1-6AD6CF3C1CD1}"/>
              </a:ext>
            </a:extLst>
          </p:cNvPr>
          <p:cNvSpPr>
            <a:spLocks noGrp="1"/>
          </p:cNvSpPr>
          <p:nvPr/>
        </p:nvSpPr>
        <p:spPr>
          <a:xfrm>
            <a:off x="6515100" y="2266950"/>
            <a:ext cx="472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Primary: 18-action mean IoU, C vs 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E65A0C-161C-4DAD-8C97-4684A342E481}"/>
              </a:ext>
            </a:extLst>
          </p:cNvPr>
          <p:cNvSpPr>
            <a:spLocks noGrp="1"/>
          </p:cNvSpPr>
          <p:nvPr/>
        </p:nvSpPr>
        <p:spPr>
          <a:xfrm>
            <a:off x="6286500" y="29241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DF1CE7-83E4-42A2-B7E8-36B806510546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472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Secondary: B vs A; per-action IoU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AFBE2B-C753-4256-9C9D-F92F0850D814}"/>
              </a:ext>
            </a:extLst>
          </p:cNvPr>
          <p:cNvSpPr>
            <a:spLocks noGrp="1"/>
          </p:cNvSpPr>
          <p:nvPr/>
        </p:nvSpPr>
        <p:spPr>
          <a:xfrm>
            <a:off x="6286500" y="34956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DEC672-8994-42CF-A165-CE495A722F2A}"/>
              </a:ext>
            </a:extLst>
          </p:cNvPr>
          <p:cNvSpPr>
            <a:spLocks noGrp="1"/>
          </p:cNvSpPr>
          <p:nvPr/>
        </p:nvSpPr>
        <p:spPr>
          <a:xfrm>
            <a:off x="6515100" y="3409950"/>
            <a:ext cx="472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19-class IoU and AUC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061AF1B-DE18-443D-A708-EDF7471E8BCF}"/>
              </a:ext>
            </a:extLst>
          </p:cNvPr>
          <p:cNvSpPr>
            <a:spLocks noGrp="1"/>
          </p:cNvSpPr>
          <p:nvPr/>
        </p:nvSpPr>
        <p:spPr>
          <a:xfrm>
            <a:off x="6286500" y="40671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E33933-FFDE-4E7A-BD28-7422B17CCA20}"/>
              </a:ext>
            </a:extLst>
          </p:cNvPr>
          <p:cNvSpPr>
            <a:spLocks noGrp="1"/>
          </p:cNvSpPr>
          <p:nvPr/>
        </p:nvSpPr>
        <p:spPr>
          <a:xfrm>
            <a:off x="6515100" y="3981450"/>
            <a:ext cx="472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False alarms on negative objects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3B46F2E-F21C-465E-B6FD-D02E5C670892}"/>
              </a:ext>
            </a:extLst>
          </p:cNvPr>
          <p:cNvSpPr>
            <a:spLocks noGrp="1"/>
          </p:cNvSpPr>
          <p:nvPr/>
        </p:nvSpPr>
        <p:spPr>
          <a:xfrm>
            <a:off x="6286500" y="46386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310FE0-865F-4798-8C7E-41B2B0C53E46}"/>
              </a:ext>
            </a:extLst>
          </p:cNvPr>
          <p:cNvSpPr>
            <a:spLocks noGrp="1"/>
          </p:cNvSpPr>
          <p:nvPr/>
        </p:nvSpPr>
        <p:spPr>
          <a:xfrm>
            <a:off x="6515100" y="4552950"/>
            <a:ext cx="472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Paired 95% CI, resampling by object</a:t>
            </a:r>
          </a:p>
        </p:txBody>
      </p:sp>
    </p:spTree>
    <p:extLst>
      <p:ext uri="{BB962C8B-B14F-4D97-AF65-F5344CB8AC3E}">
        <p14:creationId xmlns:p14="http://schemas.microsoft.com/office/powerpoint/2010/main" val="229604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FAB3B49-C426-4494-9CCE-4BD09F9B71AF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6631C4-1F2A-4E6D-8B4D-3F1A6C000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8FEF3E-E7F7-4670-BB59-8114D63C4486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Next experiment: compare three prompt strategies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D9420E-7CF9-49BF-AC95-CF412148B09E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2D38B-BA87-4358-95EE-9DA5195293D7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10 / 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FC2022-098B-49A1-B296-78D2C931F75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AFA465-9872-4C27-B38B-74E4C521FC1C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135255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F3DFE9-816E-4533-8788-B16F0E9E5438}"/>
              </a:ext>
            </a:extLst>
          </p:cNvPr>
          <p:cNvSpPr>
            <a:spLocks noGrp="1"/>
          </p:cNvSpPr>
          <p:nvPr/>
        </p:nvSpPr>
        <p:spPr>
          <a:xfrm>
            <a:off x="866775" y="184785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1 · WRITE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AFA3B-748E-4425-BBC2-590456EEB83B}"/>
              </a:ext>
            </a:extLst>
          </p:cNvPr>
          <p:cNvSpPr>
            <a:spLocks noGrp="1"/>
          </p:cNvSpPr>
          <p:nvPr/>
        </p:nvSpPr>
        <p:spPr>
          <a:xfrm>
            <a:off x="2381250" y="1714500"/>
            <a:ext cx="8858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For each of 18 actions, prepare three meaning-equivalent paraphrases. Freeze them before evaluation.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8EB8D1D-0F17-41B5-9C2C-68900127793F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EBB41C-6CF1-4A5B-BEBC-F8F240C2913C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135255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628AD-4310-4F0A-8C35-0538BB16618F}"/>
              </a:ext>
            </a:extLst>
          </p:cNvPr>
          <p:cNvSpPr>
            <a:spLocks noGrp="1"/>
          </p:cNvSpPr>
          <p:nvPr/>
        </p:nvSpPr>
        <p:spPr>
          <a:xfrm>
            <a:off x="866775" y="276225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2 · RUN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BBB2D-1392-491A-A0B2-FCD247871087}"/>
              </a:ext>
            </a:extLst>
          </p:cNvPr>
          <p:cNvSpPr>
            <a:spLocks noGrp="1"/>
          </p:cNvSpPr>
          <p:nvPr/>
        </p:nvSpPr>
        <p:spPr>
          <a:xfrm>
            <a:off x="2381250" y="2628900"/>
            <a:ext cx="8858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Score canonical words, one preregistered paraphrase per action, and the average of three paraphrase maps on identical partial views.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67DA416-2478-47B5-82FF-B21C598E6ED2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2D21F4D-9CFB-45CA-91CD-52F959578073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135255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F206AA-8BC1-4B01-A392-93AA18F38853}"/>
              </a:ext>
            </a:extLst>
          </p:cNvPr>
          <p:cNvSpPr>
            <a:spLocks noGrp="1"/>
          </p:cNvSpPr>
          <p:nvPr/>
        </p:nvSpPr>
        <p:spPr>
          <a:xfrm>
            <a:off x="866775" y="367665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3 · MEASURE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D4886C-8BF4-4F51-8C5A-1418D2F7E8D4}"/>
              </a:ext>
            </a:extLst>
          </p:cNvPr>
          <p:cNvSpPr>
            <a:spLocks noGrp="1"/>
          </p:cNvSpPr>
          <p:nvPr/>
        </p:nvSpPr>
        <p:spPr>
          <a:xfrm>
            <a:off x="2381250" y="3543300"/>
            <a:ext cx="8858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Primary: 18-action mean IoU, three-prompt average vs canonical. Also track false alarms and action-level results.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2C1EB4A-A1FB-4618-8073-50EF9251CB1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E7BA84A-DE42-4C53-B145-811DE927F50A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1352550" cy="304800"/>
          </a:xfrm>
          <a:prstGeom prst="roundRect">
            <a:avLst>
              <a:gd name="adj" fmla="val 25000"/>
            </a:avLst>
          </a:prstGeom>
          <a:solidFill>
            <a:srgbClr val="FFF4D9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11358F-B2EF-4105-90A7-4550D8399264}"/>
              </a:ext>
            </a:extLst>
          </p:cNvPr>
          <p:cNvSpPr>
            <a:spLocks noGrp="1"/>
          </p:cNvSpPr>
          <p:nvPr/>
        </p:nvSpPr>
        <p:spPr>
          <a:xfrm>
            <a:off x="866775" y="459105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4 · CHECK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7C9F2E-C9F3-480D-BE6F-CE03FCF19071}"/>
              </a:ext>
            </a:extLst>
          </p:cNvPr>
          <p:cNvSpPr>
            <a:spLocks noGrp="1"/>
          </p:cNvSpPr>
          <p:nvPr/>
        </p:nvSpPr>
        <p:spPr>
          <a:xfrm>
            <a:off x="2381250" y="4457700"/>
            <a:ext cx="8858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Use full shapes as a control; bootstrap paired differences by object and inspect failure cases.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645F4C-6DDA-4E81-8E1B-E932A96E4902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C94747"/>
                </a:solidFill>
                <a:latin typeface="Avenir"/>
                <a:ea typeface="Avenir"/>
                <a:cs typeface="Avenir"/>
              </a:rPr>
              <a:t>Use a fresh object-disjoint test set if possible; otherwise call the study exploratory.</a:t>
            </a:r>
          </a:p>
        </p:txBody>
      </p:sp>
    </p:spTree>
    <p:extLst>
      <p:ext uri="{BB962C8B-B14F-4D97-AF65-F5344CB8AC3E}">
        <p14:creationId xmlns:p14="http://schemas.microsoft.com/office/powerpoint/2010/main" val="861414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9000D1F-0264-47A1-A88A-C10666031EBA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0F220C-10DB-4CBA-BFDD-8B4649328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87D8D8-828C-4822-ADC7-E9BF71C2848E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Week 9–15: a staged plan for the prompt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A8D771-18EB-4B91-BA37-DFC38775867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B8ABF-4F39-4A7A-9C09-F02A3EA53149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11 / 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D50A8E-6CBC-477F-8E7B-C256FA2B4B56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7239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35DAFE-06D8-4FEE-80B7-3D773E2F2E2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5E555-AF20-4FE5-AFF4-81DF28DAB569}"/>
              </a:ext>
            </a:extLst>
          </p:cNvPr>
          <p:cNvSpPr>
            <a:spLocks noGrp="1"/>
          </p:cNvSpPr>
          <p:nvPr/>
        </p:nvSpPr>
        <p:spPr>
          <a:xfrm>
            <a:off x="790575" y="1581150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WEEK 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1E5FE-A8E9-4335-8B4C-7A28EC457E4D}"/>
              </a:ext>
            </a:extLst>
          </p:cNvPr>
          <p:cNvSpPr>
            <a:spLocks noGrp="1"/>
          </p:cNvSpPr>
          <p:nvPr/>
        </p:nvSpPr>
        <p:spPr>
          <a:xfrm>
            <a:off x="1924050" y="1543050"/>
            <a:ext cx="576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Freeze the research question, primary comparison, and test split.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8E39E5-26E7-42BE-AAAD-6373634A6E43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150C4B-3F76-4A2E-B563-CE832873ED1D}"/>
              </a:ext>
            </a:extLst>
          </p:cNvPr>
          <p:cNvSpPr>
            <a:spLocks noGrp="1"/>
          </p:cNvSpPr>
          <p:nvPr/>
        </p:nvSpPr>
        <p:spPr>
          <a:xfrm>
            <a:off x="790575" y="2133600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WEEK 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4D5AD-84AF-481B-9DAC-ABD79DB725C9}"/>
              </a:ext>
            </a:extLst>
          </p:cNvPr>
          <p:cNvSpPr>
            <a:spLocks noGrp="1"/>
          </p:cNvSpPr>
          <p:nvPr/>
        </p:nvSpPr>
        <p:spPr>
          <a:xfrm>
            <a:off x="1924050" y="2095500"/>
            <a:ext cx="576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Write three paraphrases per action; freeze prompts before scoring.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3FA80C-DAE4-414D-B8D6-76B24CB4C13B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7239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EF6BC6F-655C-4067-BCDE-1AC33C3364B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8408A9-CDA6-4089-BF36-6D8A4601AF6C}"/>
              </a:ext>
            </a:extLst>
          </p:cNvPr>
          <p:cNvSpPr>
            <a:spLocks noGrp="1"/>
          </p:cNvSpPr>
          <p:nvPr/>
        </p:nvSpPr>
        <p:spPr>
          <a:xfrm>
            <a:off x="790575" y="2686050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WEEK 11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8F0801-014A-44D3-85F4-B3DB2DD81E70}"/>
              </a:ext>
            </a:extLst>
          </p:cNvPr>
          <p:cNvSpPr>
            <a:spLocks noGrp="1"/>
          </p:cNvSpPr>
          <p:nvPr/>
        </p:nvSpPr>
        <p:spPr>
          <a:xfrm>
            <a:off x="1924050" y="2647950"/>
            <a:ext cx="576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Test the three scoring conditions and averaging script on a small sample.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EA798A3-904D-4141-9BDB-F67A9FEB97E4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87776-D05B-41C0-B07E-808457ABB7A6}"/>
              </a:ext>
            </a:extLst>
          </p:cNvPr>
          <p:cNvSpPr>
            <a:spLocks noGrp="1"/>
          </p:cNvSpPr>
          <p:nvPr/>
        </p:nvSpPr>
        <p:spPr>
          <a:xfrm>
            <a:off x="790575" y="3238500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WEEK 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F050CB-5A25-4E44-8F75-C843B9C22095}"/>
              </a:ext>
            </a:extLst>
          </p:cNvPr>
          <p:cNvSpPr>
            <a:spLocks noGrp="1"/>
          </p:cNvSpPr>
          <p:nvPr/>
        </p:nvSpPr>
        <p:spPr>
          <a:xfrm>
            <a:off x="1924050" y="3200400"/>
            <a:ext cx="576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Run all three query conditions on the partial-view test set.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63D6C85-07B8-4771-B08B-629C59B77085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7239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A3B89F2-4A4C-435F-A12F-FE5F3104B927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39F15E-DEC4-4979-B702-01F24E9BBC1A}"/>
              </a:ext>
            </a:extLst>
          </p:cNvPr>
          <p:cNvSpPr>
            <a:spLocks noGrp="1"/>
          </p:cNvSpPr>
          <p:nvPr/>
        </p:nvSpPr>
        <p:spPr>
          <a:xfrm>
            <a:off x="790575" y="3790950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WEEK 13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882FCB-D4C4-486A-9C5E-F9335AE48FD4}"/>
              </a:ext>
            </a:extLst>
          </p:cNvPr>
          <p:cNvSpPr>
            <a:spLocks noGrp="1"/>
          </p:cNvSpPr>
          <p:nvPr/>
        </p:nvSpPr>
        <p:spPr>
          <a:xfrm>
            <a:off x="1924050" y="3752850"/>
            <a:ext cx="576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Run the full-shape control; calculate per-action IoU and false alarms.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33B431A-8152-4242-928F-0B92083C459C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232C30-D195-43D5-98AC-E04AA99A4F54}"/>
              </a:ext>
            </a:extLst>
          </p:cNvPr>
          <p:cNvSpPr>
            <a:spLocks noGrp="1"/>
          </p:cNvSpPr>
          <p:nvPr/>
        </p:nvSpPr>
        <p:spPr>
          <a:xfrm>
            <a:off x="790575" y="4343400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WEEK 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EAF283-BAA6-4A39-9036-BFCB8709F19C}"/>
              </a:ext>
            </a:extLst>
          </p:cNvPr>
          <p:cNvSpPr>
            <a:spLocks noGrp="1"/>
          </p:cNvSpPr>
          <p:nvPr/>
        </p:nvSpPr>
        <p:spPr>
          <a:xfrm>
            <a:off x="1924050" y="4305300"/>
            <a:ext cx="576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 dirty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Bootstrap paired differences by object; inspect gains and failure cases.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745B894-8C1B-41D0-A0B2-EAE2F2BE4255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7239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78002A3-1E15-496E-A0D5-7FEF3BF14E2F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FFF4D9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9F98EC-B21D-4A48-BB45-DB3D66B403B5}"/>
              </a:ext>
            </a:extLst>
          </p:cNvPr>
          <p:cNvSpPr>
            <a:spLocks noGrp="1"/>
          </p:cNvSpPr>
          <p:nvPr/>
        </p:nvSpPr>
        <p:spPr>
          <a:xfrm>
            <a:off x="790575" y="4895850"/>
            <a:ext cx="93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WEEK 15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4BE003-B73D-413F-A15A-9E0490AC5A20}"/>
              </a:ext>
            </a:extLst>
          </p:cNvPr>
          <p:cNvSpPr>
            <a:spLocks noGrp="1"/>
          </p:cNvSpPr>
          <p:nvPr/>
        </p:nvSpPr>
        <p:spPr>
          <a:xfrm>
            <a:off x="1924050" y="4857750"/>
            <a:ext cx="576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Summarize findings, limitations, and figures; finish the proposal presentation.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43D532E-72B5-4D22-B53A-304F4A846CBB}"/>
              </a:ext>
            </a:extLst>
          </p:cNvPr>
          <p:cNvSpPr>
            <a:spLocks noGrp="1"/>
          </p:cNvSpPr>
          <p:nvPr/>
        </p:nvSpPr>
        <p:spPr>
          <a:xfrm>
            <a:off x="8153400" y="1495425"/>
            <a:ext cx="3429000" cy="3790950"/>
          </a:xfrm>
          <a:prstGeom prst="roundRect">
            <a:avLst>
              <a:gd name="adj" fmla="val 2222"/>
            </a:avLst>
          </a:prstGeom>
          <a:solidFill>
            <a:srgbClr val="102A43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766BD2-4AE0-4129-9C41-7B011A19AB6A}"/>
              </a:ext>
            </a:extLst>
          </p:cNvPr>
          <p:cNvSpPr>
            <a:spLocks noGrp="1"/>
          </p:cNvSpPr>
          <p:nvPr/>
        </p:nvSpPr>
        <p:spPr>
          <a:xfrm>
            <a:off x="8401050" y="1714500"/>
            <a:ext cx="2762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8C4D6"/>
                </a:solidFill>
                <a:latin typeface="Avenir"/>
                <a:ea typeface="Avenir"/>
                <a:cs typeface="Avenir"/>
              </a:rPr>
              <a:t>CHECKPOINTS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798C24-16BD-4C6B-9249-644335BFDE69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Same frozen model</a:t>
            </a:r>
          </a:p>
          <a:p>
            <a:pPr algn="l">
              <a:defRPr sz="13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Same objects and point samples</a:t>
            </a:r>
          </a:p>
          <a:p>
            <a:pPr algn="l">
              <a:defRPr sz="13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Prompt wording fixed before evaluation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5F84D6-E792-466B-8ADD-363FA579A55F}"/>
              </a:ext>
            </a:extLst>
          </p:cNvPr>
          <p:cNvSpPr>
            <a:spLocks noGrp="1"/>
          </p:cNvSpPr>
          <p:nvPr/>
        </p:nvSpPr>
        <p:spPr>
          <a:xfrm>
            <a:off x="8401050" y="3714750"/>
            <a:ext cx="2857500" cy="9525"/>
          </a:xfrm>
          <a:prstGeom prst="rect">
            <a:avLst/>
          </a:prstGeom>
          <a:solidFill>
            <a:srgbClr val="526777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61466E-5F90-472B-9E05-FC2E8887FAAA}"/>
              </a:ext>
            </a:extLst>
          </p:cNvPr>
          <p:cNvSpPr>
            <a:spLocks noGrp="1"/>
          </p:cNvSpPr>
          <p:nvPr/>
        </p:nvSpPr>
        <p:spPr>
          <a:xfrm>
            <a:off x="8401050" y="3943350"/>
            <a:ext cx="2857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D8E6EF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0">
                <a:solidFill>
                  <a:srgbClr val="D8E6EF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D8E6EF"/>
                </a:solidFill>
                <a:latin typeface="Avenir"/>
                <a:ea typeface="Avenir"/>
                <a:cs typeface="Avenir"/>
              </a:rPr>
              <a:t>If the validation set is reused, report the result as exploratory. A fresh object-disjoint test set is stronger.</a:t>
            </a:r>
          </a:p>
        </p:txBody>
      </p:sp>
    </p:spTree>
    <p:extLst>
      <p:ext uri="{BB962C8B-B14F-4D97-AF65-F5344CB8AC3E}">
        <p14:creationId xmlns:p14="http://schemas.microsoft.com/office/powerpoint/2010/main" val="25179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4D023E-FD70-4D22-9D07-612467104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392318"/>
            <a:ext cx="12192000" cy="40733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53A703-537E-4F01-92FA-4455733C95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B6D5E9-4CF7-4FFE-A21E-0328105EA095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7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81E239-ED12-437F-969A-9DBC36B3325F}"/>
              </a:ext>
            </a:extLst>
          </p:cNvPr>
          <p:cNvSpPr>
            <a:spLocks noGrp="1"/>
          </p:cNvSpPr>
          <p:nvPr/>
        </p:nvSpPr>
        <p:spPr>
          <a:xfrm>
            <a:off x="723900" y="102870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45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45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45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Q &amp;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3C942-2B9A-409F-9E23-B5097728A882}"/>
              </a:ext>
            </a:extLst>
          </p:cNvPr>
          <p:cNvSpPr>
            <a:spLocks noGrp="1"/>
          </p:cNvSpPr>
          <p:nvPr/>
        </p:nvSpPr>
        <p:spPr>
          <a:xfrm>
            <a:off x="762000" y="1838325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8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8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8E2088-A6CA-4E38-88A7-6B05B7441783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40805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8C427D3-7F83-4C99-810D-2E0E46FBA266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DBFB32-3058-4D6D-8E5D-C4995F85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431B0C-6891-449F-A46A-FD1BC8A6CE2E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Appendix A · baseline details and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B124AE-8DA8-4593-9163-732E6B35582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3FED6-060B-404C-8EB1-418C3F70F020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APPENDIX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2215F6-EF82-4CF0-90B3-90D8747EC29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CHECKPOINT &amp; EVALUATION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A233FA-AE5D-49CF-AF8B-D802AA0B5927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5286375" cy="3705225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EE7AAB-3238-45E4-B7EE-CD7F8F968428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OpenAD PN2 released checkpoint, frozen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80B038-1BDB-42FD-A674-99E993BE6161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104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SHA-256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B27B18-F026-4D1B-9AFA-DD3B09DE85FE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0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cbcfe9ff70448d97a7047f1ade817645a9be29dd2782fba57776792a8210f2ae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B105B7-C7E7-4F88-B8D0-AFE4BEDD59B9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Adapted run record · E03–E05 commit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9147A-320B-4BC1-B6A4-3527BD29A7E4}"/>
              </a:ext>
            </a:extLst>
          </p:cNvPr>
          <p:cNvSpPr>
            <a:spLocks noGrp="1"/>
          </p:cNvSpPr>
          <p:nvPr/>
        </p:nvSpPr>
        <p:spPr>
          <a:xfrm>
            <a:off x="838200" y="3609975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0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b082265ed085455a3fdc80b0d8d95dc51351e7b4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CB365-39FC-4BC3-81C4-4E169E639F39}"/>
              </a:ext>
            </a:extLst>
          </p:cNvPr>
          <p:cNvSpPr>
            <a:spLocks noGrp="1"/>
          </p:cNvSpPr>
          <p:nvPr/>
        </p:nvSpPr>
        <p:spPr>
          <a:xfrm>
            <a:off x="838200" y="3962400"/>
            <a:ext cx="4572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05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Four modified files: models/openad_dgcnn.py, models/openad_pn2.py, test_open_vocab.py, utils/eval.py. E01 did not record its commit.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CB229-7249-4098-ACA0-87187079A25B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466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E01: partial 12.4964% · full 14.4121%</a:t>
            </a:r>
          </a:p>
          <a:p>
            <a:pPr algn="l">
              <a:defRPr sz="1125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E05: partial 12.5364% point-weighted, batch 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11FF21E-1A84-4E87-A144-1E821E6A6519}"/>
              </a:ext>
            </a:extLst>
          </p:cNvPr>
          <p:cNvSpPr>
            <a:spLocks noGrp="1"/>
          </p:cNvSpPr>
          <p:nvPr/>
        </p:nvSpPr>
        <p:spPr>
          <a:xfrm>
            <a:off x="6134100" y="1847850"/>
            <a:ext cx="5448300" cy="3705225"/>
          </a:xfrm>
          <a:prstGeom prst="roundRect">
            <a:avLst>
              <a:gd name="adj" fmla="val 2057"/>
            </a:avLst>
          </a:prstGeom>
          <a:solidFill>
            <a:srgbClr val="E9F4F8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D8C849-18DE-466C-8924-D367EAE5F22B}"/>
              </a:ext>
            </a:extLst>
          </p:cNvPr>
          <p:cNvSpPr>
            <a:spLocks noGrp="1"/>
          </p:cNvSpPr>
          <p:nvPr/>
        </p:nvSpPr>
        <p:spPr>
          <a:xfrm>
            <a:off x="6381750" y="20383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APPLE M3 PRO · PYTORCH MPS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C3C2E1-2DAE-47F7-A132-2D42926F0F4D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3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One 2,048-point forward pass: 0.5456 s after setup; no warm-up.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389B72-FF25-4D89-9BD2-BD768099EF29}"/>
              </a:ext>
            </a:extLst>
          </p:cNvPr>
          <p:cNvSpPr>
            <a:spLocks noGrp="1"/>
          </p:cNvSpPr>
          <p:nvPr/>
        </p:nvSpPr>
        <p:spPr>
          <a:xfrm>
            <a:off x="6381750" y="3238500"/>
            <a:ext cx="48101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Sampled high-water Metal allocation: about 1.295 GiB at 5 ms sampling. Unified memory means this is not a separate VRAM peak.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C2BDBD-DA49-4349-8891-FDCE3887752E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4810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E01 is an adapted evaluation, not an untouched official reproduction. E05 uses different batch and stochastic sampling conditions.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DA3B03-B33E-42E0-916A-E196E369B084}"/>
              </a:ext>
            </a:extLst>
          </p:cNvPr>
          <p:cNvSpPr>
            <a:spLocks noGrp="1"/>
          </p:cNvSpPr>
          <p:nvPr/>
        </p:nvSpPr>
        <p:spPr>
          <a:xfrm>
            <a:off x="6381750" y="50292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Metric values are rounded only on the main slides.</a:t>
            </a:r>
          </a:p>
        </p:txBody>
      </p:sp>
    </p:spTree>
    <p:extLst>
      <p:ext uri="{BB962C8B-B14F-4D97-AF65-F5344CB8AC3E}">
        <p14:creationId xmlns:p14="http://schemas.microsoft.com/office/powerpoint/2010/main" val="41270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BF680B5-4C6C-4B06-ABB5-2C31D50458DE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468E2-F3C2-49BB-9833-341048BBE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758" y="133350"/>
            <a:ext cx="1482484" cy="4953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25C0BFD-AB0B-4ECC-AD68-FF2B1DD7EBE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Appendix B · experiment record and 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E779BD-6DBF-40EC-B83B-1EF814604E5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6096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BD5C2-7604-4020-8BFF-4DA1E7AF496B}"/>
              </a:ext>
            </a:extLst>
          </p:cNvPr>
          <p:cNvSpPr>
            <a:spLocks noGrp="1"/>
          </p:cNvSpPr>
          <p:nvPr/>
        </p:nvSpPr>
        <p:spPr>
          <a:xfrm>
            <a:off x="10477500" y="635317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APPENDIX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A521F5-11D9-4F02-9D16-45B7CE365437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5305425" cy="415290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EF3D38-48B2-4E86-AB3F-40011BCFCFAC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WHAT THE EXPERIMENTS SHOW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18CC6-9342-492A-A2D6-2C0E64EEA789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E01 · adapted OpenAD baseline: 12.50% partial, 14.41% full.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C60BFE-4680-4A38-9E4B-F4709127234D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E02 · one partial-vase failure case.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8A8CA0-4D53-4AA3-B259-B9B86C72D88E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E03–E05 · device checks and 9,140-view evaluation.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5F72D-6360-4406-B298-A5CC1A7B5A58}"/>
              </a:ext>
            </a:extLst>
          </p:cNvPr>
          <p:cNvSpPr>
            <a:spLocks noGrp="1"/>
          </p:cNvSpPr>
          <p:nvPr/>
        </p:nvSpPr>
        <p:spPr>
          <a:xfrm>
            <a:off x="838200" y="344805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E06–E07 · smoke test and one-case Espresso inference.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4A624-9187-452A-9D8F-412255285906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E08–E13 · small prompt tests; mixed effects by action.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306465-FDBE-4AEE-AA30-4778FF310240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E14–E16 · negative alarms and threshold limits.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60C63-E536-435A-A498-80EA319F7187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E17 · query-name sensitivity; E18 · prompt transfer to OpenAD.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8AD5F2-AA71-43F7-92B4-FB6CDF4916E1}"/>
              </a:ext>
            </a:extLst>
          </p:cNvPr>
          <p:cNvSpPr>
            <a:spLocks noGrp="1"/>
          </p:cNvSpPr>
          <p:nvPr/>
        </p:nvSpPr>
        <p:spPr>
          <a:xfrm>
            <a:off x="6134100" y="1504950"/>
            <a:ext cx="5448300" cy="4152900"/>
          </a:xfrm>
          <a:prstGeom prst="roundRect">
            <a:avLst>
              <a:gd name="adj" fmla="val 1835"/>
            </a:avLst>
          </a:prstGeom>
          <a:solidFill>
            <a:srgbClr val="FFF4D9"/>
          </a:solidFill>
          <a:ln w="9525"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EB46D6-90E3-4C24-A798-B845E9C8A990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LIMITS &amp; REFERENCES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7DC7E2-22AC-42BE-876A-08DD8BF20259}"/>
              </a:ext>
            </a:extLst>
          </p:cNvPr>
          <p:cNvSpPr>
            <a:spLocks noGrp="1"/>
          </p:cNvSpPr>
          <p:nvPr/>
        </p:nvSpPr>
        <p:spPr>
          <a:xfrm>
            <a:off x="6381750" y="2095500"/>
            <a:ext cx="4857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2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E08–E18 are exploratory validation results. E08–E16 use an unofficial Espresso-3D reimplementation with Affogato-pretrained weights. Affostruction inference was not run.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8F02B9-87ED-4A6B-944D-53FF0B03E408}"/>
              </a:ext>
            </a:extLst>
          </p:cNvPr>
          <p:cNvSpPr>
            <a:spLocks noGrp="1"/>
          </p:cNvSpPr>
          <p:nvPr/>
        </p:nvSpPr>
        <p:spPr>
          <a:xfrm>
            <a:off x="6381750" y="33147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OpenAD · Nguyen et al., IROS 2023</a:t>
            </a:r>
          </a:p>
          <a:p>
            <a: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arXiv:2303.02401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E01C42-CF63-4528-91ED-D3A8B1121293}"/>
              </a:ext>
            </a:extLst>
          </p:cNvPr>
          <p:cNvSpPr>
            <a:spLocks noGrp="1"/>
          </p:cNvSpPr>
          <p:nvPr/>
        </p:nvSpPr>
        <p:spPr>
          <a:xfrm>
            <a:off x="6381750" y="39052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125" b="1" dirty="0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Affogato · Lee et al., ECCV 2026</a:t>
            </a:r>
          </a:p>
          <a:p>
            <a: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125" b="1" dirty="0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arXiv:2506.12009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7D1E58-11E8-4A84-B966-5DA274E8FEEB}"/>
              </a:ext>
            </a:extLst>
          </p:cNvPr>
          <p:cNvSpPr>
            <a:spLocks noGrp="1"/>
          </p:cNvSpPr>
          <p:nvPr/>
        </p:nvSpPr>
        <p:spPr>
          <a:xfrm>
            <a:off x="6381750" y="44958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Affostruction · Park et al., CVPR 2026</a:t>
            </a:r>
          </a:p>
          <a:p>
            <a:pPr algn="l">
              <a:defRPr sz="11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arXiv:2601.09211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5123B4-5835-4578-84A5-2E03FCDA3C58}"/>
              </a:ext>
            </a:extLst>
          </p:cNvPr>
          <p:cNvSpPr>
            <a:spLocks noGrp="1"/>
          </p:cNvSpPr>
          <p:nvPr/>
        </p:nvSpPr>
        <p:spPr>
          <a:xfrm>
            <a:off x="6381750" y="51054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>
            <a:pPr algn="l">
              <a:defRPr sz="10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0" dirty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“Affogato results” here means local exploratory inference, not the paper’s official benchmark.</a:t>
            </a:r>
          </a:p>
        </p:txBody>
      </p:sp>
    </p:spTree>
    <p:extLst>
      <p:ext uri="{BB962C8B-B14F-4D97-AF65-F5344CB8AC3E}">
        <p14:creationId xmlns:p14="http://schemas.microsoft.com/office/powerpoint/2010/main" val="12596129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2303</Words>
  <Application>Microsoft Macintosh PowerPoint</Application>
  <DocSecurity>0</DocSecurity>
  <PresentationFormat>Widescreen</PresentationFormat>
  <Paragraphs>208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Avenir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야민먓아웅</cp:lastModifiedBy>
  <cp:revision>10</cp:revision>
  <dcterms:created xsi:type="dcterms:W3CDTF">2026-10-14T19:47:22Z</dcterms:created>
  <dcterms:modified xsi:type="dcterms:W3CDTF">2026-10-14T20:13:17Z</dcterms:modified>
</cp:coreProperties>
</file>