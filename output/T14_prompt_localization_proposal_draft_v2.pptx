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d5424910b49ef" /><Relationship Type="http://schemas.openxmlformats.org/officeDocument/2006/relationships/extended-properties" Target="/docProps/app.xml" Id="R2ffb7cdb803f49c4" /><Relationship Type="http://schemas.openxmlformats.org/officeDocument/2006/relationships/officeDocument" Target="/ppt/presentation.xml" Id="Rf958f8c5e8de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8d5d03be174d5e"/>
  </p:sldMasterIdLst>
  <p:notesMasterIdLst>
    <p:notesMasterId xmlns:r="http://schemas.openxmlformats.org/officeDocument/2006/relationships" r:id="Rf45269f6ff37435d"/>
  </p:notesMasterIdLst>
  <p:sldIdLst>
    <p:sldId xmlns:r="http://schemas.openxmlformats.org/officeDocument/2006/relationships" id="256" r:id="R5c06d94a5e514a04"/>
    <p:sldId xmlns:r="http://schemas.openxmlformats.org/officeDocument/2006/relationships" id="257" r:id="Raa70b7b1a8ed4f3d"/>
    <p:sldId xmlns:r="http://schemas.openxmlformats.org/officeDocument/2006/relationships" id="258" r:id="Rdf8dd1a02bb04d53"/>
    <p:sldId xmlns:r="http://schemas.openxmlformats.org/officeDocument/2006/relationships" id="259" r:id="R3bc6bbc472644956"/>
    <p:sldId xmlns:r="http://schemas.openxmlformats.org/officeDocument/2006/relationships" id="260" r:id="R854d294d69ac4fd1"/>
    <p:sldId xmlns:r="http://schemas.openxmlformats.org/officeDocument/2006/relationships" id="261" r:id="R46095d103dee43d7"/>
    <p:sldId xmlns:r="http://schemas.openxmlformats.org/officeDocument/2006/relationships" id="262" r:id="R32cd152ca14d4026"/>
    <p:sldId xmlns:r="http://schemas.openxmlformats.org/officeDocument/2006/relationships" id="263" r:id="R06a010d7736f4ecf"/>
    <p:sldId xmlns:r="http://schemas.openxmlformats.org/officeDocument/2006/relationships" id="264" r:id="R167f5ab2a0b8410c"/>
    <p:sldId xmlns:r="http://schemas.openxmlformats.org/officeDocument/2006/relationships" id="265" r:id="R5cc1b2d3a0fe4a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4849e967d04108" /><Relationship Type="http://schemas.openxmlformats.org/officeDocument/2006/relationships/slideMaster" Target="/ppt/slideMasters/slideMaster1.xml" Id="Rbb8d5d03be174d5e" /><Relationship Type="http://schemas.openxmlformats.org/officeDocument/2006/relationships/notesMaster" Target="/ppt/notesMasters/notesMaster1.xml" Id="Rf45269f6ff37435d" /><Relationship Type="http://schemas.openxmlformats.org/officeDocument/2006/relationships/presProps" Target="/ppt/presProps.xml" Id="R52be76ee1b0346f6" /><Relationship Type="http://schemas.openxmlformats.org/officeDocument/2006/relationships/tableStyles" Target="/ppt/tableStyles.xml" Id="Rb940809a021648ee" /><Relationship Type="http://schemas.openxmlformats.org/officeDocument/2006/relationships/slide" Target="/ppt/slides/slide1.xml" Id="R5c06d94a5e514a04" /><Relationship Type="http://schemas.openxmlformats.org/officeDocument/2006/relationships/slide" Target="/ppt/slides/slide2.xml" Id="Raa70b7b1a8ed4f3d" /><Relationship Type="http://schemas.openxmlformats.org/officeDocument/2006/relationships/slide" Target="/ppt/slides/slide3.xml" Id="Rdf8dd1a02bb04d53" /><Relationship Type="http://schemas.openxmlformats.org/officeDocument/2006/relationships/slide" Target="/ppt/slides/slide4.xml" Id="R3bc6bbc472644956" /><Relationship Type="http://schemas.openxmlformats.org/officeDocument/2006/relationships/slide" Target="/ppt/slides/slide5.xml" Id="R854d294d69ac4fd1" /><Relationship Type="http://schemas.openxmlformats.org/officeDocument/2006/relationships/slide" Target="/ppt/slides/slide6.xml" Id="R46095d103dee43d7" /><Relationship Type="http://schemas.openxmlformats.org/officeDocument/2006/relationships/slide" Target="/ppt/slides/slide7.xml" Id="R32cd152ca14d4026" /><Relationship Type="http://schemas.openxmlformats.org/officeDocument/2006/relationships/slide" Target="/ppt/slides/slide8.xml" Id="R06a010d7736f4ecf" /><Relationship Type="http://schemas.openxmlformats.org/officeDocument/2006/relationships/slide" Target="/ppt/slides/slide9.xml" Id="R167f5ab2a0b8410c" /><Relationship Type="http://schemas.openxmlformats.org/officeDocument/2006/relationships/slide" Target="/ppt/slides/slide10.xml" Id="R5cc1b2d3a0fe4a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38aca920441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e4576f0a3342ad" /><Relationship Type="http://schemas.openxmlformats.org/officeDocument/2006/relationships/notesMaster" Target="/ppt/notesMasters/notesMaster1.xml" Id="Rfd332a245216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c282c3bde54f0c" /><Relationship Type="http://schemas.openxmlformats.org/officeDocument/2006/relationships/notesMaster" Target="/ppt/notesMasters/notesMaster1.xml" Id="R88a6c698ddc241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0519fc46204363" /><Relationship Type="http://schemas.openxmlformats.org/officeDocument/2006/relationships/notesMaster" Target="/ppt/notesMasters/notesMaster1.xml" Id="Ra769f7d6fb9b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b626d6b78f4776" /><Relationship Type="http://schemas.openxmlformats.org/officeDocument/2006/relationships/notesMaster" Target="/ppt/notesMasters/notesMaster1.xml" Id="Rbbe1b6bd8f4446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8337ea48246c1" /><Relationship Type="http://schemas.openxmlformats.org/officeDocument/2006/relationships/notesMaster" Target="/ppt/notesMasters/notesMaster1.xml" Id="Ra645073e816b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ab9ea46c4440d1" /><Relationship Type="http://schemas.openxmlformats.org/officeDocument/2006/relationships/notesMaster" Target="/ppt/notesMasters/notesMaster1.xml" Id="R0716be4f9b5d40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016aabedcc4dfe" /><Relationship Type="http://schemas.openxmlformats.org/officeDocument/2006/relationships/notesMaster" Target="/ppt/notesMasters/notesMaster1.xml" Id="R53f7cebf200246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cae28006ee413e" /><Relationship Type="http://schemas.openxmlformats.org/officeDocument/2006/relationships/notesMaster" Target="/ppt/notesMasters/notesMaster1.xml" Id="Red4ce6d7002a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0c59496cee4dba" /><Relationship Type="http://schemas.openxmlformats.org/officeDocument/2006/relationships/notesMaster" Target="/ppt/notesMasters/notesMaster1.xml" Id="Rdef9cd36d79d48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95c36b194f4c6d" /><Relationship Type="http://schemas.openxmlformats.org/officeDocument/2006/relationships/notesMaster" Target="/ppt/notesMasters/notesMaster1.xml" Id="Rb292b3cf21944d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concrete question: does a controlled change in query wording improve point-wise localization? This is a proposal based on exploratory OpenAD experiments, not a completed prompt-ensemble study. Replace team number and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affordance as a part that supports an action. The task uses per-point labels on 3D-AffordanceNet point clouds. Source: instructor proposal guideline and OpenAD paper https://arxiv.org/abs/2303.02401.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Affogato informed exploratory prompt candidates through an unofficial Espresso-3D reimplementation with Affogato-pretrained weights run by the teammate; this is not an official Affogato benchmark. Affostruction is related work only and was not run. Papers: OpenAD https://arxiv.org/abs/2303.02401; Affogato https://arxiv.org/abs/2506.12009; Affostruction https://arxiv.org/abs/2601.09211. OpenAD checkpoint SHA-256: cbcfe9ff70448d97a7047f1ade817645a9be29dd2782fba57776792a8210f2ae.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Global point-wise IoU macro over 18 affordances; none excluded. Original 19-class score including none: partial 41.45% vs 12.53%, full 36.18% vs 9.76%. Same label slots; many names are aliases, so do not call this unseen-concept generalization. CPU/MPS scores agree within 0.0054 percentage points. Source: archived seen_query_comparison/RESULTS.md and MPS DEVICE_COMPARISON.md.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recorded failure, not an average. All 563 target points assigned none; shown IoU 0.000. Mean pour score 0.0584 versus none 0.6440 on target points. Motivates the question but does not establish why failure occurred. Source: archived E02 visualization and analyze_failure_scores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E18 tested five affordances with prompts preselected in earlier Espresso-3D/Affogato-weighted work. MPS unlock global IoU: canonical 3.6878%, original sentence 0.0927%, paraphrase 12.3621%. Positive-shape paired delta vs original +8.406 pp [5.691,11.418]; negative-object any-alarm 0.34% to 1.61%. Other four prompts lacked comparable gain. Exploratory validation, not independent test evidence; intervals not multiplicity adjusted. Source: archived E18 RESULTS.md and MPS DEVICE_COMPARISON.md.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Testable hypothesis only. Freeze prompt set before scoring. The local validation data has been used in prior experiments; seek a fresh/object-disjoint test split. If unavailable, label follow-up as exploratory validation, not confirmatory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intervention: write five equivalent phrasings per held-out affordance, encode using the frozen text encoder, mean and L2-normalize. Compare K=1/3/5, K=5 primary. Freeze checkpoint, geometry, labels, point sampling and decision rule. No post-hoc prompt selection using evaluation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comparison K=5 versus K=1 on held-out query classes and same partial observations. Report global point-wise 18-class mIoU (exclude none) and 19-class score including none. Secondary: per-class IoU, AUC; negative-object false alarms. Paired bootstrap by object. Existing validation was examined; reserve untouched object IDs or state exploratory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Schedule follows the proposal guideline, including PDF named teamNN_T14_proposal.pdf due 15 October 2026 at 10:59 AM KST and live two-minute Q&amp;A. Replace team placeholders; export PDF after review. Main limitation: existing validation used; use clean object-disjoint split if available, otherwise state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09fc2df9648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545b422d3146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4a86fabe24d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e9cac064d49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ab7877518646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528d864f0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C96CD-C670-4944-B944-AE8FA21801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8B1155-88A0-4B46-AACB-BDDE1E17E5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553C73-41F6-4D57-9931-7F8609BA6A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B9744A-BF35-4305-984E-2E396DBC3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86950A-493C-4AAF-BCD7-D11EAE460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E61AFF-E057-4E78-A721-7F135E4F8C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748771-868A-4A75-803B-4739D9B54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6EC50E-E5B5-4FFC-83C2-DEDAAB9F36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DA8753-F484-403C-88E3-ED9C64D23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C9C1DD-5F01-41FE-B0C8-4AF994AC07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65ffd111b5482a" /><Relationship Type="http://schemas.openxmlformats.org/officeDocument/2006/relationships/slideLayout" Target="/ppt/slideLayouts/slideLayout1.xml" Id="Rbfaba702b9f248ed" /><Relationship Type="http://schemas.openxmlformats.org/officeDocument/2006/relationships/slideLayout" Target="/ppt/slideLayouts/slideLayout2.xml" Id="R0bea117e85cd4c2e" /><Relationship Type="http://schemas.openxmlformats.org/officeDocument/2006/relationships/slideLayout" Target="/ppt/slideLayouts/slideLayout3.xml" Id="R5ff05f88b38a4a39" /><Relationship Type="http://schemas.openxmlformats.org/officeDocument/2006/relationships/slideLayout" Target="/ppt/slideLayouts/slideLayout4.xml" Id="Rab6f725e89454249" /><Relationship Type="http://schemas.openxmlformats.org/officeDocument/2006/relationships/slideLayout" Target="/ppt/slideLayouts/slideLayout5.xml" Id="R823d360ee3654d85" /><Relationship Type="http://schemas.openxmlformats.org/officeDocument/2006/relationships/slideLayout" Target="/ppt/slideLayouts/slideLayout6.xml" Id="R3c10ebf63dd145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aba702b9f248ed"/>
    <p:sldLayoutId xmlns:r="http://schemas.openxmlformats.org/officeDocument/2006/relationships" id="2147483650" r:id="R0bea117e85cd4c2e"/>
    <p:sldLayoutId xmlns:r="http://schemas.openxmlformats.org/officeDocument/2006/relationships" id="2147483651" r:id="R5ff05f88b38a4a39"/>
    <p:sldLayoutId xmlns:r="http://schemas.openxmlformats.org/officeDocument/2006/relationships" id="2147483652" r:id="Rab6f725e89454249"/>
    <p:sldLayoutId xmlns:r="http://schemas.openxmlformats.org/officeDocument/2006/relationships" id="2147483653" r:id="R823d360ee3654d85"/>
    <p:sldLayoutId xmlns:r="http://schemas.openxmlformats.org/officeDocument/2006/relationships" id="2147483654" r:id="R3c10ebf63dd145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eaf8c3ae3425f" /><Relationship Type="http://schemas.openxmlformats.org/officeDocument/2006/relationships/notesSlide" Target="/ppt/notesSlides/notesSlide1.xml" Id="R55cd872316f2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8aa4b940a46d6" /><Relationship Type="http://schemas.openxmlformats.org/officeDocument/2006/relationships/notesSlide" Target="/ppt/notesSlides/notesSlide2.xml" Id="Rf9c6d04bdf034f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19630f13042f1" /><Relationship Type="http://schemas.openxmlformats.org/officeDocument/2006/relationships/notesSlide" Target="/ppt/notesSlides/notesSlide3.xml" Id="R792aa9f8c45a4a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17cd276f24add" /><Relationship Type="http://schemas.openxmlformats.org/officeDocument/2006/relationships/notesSlide" Target="/ppt/notesSlides/notesSlide4.xml" Id="R72966f7d34e642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ea85ea02447a1" /><Relationship Type="http://schemas.openxmlformats.org/officeDocument/2006/relationships/image" Target="/ppt/media/image.png" Id="Rfafb24cfc6684231" /><Relationship Type="http://schemas.openxmlformats.org/officeDocument/2006/relationships/notesSlide" Target="/ppt/notesSlides/notesSlide5.xml" Id="Rfd5c65abca4f4c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aa00462d744a94" /><Relationship Type="http://schemas.openxmlformats.org/officeDocument/2006/relationships/notesSlide" Target="/ppt/notesSlides/notesSlide6.xml" Id="R5dac64de903041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4cce31c804c31" /><Relationship Type="http://schemas.openxmlformats.org/officeDocument/2006/relationships/notesSlide" Target="/ppt/notesSlides/notesSlide7.xml" Id="R1db668f7669549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38494f5364eac" /><Relationship Type="http://schemas.openxmlformats.org/officeDocument/2006/relationships/notesSlide" Target="/ppt/notesSlides/notesSlide8.xml" Id="R5ba4a610c6654b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c2f83d846e427e" /><Relationship Type="http://schemas.openxmlformats.org/officeDocument/2006/relationships/notesSlide" Target="/ppt/notesSlides/notesSlide9.xml" Id="Re31b2017460f4c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0e2765349f4ee6" /><Relationship Type="http://schemas.openxmlformats.org/officeDocument/2006/relationships/notesSlide" Target="/ppt/notesSlides/notesSlide10.xml" Id="Re94dbf5c70064e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739A3-A077-4ACA-A4C2-7FEE9AC0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5DDF4-AB2E-46A5-8A16-0ACE42E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58C4D6"/>
                </a:solidFill>
                <a:latin typeface="Avenir"/>
                <a:ea typeface="Avenir"/>
                <a:cs typeface="Avenir"/>
              </a:rPr>
              <a:t>RESEARCH PROPOSAL · T14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F81EB-FF66-4336-8919-CD81FBEE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809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390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When does wording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390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change 3D affordance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390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localization?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D52E6-8805-4794-9A24-C9123174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D8E6E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8E6EF"/>
                </a:solidFill>
                <a:latin typeface="Avenir"/>
                <a:ea typeface="Avenir"/>
                <a:cs typeface="Avenir"/>
              </a:defRPr>
            </a:pPr>
            <a:r>
              <a:rPr sz="1800" b="0">
                <a:solidFill>
                  <a:srgbClr val="D8E6EF"/>
                </a:solidFill>
                <a:latin typeface="Avenir"/>
                <a:ea typeface="Avenir"/>
                <a:cs typeface="Avenir"/>
              </a:rPr>
              <a:t>A controlled prompt study with a frozen OpenAD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9A4D6-0DF6-43D8-AD77-4740F763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953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3B5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615A9-F85C-4FEA-BD9E-DAABAC37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Team [NN] · [Names]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FFFFFF"/>
                </a:solidFill>
                <a:latin typeface="Avenir"/>
                <a:ea typeface="Avenir"/>
                <a:cs typeface="Avenir"/>
              </a:rPr>
              <a:t>CSE 59358-01 · 8-minute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0FE65-4EAA-4306-8FF0-47DBEC92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AFC5D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AFC5D3"/>
                </a:solidFill>
                <a:latin typeface="Avenir"/>
                <a:ea typeface="Avenir"/>
                <a:cs typeface="Avenir"/>
              </a:defRPr>
            </a:pPr>
            <a:r>
              <a:rPr sz="1125" b="0">
                <a:solidFill>
                  <a:srgbClr val="AFC5D3"/>
                </a:solidFill>
                <a:latin typeface="Avenir"/>
                <a:ea typeface="Avenir"/>
                <a:cs typeface="Avenir"/>
              </a:rPr>
              <a:t>Editable draft · 11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A0214-6A01-4435-8D18-5952BBA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AFC5D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AFC5D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AFC5D3"/>
                </a:solidFill>
                <a:latin typeface="Avenir"/>
                <a:ea typeface="Avenir"/>
                <a:cs typeface="Avenir"/>
              </a:rPr>
              <a:t>01 / 10</a:t>
            </a:r>
          </a:p>
        </p:txBody>
      </p:sp>
    </p:spTree>
    <p:extLst>
      <p:ext uri="{BB962C8B-B14F-4D97-AF65-F5344CB8AC3E}">
        <p14:creationId xmlns:p14="http://schemas.microsoft.com/office/powerpoint/2010/main" val="1600242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3ADCE-0454-45FD-A75B-BCF0B1A3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BF6E5-78FB-4908-8C44-B2545331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The task: map an action query to points on an object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71535-8DC1-41D7-9279-EE5E7F2A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1F4A5-98BF-45AD-94C1-1125DD9D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28B6B-FB02-4CE5-AE0C-770A0485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0A979-C18D-41F9-8490-9CFDAA8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03C2-4CA9-4C9C-A329-961F14A2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93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B4EDD-8F83-4D6B-A299-47396F9F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9825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3D point cloud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1,000–2,000 XYZ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2AB26-F484-4CE9-92FC-B644B634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000" b="1">
                <a:solidFill>
                  <a:srgbClr val="F2B84B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2B84B"/>
                </a:solidFill>
                <a:latin typeface="Avenir"/>
                <a:ea typeface="Avenir"/>
                <a:cs typeface="Avenir"/>
              </a:defRPr>
            </a:pPr>
            <a:r>
              <a:rPr sz="3000" b="1">
                <a:solidFill>
                  <a:srgbClr val="F2B84B"/>
                </a:solidFill>
                <a:latin typeface="Avenir"/>
                <a:ea typeface="Avenir"/>
                <a:cs typeface="Avenir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E144A-3B49-427A-9975-C1825121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09825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Text query</a:t>
            </a:r>
          </a:p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1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“grasp”, “press”, “sit on”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4D905-E6C5-49BF-BDDE-DB85A0A6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A681B-C924-4FBD-9DAE-93E0197A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CF59E-163E-4E54-ACDF-3C78EAD4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97AC7-58AC-4494-8FCB-E54A9546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affordance score or label per 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F7F70-C06A-4F4C-92B4-A127DC63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5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Same object + different query → different actionable region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56858-BCFA-4917-A05F-D6D321F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Challenge: partial views hide geometry; language and shape both affect the prediction.</a:t>
            </a:r>
          </a:p>
        </p:txBody>
      </p:sp>
    </p:spTree>
    <p:extLst>
      <p:ext uri="{BB962C8B-B14F-4D97-AF65-F5344CB8AC3E}">
        <p14:creationId xmlns:p14="http://schemas.microsoft.com/office/powerpoint/2010/main" val="1388002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B02E30-23C9-4DEE-BE0B-E70CFC8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0165-450A-4BE3-AF04-55F67BC9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Start from a public, frozen point–text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A1EB3-4EA4-4EEB-96EC-66EB1BB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448D7-830D-4412-8E1C-023F48F0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8821D-496F-4F0A-804C-8E776ABC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0482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30C16-46DD-4023-BCF8-7EECD85C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F0A8C-7145-4702-8867-923BBC5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OpenAD · PointNet++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80908-EED6-447E-A310-E1407B7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F58BF-F819-4F3F-8964-3836FE0C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Released pretrained checkpoint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56662-6A87-4496-8496-35B3BD90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277C0-72CE-42B2-9619-EE6A5E32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Frozen point encoder and 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C95F8-C5BF-49D1-BE22-12921391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DFBF8-1E53-4855-A5D0-4232AB7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Cached text features; MPS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A5C26-322D-4B31-B1EA-41F8B797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76DC92-A479-43B2-A76A-6F9FCA40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14850"/>
            <a:ext cx="4105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No model retraining in completed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EC2F2-7D41-4660-BD5B-E98AA20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6769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688E6-BA5A-4928-B103-6EAC6591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28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RELATED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FC874-3236-4C94-B1DC-646350C0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9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Affogato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CDA9C-3B32-4F31-96C9-85E08CE7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Automated affordance data generation; informed teammate-run exploratory prompt experiments.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2B7FF9-B114-4220-9982-AE90EC5E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956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9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Affostruction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DAF70-F7E2-4C26-B9F5-AB164373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Generative reconstruction for partial 3D affordance grounding; not run in this project.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3D9E8-CBC6-4B37-B9A9-9B6F230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B1B1A-B5C5-489E-8B5A-B975C6BF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NOT REPRODUCTIONS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300A9-84C6-45F6-9996-9A15F4C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481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Our measured results are OpenAD evaluations.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7CB91-5589-432D-95CA-7ECF38AC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Apple M3 Pro · PyTorch MPS · checkpoint hash recorded in archive</a:t>
            </a:r>
          </a:p>
        </p:txBody>
      </p:sp>
    </p:spTree>
    <p:extLst>
      <p:ext uri="{BB962C8B-B14F-4D97-AF65-F5344CB8AC3E}">
        <p14:creationId xmlns:p14="http://schemas.microsoft.com/office/powerpoint/2010/main" val="150297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65DCF6-FEF3-4320-93E4-8C6BBB08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1C1D5-509A-41E4-BBF0-BE7A680E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The released model is highly query-vocabulary sensitive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46934-3839-4AC0-9DF1-C8A7C587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89901-7B32-4E65-A15D-FF2469CD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5CA67-0B6A-4A46-9419-CF017F3F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Same checkpoint · same validation inputs · only class query names changed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66885-C817-4D8D-9E0E-2D799D51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PARTIAL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EA8F6-3230-437D-9677-656EBBF4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Training-name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A3271-3527-463F-9034-01BCA05A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4770463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3CC8D-DC03-4769-8440-EE42529A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3213" y="24669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40.39%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734B4-65F4-4440-B611-7797146D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Held-out query names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687C0-776E-4982-A1C6-444F49B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127204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6982C-4222-4C04-B3E1-E949359D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795" y="29051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10.77%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D2DA3-086C-445A-B065-A04162BE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FULL SHAPES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AF2E1-FA82-431C-8CD4-2A22D45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Training-name queries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57EF2-269E-4461-A694-6E65465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415511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99AD9-EEDF-41DC-93F7-CC70AAA2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860" y="40386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35.18%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29EBD-758F-46F0-9FB1-5297E8CC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Held-out query names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D342C-8A92-4B07-8E56-5A55E71E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05325"/>
            <a:ext cx="929526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DBBE6-416F-45BF-95A6-3B40FE4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276" y="44767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7.87%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17AAF-9E00-479B-9AB2-BD5FEF0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2819400" cy="30861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23B8C-6E1F-4E7A-B6A5-C6F05A5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18-class macro mIoU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EC8A7-665D-4365-8F9E-745DBEAF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241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partial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C80A9-96C0-4070-9ABD-B48F5C9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8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40.39 → 10.77%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8F562-51EC-419F-9514-A469B723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full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7F110-3865-4B46-995D-441105B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33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8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35.18 → 7.87%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97B15E-F4C3-49A8-8AB5-3F3805C9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This is query-vocabulary sensitivity, not proof of new-concept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963875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43F28-AF97-466F-83E5-592DA46C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9D856-2B49-45A2-B8BD-7BC2686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partial-view failure shows the “none” collapse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F0E3D-C1AC-4820-969F-7B4CC16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B829-4132-4FDD-9BE5-6425F31F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05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A6E0C-4E33-4601-B371-783C333506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b24cfc6684231"/>
          <a:stretch xmlns:a="http://schemas.openxmlformats.org/drawingml/2006/main"/>
        </p:blipFill>
        <p:spPr>
          <a:xfrm xmlns:a="http://schemas.openxmlformats.org/drawingml/2006/main">
            <a:off x="609600" y="1802000"/>
            <a:ext cx="7239000" cy="247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137B0-4D0B-4099-B9FE-B98DC11B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4099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7D167-51CC-4866-8F1E-EC1F5C87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7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Vase · query “pour”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96A8A-75D9-48D7-9961-568BCD5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3225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563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166E8-8B21-41F2-9F0C-DA43DB40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ground-truth target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51620-4E7B-4058-99D4-D01B6F1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0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0 / 563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85414-3FC3-4F7F-892D-34DCC49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29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target points predicted correctly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3FF46-E760-4ECC-AA29-145675B5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Mean score on target points: pour 0.058 · none 0.644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1C4FE-E1D5-4AE7-B51F-99912E48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93826-5F9B-42CC-AC77-A55116B9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ONE EXAMPLE, NOT AN AGGREGATE</a:t>
            </a:r>
          </a:p>
        </p:txBody>
      </p:sp>
    </p:spTree>
    <p:extLst>
      <p:ext uri="{BB962C8B-B14F-4D97-AF65-F5344CB8AC3E}">
        <p14:creationId xmlns:p14="http://schemas.microsoft.com/office/powerpoint/2010/main" val="1687091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A27471-ED9F-4B75-85CF-D0DB1790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1E59A-3938-4BB5-B421-04DE04B2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 pilot suggests prompt effects can be large—and selective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80A17-1812-4165-9802-EA2CDA5A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5FA13-269D-4379-87CE-4C1B7A4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32A27-6FA6-4677-A0DF-49AD359F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8577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FFD64-E197-40C0-838D-1ECF94E3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E18 · HELD-OUT VALIDATION OBJECTS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BE0A2-258F-4028-B47A-DB8ED5E6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“unlock” global point-wise IoU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9C126-6915-4B88-959B-2E0498B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Canonical word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35F47-9FEA-45A9-823F-54AF917A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67025"/>
            <a:ext cx="492061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26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67A1D-F11D-4B85-B141-B2F2406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4797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3.69%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F87D0-F3C3-4DDC-A0F8-E2459F43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Original sentence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87E10-4C18-47A8-9EDA-7E379668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57575"/>
            <a:ext cx="1200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DB032-D4EE-4208-94C1-FC0944DE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385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0.09%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B18C0-C7FD-4635-BD03-45D49A0A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27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Preselected paraphrase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4CBC3-472B-439B-888A-3EFF8E26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48125"/>
            <a:ext cx="1648206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E6A53-9486-4F91-8E33-6F6E4264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2907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12.36%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FA947-10FA-4D27-863B-BF13DB9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57350"/>
            <a:ext cx="58293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EDC5D-1C9F-4534-907A-8CC9A9D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85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BUT THE GAIN HAS A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980FE-BDCB-4737-9321-152771CC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003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Negative-object any-alarm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9806C-08D2-4721-A802-8A042AC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0.34% → 1.61%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8010-38CD-4008-9FDF-9D8DB632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6625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Only unlock showed a comparable gain among five tested affordances; four did not.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3C7AD-B3BA-4CCC-A5F8-51B52807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3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1,941 prior-study-disjoint validation shapes; not an official held-out test.</a:t>
            </a:r>
          </a:p>
        </p:txBody>
      </p:sp>
    </p:spTree>
    <p:extLst>
      <p:ext uri="{BB962C8B-B14F-4D97-AF65-F5344CB8AC3E}">
        <p14:creationId xmlns:p14="http://schemas.microsoft.com/office/powerpoint/2010/main" val="196593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D6E5D8-BFE6-40A2-A884-F08B44C1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FE07A-5B47-43AE-A805-5577DE9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Research question: does a fixed prompt set help on average?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596C-99C6-4F62-B9A1-AA7E9ABE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E6354-B9DA-451E-8A91-1B5AE5F9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92AA2-4012-44E6-8E02-8618ED22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7F579-6959-4D96-907A-6A88A54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8C4D6"/>
                </a:solidFill>
                <a:latin typeface="Avenir"/>
                <a:ea typeface="Avenir"/>
                <a:cs typeface="Avenir"/>
              </a:rPr>
              <a:t>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E0D15-D37E-4352-B8BF-788D1CC6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0134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22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For held-out query names on partial point clouds, does averaging equivalent prompts improve localization over the canonical query?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D0177-DF51-4231-A61A-4BCB7B1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08165-C42D-45D9-9017-50C49849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2238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7A419-C790-4CBF-9A38-EC281435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TESTABLE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50E7-67EC-4AF7-AD3B-84CE7C85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14875"/>
            <a:ext cx="1014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A five-prompt mean will raise 18-affordance macro IoU on the predeclared evaluation 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9F836-10C5-440B-86DE-A9C4B9CA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526777"/>
                </a:solidFill>
                <a:latin typeface="Avenir"/>
                <a:ea typeface="Avenir"/>
                <a:cs typeface="Avenir"/>
              </a:rPr>
              <a:t>Falsify if paired object-level gain ≤ 0 or its 95% interval includes 0.</a:t>
            </a:r>
          </a:p>
        </p:txBody>
      </p:sp>
    </p:spTree>
    <p:extLst>
      <p:ext uri="{BB962C8B-B14F-4D97-AF65-F5344CB8AC3E}">
        <p14:creationId xmlns:p14="http://schemas.microsoft.com/office/powerpoint/2010/main" val="19265446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8B05E-B580-43B6-8A91-2C244B64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37BA2-7BD4-44DF-B68B-60901041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Change only the text representation; freeze everything else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A322E-2C78-4F29-87D0-ADC2A34D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8EF0-476E-460A-B854-5743FAFF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A5FEB-5366-462A-87C2-D9242A9E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7CCE7-4DB7-4D8C-A8B2-9F70951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8FC6-1E17-4BC0-83FF-CD2C484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E1BDF-4689-4DE7-82D0-6E447B8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430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Write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018CB-8C2F-4B5D-A61D-F7DB964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240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Five equivalent phrasings per held-out affordance; lock before evaluation.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1E483-A683-4F46-B65D-8D078613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1097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1C253-1E4D-48CB-8BEB-0E855F5B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E36F-82C2-4DD1-93C2-B3653227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D6A24-7761-40FA-BBAC-19A1368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Encode &amp; average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4DD9C-F8E3-4F7A-862C-64647FBA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Frozen text encoder; average embeddings and L2-normalize.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FC757-44C5-491D-85F3-C0DBDCEE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7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B1645-FBC1-48F8-8854-D8201923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F5DE6-6567-4CFF-84F5-23B5659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16EA6-D309-4D8C-813F-99DF5C6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004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Rescore same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8238B-4843-4A21-B3F3-6EA837A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Reuse frozen OpenAD point features and identical point samples.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AB214-BC1B-42C0-AC88-8E3C097F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C0A9D7-C686-4DC3-84AA-0B19DAB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50E26-1057-4BAE-A583-435C15F0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650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86905-FF6E-4989-8667-3BB0C74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57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Compare fairly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76276-D548-4659-B6D1-D35F2767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0125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K = 1, 3, 5 prompts; K=5 primary. Same class slots and argmax.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D00EB-378C-4F10-8B27-4C3D463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No smoothing, threshold search, fine-tuning, or Affostruction module in this experiment.</a:t>
            </a:r>
          </a:p>
        </p:txBody>
      </p:sp>
    </p:spTree>
    <p:extLst>
      <p:ext uri="{BB962C8B-B14F-4D97-AF65-F5344CB8AC3E}">
        <p14:creationId xmlns:p14="http://schemas.microsoft.com/office/powerpoint/2010/main" val="1043162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2BBB7-F608-4E84-9B13-EC044B39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65381-8DD8-451D-B6F1-E8E4C80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Pre-register the comparison and guard against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80ED8-4EE6-4126-9E9D-1651AC5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8B1CD-E8B2-49F0-8128-ADD77A45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C467B-7A8E-4528-AD0D-B08912DA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91125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99842-9D00-487A-9E12-FEF80785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28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FIXED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EE1CA-8BCD-4E70-B6CC-99DA2BFD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FDE06-0240-438B-8300-E2DB4E1D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Same object IDs and partial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AC3B4-D1A9-41A1-A27C-A8B06E3F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8C9C7-A9B9-4E2F-A3B3-3B1DD9B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Same frozen checkpoint and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13D67-C0D6-4036-9AF9-08499BC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F38C3-E5DF-4190-BEAD-5FE599AD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Same labels, class slots, “none”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0FFBA-2F0F-4AA8-BFD5-D2C14FD1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0EE99-4069-4CAE-B424-EBEB3999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Same point-wise argmax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49161-E06C-4586-A33D-26476703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7EA8F-58C4-4A7E-8C58-3DCA3943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4248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500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Prompt bank fixed before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0CCCB-6DF2-4982-A3DC-91FED40B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19250"/>
            <a:ext cx="55435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AEABC-C5CA-4739-9ED3-7585702B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MEASURE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3894B-C465-4146-A0A3-21D9490E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AA7B8-58C1-44B3-A983-9B4CFED2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Primary: global 18-class mIoU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BF01E-1542-486E-B4F7-2E6D82B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12153-5A6C-41CC-9363-7B0F155C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Report 19-class mIoU including none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F8C64-6681-4262-BC1B-BF4F3E04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F1D9F-778A-43EE-9D8B-371A732C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Per-class IoU; AUC secondary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D87F3-4DF5-424E-AF7A-42965676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40318-892A-4E18-B2AB-0BB46345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False-positive fraction + any-alarm on negatives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E36F8-8A12-41B5-8F15-1911E63A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169080-FCF0-4582-8C2E-F4AAA5ED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4724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Paired bootstrap by object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C1A3D-EE20-4755-897A-E36F009E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75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Primary: partial views · Full shapes: control · Fresh/object-disjoint split preferred</a:t>
            </a:r>
          </a:p>
        </p:txBody>
      </p:sp>
    </p:spTree>
    <p:extLst>
      <p:ext uri="{BB962C8B-B14F-4D97-AF65-F5344CB8AC3E}">
        <p14:creationId xmlns:p14="http://schemas.microsoft.com/office/powerpoint/2010/main" val="7132092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EBF40-0EF6-46F7-8AEB-F924CC0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T14 · 3D AFFORDANCE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7AC89-C11C-451A-A4E3-225329A3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2625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Next: lock the protocol, run it once, then report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3892B-C6EB-430F-A190-80FC5C2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A077E-0491-4F4A-8C86-B1F1821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5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77BB-7E74-4340-9F24-7272EA6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BEE5-EE51-49E3-A07A-54356F1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W7–8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F9C06-93B2-4F08-A1BF-CA499307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954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Freeze prompt bank + split; code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E4E9A-688D-40EE-AD8D-4E4C0EEC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6BFD1-2A88-46A1-B8DF-11392D58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W9–10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F49E5-74C2-4838-929C-7809C82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Run K=1/3/5 on MPS; save raw outputs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E69B5-8A4C-4515-ABBF-0715A71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BDACF-4204-4172-A98A-F9FDE415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W11–12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62A9B-C37D-4685-AA36-11A2768A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765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Paired metrics, uncertainty, error plots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CCDFA-03C4-4C85-9F6D-540FD3E6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4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EB4A3-04F8-4D23-9F6A-E049252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67DAD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67DAD"/>
                </a:solidFill>
                <a:latin typeface="Avenir"/>
                <a:ea typeface="Avenir"/>
                <a:cs typeface="Avenir"/>
              </a:rPr>
              <a:t>W13–14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9CA68-F21C-4102-9E64-7D061099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6710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0">
                <a:solidFill>
                  <a:srgbClr val="172B3A"/>
                </a:solidFill>
                <a:latin typeface="Avenir"/>
                <a:ea typeface="Avenir"/>
                <a:cs typeface="Avenir"/>
              </a:rPr>
              <a:t>Robustness check; write 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711D5-EA9C-45B9-BC84-1AEADEED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5334D-2D72-49BB-BBBA-EEA18F4F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venir"/>
                <a:ea typeface="Avenir"/>
                <a:cs typeface="Avenir"/>
              </a:defRPr>
            </a:pPr>
            <a:r>
              <a:rPr sz="1050" b="1">
                <a:solidFill>
                  <a:srgbClr val="102A43"/>
                </a:solidFill>
                <a:latin typeface="Avenir"/>
                <a:ea typeface="Avenir"/>
                <a:cs typeface="Avenir"/>
              </a:rPr>
              <a:t>W15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69F9A-0404-4EA5-A21D-C905F474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576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172B3A"/>
                </a:solidFill>
                <a:latin typeface="Avenir"/>
                <a:ea typeface="Avenir"/>
                <a:cs typeface="Avenir"/>
              </a:rPr>
              <a:t>Final report and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D8836-67C9-47C7-9D90-30692B55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3009900" cy="30670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AA473-E5B0-4B59-9D79-813716E6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8C4D6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8C4D6"/>
                </a:solidFill>
                <a:latin typeface="Avenir"/>
                <a:ea typeface="Avenir"/>
                <a:cs typeface="Avenir"/>
              </a:rPr>
              <a:t>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25524-01D4-4E0C-A796-EA3F4DB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52412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"/>
                <a:ea typeface="Avenir"/>
                <a:cs typeface="Avenir"/>
              </a:defRPr>
            </a:pPr>
            <a:r>
              <a:rPr sz="1725" b="1">
                <a:solidFill>
                  <a:srgbClr val="FFFFFF"/>
                </a:solidFill>
                <a:latin typeface="Avenir"/>
                <a:ea typeface="Avenir"/>
                <a:cs typeface="Avenir"/>
              </a:rPr>
              <a:t>Wording can change localization. The pilot suggests the gain may be affordance-specific and can increase false alarms.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D75AA-8EAA-4E56-9705-3AC7F603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C94747"/>
                </a:solidFill>
                <a:latin typeface="Avenir"/>
                <a:ea typeface="Avenir"/>
                <a:cs typeface="Avenir"/>
              </a:defRPr>
            </a:pPr>
            <a:r>
              <a:rPr sz="1425" b="1">
                <a:solidFill>
                  <a:srgbClr val="C94747"/>
                </a:solidFill>
                <a:latin typeface="Avenir"/>
                <a:ea typeface="Avenir"/>
                <a:cs typeface="Avenir"/>
              </a:rPr>
              <a:t>Main risk: no untouched labeled test split. Without one, report as exploratory.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5E131-AABF-4487-B95D-DF3ACCA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26777"/>
                </a:solidFill>
                <a:latin typeface="Avenir"/>
                <a:ea typeface="Avenir"/>
                <a:cs typeface="Avenir"/>
              </a:defRPr>
            </a:pPr>
            <a:r>
              <a:rPr sz="1200" b="1">
                <a:solidFill>
                  <a:srgbClr val="526777"/>
                </a:solidFill>
                <a:latin typeface="Avenir"/>
                <a:ea typeface="Avenir"/>
                <a:cs typeface="Avenir"/>
              </a:rPr>
              <a:t>Proposal PDF due 15 Oct 2026, 10:59 AM KST · teamNN_T14_proposal.pdf</a:t>
            </a:r>
          </a:p>
        </p:txBody>
      </p:sp>
    </p:spTree>
    <p:extLst>
      <p:ext uri="{BB962C8B-B14F-4D97-AF65-F5344CB8AC3E}">
        <p14:creationId xmlns:p14="http://schemas.microsoft.com/office/powerpoint/2010/main" val="20812712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2026-10-11T03:59:32.9040000Z</dcterms:created>
  <dcterms:modified xsi:type="dcterms:W3CDTF">2026-10-11T03:59:32.9040000Z</dcterms:modified>
</coreProperties>
</file>