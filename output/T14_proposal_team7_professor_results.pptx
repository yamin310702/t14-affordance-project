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bd4c0a116e461e" /><Relationship Type="http://schemas.openxmlformats.org/officeDocument/2006/relationships/extended-properties" Target="/docProps/app.xml" Id="R5e852500c2aa4910" /><Relationship Type="http://schemas.openxmlformats.org/officeDocument/2006/relationships/officeDocument" Target="/ppt/presentation.xml" Id="Rf541279904a14165" /></Relationships>
</file>

<file path=ppt/presentation.xml><?xml version="1.0" encoding="utf-8"?>
<p:presentation xmlns:p="http://schemas.openxmlformats.org/presentationml/2006/main">
  <p:sldMasterIdLst>
    <p:sldMasterId xmlns:r="http://schemas.openxmlformats.org/officeDocument/2006/relationships" id="2147483648" r:id="Rb3e684f9ad6c4455"/>
  </p:sldMasterIdLst>
  <p:notesMasterIdLst>
    <p:notesMasterId xmlns:r="http://schemas.openxmlformats.org/officeDocument/2006/relationships" r:id="Rd71dcf94e270452b"/>
  </p:notesMasterIdLst>
  <p:sldIdLst>
    <p:sldId xmlns:r="http://schemas.openxmlformats.org/officeDocument/2006/relationships" id="256" r:id="Refe2fdfb8e314f46"/>
    <p:sldId xmlns:r="http://schemas.openxmlformats.org/officeDocument/2006/relationships" id="257" r:id="R266755522b3a4ec1"/>
    <p:sldId xmlns:r="http://schemas.openxmlformats.org/officeDocument/2006/relationships" id="258" r:id="R8c81ff5e4150406a"/>
    <p:sldId xmlns:r="http://schemas.openxmlformats.org/officeDocument/2006/relationships" id="259" r:id="Rab884de5984c497d"/>
    <p:sldId xmlns:r="http://schemas.openxmlformats.org/officeDocument/2006/relationships" id="260" r:id="R1724709f8bf54f3b"/>
    <p:sldId xmlns:r="http://schemas.openxmlformats.org/officeDocument/2006/relationships" id="261" r:id="R411d8123a7dd449e"/>
    <p:sldId xmlns:r="http://schemas.openxmlformats.org/officeDocument/2006/relationships" id="262" r:id="Rdabfbea3757645b1"/>
    <p:sldId xmlns:r="http://schemas.openxmlformats.org/officeDocument/2006/relationships" id="263" r:id="R0ed83a4ffaa34a6c"/>
    <p:sldId xmlns:r="http://schemas.openxmlformats.org/officeDocument/2006/relationships" id="264" r:id="R5cf686438b0b4512"/>
    <p:sldId xmlns:r="http://schemas.openxmlformats.org/officeDocument/2006/relationships" id="265" r:id="Rb66d9ce9cd454081"/>
    <p:sldId xmlns:r="http://schemas.openxmlformats.org/officeDocument/2006/relationships" id="266" r:id="R0b28fbd742614032"/>
    <p:sldId xmlns:r="http://schemas.openxmlformats.org/officeDocument/2006/relationships" id="267" r:id="R04e8db7fc52344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f701a146804855" /><Relationship Type="http://schemas.openxmlformats.org/officeDocument/2006/relationships/slideMaster" Target="/ppt/slideMasters/slideMaster1.xml" Id="Rb3e684f9ad6c4455" /><Relationship Type="http://schemas.openxmlformats.org/officeDocument/2006/relationships/notesMaster" Target="/ppt/notesMasters/notesMaster1.xml" Id="Rd71dcf94e270452b" /><Relationship Type="http://schemas.openxmlformats.org/officeDocument/2006/relationships/presProps" Target="/ppt/presProps.xml" Id="R6d3c27687f204cd9" /><Relationship Type="http://schemas.openxmlformats.org/officeDocument/2006/relationships/tableStyles" Target="/ppt/tableStyles.xml" Id="Rc2702d7dc2e44744" /><Relationship Type="http://schemas.openxmlformats.org/officeDocument/2006/relationships/slide" Target="/ppt/slides/slide1.xml" Id="Refe2fdfb8e314f46" /><Relationship Type="http://schemas.openxmlformats.org/officeDocument/2006/relationships/slide" Target="/ppt/slides/slide2.xml" Id="R266755522b3a4ec1" /><Relationship Type="http://schemas.openxmlformats.org/officeDocument/2006/relationships/slide" Target="/ppt/slides/slide3.xml" Id="R8c81ff5e4150406a" /><Relationship Type="http://schemas.openxmlformats.org/officeDocument/2006/relationships/slide" Target="/ppt/slides/slide4.xml" Id="Rab884de5984c497d" /><Relationship Type="http://schemas.openxmlformats.org/officeDocument/2006/relationships/slide" Target="/ppt/slides/slide5.xml" Id="R1724709f8bf54f3b" /><Relationship Type="http://schemas.openxmlformats.org/officeDocument/2006/relationships/slide" Target="/ppt/slides/slide6.xml" Id="R411d8123a7dd449e" /><Relationship Type="http://schemas.openxmlformats.org/officeDocument/2006/relationships/slide" Target="/ppt/slides/slide7.xml" Id="Rdabfbea3757645b1" /><Relationship Type="http://schemas.openxmlformats.org/officeDocument/2006/relationships/slide" Target="/ppt/slides/slide8.xml" Id="R0ed83a4ffaa34a6c" /><Relationship Type="http://schemas.openxmlformats.org/officeDocument/2006/relationships/slide" Target="/ppt/slides/slide9.xml" Id="R5cf686438b0b4512" /><Relationship Type="http://schemas.openxmlformats.org/officeDocument/2006/relationships/slide" Target="/ppt/slides/slide10.xml" Id="Rb66d9ce9cd454081" /><Relationship Type="http://schemas.openxmlformats.org/officeDocument/2006/relationships/slide" Target="/ppt/slides/slide11.xml" Id="R0b28fbd742614032" /><Relationship Type="http://schemas.openxmlformats.org/officeDocument/2006/relationships/slide" Target="/ppt/slides/slide12.xml" Id="R04e8db7fc52344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b1402ee43240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f7edbefda24625" /><Relationship Type="http://schemas.openxmlformats.org/officeDocument/2006/relationships/notesMaster" Target="/ppt/notesMasters/notesMaster1.xml" Id="R54990404872f46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5cb3c507984ff2" /><Relationship Type="http://schemas.openxmlformats.org/officeDocument/2006/relationships/notesMaster" Target="/ppt/notesMasters/notesMaster1.xml" Id="R651ed967634245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59d02de3bd4442" /><Relationship Type="http://schemas.openxmlformats.org/officeDocument/2006/relationships/notesMaster" Target="/ppt/notesMasters/notesMaster1.xml" Id="Rc7b17d7d6a3d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56950182674f0d" /><Relationship Type="http://schemas.openxmlformats.org/officeDocument/2006/relationships/notesMaster" Target="/ppt/notesMasters/notesMaster1.xml" Id="R87e87d840e0040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23d08f98044b37" /><Relationship Type="http://schemas.openxmlformats.org/officeDocument/2006/relationships/notesMaster" Target="/ppt/notesMasters/notesMaster1.xml" Id="R4887b8dd3d8547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7963a77e454779" /><Relationship Type="http://schemas.openxmlformats.org/officeDocument/2006/relationships/notesMaster" Target="/ppt/notesMasters/notesMaster1.xml" Id="R309d687d59ae44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fbcf64cf3946a5" /><Relationship Type="http://schemas.openxmlformats.org/officeDocument/2006/relationships/notesMaster" Target="/ppt/notesMasters/notesMaster1.xml" Id="R23acb0165eb847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8d82e9b7f74c93" /><Relationship Type="http://schemas.openxmlformats.org/officeDocument/2006/relationships/notesMaster" Target="/ppt/notesMasters/notesMaster1.xml" Id="R1fe8eab21a9641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061daa60a648b3" /><Relationship Type="http://schemas.openxmlformats.org/officeDocument/2006/relationships/notesMaster" Target="/ppt/notesMasters/notesMaster1.xml" Id="Rf3fcbd14312e47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065a49bfc54d88" /><Relationship Type="http://schemas.openxmlformats.org/officeDocument/2006/relationships/notesMaster" Target="/ppt/notesMasters/notesMaster1.xml" Id="R0013804e6bd74a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7c329c35d84999" /><Relationship Type="http://schemas.openxmlformats.org/officeDocument/2006/relationships/notesMaster" Target="/ppt/notesMasters/notesMaster1.xml" Id="R80eb329d2f3d44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c239776d67494c" /><Relationship Type="http://schemas.openxmlformats.org/officeDocument/2006/relationships/notesMaster" Target="/ppt/notesMasters/notesMaster1.xml" Id="Ra193291af57b41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 values from E01: full-shape mIoU 14.4121% and partial-view mIoU 12.4964%, rounded on slide to 14.41% and 12.50%. E01 was an adapted evaluation, not an untouched official reproduction. E05 later evaluated all 9,140 partial views at batch size 1 and obtained point-weighted 19-class mIoU 12.5364% (12.54%). E05 differs from E01 in batch and stochastic point-sampling conditions, so keep it clearly separate rather than presenting as the same run. The released OpenAD PN2 checkpoint was frozen; no training occurred. MPS profile: one synchronized cold forward on 2,048 points took 0.5456s after setup; sampled high-water Metal driver allocation ~1.295 GiB, not physical peak VRAM. E17 CPU/MPS headline differences &lt;=0.0054 percentage points. Source records E01, E05, profile JSON and E17.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summarizes the exploratory Espresso-3D reimplementation with Affogato-pretrained weights, not official Affogato benchmark results. E06 was a device/compatibility smoke test with no semantic accuracy result. E07 was one-case inference only, not a benchmark. E08 single-object wording pilot: one phrase improved selected-vase aIoU 16.42%→18.20%, while other phrases and averaging were worse. E09/E10 positive-only pour samples showed small/uncertain changes; E11 positive-only grab sample was suggestive but imprecise. E12 tested five actions on 20 positive objects each; prompt effects varied, and averaging often lowered aIoU. E13 tested 40 positive objects per affordance; grab selected-phrase gain was +5.85 pp (95% CI +1.59,+11.00), while other action effects were small, uncertain or negative. E14 mixed presence (20 positive and 20 negative per action) found accommodate false alarms at diagnostic cutoff 0.5 rose 6/20→13/20 for the selected phrase. E15 balanced-IoU threshold calibration collapsed toward empty predictions; original prompts detected 0/20 positive objects per action at selected thresholds. E16 predeclared &lt;=10% negative-alarm rule selected cutoff 1.00 and detected 0/20 positives; at diagnostic cutoff 0.5, selected wording improved positive hits but alarmed on 19/20 negatives versus 4/20 for original. The E16 CPU attempt was aborted; the MPS run completed and CPU/MPS results agreed. These are small, stratified, exploratory cross-model studies; they motivate a careful test but do not support a universal paraphrase or ensemble benefit. Affostruction inference was not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Across 18 actions on partial point clouds, how do one paraphrase and a three-prompt average change OpenAD IoU and false alarms versus canonical action words? Hypothesis: prompt effects vary by action; three-prompt averaging may not improve overall IoU and may trade localization gains for false alarms. Primary contrast is three-prompt average vs canonical; the one-paraphrase condition is secondary. Report paired IoU and false-alarm changes. This cautious hypothesis reflects the mixed E08–E16 exploratory record and should be treated as a new, falsifiable prediction, not an established result. Freeze prompts before test evaluation, and do not select wording using test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conditions on exactly the same inputs: A) canonical action word; B) one fixed meaning-equivalent paraphrase; C) arithmetic average of per-point affordance scores from three fixed meaning-equivalent paraphrases. Keep the released OpenAD PN2 checkpoint frozen, use identical objects, views, points, class slots and argmax prediction rule. Primary setting: partial views; full shapes are a control. Primary endpoint and contrast: macro point-wise IoU over 18 actions, condition C vs A. Secondary: B vs A, per-action IoU, 19-class IoU including none, AUC, false-positive point fraction and any-alarm rate on negative objects. Compute paired object-level confidence intervals. Freeze prompts and analysis before test scoring; if reusing validation data, report results as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protocol: write three meaning-equivalent paraphrases for each of the 18 actions, freeze wording before evaluation, and do not tune on test labels or scores. Compare A) canonical action word, B) one preselected paraphrase, and C) unweighted average of the three paraphrase per-point score maps. Use the same frozen OpenAD PN2 checkpoint and identical point clouds, views and point samples. Primary data: partial views; full shapes are a control. Primary comparison is C vs A for macro IoU across 18 actions excluding none. Secondary comparison is B vs A. Also report 19-class IoU, AUC, per-action IoU, false-positive fraction, and any-alarm rate on negative objects. Bootstrap paired differences by object. Prefer an untouched object-disjoint test set; if using the already analyzed validation split, label findings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freeze the research question, primary contrast (three-prompt average vs canonical), exact action list, data split and leakage checks. Week 10: prewrite three meaning-equivalent paraphrases per action and freeze wording before evaluation. Week 11: test all three scoring conditions and score-map averaging on a small sample; verify labels, point alignment, metrics and false alarms. Week 12: run canonical, one-paraphrase and three-paraphrase-average conditions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 primary contrast is three paraphrases averaged vs the canonical action word; the one-paraphrase condition is secondary.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2b182e20604e8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70c519485e46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becec0dc7048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922a63c5ad41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8196404f5b4ff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3bfb61231845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4F8E10-F3B0-49E8-AFA6-39900E694C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0C4676-F410-45A7-B448-07DA8E3CA8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4D588C-1F50-4546-91D8-9492FC65F6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2E7C8A-B34D-4E2B-AC0F-1BCFBD2F86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1C7F6E-0EB9-416F-9601-A42CA03798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542DC6-D669-41E4-BEAA-B696FBDC55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8527CE-F088-4F5A-93F6-254F8CC564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75B46D-70AE-4BB4-8248-DF5C32DC8F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158E00-B583-49AF-8EF2-274B7D2C99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2E4488-D56C-4897-9FD1-AC3EDFAD02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da0f5633d44a51" /><Relationship Type="http://schemas.openxmlformats.org/officeDocument/2006/relationships/slideLayout" Target="/ppt/slideLayouts/slideLayout1.xml" Id="R96e7a9c9d93c4a58" /><Relationship Type="http://schemas.openxmlformats.org/officeDocument/2006/relationships/slideLayout" Target="/ppt/slideLayouts/slideLayout2.xml" Id="Re28bb8f459964ca0" /><Relationship Type="http://schemas.openxmlformats.org/officeDocument/2006/relationships/slideLayout" Target="/ppt/slideLayouts/slideLayout3.xml" Id="Rddd9c84c86354f20" /><Relationship Type="http://schemas.openxmlformats.org/officeDocument/2006/relationships/slideLayout" Target="/ppt/slideLayouts/slideLayout4.xml" Id="R4094f215b1dd4e12" /><Relationship Type="http://schemas.openxmlformats.org/officeDocument/2006/relationships/slideLayout" Target="/ppt/slideLayouts/slideLayout5.xml" Id="Rade4b4e99e3e41b7" /><Relationship Type="http://schemas.openxmlformats.org/officeDocument/2006/relationships/slideLayout" Target="/ppt/slideLayouts/slideLayout6.xml" Id="R304a5f111a8f46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e7a9c9d93c4a58"/>
    <p:sldLayoutId xmlns:r="http://schemas.openxmlformats.org/officeDocument/2006/relationships" id="2147483650" r:id="Re28bb8f459964ca0"/>
    <p:sldLayoutId xmlns:r="http://schemas.openxmlformats.org/officeDocument/2006/relationships" id="2147483651" r:id="Rddd9c84c86354f20"/>
    <p:sldLayoutId xmlns:r="http://schemas.openxmlformats.org/officeDocument/2006/relationships" id="2147483652" r:id="R4094f215b1dd4e12"/>
    <p:sldLayoutId xmlns:r="http://schemas.openxmlformats.org/officeDocument/2006/relationships" id="2147483653" r:id="Rade4b4e99e3e41b7"/>
    <p:sldLayoutId xmlns:r="http://schemas.openxmlformats.org/officeDocument/2006/relationships" id="2147483654" r:id="R304a5f111a8f46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f82edb903834ec6" /><Relationship Type="http://schemas.openxmlformats.org/officeDocument/2006/relationships/image" Target="/ppt/media/image.png" Id="R9696f5d275294dbf" /><Relationship Type="http://schemas.openxmlformats.org/officeDocument/2006/relationships/notesSlide" Target="/ppt/notesSlides/notesSlide1.xml" Id="Raa779c97d8844e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4d1dc487d54191" /><Relationship Type="http://schemas.openxmlformats.org/officeDocument/2006/relationships/image" Target="/ppt/media/image2.png" Id="R65a377bff54a4348" /><Relationship Type="http://schemas.openxmlformats.org/officeDocument/2006/relationships/notesSlide" Target="/ppt/notesSlides/notesSlide2.xml" Id="R49ba7ce0040946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86afdc1c524ec6" /><Relationship Type="http://schemas.openxmlformats.org/officeDocument/2006/relationships/image" Target="/ppt/media/image3.png" Id="Ra8be93bd708141a4" /><Relationship Type="http://schemas.openxmlformats.org/officeDocument/2006/relationships/notesSlide" Target="/ppt/notesSlides/notesSlide3.xml" Id="Raa88885bc27843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af1e07aaa54ad3" /><Relationship Type="http://schemas.openxmlformats.org/officeDocument/2006/relationships/image" Target="/ppt/media/image4.png" Id="R232e628e044347cd" /><Relationship Type="http://schemas.openxmlformats.org/officeDocument/2006/relationships/notesSlide" Target="/ppt/notesSlides/notesSlide4.xml" Id="R8eb8d48bdf2246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9c103987c94e29" /><Relationship Type="http://schemas.openxmlformats.org/officeDocument/2006/relationships/image" Target="/ppt/media/image5.png" Id="Rd791a9ee782a42d1" /><Relationship Type="http://schemas.openxmlformats.org/officeDocument/2006/relationships/image" Target="/ppt/media/image6.png" Id="Rd1738a796a97464f" /><Relationship Type="http://schemas.openxmlformats.org/officeDocument/2006/relationships/notesSlide" Target="/ppt/notesSlides/notesSlide5.xml" Id="R6e7da06acd794f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6a0829e8b845d7" /><Relationship Type="http://schemas.openxmlformats.org/officeDocument/2006/relationships/image" Target="/ppt/media/image7.png" Id="Rb928724a02ae44d2" /><Relationship Type="http://schemas.openxmlformats.org/officeDocument/2006/relationships/notesSlide" Target="/ppt/notesSlides/notesSlide6.xml" Id="R11b5118a891044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4f0229869f4e9e" /><Relationship Type="http://schemas.openxmlformats.org/officeDocument/2006/relationships/image" Target="/ppt/media/image8.png" Id="R513c37e17e1940b2" /><Relationship Type="http://schemas.openxmlformats.org/officeDocument/2006/relationships/notesSlide" Target="/ppt/notesSlides/notesSlide7.xml" Id="R0994db33c3fc46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e9b7e67ca04f56" /><Relationship Type="http://schemas.openxmlformats.org/officeDocument/2006/relationships/image" Target="/ppt/media/image9.png" Id="R4a927938018e4224" /><Relationship Type="http://schemas.openxmlformats.org/officeDocument/2006/relationships/notesSlide" Target="/ppt/notesSlides/notesSlide8.xml" Id="R9001887034934b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9a82e32dcf4ca4" /><Relationship Type="http://schemas.openxmlformats.org/officeDocument/2006/relationships/image" Target="/ppt/media/image10.png" Id="Reff2a4e893c54d90" /><Relationship Type="http://schemas.openxmlformats.org/officeDocument/2006/relationships/notesSlide" Target="/ppt/notesSlides/notesSlide9.xml" Id="Re064d7fded8c47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ecc9bba87f4a9f" /><Relationship Type="http://schemas.openxmlformats.org/officeDocument/2006/relationships/image" Target="/ppt/media/image11.png" Id="Ra2c0cdd679c14608" /><Relationship Type="http://schemas.openxmlformats.org/officeDocument/2006/relationships/notesSlide" Target="/ppt/notesSlides/notesSlide10.xml" Id="R8336985b63d04c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d75b24e0f484f1b" /><Relationship Type="http://schemas.openxmlformats.org/officeDocument/2006/relationships/image" Target="/ppt/media/image12.png" Id="Rf1e880916f3c4982" /><Relationship Type="http://schemas.openxmlformats.org/officeDocument/2006/relationships/notesSlide" Target="/ppt/notesSlides/notesSlide11.xml" Id="R38a7d86c6c5545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e2a4a4728614d44" /><Relationship Type="http://schemas.openxmlformats.org/officeDocument/2006/relationships/image" Target="/ppt/media/image13.png" Id="Rcc3118f2cb4e40ff" /><Relationship Type="http://schemas.openxmlformats.org/officeDocument/2006/relationships/notesSlide" Target="/ppt/notesSlides/notesSlide12.xml" Id="Ra7aa7ac112f84f4b" /></Relationships>
</file>

<file path=ppt/slides/slide1.xml><?xml version="1.0" encoding="utf-8"?>
<p:sld xmlns:p="http://schemas.openxmlformats.org/presentationml/2006/main">
  <p:cSld>
    <p:bg>
      <p:bgPr>
        <a:solidFill xmlns:a="http://schemas.openxmlformats.org/drawingml/2006/main">
          <a:srgbClr val="F1F3F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8E58981-FB41-4D07-BCF7-8271BD32F681}"/>
              </a:ext>
            </a:extLst>
          </p:cNvPr>
          <p:cNvPicPr>
            <a:picLocks xmlns:a="http://schemas.openxmlformats.org/drawingml/2006/main" noChangeAspect="1"/>
          </p:cNvPicPr>
          <p:nvPr/>
        </p:nvPicPr>
        <p:blipFill>
          <a:blip xmlns:r="http://schemas.openxmlformats.org/officeDocument/2006/relationships" xmlns:a="http://schemas.openxmlformats.org/drawingml/2006/main" r:embed="R9696f5d275294dbf"/>
          <a:stretch xmlns:a="http://schemas.openxmlformats.org/drawingml/2006/main"/>
        </p:blipFill>
        <p:spPr>
          <a:xfrm xmlns:a="http://schemas.openxmlformats.org/drawingml/2006/main">
            <a:off x="0" y="1781432"/>
            <a:ext cx="12192000" cy="329513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8E21110-002C-4BFE-9D36-20F9FF62DD1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D89443-2F1A-4734-9D5E-F7A73510FE4E}"/>
              </a:ext>
            </a:extLst>
          </p:cNvPr>
          <p:cNvSpPr>
            <a:spLocks xmlns:a="http://schemas.openxmlformats.org/drawingml/2006/main" noGrp="1"/>
          </p:cNvSpPr>
          <p:nvPr/>
        </p:nvSpPr>
        <p:spPr>
          <a:xfrm xmlns:a="http://schemas.openxmlformats.org/drawingml/2006/main">
            <a:off x="7239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7DAD"/>
                </a:solidFill>
                <a:latin typeface="Avenir"/>
                <a:ea typeface="Avenir"/>
                <a:cs typeface="Avenir"/>
              </a:defRPr>
            </a:defPPr>
          </a:lstStyle>
          <a:p xmlns:a="http://schemas.openxmlformats.org/drawingml/2006/main">
            <a:pPr algn="l">
              <a:defRPr sz="1275" b="1">
                <a:solidFill>
                  <a:srgbClr val="167DAD"/>
                </a:solidFill>
                <a:latin typeface="Avenir"/>
                <a:ea typeface="Avenir"/>
                <a:cs typeface="Avenir"/>
              </a:defRPr>
            </a:pPr>
            <a:r>
              <a:rPr sz="1275" b="1">
                <a:solidFill>
                  <a:srgbClr val="167DAD"/>
                </a:solidFill>
                <a:latin typeface="Avenir"/>
                <a:ea typeface="Avenir"/>
                <a:cs typeface="Avenir"/>
              </a:rPr>
              <a:t>RESEARCH PROPOSAL · T14</a:t>
            </a:r>
          </a:p>
        </p:txBody>
      </p:sp>
      <p:sp>
        <p:nvSpPr>
          <p:cNvPr id="4" name="">
            <a:extLst xmlns:a="http://schemas.openxmlformats.org/drawingml/2006/main">
              <a:ext uri="{FF2B5EF4-FFF2-40B4-BE49-F238E27FC236}">
                <a16:creationId xmlns:a16="http://schemas.microsoft.com/office/drawing/2014/main" id="{014B0B0B-5364-47A0-AD21-55D2DC3E0D03}"/>
              </a:ext>
            </a:extLst>
          </p:cNvPr>
          <p:cNvSpPr>
            <a:spLocks xmlns:a="http://schemas.openxmlformats.org/drawingml/2006/main" noGrp="1"/>
          </p:cNvSpPr>
          <p:nvPr/>
        </p:nvSpPr>
        <p:spPr>
          <a:xfrm xmlns:a="http://schemas.openxmlformats.org/drawingml/2006/main">
            <a:off x="723900" y="990600"/>
            <a:ext cx="857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102A43"/>
                </a:solidFill>
                <a:latin typeface="Avenir"/>
                <a:ea typeface="Avenir"/>
                <a:cs typeface="Avenir"/>
              </a:defRPr>
            </a:defPPr>
          </a:lstStyle>
          <a:p xmlns:a="http://schemas.openxmlformats.org/drawingml/2006/main">
            <a:pPr algn="l">
              <a:defRPr sz="3150" b="1">
                <a:solidFill>
                  <a:srgbClr val="102A43"/>
                </a:solidFill>
                <a:latin typeface="Avenir"/>
                <a:ea typeface="Avenir"/>
                <a:cs typeface="Avenir"/>
              </a:defRPr>
            </a:pPr>
            <a:r>
              <a:rPr sz="3150" b="1">
                <a:solidFill>
                  <a:srgbClr val="102A43"/>
                </a:solidFill>
                <a:latin typeface="Avenir"/>
                <a:ea typeface="Avenir"/>
                <a:cs typeface="Avenir"/>
              </a:rPr>
              <a:t>What we learned from our</a:t>
            </a:r>
          </a:p>
          <a:p xmlns:a="http://schemas.openxmlformats.org/drawingml/2006/main">
            <a:pPr algn="l">
              <a:defRPr sz="3150" b="1">
                <a:solidFill>
                  <a:srgbClr val="102A43"/>
                </a:solidFill>
                <a:latin typeface="Avenir"/>
                <a:ea typeface="Avenir"/>
                <a:cs typeface="Avenir"/>
              </a:defRPr>
            </a:pPr>
            <a:r>
              <a:rPr sz="3150" b="1">
                <a:solidFill>
                  <a:srgbClr val="102A43"/>
                </a:solidFill>
                <a:latin typeface="Avenir"/>
                <a:ea typeface="Avenir"/>
                <a:cs typeface="Avenir"/>
              </a:rPr>
              <a:t>3D affordance experiments</a:t>
            </a:r>
          </a:p>
        </p:txBody>
      </p:sp>
      <p:sp>
        <p:nvSpPr>
          <p:cNvPr id="5" name="">
            <a:extLst xmlns:a="http://schemas.openxmlformats.org/drawingml/2006/main">
              <a:ext uri="{FF2B5EF4-FFF2-40B4-BE49-F238E27FC236}">
                <a16:creationId xmlns:a16="http://schemas.microsoft.com/office/drawing/2014/main" id="{5B48CFFC-473E-4C27-8800-10B5255077D9}"/>
              </a:ext>
            </a:extLst>
          </p:cNvPr>
          <p:cNvSpPr>
            <a:spLocks xmlns:a="http://schemas.openxmlformats.org/drawingml/2006/main" noGrp="1"/>
          </p:cNvSpPr>
          <p:nvPr/>
        </p:nvSpPr>
        <p:spPr>
          <a:xfrm xmlns:a="http://schemas.openxmlformats.org/drawingml/2006/main">
            <a:off x="762000" y="21812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72B3A"/>
                </a:solidFill>
                <a:latin typeface="Avenir"/>
                <a:ea typeface="Avenir"/>
                <a:cs typeface="Avenir"/>
              </a:defRPr>
            </a:defPPr>
          </a:lstStyle>
          <a:p xmlns:a="http://schemas.openxmlformats.org/drawingml/2006/main">
            <a:pPr algn="l">
              <a:defRPr sz="1650" b="0">
                <a:solidFill>
                  <a:srgbClr val="172B3A"/>
                </a:solidFill>
                <a:latin typeface="Avenir"/>
                <a:ea typeface="Avenir"/>
                <a:cs typeface="Avenir"/>
              </a:defRPr>
            </a:pPr>
            <a:r>
              <a:rPr sz="1650" b="0">
                <a:solidFill>
                  <a:srgbClr val="172B3A"/>
                </a:solidFill>
                <a:latin typeface="Avenir"/>
                <a:ea typeface="Avenir"/>
                <a:cs typeface="Avenir"/>
              </a:rPr>
              <a:t>And the next question we plan to test</a:t>
            </a:r>
          </a:p>
        </p:txBody>
      </p:sp>
      <p:sp>
        <p:nvSpPr>
          <p:cNvPr id="6" name="">
            <a:extLst xmlns:a="http://schemas.openxmlformats.org/drawingml/2006/main">
              <a:ext uri="{FF2B5EF4-FFF2-40B4-BE49-F238E27FC236}">
                <a16:creationId xmlns:a16="http://schemas.microsoft.com/office/drawing/2014/main" id="{036B4627-6348-4128-9BA6-DC977E27E5BE}"/>
              </a:ext>
            </a:extLst>
          </p:cNvPr>
          <p:cNvSpPr>
            <a:spLocks xmlns:a="http://schemas.openxmlformats.org/drawingml/2006/main" noGrp="1"/>
          </p:cNvSpPr>
          <p:nvPr/>
        </p:nvSpPr>
        <p:spPr>
          <a:xfrm xmlns:a="http://schemas.openxmlformats.org/drawingml/2006/main">
            <a:off x="723900" y="5476875"/>
            <a:ext cx="6667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7E01B09C-0E14-4944-A73E-3FA7137CEBDF}"/>
              </a:ext>
            </a:extLst>
          </p:cNvPr>
          <p:cNvSpPr>
            <a:spLocks xmlns:a="http://schemas.openxmlformats.org/drawingml/2006/main" noGrp="1"/>
          </p:cNvSpPr>
          <p:nvPr/>
        </p:nvSpPr>
        <p:spPr>
          <a:xfrm xmlns:a="http://schemas.openxmlformats.org/drawingml/2006/main">
            <a:off x="895350" y="5648325"/>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B3A"/>
                </a:solidFill>
                <a:latin typeface="Avenir"/>
                <a:ea typeface="Avenir"/>
                <a:cs typeface="Avenir"/>
              </a:defRPr>
            </a:defPPr>
          </a:lstStyle>
          <a:p xmlns:a="http://schemas.openxmlformats.org/drawingml/2006/main">
            <a:pPr algn="l">
              <a:defRPr sz="1200" b="1">
                <a:solidFill>
                  <a:srgbClr val="172B3A"/>
                </a:solidFill>
                <a:latin typeface="Avenir"/>
                <a:ea typeface="Avenir"/>
                <a:cs typeface="Avenir"/>
              </a:defRPr>
            </a:pPr>
            <a:r>
              <a:rPr sz="1200" b="1">
                <a:solidFill>
                  <a:srgbClr val="172B3A"/>
                </a:solidFill>
                <a:latin typeface="Avenir"/>
                <a:ea typeface="Avenir"/>
                <a:cs typeface="Avenir"/>
              </a:rPr>
              <a:t>Team 7 · Yamin Myat Aung (20233523) · Hakon Maelum (50261597)</a:t>
            </a:r>
          </a:p>
        </p:txBody>
      </p:sp>
      <p:sp>
        <p:nvSpPr>
          <p:cNvPr id="8" name="">
            <a:extLst xmlns:a="http://schemas.openxmlformats.org/drawingml/2006/main">
              <a:ext uri="{FF2B5EF4-FFF2-40B4-BE49-F238E27FC236}">
                <a16:creationId xmlns:a16="http://schemas.microsoft.com/office/drawing/2014/main" id="{A9016BB1-FF47-4FD4-80B1-C0C62B224C6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01 / 12</a:t>
            </a:r>
          </a:p>
        </p:txBody>
      </p:sp>
    </p:spTree>
    <p:extLst>
      <p:ext uri="{BB962C8B-B14F-4D97-AF65-F5344CB8AC3E}">
        <p14:creationId xmlns:p14="http://schemas.microsoft.com/office/powerpoint/2010/main" val="1058719466"/>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77F6F79-BCF1-45B8-852B-CF15CE4F467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ECEC466E-7870-4805-B32B-9B8315B18B92}"/>
              </a:ext>
            </a:extLst>
          </p:cNvPr>
          <p:cNvPicPr>
            <a:picLocks xmlns:a="http://schemas.openxmlformats.org/drawingml/2006/main" noChangeAspect="1"/>
          </p:cNvPicPr>
          <p:nvPr/>
        </p:nvPicPr>
        <p:blipFill>
          <a:blip xmlns:r="http://schemas.openxmlformats.org/officeDocument/2006/relationships" xmlns:a="http://schemas.openxmlformats.org/drawingml/2006/main" r:embed="R65a377bff54a4348"/>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6FB5FF-59D7-4A31-AC52-F477796338F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4" name="">
            <a:extLst xmlns:a="http://schemas.openxmlformats.org/drawingml/2006/main">
              <a:ext uri="{FF2B5EF4-FFF2-40B4-BE49-F238E27FC236}">
                <a16:creationId xmlns:a16="http://schemas.microsoft.com/office/drawing/2014/main" id="{B49DD656-6EAB-4324-B342-157CB5338A0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45E2DE-014B-4AC5-BF60-6D18B91845F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6" name="">
            <a:extLst xmlns:a="http://schemas.openxmlformats.org/drawingml/2006/main">
              <a:ext uri="{FF2B5EF4-FFF2-40B4-BE49-F238E27FC236}">
                <a16:creationId xmlns:a16="http://schemas.microsoft.com/office/drawing/2014/main" id="{5626B114-69B8-4980-8469-57B37C87C18D}"/>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FBB12B30-E817-41EC-AC62-6CED9FD24B3B}"/>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7442E835-52C5-4141-9524-FA82AA8D6C03}"/>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9" name="">
            <a:extLst xmlns:a="http://schemas.openxmlformats.org/drawingml/2006/main">
              <a:ext uri="{FF2B5EF4-FFF2-40B4-BE49-F238E27FC236}">
                <a16:creationId xmlns:a16="http://schemas.microsoft.com/office/drawing/2014/main" id="{9DAD5D5E-9E58-46B4-AC58-19F82A2ADDD8}"/>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10" name="">
            <a:extLst xmlns:a="http://schemas.openxmlformats.org/drawingml/2006/main">
              <a:ext uri="{FF2B5EF4-FFF2-40B4-BE49-F238E27FC236}">
                <a16:creationId xmlns:a16="http://schemas.microsoft.com/office/drawing/2014/main" id="{8BAF512E-45D5-4B26-B792-4D6B60CD0E0B}"/>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7D474968-1A52-4E8A-8E46-29359BEABD9B}"/>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2" name="">
            <a:extLst xmlns:a="http://schemas.openxmlformats.org/drawingml/2006/main">
              <a:ext uri="{FF2B5EF4-FFF2-40B4-BE49-F238E27FC236}">
                <a16:creationId xmlns:a16="http://schemas.microsoft.com/office/drawing/2014/main" id="{F767CF65-7B04-4A9C-AAC2-A0E63D4E577A}"/>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012D3F-F428-4E8A-868A-DB2D4C4279A9}"/>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D21A0DCD-59AE-414F-BE83-7A4A9E7089C9}"/>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5" name="">
            <a:extLst xmlns:a="http://schemas.openxmlformats.org/drawingml/2006/main">
              <a:ext uri="{FF2B5EF4-FFF2-40B4-BE49-F238E27FC236}">
                <a16:creationId xmlns:a16="http://schemas.microsoft.com/office/drawing/2014/main" id="{A46AEF90-8D25-4F1C-9A04-215BC21BC3D8}"/>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6" name="">
            <a:extLst xmlns:a="http://schemas.openxmlformats.org/drawingml/2006/main">
              <a:ext uri="{FF2B5EF4-FFF2-40B4-BE49-F238E27FC236}">
                <a16:creationId xmlns:a16="http://schemas.microsoft.com/office/drawing/2014/main" id="{14D2C730-2F1B-408A-850F-685F5A89DC10}"/>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7" name="">
            <a:extLst xmlns:a="http://schemas.openxmlformats.org/drawingml/2006/main">
              <a:ext uri="{FF2B5EF4-FFF2-40B4-BE49-F238E27FC236}">
                <a16:creationId xmlns:a16="http://schemas.microsoft.com/office/drawing/2014/main" id="{7F9C58ED-A928-462C-A7D0-9BABAC641542}"/>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610919018"/>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7136AB7-E2B3-42BA-8764-5827CAC6D34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534D3921-70A0-437E-990E-D51D4F4963FE}"/>
              </a:ext>
            </a:extLst>
          </p:cNvPr>
          <p:cNvPicPr>
            <a:picLocks xmlns:a="http://schemas.openxmlformats.org/drawingml/2006/main" noChangeAspect="1"/>
          </p:cNvPicPr>
          <p:nvPr/>
        </p:nvPicPr>
        <p:blipFill>
          <a:blip xmlns:r="http://schemas.openxmlformats.org/officeDocument/2006/relationships" xmlns:a="http://schemas.openxmlformats.org/drawingml/2006/main" r:embed="Ra8be93bd708141a4"/>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60BD39-2ED8-448E-BF7E-ADFD3FF3DA8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Our OpenAD baseline and evaluation setup</a:t>
            </a:r>
          </a:p>
        </p:txBody>
      </p:sp>
      <p:sp>
        <p:nvSpPr>
          <p:cNvPr id="4" name="">
            <a:extLst xmlns:a="http://schemas.openxmlformats.org/drawingml/2006/main">
              <a:ext uri="{FF2B5EF4-FFF2-40B4-BE49-F238E27FC236}">
                <a16:creationId xmlns:a16="http://schemas.microsoft.com/office/drawing/2014/main" id="{D06AF871-56A0-4B05-9F84-6502E2E8181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171881-9CB3-42F2-AEDF-BD966C05C85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6" name="">
            <a:extLst xmlns:a="http://schemas.openxmlformats.org/drawingml/2006/main">
              <a:ext uri="{FF2B5EF4-FFF2-40B4-BE49-F238E27FC236}">
                <a16:creationId xmlns:a16="http://schemas.microsoft.com/office/drawing/2014/main" id="{351F766E-291E-4C36-BDBE-7D0A51BFA9C8}"/>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5D7EFA84-6423-4575-B666-ECDCC5B2D77B}"/>
              </a:ext>
            </a:extLst>
          </p:cNvPr>
          <p:cNvSpPr>
            <a:spLocks xmlns:a="http://schemas.openxmlformats.org/drawingml/2006/main" noGrp="1"/>
          </p:cNvSpPr>
          <p:nvPr/>
        </p:nvSpPr>
        <p:spPr>
          <a:xfrm xmlns:a="http://schemas.openxmlformats.org/drawingml/2006/main">
            <a:off x="857250" y="1828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RELEASED BASELINE</a:t>
            </a:r>
          </a:p>
        </p:txBody>
      </p:sp>
      <p:sp>
        <p:nvSpPr>
          <p:cNvPr id="8" name="">
            <a:extLst xmlns:a="http://schemas.openxmlformats.org/drawingml/2006/main">
              <a:ext uri="{FF2B5EF4-FFF2-40B4-BE49-F238E27FC236}">
                <a16:creationId xmlns:a16="http://schemas.microsoft.com/office/drawing/2014/main" id="{58111747-F51E-4D41-B7CB-DAD85D83B53E}"/>
              </a:ext>
            </a:extLst>
          </p:cNvPr>
          <p:cNvSpPr>
            <a:spLocks xmlns:a="http://schemas.openxmlformats.org/drawingml/2006/main" noGrp="1"/>
          </p:cNvSpPr>
          <p:nvPr/>
        </p:nvSpPr>
        <p:spPr>
          <a:xfrm xmlns:a="http://schemas.openxmlformats.org/drawingml/2006/main">
            <a:off x="857250" y="21717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9" name="">
            <a:extLst xmlns:a="http://schemas.openxmlformats.org/drawingml/2006/main">
              <a:ext uri="{FF2B5EF4-FFF2-40B4-BE49-F238E27FC236}">
                <a16:creationId xmlns:a16="http://schemas.microsoft.com/office/drawing/2014/main" id="{DD83A4D6-89F1-4222-AE8B-666F234A54E2}"/>
              </a:ext>
            </a:extLst>
          </p:cNvPr>
          <p:cNvSpPr>
            <a:spLocks xmlns:a="http://schemas.openxmlformats.org/drawingml/2006/main" noGrp="1"/>
          </p:cNvSpPr>
          <p:nvPr/>
        </p:nvSpPr>
        <p:spPr>
          <a:xfrm xmlns:a="http://schemas.openxmlformats.org/drawingml/2006/main">
            <a:off x="838200" y="2705100"/>
            <a:ext cx="2190750" cy="876300"/>
          </a:xfrm>
          <a:prstGeom xmlns:a="http://schemas.openxmlformats.org/drawingml/2006/main" prst="roundRect">
            <a:avLst>
              <a:gd name="adj" fmla="val 8696"/>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EF41F6B2-CB15-4F99-BB6D-F989140D147C}"/>
              </a:ext>
            </a:extLst>
          </p:cNvPr>
          <p:cNvSpPr>
            <a:spLocks xmlns:a="http://schemas.openxmlformats.org/drawingml/2006/main" noGrp="1"/>
          </p:cNvSpPr>
          <p:nvPr/>
        </p:nvSpPr>
        <p:spPr>
          <a:xfrm xmlns:a="http://schemas.openxmlformats.org/drawingml/2006/main">
            <a:off x="962025" y="2771775"/>
            <a:ext cx="1924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PARTIAL · E01</a:t>
            </a:r>
          </a:p>
        </p:txBody>
      </p:sp>
      <p:sp>
        <p:nvSpPr>
          <p:cNvPr id="11" name="">
            <a:extLst xmlns:a="http://schemas.openxmlformats.org/drawingml/2006/main">
              <a:ext uri="{FF2B5EF4-FFF2-40B4-BE49-F238E27FC236}">
                <a16:creationId xmlns:a16="http://schemas.microsoft.com/office/drawing/2014/main" id="{837A554B-4F97-484F-9F94-F317E209753F}"/>
              </a:ext>
            </a:extLst>
          </p:cNvPr>
          <p:cNvSpPr>
            <a:spLocks xmlns:a="http://schemas.openxmlformats.org/drawingml/2006/main" noGrp="1"/>
          </p:cNvSpPr>
          <p:nvPr/>
        </p:nvSpPr>
        <p:spPr>
          <a:xfrm xmlns:a="http://schemas.openxmlformats.org/drawingml/2006/main">
            <a:off x="962025" y="3038475"/>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02A43"/>
                </a:solidFill>
                <a:latin typeface="Avenir"/>
                <a:ea typeface="Avenir"/>
                <a:cs typeface="Avenir"/>
              </a:defRPr>
            </a:defPPr>
          </a:lstStyle>
          <a:p xmlns:a="http://schemas.openxmlformats.org/drawingml/2006/main">
            <a:pPr algn="l">
              <a:defRPr sz="2250" b="1">
                <a:solidFill>
                  <a:srgbClr val="102A43"/>
                </a:solidFill>
                <a:latin typeface="Avenir"/>
                <a:ea typeface="Avenir"/>
                <a:cs typeface="Avenir"/>
              </a:defRPr>
            </a:pPr>
            <a:r>
              <a:rPr sz="2250" b="1">
                <a:solidFill>
                  <a:srgbClr val="102A43"/>
                </a:solidFill>
                <a:latin typeface="Avenir"/>
                <a:ea typeface="Avenir"/>
                <a:cs typeface="Avenir"/>
              </a:rPr>
              <a:t>12.50%</a:t>
            </a:r>
          </a:p>
        </p:txBody>
      </p:sp>
      <p:sp>
        <p:nvSpPr>
          <p:cNvPr id="12" name="">
            <a:extLst xmlns:a="http://schemas.openxmlformats.org/drawingml/2006/main">
              <a:ext uri="{FF2B5EF4-FFF2-40B4-BE49-F238E27FC236}">
                <a16:creationId xmlns:a16="http://schemas.microsoft.com/office/drawing/2014/main" id="{6DBF0150-6F62-4EC4-A6E4-32974F2C1B08}"/>
              </a:ext>
            </a:extLst>
          </p:cNvPr>
          <p:cNvSpPr>
            <a:spLocks xmlns:a="http://schemas.openxmlformats.org/drawingml/2006/main" noGrp="1"/>
          </p:cNvSpPr>
          <p:nvPr/>
        </p:nvSpPr>
        <p:spPr>
          <a:xfrm xmlns:a="http://schemas.openxmlformats.org/drawingml/2006/main">
            <a:off x="3219450" y="2705100"/>
            <a:ext cx="2190750" cy="876300"/>
          </a:xfrm>
          <a:prstGeom xmlns:a="http://schemas.openxmlformats.org/drawingml/2006/main" prst="roundRect">
            <a:avLst>
              <a:gd name="adj" fmla="val 8696"/>
            </a:avLst>
          </a:prstGeom>
          <a:solidFill xmlns:a="http://schemas.openxmlformats.org/drawingml/2006/main">
            <a:srgbClr val="E9F4F8"/>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90E35D60-CE82-4EC9-B315-EEA68E85AF3B}"/>
              </a:ext>
            </a:extLst>
          </p:cNvPr>
          <p:cNvSpPr>
            <a:spLocks xmlns:a="http://schemas.openxmlformats.org/drawingml/2006/main" noGrp="1"/>
          </p:cNvSpPr>
          <p:nvPr/>
        </p:nvSpPr>
        <p:spPr>
          <a:xfrm xmlns:a="http://schemas.openxmlformats.org/drawingml/2006/main">
            <a:off x="3343275" y="2771775"/>
            <a:ext cx="1924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FULL · E01</a:t>
            </a:r>
          </a:p>
        </p:txBody>
      </p:sp>
      <p:sp>
        <p:nvSpPr>
          <p:cNvPr id="14" name="">
            <a:extLst xmlns:a="http://schemas.openxmlformats.org/drawingml/2006/main">
              <a:ext uri="{FF2B5EF4-FFF2-40B4-BE49-F238E27FC236}">
                <a16:creationId xmlns:a16="http://schemas.microsoft.com/office/drawing/2014/main" id="{022585B3-D137-46E5-9E2E-3B869B1B3C17}"/>
              </a:ext>
            </a:extLst>
          </p:cNvPr>
          <p:cNvSpPr>
            <a:spLocks xmlns:a="http://schemas.openxmlformats.org/drawingml/2006/main" noGrp="1"/>
          </p:cNvSpPr>
          <p:nvPr/>
        </p:nvSpPr>
        <p:spPr>
          <a:xfrm xmlns:a="http://schemas.openxmlformats.org/drawingml/2006/main">
            <a:off x="3343275" y="3038475"/>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102A43"/>
                </a:solidFill>
                <a:latin typeface="Avenir"/>
                <a:ea typeface="Avenir"/>
                <a:cs typeface="Avenir"/>
              </a:defRPr>
            </a:defPPr>
          </a:lstStyle>
          <a:p xmlns:a="http://schemas.openxmlformats.org/drawingml/2006/main">
            <a:pPr algn="l">
              <a:defRPr sz="2250" b="1">
                <a:solidFill>
                  <a:srgbClr val="102A43"/>
                </a:solidFill>
                <a:latin typeface="Avenir"/>
                <a:ea typeface="Avenir"/>
                <a:cs typeface="Avenir"/>
              </a:defRPr>
            </a:pPr>
            <a:r>
              <a:rPr sz="2250" b="1">
                <a:solidFill>
                  <a:srgbClr val="102A43"/>
                </a:solidFill>
                <a:latin typeface="Avenir"/>
                <a:ea typeface="Avenir"/>
                <a:cs typeface="Avenir"/>
              </a:rPr>
              <a:t>14.41%</a:t>
            </a:r>
          </a:p>
        </p:txBody>
      </p:sp>
      <p:sp>
        <p:nvSpPr>
          <p:cNvPr id="15" name="">
            <a:extLst xmlns:a="http://schemas.openxmlformats.org/drawingml/2006/main">
              <a:ext uri="{FF2B5EF4-FFF2-40B4-BE49-F238E27FC236}">
                <a16:creationId xmlns:a16="http://schemas.microsoft.com/office/drawing/2014/main" id="{6A2916DC-14DF-4253-8822-440184141D9E}"/>
              </a:ext>
            </a:extLst>
          </p:cNvPr>
          <p:cNvSpPr>
            <a:spLocks xmlns:a="http://schemas.openxmlformats.org/drawingml/2006/main" noGrp="1"/>
          </p:cNvSpPr>
          <p:nvPr/>
        </p:nvSpPr>
        <p:spPr>
          <a:xfrm xmlns:a="http://schemas.openxmlformats.org/drawingml/2006/main">
            <a:off x="857250" y="38671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DDD04E9-84BA-4604-8B60-707B799500AD}"/>
              </a:ext>
            </a:extLst>
          </p:cNvPr>
          <p:cNvSpPr>
            <a:spLocks xmlns:a="http://schemas.openxmlformats.org/drawingml/2006/main" noGrp="1"/>
          </p:cNvSpPr>
          <p:nvPr/>
        </p:nvSpPr>
        <p:spPr>
          <a:xfrm xmlns:a="http://schemas.openxmlformats.org/drawingml/2006/main">
            <a:off x="1085850" y="37814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Released weights fixed; no retraining</a:t>
            </a:r>
          </a:p>
        </p:txBody>
      </p:sp>
      <p:sp>
        <p:nvSpPr>
          <p:cNvPr id="17" name="">
            <a:extLst xmlns:a="http://schemas.openxmlformats.org/drawingml/2006/main">
              <a:ext uri="{FF2B5EF4-FFF2-40B4-BE49-F238E27FC236}">
                <a16:creationId xmlns:a16="http://schemas.microsoft.com/office/drawing/2014/main" id="{6C9F98A8-D364-416E-A5AD-8DB637A687BA}"/>
              </a:ext>
            </a:extLst>
          </p:cNvPr>
          <p:cNvSpPr>
            <a:spLocks xmlns:a="http://schemas.openxmlformats.org/drawingml/2006/main" noGrp="1"/>
          </p:cNvSpPr>
          <p:nvPr/>
        </p:nvSpPr>
        <p:spPr>
          <a:xfrm xmlns:a="http://schemas.openxmlformats.org/drawingml/2006/main">
            <a:off x="857250" y="43434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412E0E-BB61-4E00-B513-C2806817F0A5}"/>
              </a:ext>
            </a:extLst>
          </p:cNvPr>
          <p:cNvSpPr>
            <a:spLocks xmlns:a="http://schemas.openxmlformats.org/drawingml/2006/main" noGrp="1"/>
          </p:cNvSpPr>
          <p:nvPr/>
        </p:nvSpPr>
        <p:spPr>
          <a:xfrm xmlns:a="http://schemas.openxmlformats.org/drawingml/2006/main">
            <a:off x="1085850" y="42576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Adapted evaluation on Apple MPS</a:t>
            </a:r>
          </a:p>
        </p:txBody>
      </p:sp>
      <p:sp>
        <p:nvSpPr>
          <p:cNvPr id="19" name="">
            <a:extLst xmlns:a="http://schemas.openxmlformats.org/drawingml/2006/main">
              <a:ext uri="{FF2B5EF4-FFF2-40B4-BE49-F238E27FC236}">
                <a16:creationId xmlns:a16="http://schemas.microsoft.com/office/drawing/2014/main" id="{11338A43-01B8-4A1B-8578-60DD4A8799E2}"/>
              </a:ext>
            </a:extLst>
          </p:cNvPr>
          <p:cNvSpPr>
            <a:spLocks xmlns:a="http://schemas.openxmlformats.org/drawingml/2006/main" noGrp="1"/>
          </p:cNvSpPr>
          <p:nvPr/>
        </p:nvSpPr>
        <p:spPr>
          <a:xfrm xmlns:a="http://schemas.openxmlformats.org/drawingml/2006/main">
            <a:off x="857250" y="48196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4504C5-3B99-41EE-943A-1A004C568A9A}"/>
              </a:ext>
            </a:extLst>
          </p:cNvPr>
          <p:cNvSpPr>
            <a:spLocks xmlns:a="http://schemas.openxmlformats.org/drawingml/2006/main" noGrp="1"/>
          </p:cNvSpPr>
          <p:nvPr/>
        </p:nvSpPr>
        <p:spPr>
          <a:xfrm xmlns:a="http://schemas.openxmlformats.org/drawingml/2006/main">
            <a:off x="1085850" y="47339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CPU–MPS headline scores closely matched</a:t>
            </a:r>
          </a:p>
        </p:txBody>
      </p:sp>
      <p:sp>
        <p:nvSpPr>
          <p:cNvPr id="21" name="">
            <a:extLst xmlns:a="http://schemas.openxmlformats.org/drawingml/2006/main">
              <a:ext uri="{FF2B5EF4-FFF2-40B4-BE49-F238E27FC236}">
                <a16:creationId xmlns:a16="http://schemas.microsoft.com/office/drawing/2014/main" id="{441D44C7-9E33-4A64-ACDF-8B693DB92617}"/>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22" name="">
            <a:extLst xmlns:a="http://schemas.openxmlformats.org/drawingml/2006/main">
              <a:ext uri="{FF2B5EF4-FFF2-40B4-BE49-F238E27FC236}">
                <a16:creationId xmlns:a16="http://schemas.microsoft.com/office/drawing/2014/main" id="{983871F9-9A1C-41AF-914C-BD02BE9C8148}"/>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23" name="">
            <a:extLst xmlns:a="http://schemas.openxmlformats.org/drawingml/2006/main">
              <a:ext uri="{FF2B5EF4-FFF2-40B4-BE49-F238E27FC236}">
                <a16:creationId xmlns:a16="http://schemas.microsoft.com/office/drawing/2014/main" id="{E6E308D1-24D6-40B9-BDA9-F97D551E694F}"/>
              </a:ext>
            </a:extLst>
          </p:cNvPr>
          <p:cNvSpPr>
            <a:spLocks xmlns:a="http://schemas.openxmlformats.org/drawingml/2006/main" noGrp="1"/>
          </p:cNvSpPr>
          <p:nvPr/>
        </p:nvSpPr>
        <p:spPr>
          <a:xfrm xmlns:a="http://schemas.openxmlformats.org/drawingml/2006/main">
            <a:off x="6305550" y="220980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Partial views</a:t>
            </a:r>
          </a:p>
        </p:txBody>
      </p:sp>
      <p:sp>
        <p:nvSpPr>
          <p:cNvPr id="24" name="">
            <a:extLst xmlns:a="http://schemas.openxmlformats.org/drawingml/2006/main">
              <a:ext uri="{FF2B5EF4-FFF2-40B4-BE49-F238E27FC236}">
                <a16:creationId xmlns:a16="http://schemas.microsoft.com/office/drawing/2014/main" id="{6D144890-6AD5-4420-BF24-FD3E6465C691}"/>
              </a:ext>
            </a:extLst>
          </p:cNvPr>
          <p:cNvSpPr>
            <a:spLocks xmlns:a="http://schemas.openxmlformats.org/drawingml/2006/main" noGrp="1"/>
          </p:cNvSpPr>
          <p:nvPr/>
        </p:nvSpPr>
        <p:spPr>
          <a:xfrm xmlns:a="http://schemas.openxmlformats.org/drawingml/2006/main">
            <a:off x="6305550" y="24765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9,140 views · 2,285 objects</a:t>
            </a:r>
          </a:p>
        </p:txBody>
      </p:sp>
      <p:sp>
        <p:nvSpPr>
          <p:cNvPr id="25" name="">
            <a:extLst xmlns:a="http://schemas.openxmlformats.org/drawingml/2006/main">
              <a:ext uri="{FF2B5EF4-FFF2-40B4-BE49-F238E27FC236}">
                <a16:creationId xmlns:a16="http://schemas.microsoft.com/office/drawing/2014/main" id="{F7B93582-9363-4D84-89E9-7325C9F3BCC3}"/>
              </a:ext>
            </a:extLst>
          </p:cNvPr>
          <p:cNvSpPr>
            <a:spLocks xmlns:a="http://schemas.openxmlformats.org/drawingml/2006/main" noGrp="1"/>
          </p:cNvSpPr>
          <p:nvPr/>
        </p:nvSpPr>
        <p:spPr>
          <a:xfrm xmlns:a="http://schemas.openxmlformats.org/drawingml/2006/main">
            <a:off x="6305550" y="2762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67DAD"/>
                </a:solidFill>
                <a:latin typeface="Avenir"/>
                <a:ea typeface="Avenir"/>
                <a:cs typeface="Avenir"/>
              </a:defRPr>
            </a:defPPr>
          </a:lstStyle>
          <a:p xmlns:a="http://schemas.openxmlformats.org/drawingml/2006/main">
            <a:pPr algn="l">
              <a:defRPr sz="1350" b="1">
                <a:solidFill>
                  <a:srgbClr val="167DAD"/>
                </a:solidFill>
                <a:latin typeface="Avenir"/>
                <a:ea typeface="Avenir"/>
                <a:cs typeface="Avenir"/>
              </a:defRPr>
            </a:pPr>
            <a:r>
              <a:rPr sz="1350" b="1">
                <a:solidFill>
                  <a:srgbClr val="167DAD"/>
                </a:solidFill>
                <a:latin typeface="Avenir"/>
                <a:ea typeface="Avenir"/>
                <a:cs typeface="Avenir"/>
              </a:rPr>
              <a:t>E05 all-view mIoU¹: 12.54%</a:t>
            </a:r>
          </a:p>
        </p:txBody>
      </p:sp>
      <p:sp>
        <p:nvSpPr>
          <p:cNvPr id="26" name="">
            <a:extLst xmlns:a="http://schemas.openxmlformats.org/drawingml/2006/main">
              <a:ext uri="{FF2B5EF4-FFF2-40B4-BE49-F238E27FC236}">
                <a16:creationId xmlns:a16="http://schemas.microsoft.com/office/drawing/2014/main" id="{CEFB1AA3-8489-4B95-AB3C-F0E528CF5248}"/>
              </a:ext>
            </a:extLst>
          </p:cNvPr>
          <p:cNvSpPr>
            <a:spLocks xmlns:a="http://schemas.openxmlformats.org/drawingml/2006/main" noGrp="1"/>
          </p:cNvSpPr>
          <p:nvPr/>
        </p:nvSpPr>
        <p:spPr>
          <a:xfrm xmlns:a="http://schemas.openxmlformats.org/drawingml/2006/main">
            <a:off x="6305550" y="3171825"/>
            <a:ext cx="49530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AEA7F4D-035F-442E-B613-57DED1D376C8}"/>
              </a:ext>
            </a:extLst>
          </p:cNvPr>
          <p:cNvSpPr>
            <a:spLocks xmlns:a="http://schemas.openxmlformats.org/drawingml/2006/main" noGrp="1"/>
          </p:cNvSpPr>
          <p:nvPr/>
        </p:nvSpPr>
        <p:spPr>
          <a:xfrm xmlns:a="http://schemas.openxmlformats.org/drawingml/2006/main">
            <a:off x="6305550" y="333375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Full shapes</a:t>
            </a:r>
          </a:p>
        </p:txBody>
      </p:sp>
      <p:sp>
        <p:nvSpPr>
          <p:cNvPr id="28" name="">
            <a:extLst xmlns:a="http://schemas.openxmlformats.org/drawingml/2006/main">
              <a:ext uri="{FF2B5EF4-FFF2-40B4-BE49-F238E27FC236}">
                <a16:creationId xmlns:a16="http://schemas.microsoft.com/office/drawing/2014/main" id="{7C4FEFF2-2B18-4751-A1F8-8B0F95D3B320}"/>
              </a:ext>
            </a:extLst>
          </p:cNvPr>
          <p:cNvSpPr>
            <a:spLocks xmlns:a="http://schemas.openxmlformats.org/drawingml/2006/main" noGrp="1"/>
          </p:cNvSpPr>
          <p:nvPr/>
        </p:nvSpPr>
        <p:spPr>
          <a:xfrm xmlns:a="http://schemas.openxmlformats.org/drawingml/2006/main">
            <a:off x="6305550" y="3600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2,285 complete objects</a:t>
            </a:r>
          </a:p>
        </p:txBody>
      </p:sp>
      <p:sp>
        <p:nvSpPr>
          <p:cNvPr id="29" name="">
            <a:extLst xmlns:a="http://schemas.openxmlformats.org/drawingml/2006/main">
              <a:ext uri="{FF2B5EF4-FFF2-40B4-BE49-F238E27FC236}">
                <a16:creationId xmlns:a16="http://schemas.microsoft.com/office/drawing/2014/main" id="{15B16B0A-6068-4841-A2D8-EF0480CF5CBE}"/>
              </a:ext>
            </a:extLst>
          </p:cNvPr>
          <p:cNvSpPr>
            <a:spLocks xmlns:a="http://schemas.openxmlformats.org/drawingml/2006/main" noGrp="1"/>
          </p:cNvSpPr>
          <p:nvPr/>
        </p:nvSpPr>
        <p:spPr>
          <a:xfrm xmlns:a="http://schemas.openxmlformats.org/drawingml/2006/main">
            <a:off x="6305550" y="40195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02A43"/>
                </a:solidFill>
                <a:latin typeface="Avenir"/>
                <a:ea typeface="Avenir"/>
                <a:cs typeface="Avenir"/>
              </a:defRPr>
            </a:defPPr>
          </a:lstStyle>
          <a:p xmlns:a="http://schemas.openxmlformats.org/drawingml/2006/main">
            <a:pPr algn="l">
              <a:defRPr sz="1275" b="1">
                <a:solidFill>
                  <a:srgbClr val="102A43"/>
                </a:solidFill>
                <a:latin typeface="Avenir"/>
                <a:ea typeface="Avenir"/>
                <a:cs typeface="Avenir"/>
              </a:defRPr>
            </a:pPr>
            <a:r>
              <a:rPr sz="1275" b="1">
                <a:solidFill>
                  <a:srgbClr val="102A43"/>
                </a:solidFill>
                <a:latin typeface="Avenir"/>
                <a:ea typeface="Avenir"/>
                <a:cs typeface="Avenir"/>
              </a:rPr>
              <a:t>One 2,048-point pass: 0.546 s</a:t>
            </a:r>
          </a:p>
        </p:txBody>
      </p:sp>
      <p:sp>
        <p:nvSpPr>
          <p:cNvPr id="30" name="">
            <a:extLst xmlns:a="http://schemas.openxmlformats.org/drawingml/2006/main">
              <a:ext uri="{FF2B5EF4-FFF2-40B4-BE49-F238E27FC236}">
                <a16:creationId xmlns:a16="http://schemas.microsoft.com/office/drawing/2014/main" id="{33E38149-3985-4E48-A5CF-3511A1D7FA86}"/>
              </a:ext>
            </a:extLst>
          </p:cNvPr>
          <p:cNvSpPr>
            <a:spLocks xmlns:a="http://schemas.openxmlformats.org/drawingml/2006/main" noGrp="1"/>
          </p:cNvSpPr>
          <p:nvPr/>
        </p:nvSpPr>
        <p:spPr>
          <a:xfrm xmlns:a="http://schemas.openxmlformats.org/drawingml/2006/main">
            <a:off x="6305550" y="42957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~1.295 GiB sampled Metal allocation²</a:t>
            </a:r>
          </a:p>
        </p:txBody>
      </p:sp>
      <p:sp>
        <p:nvSpPr>
          <p:cNvPr id="31" name="">
            <a:extLst xmlns:a="http://schemas.openxmlformats.org/drawingml/2006/main">
              <a:ext uri="{FF2B5EF4-FFF2-40B4-BE49-F238E27FC236}">
                <a16:creationId xmlns:a16="http://schemas.microsoft.com/office/drawing/2014/main" id="{BCB93F00-DF45-49D8-B2A9-1244C308DE57}"/>
              </a:ext>
            </a:extLst>
          </p:cNvPr>
          <p:cNvSpPr>
            <a:spLocks xmlns:a="http://schemas.openxmlformats.org/drawingml/2006/main" noGrp="1"/>
          </p:cNvSpPr>
          <p:nvPr/>
        </p:nvSpPr>
        <p:spPr>
          <a:xfrm xmlns:a="http://schemas.openxmlformats.org/drawingml/2006/main">
            <a:off x="6305550" y="46863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526777"/>
                </a:solidFill>
                <a:latin typeface="Avenir"/>
                <a:ea typeface="Avenir"/>
                <a:cs typeface="Avenir"/>
              </a:defRPr>
            </a:defPPr>
          </a:lstStyle>
          <a:p xmlns:a="http://schemas.openxmlformats.org/drawingml/2006/main">
            <a:pPr algn="l">
              <a:defRPr sz="1050" b="0">
                <a:solidFill>
                  <a:srgbClr val="526777"/>
                </a:solidFill>
                <a:latin typeface="Avenir"/>
                <a:ea typeface="Avenir"/>
                <a:cs typeface="Avenir"/>
              </a:defRPr>
            </a:pPr>
            <a:r>
              <a:rPr sz="1050" b="0">
                <a:solidFill>
                  <a:srgbClr val="526777"/>
                </a:solidFill>
                <a:latin typeface="Avenir"/>
                <a:ea typeface="Avenir"/>
                <a:cs typeface="Avenir"/>
              </a:rPr>
              <a:t>¹E05 differs from E01 in batch/sampling setup. ²Unified-memory sample, not peak VRAM.</a:t>
            </a:r>
          </a:p>
        </p:txBody>
      </p:sp>
      <p:sp>
        <p:nvSpPr>
          <p:cNvPr id="32" name="">
            <a:extLst xmlns:a="http://schemas.openxmlformats.org/drawingml/2006/main">
              <a:ext uri="{FF2B5EF4-FFF2-40B4-BE49-F238E27FC236}">
                <a16:creationId xmlns:a16="http://schemas.microsoft.com/office/drawing/2014/main" id="{5E36B49D-1193-44E8-8768-08AC899D0CEC}"/>
              </a:ext>
            </a:extLst>
          </p:cNvPr>
          <p:cNvSpPr>
            <a:spLocks xmlns:a="http://schemas.openxmlformats.org/drawingml/2006/main" noGrp="1"/>
          </p:cNvSpPr>
          <p:nvPr/>
        </p:nvSpPr>
        <p:spPr>
          <a:xfrm xmlns:a="http://schemas.openxmlformats.org/drawingml/2006/main">
            <a:off x="609600" y="56388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26777"/>
                </a:solidFill>
                <a:latin typeface="Avenir"/>
                <a:ea typeface="Avenir"/>
                <a:cs typeface="Avenir"/>
              </a:defRPr>
            </a:defPPr>
          </a:lstStyle>
          <a:p xmlns:a="http://schemas.openxmlformats.org/drawingml/2006/main">
            <a:pPr algn="l">
              <a:defRPr sz="1200" b="1">
                <a:solidFill>
                  <a:srgbClr val="526777"/>
                </a:solidFill>
                <a:latin typeface="Avenir"/>
                <a:ea typeface="Avenir"/>
                <a:cs typeface="Avenir"/>
              </a:defRPr>
            </a:pPr>
            <a:r>
              <a:rPr sz="1200" b="1">
                <a:solidFill>
                  <a:srgbClr val="526777"/>
                </a:solidFill>
                <a:latin typeface="Avenir"/>
                <a:ea typeface="Avenir"/>
                <a:cs typeface="Avenir"/>
              </a:rPr>
              <a:t>E01 is an adapted baseline evaluation, not an untouched official reproduction.</a:t>
            </a:r>
          </a:p>
        </p:txBody>
      </p:sp>
    </p:spTree>
    <p:extLst>
      <p:ext uri="{BB962C8B-B14F-4D97-AF65-F5344CB8AC3E}">
        <p14:creationId xmlns:p14="http://schemas.microsoft.com/office/powerpoint/2010/main" val="1848351977"/>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EBCB370-BC4E-4E1E-B7E4-04E47E2EB71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006DB10-6379-4925-902A-F5707E6C2BA7}"/>
              </a:ext>
            </a:extLst>
          </p:cNvPr>
          <p:cNvPicPr>
            <a:picLocks xmlns:a="http://schemas.openxmlformats.org/drawingml/2006/main" noChangeAspect="1"/>
          </p:cNvPicPr>
          <p:nvPr/>
        </p:nvPicPr>
        <p:blipFill>
          <a:blip xmlns:r="http://schemas.openxmlformats.org/officeDocument/2006/relationships" xmlns:a="http://schemas.openxmlformats.org/drawingml/2006/main" r:embed="R232e628e044347cd"/>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0F229C-0C1E-4149-BC8D-719BBF494B9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OpenAD scores change sharply with query-name choice</a:t>
            </a:r>
          </a:p>
        </p:txBody>
      </p:sp>
      <p:sp>
        <p:nvSpPr>
          <p:cNvPr id="4" name="">
            <a:extLst xmlns:a="http://schemas.openxmlformats.org/drawingml/2006/main">
              <a:ext uri="{FF2B5EF4-FFF2-40B4-BE49-F238E27FC236}">
                <a16:creationId xmlns:a16="http://schemas.microsoft.com/office/drawing/2014/main" id="{DE32CC17-727B-4013-BE99-47396687E94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D15FB5-3177-4FE8-92B3-B4FAA59B57B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6" name="">
            <a:extLst xmlns:a="http://schemas.openxmlformats.org/drawingml/2006/main">
              <a:ext uri="{FF2B5EF4-FFF2-40B4-BE49-F238E27FC236}">
                <a16:creationId xmlns:a16="http://schemas.microsoft.com/office/drawing/2014/main" id="{46E3DAEE-AADB-42F6-B658-4EB600B3C984}"/>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7" name="">
            <a:extLst xmlns:a="http://schemas.openxmlformats.org/drawingml/2006/main">
              <a:ext uri="{FF2B5EF4-FFF2-40B4-BE49-F238E27FC236}">
                <a16:creationId xmlns:a16="http://schemas.microsoft.com/office/drawing/2014/main" id="{7411BC99-33DC-465B-B3BA-F84D5F8B0D06}"/>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8" name="">
            <a:extLst xmlns:a="http://schemas.openxmlformats.org/drawingml/2006/main">
              <a:ext uri="{FF2B5EF4-FFF2-40B4-BE49-F238E27FC236}">
                <a16:creationId xmlns:a16="http://schemas.microsoft.com/office/drawing/2014/main" id="{637059BF-5CF4-473E-A3DB-489C062E6081}"/>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ACECC713-507B-485D-B389-84A27A7F5B13}"/>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10" name="">
            <a:extLst xmlns:a="http://schemas.openxmlformats.org/drawingml/2006/main">
              <a:ext uri="{FF2B5EF4-FFF2-40B4-BE49-F238E27FC236}">
                <a16:creationId xmlns:a16="http://schemas.microsoft.com/office/drawing/2014/main" id="{5E605422-54E1-4D59-B749-D389826E037F}"/>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84700891-78FC-4C79-AE25-DECF1B6DE75B}"/>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2" name="">
            <a:extLst xmlns:a="http://schemas.openxmlformats.org/drawingml/2006/main">
              <a:ext uri="{FF2B5EF4-FFF2-40B4-BE49-F238E27FC236}">
                <a16:creationId xmlns:a16="http://schemas.microsoft.com/office/drawing/2014/main" id="{169CE961-9386-4887-BEF1-DC7DF77A3E77}"/>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8BA81637-0210-4FAB-95DF-1505CD143706}"/>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4" name="">
            <a:extLst xmlns:a="http://schemas.openxmlformats.org/drawingml/2006/main">
              <a:ext uri="{FF2B5EF4-FFF2-40B4-BE49-F238E27FC236}">
                <a16:creationId xmlns:a16="http://schemas.microsoft.com/office/drawing/2014/main" id="{431A4168-3CFA-46DF-BA51-76FE43939FAE}"/>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5" name="">
            <a:extLst xmlns:a="http://schemas.openxmlformats.org/drawingml/2006/main">
              <a:ext uri="{FF2B5EF4-FFF2-40B4-BE49-F238E27FC236}">
                <a16:creationId xmlns:a16="http://schemas.microsoft.com/office/drawing/2014/main" id="{16FB492E-97EF-4998-8241-2C961E1B5AA4}"/>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6" name="">
            <a:extLst xmlns:a="http://schemas.openxmlformats.org/drawingml/2006/main">
              <a:ext uri="{FF2B5EF4-FFF2-40B4-BE49-F238E27FC236}">
                <a16:creationId xmlns:a16="http://schemas.microsoft.com/office/drawing/2014/main" id="{70273B36-6E7F-4963-AF47-4DD31335357C}"/>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7" name="">
            <a:extLst xmlns:a="http://schemas.openxmlformats.org/drawingml/2006/main">
              <a:ext uri="{FF2B5EF4-FFF2-40B4-BE49-F238E27FC236}">
                <a16:creationId xmlns:a16="http://schemas.microsoft.com/office/drawing/2014/main" id="{3D573552-377B-4C50-80B6-AE7476850D81}"/>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8" name="">
            <a:extLst xmlns:a="http://schemas.openxmlformats.org/drawingml/2006/main">
              <a:ext uri="{FF2B5EF4-FFF2-40B4-BE49-F238E27FC236}">
                <a16:creationId xmlns:a16="http://schemas.microsoft.com/office/drawing/2014/main" id="{874BD6F1-4E74-47C3-938F-B508984CF1BD}"/>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9" name="">
            <a:extLst xmlns:a="http://schemas.openxmlformats.org/drawingml/2006/main">
              <a:ext uri="{FF2B5EF4-FFF2-40B4-BE49-F238E27FC236}">
                <a16:creationId xmlns:a16="http://schemas.microsoft.com/office/drawing/2014/main" id="{EB130352-11F9-4298-BD20-16AB0EAF3EA4}"/>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F9D6FC8B-64D6-415D-BA89-8E3FD499EE8A}"/>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1" name="">
            <a:extLst xmlns:a="http://schemas.openxmlformats.org/drawingml/2006/main">
              <a:ext uri="{FF2B5EF4-FFF2-40B4-BE49-F238E27FC236}">
                <a16:creationId xmlns:a16="http://schemas.microsoft.com/office/drawing/2014/main" id="{2A6320A4-40D0-4D15-BD2F-12B9B86C0484}"/>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2" name="">
            <a:extLst xmlns:a="http://schemas.openxmlformats.org/drawingml/2006/main">
              <a:ext uri="{FF2B5EF4-FFF2-40B4-BE49-F238E27FC236}">
                <a16:creationId xmlns:a16="http://schemas.microsoft.com/office/drawing/2014/main" id="{6E257A1B-A0BD-4977-8001-C38F22F7CEB8}"/>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3" name="">
            <a:extLst xmlns:a="http://schemas.openxmlformats.org/drawingml/2006/main">
              <a:ext uri="{FF2B5EF4-FFF2-40B4-BE49-F238E27FC236}">
                <a16:creationId xmlns:a16="http://schemas.microsoft.com/office/drawing/2014/main" id="{1A0AFE7C-5C31-4D3C-B208-985838C8E1C4}"/>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4" name="">
            <a:extLst xmlns:a="http://schemas.openxmlformats.org/drawingml/2006/main">
              <a:ext uri="{FF2B5EF4-FFF2-40B4-BE49-F238E27FC236}">
                <a16:creationId xmlns:a16="http://schemas.microsoft.com/office/drawing/2014/main" id="{88FF46EB-479D-4DB8-A0B7-ACA718914E94}"/>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5" name="">
            <a:extLst xmlns:a="http://schemas.openxmlformats.org/drawingml/2006/main">
              <a:ext uri="{FF2B5EF4-FFF2-40B4-BE49-F238E27FC236}">
                <a16:creationId xmlns:a16="http://schemas.microsoft.com/office/drawing/2014/main" id="{305B3C5A-EC5A-4ADD-8FC3-B6B86A1689F8}"/>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6" name="">
            <a:extLst xmlns:a="http://schemas.openxmlformats.org/drawingml/2006/main">
              <a:ext uri="{FF2B5EF4-FFF2-40B4-BE49-F238E27FC236}">
                <a16:creationId xmlns:a16="http://schemas.microsoft.com/office/drawing/2014/main" id="{0077B44B-694D-45E1-809A-577FDECAE65E}"/>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7" name="">
            <a:extLst xmlns:a="http://schemas.openxmlformats.org/drawingml/2006/main">
              <a:ext uri="{FF2B5EF4-FFF2-40B4-BE49-F238E27FC236}">
                <a16:creationId xmlns:a16="http://schemas.microsoft.com/office/drawing/2014/main" id="{042954DE-9173-4022-8D88-1AA144C12FF8}"/>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319344818"/>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A6114CB-38A8-481E-8A23-34A8F6BCFAB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5037D762-9576-4EC2-B26E-9D694494E495}"/>
              </a:ext>
            </a:extLst>
          </p:cNvPr>
          <p:cNvPicPr>
            <a:picLocks xmlns:a="http://schemas.openxmlformats.org/drawingml/2006/main" noChangeAspect="1"/>
          </p:cNvPicPr>
          <p:nvPr/>
        </p:nvPicPr>
        <p:blipFill>
          <a:blip xmlns:r="http://schemas.openxmlformats.org/officeDocument/2006/relationships" xmlns:a="http://schemas.openxmlformats.org/drawingml/2006/main" r:embed="Rd791a9ee782a42d1"/>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4FACD4-7482-4F09-859C-E27CB546B85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4" name="">
            <a:extLst xmlns:a="http://schemas.openxmlformats.org/drawingml/2006/main">
              <a:ext uri="{FF2B5EF4-FFF2-40B4-BE49-F238E27FC236}">
                <a16:creationId xmlns:a16="http://schemas.microsoft.com/office/drawing/2014/main" id="{E6FC1147-5668-4B72-AC55-76AFD3976CE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759641-EB29-4380-BB0E-9D3BE55294A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6" name="">
            <a:extLst xmlns:a="http://schemas.openxmlformats.org/drawingml/2006/main">
              <a:ext uri="{FF2B5EF4-FFF2-40B4-BE49-F238E27FC236}">
                <a16:creationId xmlns:a16="http://schemas.microsoft.com/office/drawing/2014/main" id="{9292A4BC-6E6B-4C45-82FA-CF5BE6B8E141}"/>
              </a:ext>
            </a:extLst>
          </p:cNvPr>
          <p:cNvPicPr>
            <a:picLocks xmlns:a="http://schemas.openxmlformats.org/drawingml/2006/main" noChangeAspect="1"/>
          </p:cNvPicPr>
          <p:nvPr/>
        </p:nvPicPr>
        <p:blipFill>
          <a:blip xmlns:r="http://schemas.openxmlformats.org/officeDocument/2006/relationships" xmlns:a="http://schemas.openxmlformats.org/drawingml/2006/main" r:embed="Rd1738a796a97464f"/>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C3A2C84-988C-4DED-8469-BC2176564A40}"/>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8" name="">
            <a:extLst xmlns:a="http://schemas.openxmlformats.org/drawingml/2006/main">
              <a:ext uri="{FF2B5EF4-FFF2-40B4-BE49-F238E27FC236}">
                <a16:creationId xmlns:a16="http://schemas.microsoft.com/office/drawing/2014/main" id="{1D71FD97-7D4D-4F55-B35E-BA43D4D57105}"/>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9" name="">
            <a:extLst xmlns:a="http://schemas.openxmlformats.org/drawingml/2006/main">
              <a:ext uri="{FF2B5EF4-FFF2-40B4-BE49-F238E27FC236}">
                <a16:creationId xmlns:a16="http://schemas.microsoft.com/office/drawing/2014/main" id="{1DD791E4-F601-4AC0-B4B2-67D3E4A55629}"/>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10" name="">
            <a:extLst xmlns:a="http://schemas.openxmlformats.org/drawingml/2006/main">
              <a:ext uri="{FF2B5EF4-FFF2-40B4-BE49-F238E27FC236}">
                <a16:creationId xmlns:a16="http://schemas.microsoft.com/office/drawing/2014/main" id="{85427A8E-501F-4B6A-9DF9-0A88671F93E2}"/>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1" name="">
            <a:extLst xmlns:a="http://schemas.openxmlformats.org/drawingml/2006/main">
              <a:ext uri="{FF2B5EF4-FFF2-40B4-BE49-F238E27FC236}">
                <a16:creationId xmlns:a16="http://schemas.microsoft.com/office/drawing/2014/main" id="{BD6BF795-F38D-4DDB-AE0C-2DA26EA38F1E}"/>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2" name="">
            <a:extLst xmlns:a="http://schemas.openxmlformats.org/drawingml/2006/main">
              <a:ext uri="{FF2B5EF4-FFF2-40B4-BE49-F238E27FC236}">
                <a16:creationId xmlns:a16="http://schemas.microsoft.com/office/drawing/2014/main" id="{660552AF-C1B5-42BA-9D7F-AF0FF76A54CA}"/>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3" name="">
            <a:extLst xmlns:a="http://schemas.openxmlformats.org/drawingml/2006/main">
              <a:ext uri="{FF2B5EF4-FFF2-40B4-BE49-F238E27FC236}">
                <a16:creationId xmlns:a16="http://schemas.microsoft.com/office/drawing/2014/main" id="{14480B48-C894-4E8B-8207-B2012ED11C9D}"/>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4" name="">
            <a:extLst xmlns:a="http://schemas.openxmlformats.org/drawingml/2006/main">
              <a:ext uri="{FF2B5EF4-FFF2-40B4-BE49-F238E27FC236}">
                <a16:creationId xmlns:a16="http://schemas.microsoft.com/office/drawing/2014/main" id="{0209E353-5936-422E-ABC3-8C90B3C83900}"/>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22405149-8262-40CF-B84E-5211FD8BABC2}"/>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382770013"/>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8E1D9F9-9CE3-4604-B559-03E542A86388}"/>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852DD949-D00A-43DA-A08D-CDDDD6CB6F05}"/>
              </a:ext>
            </a:extLst>
          </p:cNvPr>
          <p:cNvPicPr>
            <a:picLocks xmlns:a="http://schemas.openxmlformats.org/drawingml/2006/main" noChangeAspect="1"/>
          </p:cNvPicPr>
          <p:nvPr/>
        </p:nvPicPr>
        <p:blipFill>
          <a:blip xmlns:r="http://schemas.openxmlformats.org/officeDocument/2006/relationships" xmlns:a="http://schemas.openxmlformats.org/drawingml/2006/main" r:embed="Rb928724a02ae44d2"/>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09AE75-E37D-4EA9-B3AE-C56A1A45722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4" name="">
            <a:extLst xmlns:a="http://schemas.openxmlformats.org/drawingml/2006/main">
              <a:ext uri="{FF2B5EF4-FFF2-40B4-BE49-F238E27FC236}">
                <a16:creationId xmlns:a16="http://schemas.microsoft.com/office/drawing/2014/main" id="{038C38CE-D6E8-4B89-A6BD-61D448EEA2F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3A889DE-4D4B-4A24-86E3-D37E2490CDD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6" name="">
            <a:extLst xmlns:a="http://schemas.openxmlformats.org/drawingml/2006/main">
              <a:ext uri="{FF2B5EF4-FFF2-40B4-BE49-F238E27FC236}">
                <a16:creationId xmlns:a16="http://schemas.microsoft.com/office/drawing/2014/main" id="{D15F41F8-FB06-4401-84A0-0DBE11B4C1C3}"/>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4558E347-E224-44F6-B79F-9579F470DA5B}"/>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8" name="">
            <a:extLst xmlns:a="http://schemas.openxmlformats.org/drawingml/2006/main">
              <a:ext uri="{FF2B5EF4-FFF2-40B4-BE49-F238E27FC236}">
                <a16:creationId xmlns:a16="http://schemas.microsoft.com/office/drawing/2014/main" id="{F4A8E143-A473-4C06-99D2-89674C375569}"/>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9" name="">
            <a:extLst xmlns:a="http://schemas.openxmlformats.org/drawingml/2006/main">
              <a:ext uri="{FF2B5EF4-FFF2-40B4-BE49-F238E27FC236}">
                <a16:creationId xmlns:a16="http://schemas.microsoft.com/office/drawing/2014/main" id="{C132E5AC-092E-4EB0-98F5-7ECD250ED97C}"/>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10" name="">
            <a:extLst xmlns:a="http://schemas.openxmlformats.org/drawingml/2006/main">
              <a:ext uri="{FF2B5EF4-FFF2-40B4-BE49-F238E27FC236}">
                <a16:creationId xmlns:a16="http://schemas.microsoft.com/office/drawing/2014/main" id="{404AA6B1-4291-4827-932E-08349C3B8610}"/>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1CFAD98-6670-4A5A-A702-5E9A462C4F7E}"/>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2" name="">
            <a:extLst xmlns:a="http://schemas.openxmlformats.org/drawingml/2006/main">
              <a:ext uri="{FF2B5EF4-FFF2-40B4-BE49-F238E27FC236}">
                <a16:creationId xmlns:a16="http://schemas.microsoft.com/office/drawing/2014/main" id="{BD15558C-DEE2-4F1E-8E4D-D9B9A726DF86}"/>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3" name="">
            <a:extLst xmlns:a="http://schemas.openxmlformats.org/drawingml/2006/main">
              <a:ext uri="{FF2B5EF4-FFF2-40B4-BE49-F238E27FC236}">
                <a16:creationId xmlns:a16="http://schemas.microsoft.com/office/drawing/2014/main" id="{5A055286-FA14-4294-8125-6A46A73D07C8}"/>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C809BA8-7F66-4EF1-8EB7-ECD7C81A5863}"/>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5" name="">
            <a:extLst xmlns:a="http://schemas.openxmlformats.org/drawingml/2006/main">
              <a:ext uri="{FF2B5EF4-FFF2-40B4-BE49-F238E27FC236}">
                <a16:creationId xmlns:a16="http://schemas.microsoft.com/office/drawing/2014/main" id="{6F6A36D4-89B4-453A-9804-43FCAE4F3CB6}"/>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6" name="">
            <a:extLst xmlns:a="http://schemas.openxmlformats.org/drawingml/2006/main">
              <a:ext uri="{FF2B5EF4-FFF2-40B4-BE49-F238E27FC236}">
                <a16:creationId xmlns:a16="http://schemas.microsoft.com/office/drawing/2014/main" id="{7A6C3C95-0183-4263-8623-1105BAF6657B}"/>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5BC8D2-BE3E-4043-B3C5-233697F9B54F}"/>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8" name="">
            <a:extLst xmlns:a="http://schemas.openxmlformats.org/drawingml/2006/main">
              <a:ext uri="{FF2B5EF4-FFF2-40B4-BE49-F238E27FC236}">
                <a16:creationId xmlns:a16="http://schemas.microsoft.com/office/drawing/2014/main" id="{28B63DB2-DC7B-45C6-9DE8-D6DAB36A162F}"/>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82EC9391-DCAD-4470-A958-97D92FF5D918}"/>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20" name="">
            <a:extLst xmlns:a="http://schemas.openxmlformats.org/drawingml/2006/main">
              <a:ext uri="{FF2B5EF4-FFF2-40B4-BE49-F238E27FC236}">
                <a16:creationId xmlns:a16="http://schemas.microsoft.com/office/drawing/2014/main" id="{553403E2-012F-4123-B709-B84CC5CD31F1}"/>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1" name="">
            <a:extLst xmlns:a="http://schemas.openxmlformats.org/drawingml/2006/main">
              <a:ext uri="{FF2B5EF4-FFF2-40B4-BE49-F238E27FC236}">
                <a16:creationId xmlns:a16="http://schemas.microsoft.com/office/drawing/2014/main" id="{6199B789-E29E-4546-9B98-E9F6CA4583A8}"/>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2" name="">
            <a:extLst xmlns:a="http://schemas.openxmlformats.org/drawingml/2006/main">
              <a:ext uri="{FF2B5EF4-FFF2-40B4-BE49-F238E27FC236}">
                <a16:creationId xmlns:a16="http://schemas.microsoft.com/office/drawing/2014/main" id="{68A4ADCD-E5C6-460C-A030-A647325A8D5C}"/>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3" name="">
            <a:extLst xmlns:a="http://schemas.openxmlformats.org/drawingml/2006/main">
              <a:ext uri="{FF2B5EF4-FFF2-40B4-BE49-F238E27FC236}">
                <a16:creationId xmlns:a16="http://schemas.microsoft.com/office/drawing/2014/main" id="{4C0F8AE8-8A25-45FD-A5E6-6DA11A454E50}"/>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466906411"/>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F0F111E-F71B-45B0-98D6-831C156E80C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0ACA6E7C-63DA-4A8F-95C2-6D63F09B0F52}"/>
              </a:ext>
            </a:extLst>
          </p:cNvPr>
          <p:cNvPicPr>
            <a:picLocks xmlns:a="http://schemas.openxmlformats.org/drawingml/2006/main" noChangeAspect="1"/>
          </p:cNvPicPr>
          <p:nvPr/>
        </p:nvPicPr>
        <p:blipFill>
          <a:blip xmlns:r="http://schemas.openxmlformats.org/officeDocument/2006/relationships" xmlns:a="http://schemas.openxmlformats.org/drawingml/2006/main" r:embed="R513c37e17e1940b2"/>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91CE33-FA0A-4F94-B774-BE375BE5FC9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Earlier prompt studies found mixed, action-specific effects</a:t>
            </a:r>
          </a:p>
        </p:txBody>
      </p:sp>
      <p:sp>
        <p:nvSpPr>
          <p:cNvPr id="4" name="">
            <a:extLst xmlns:a="http://schemas.openxmlformats.org/drawingml/2006/main">
              <a:ext uri="{FF2B5EF4-FFF2-40B4-BE49-F238E27FC236}">
                <a16:creationId xmlns:a16="http://schemas.microsoft.com/office/drawing/2014/main" id="{AD06F5A0-F4BB-445C-9A38-40071BEDD1B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640DBD-C4C6-476F-91E1-1D892C01958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6" name="">
            <a:extLst xmlns:a="http://schemas.openxmlformats.org/drawingml/2006/main">
              <a:ext uri="{FF2B5EF4-FFF2-40B4-BE49-F238E27FC236}">
                <a16:creationId xmlns:a16="http://schemas.microsoft.com/office/drawing/2014/main" id="{AD9AC3E5-3D0E-4EBF-BBA7-5345E9397506}"/>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EF61C034-FCC0-4AB9-9E81-9A7FFA60EA6B}"/>
              </a:ext>
            </a:extLst>
          </p:cNvPr>
          <p:cNvSpPr>
            <a:spLocks xmlns:a="http://schemas.openxmlformats.org/drawingml/2006/main" noGrp="1"/>
          </p:cNvSpPr>
          <p:nvPr/>
        </p:nvSpPr>
        <p:spPr>
          <a:xfrm xmlns:a="http://schemas.openxmlformats.org/drawingml/2006/main">
            <a:off x="857250" y="18478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E08–E13 · PROMPT WORDING</a:t>
            </a:r>
          </a:p>
        </p:txBody>
      </p:sp>
      <p:sp>
        <p:nvSpPr>
          <p:cNvPr id="8" name="">
            <a:extLst xmlns:a="http://schemas.openxmlformats.org/drawingml/2006/main">
              <a:ext uri="{FF2B5EF4-FFF2-40B4-BE49-F238E27FC236}">
                <a16:creationId xmlns:a16="http://schemas.microsoft.com/office/drawing/2014/main" id="{A730B479-989F-4991-A4DD-590AB4DEB5FE}"/>
              </a:ext>
            </a:extLst>
          </p:cNvPr>
          <p:cNvSpPr>
            <a:spLocks xmlns:a="http://schemas.openxmlformats.org/drawingml/2006/main" noGrp="1"/>
          </p:cNvSpPr>
          <p:nvPr/>
        </p:nvSpPr>
        <p:spPr>
          <a:xfrm xmlns:a="http://schemas.openxmlformats.org/drawingml/2006/main">
            <a:off x="857250" y="22098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Unofficial Espresso-3D + Affogato weights</a:t>
            </a:r>
          </a:p>
        </p:txBody>
      </p:sp>
      <p:sp>
        <p:nvSpPr>
          <p:cNvPr id="9" name="">
            <a:extLst xmlns:a="http://schemas.openxmlformats.org/drawingml/2006/main">
              <a:ext uri="{FF2B5EF4-FFF2-40B4-BE49-F238E27FC236}">
                <a16:creationId xmlns:a16="http://schemas.microsoft.com/office/drawing/2014/main" id="{5BADBF1E-2E16-4E1A-9DAD-C349E0413B97}"/>
              </a:ext>
            </a:extLst>
          </p:cNvPr>
          <p:cNvSpPr>
            <a:spLocks xmlns:a="http://schemas.openxmlformats.org/drawingml/2006/main" noGrp="1"/>
          </p:cNvSpPr>
          <p:nvPr/>
        </p:nvSpPr>
        <p:spPr>
          <a:xfrm xmlns:a="http://schemas.openxmlformats.org/drawingml/2006/main">
            <a:off x="857250" y="262890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 consistent prompt winner</a:t>
            </a:r>
          </a:p>
        </p:txBody>
      </p:sp>
      <p:sp>
        <p:nvSpPr>
          <p:cNvPr id="10" name="">
            <a:extLst xmlns:a="http://schemas.openxmlformats.org/drawingml/2006/main">
              <a:ext uri="{FF2B5EF4-FFF2-40B4-BE49-F238E27FC236}">
                <a16:creationId xmlns:a16="http://schemas.microsoft.com/office/drawing/2014/main" id="{D9ED3AC7-10D8-4D9C-8FB1-F86F87A4C27A}"/>
              </a:ext>
            </a:extLst>
          </p:cNvPr>
          <p:cNvSpPr>
            <a:spLocks xmlns:a="http://schemas.openxmlformats.org/drawingml/2006/main" noGrp="1"/>
          </p:cNvSpPr>
          <p:nvPr/>
        </p:nvSpPr>
        <p:spPr>
          <a:xfrm xmlns:a="http://schemas.openxmlformats.org/drawingml/2006/main">
            <a:off x="857250" y="3048000"/>
            <a:ext cx="4429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Prompt averaging often lowered scores; effects varied by action.</a:t>
            </a:r>
          </a:p>
        </p:txBody>
      </p:sp>
      <p:sp>
        <p:nvSpPr>
          <p:cNvPr id="11" name="">
            <a:extLst xmlns:a="http://schemas.openxmlformats.org/drawingml/2006/main">
              <a:ext uri="{FF2B5EF4-FFF2-40B4-BE49-F238E27FC236}">
                <a16:creationId xmlns:a16="http://schemas.microsoft.com/office/drawing/2014/main" id="{59CBBCB8-3DFB-461D-BDFF-1F643654036D}"/>
              </a:ext>
            </a:extLst>
          </p:cNvPr>
          <p:cNvSpPr>
            <a:spLocks xmlns:a="http://schemas.openxmlformats.org/drawingml/2006/main" noGrp="1"/>
          </p:cNvSpPr>
          <p:nvPr/>
        </p:nvSpPr>
        <p:spPr>
          <a:xfrm xmlns:a="http://schemas.openxmlformats.org/drawingml/2006/main">
            <a:off x="857250" y="3743325"/>
            <a:ext cx="447675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4684C19-BC91-49B1-8ED4-4512E4E34405}"/>
              </a:ext>
            </a:extLst>
          </p:cNvPr>
          <p:cNvSpPr>
            <a:spLocks xmlns:a="http://schemas.openxmlformats.org/drawingml/2006/main" noGrp="1"/>
          </p:cNvSpPr>
          <p:nvPr/>
        </p:nvSpPr>
        <p:spPr>
          <a:xfrm xmlns:a="http://schemas.openxmlformats.org/drawingml/2006/main">
            <a:off x="857250" y="38862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67DAD"/>
                </a:solidFill>
                <a:latin typeface="Avenir"/>
                <a:ea typeface="Avenir"/>
                <a:cs typeface="Avenir"/>
              </a:defRPr>
            </a:defPPr>
          </a:lstStyle>
          <a:p xmlns:a="http://schemas.openxmlformats.org/drawingml/2006/main">
            <a:pPr algn="l">
              <a:defRPr sz="1575" b="1">
                <a:solidFill>
                  <a:srgbClr val="167DAD"/>
                </a:solidFill>
                <a:latin typeface="Avenir"/>
                <a:ea typeface="Avenir"/>
                <a:cs typeface="Avenir"/>
              </a:defRPr>
            </a:pPr>
            <a:r>
              <a:rPr sz="1575" b="1">
                <a:solidFill>
                  <a:srgbClr val="167DAD"/>
                </a:solidFill>
                <a:latin typeface="Avenir"/>
                <a:ea typeface="Avenir"/>
                <a:cs typeface="Avenir"/>
              </a:rPr>
              <a:t>E13 grab: +5.85 points</a:t>
            </a:r>
          </a:p>
        </p:txBody>
      </p:sp>
      <p:sp>
        <p:nvSpPr>
          <p:cNvPr id="13" name="">
            <a:extLst xmlns:a="http://schemas.openxmlformats.org/drawingml/2006/main">
              <a:ext uri="{FF2B5EF4-FFF2-40B4-BE49-F238E27FC236}">
                <a16:creationId xmlns:a16="http://schemas.microsoft.com/office/drawing/2014/main" id="{1868A67E-36F8-4A54-B26D-14AC1E0B5D57}"/>
              </a:ext>
            </a:extLst>
          </p:cNvPr>
          <p:cNvSpPr>
            <a:spLocks xmlns:a="http://schemas.openxmlformats.org/drawingml/2006/main" noGrp="1"/>
          </p:cNvSpPr>
          <p:nvPr/>
        </p:nvSpPr>
        <p:spPr>
          <a:xfrm xmlns:a="http://schemas.openxmlformats.org/drawingml/2006/main">
            <a:off x="857250" y="4248150"/>
            <a:ext cx="442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95% CI +1.59 to +11.00; positive objects only.</a:t>
            </a:r>
          </a:p>
        </p:txBody>
      </p:sp>
      <p:sp>
        <p:nvSpPr>
          <p:cNvPr id="14" name="">
            <a:extLst xmlns:a="http://schemas.openxmlformats.org/drawingml/2006/main">
              <a:ext uri="{FF2B5EF4-FFF2-40B4-BE49-F238E27FC236}">
                <a16:creationId xmlns:a16="http://schemas.microsoft.com/office/drawing/2014/main" id="{EB081E05-C88E-4397-94D6-3C4629475928}"/>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F765EB8C-C59F-406A-8141-90F66805F393}"/>
              </a:ext>
            </a:extLst>
          </p:cNvPr>
          <p:cNvSpPr>
            <a:spLocks xmlns:a="http://schemas.openxmlformats.org/drawingml/2006/main" noGrp="1"/>
          </p:cNvSpPr>
          <p:nvPr/>
        </p:nvSpPr>
        <p:spPr>
          <a:xfrm xmlns:a="http://schemas.openxmlformats.org/drawingml/2006/main">
            <a:off x="6305550" y="1847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E14–E16 · PRESENCE &amp; THRESHOLDS</a:t>
            </a:r>
          </a:p>
        </p:txBody>
      </p:sp>
      <p:sp>
        <p:nvSpPr>
          <p:cNvPr id="16" name="">
            <a:extLst xmlns:a="http://schemas.openxmlformats.org/drawingml/2006/main">
              <a:ext uri="{FF2B5EF4-FFF2-40B4-BE49-F238E27FC236}">
                <a16:creationId xmlns:a16="http://schemas.microsoft.com/office/drawing/2014/main" id="{8681C91A-C401-42E0-AA03-23B44DC71649}"/>
              </a:ext>
            </a:extLst>
          </p:cNvPr>
          <p:cNvSpPr>
            <a:spLocks xmlns:a="http://schemas.openxmlformats.org/drawingml/2006/main" noGrp="1"/>
          </p:cNvSpPr>
          <p:nvPr/>
        </p:nvSpPr>
        <p:spPr>
          <a:xfrm xmlns:a="http://schemas.openxmlformats.org/drawingml/2006/main">
            <a:off x="6305550" y="22669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At score cutoff 0.5, accommodate negative-object alarms rose 6/20 → 13/20 with the selected phrase.</a:t>
            </a:r>
          </a:p>
        </p:txBody>
      </p:sp>
      <p:sp>
        <p:nvSpPr>
          <p:cNvPr id="17" name="">
            <a:extLst xmlns:a="http://schemas.openxmlformats.org/drawingml/2006/main">
              <a:ext uri="{FF2B5EF4-FFF2-40B4-BE49-F238E27FC236}">
                <a16:creationId xmlns:a16="http://schemas.microsoft.com/office/drawing/2014/main" id="{269E25B7-C769-4CFC-93AE-9FBDF2238810}"/>
              </a:ext>
            </a:extLst>
          </p:cNvPr>
          <p:cNvSpPr>
            <a:spLocks xmlns:a="http://schemas.openxmlformats.org/drawingml/2006/main" noGrp="1"/>
          </p:cNvSpPr>
          <p:nvPr/>
        </p:nvSpPr>
        <p:spPr>
          <a:xfrm xmlns:a="http://schemas.openxmlformats.org/drawingml/2006/main">
            <a:off x="6305550" y="31432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pre-set 10% alarm cap chose cutoff 1.00 and detected 0/20 positive objects.</a:t>
            </a:r>
          </a:p>
        </p:txBody>
      </p:sp>
      <p:sp>
        <p:nvSpPr>
          <p:cNvPr id="18" name="">
            <a:extLst xmlns:a="http://schemas.openxmlformats.org/drawingml/2006/main">
              <a:ext uri="{FF2B5EF4-FFF2-40B4-BE49-F238E27FC236}">
                <a16:creationId xmlns:a16="http://schemas.microsoft.com/office/drawing/2014/main" id="{712CACC8-8AB6-4347-9877-B2AAEE0B8995}"/>
              </a:ext>
            </a:extLst>
          </p:cNvPr>
          <p:cNvSpPr>
            <a:spLocks xmlns:a="http://schemas.openxmlformats.org/drawingml/2006/main" noGrp="1"/>
          </p:cNvSpPr>
          <p:nvPr/>
        </p:nvSpPr>
        <p:spPr>
          <a:xfrm xmlns:a="http://schemas.openxmlformats.org/drawingml/2006/main">
            <a:off x="6305550" y="40290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Threshold calibration did not find a useful operating point.</a:t>
            </a:r>
          </a:p>
        </p:txBody>
      </p:sp>
      <p:sp>
        <p:nvSpPr>
          <p:cNvPr id="19" name="">
            <a:extLst xmlns:a="http://schemas.openxmlformats.org/drawingml/2006/main">
              <a:ext uri="{FF2B5EF4-FFF2-40B4-BE49-F238E27FC236}">
                <a16:creationId xmlns:a16="http://schemas.microsoft.com/office/drawing/2014/main" id="{6E63B7F2-A8B2-47F7-A210-FFB94F96436A}"/>
              </a:ext>
            </a:extLst>
          </p:cNvPr>
          <p:cNvSpPr>
            <a:spLocks xmlns:a="http://schemas.openxmlformats.org/drawingml/2006/main" noGrp="1"/>
          </p:cNvSpPr>
          <p:nvPr/>
        </p:nvSpPr>
        <p:spPr>
          <a:xfrm xmlns:a="http://schemas.openxmlformats.org/drawingml/2006/main">
            <a:off x="609600" y="5448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Small exploratory cross-model studies; not official Affogato results. Affostruction was not run.</a:t>
            </a:r>
          </a:p>
        </p:txBody>
      </p:sp>
    </p:spTree>
    <p:extLst>
      <p:ext uri="{BB962C8B-B14F-4D97-AF65-F5344CB8AC3E}">
        <p14:creationId xmlns:p14="http://schemas.microsoft.com/office/powerpoint/2010/main" val="1365490344"/>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0D568BB-1D1D-4E61-BF36-AC4E756456A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08901ADD-9D13-4844-970A-3A6E4920B1D3}"/>
              </a:ext>
            </a:extLst>
          </p:cNvPr>
          <p:cNvPicPr>
            <a:picLocks xmlns:a="http://schemas.openxmlformats.org/drawingml/2006/main" noChangeAspect="1"/>
          </p:cNvPicPr>
          <p:nvPr/>
        </p:nvPicPr>
        <p:blipFill>
          <a:blip xmlns:r="http://schemas.openxmlformats.org/officeDocument/2006/relationships" xmlns:a="http://schemas.openxmlformats.org/drawingml/2006/main" r:embed="R4a927938018e4224"/>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74D7C8-F2D6-4DBA-B7DB-09F8BF71776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How do prompt strategies affect localization and false alarms?</a:t>
            </a:r>
          </a:p>
        </p:txBody>
      </p:sp>
      <p:sp>
        <p:nvSpPr>
          <p:cNvPr id="4" name="">
            <a:extLst xmlns:a="http://schemas.openxmlformats.org/drawingml/2006/main">
              <a:ext uri="{FF2B5EF4-FFF2-40B4-BE49-F238E27FC236}">
                <a16:creationId xmlns:a16="http://schemas.microsoft.com/office/drawing/2014/main" id="{38D255A4-5AD6-40AB-AF5C-A95517DB93E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60A32D-5F8E-4712-A299-B0DF90D46D4C}"/>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6" name="">
            <a:extLst xmlns:a="http://schemas.openxmlformats.org/drawingml/2006/main">
              <a:ext uri="{FF2B5EF4-FFF2-40B4-BE49-F238E27FC236}">
                <a16:creationId xmlns:a16="http://schemas.microsoft.com/office/drawing/2014/main" id="{598C7AE9-E4F9-47EA-8671-D692AC99D16F}"/>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1005243E-D198-4930-B882-4183CA0FBAE4}"/>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8" name="">
            <a:extLst xmlns:a="http://schemas.openxmlformats.org/drawingml/2006/main">
              <a:ext uri="{FF2B5EF4-FFF2-40B4-BE49-F238E27FC236}">
                <a16:creationId xmlns:a16="http://schemas.microsoft.com/office/drawing/2014/main" id="{B9022876-DB65-441D-8257-B1E433EF6132}"/>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a:solidFill>
                  <a:srgbClr val="FFFFFF"/>
                </a:solidFill>
                <a:latin typeface="Avenir"/>
                <a:ea typeface="Avenir"/>
                <a:cs typeface="Avenir"/>
              </a:defRPr>
            </a:defPPr>
          </a:lstStyle>
          <a:p xmlns:a="http://schemas.openxmlformats.org/drawingml/2006/main">
            <a:pPr algn="l">
              <a:defRPr sz="1950" b="1">
                <a:solidFill>
                  <a:srgbClr val="FFFFFF"/>
                </a:solidFill>
                <a:latin typeface="Avenir"/>
                <a:ea typeface="Avenir"/>
                <a:cs typeface="Avenir"/>
              </a:defRPr>
            </a:pPr>
            <a:r>
              <a:rPr sz="1950" b="1">
                <a:solidFill>
                  <a:srgbClr val="FFFFFF"/>
                </a:solidFill>
                <a:latin typeface="Avenir"/>
                <a:ea typeface="Avenir"/>
                <a:cs typeface="Avenir"/>
              </a:rPr>
              <a:t>Across 18 actions on partial point clouds, how do one paraphrase and a three-prompt average change OpenAD IoU and false alarms versus canonical action words?</a:t>
            </a:r>
          </a:p>
        </p:txBody>
      </p:sp>
      <p:sp>
        <p:nvSpPr>
          <p:cNvPr id="9" name="">
            <a:extLst xmlns:a="http://schemas.openxmlformats.org/drawingml/2006/main">
              <a:ext uri="{FF2B5EF4-FFF2-40B4-BE49-F238E27FC236}">
                <a16:creationId xmlns:a16="http://schemas.microsoft.com/office/drawing/2014/main" id="{0643AC88-4F60-40A6-A19C-A115EA8B041E}"/>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C9D461C1-9D36-453A-B055-95DAA2164C9D}"/>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B9BAAE9F-E2D3-4942-81F2-849C32D50CA9}"/>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2" name="">
            <a:extLst xmlns:a="http://schemas.openxmlformats.org/drawingml/2006/main">
              <a:ext uri="{FF2B5EF4-FFF2-40B4-BE49-F238E27FC236}">
                <a16:creationId xmlns:a16="http://schemas.microsoft.com/office/drawing/2014/main" id="{24F3ACD5-0FF2-4241-B867-0727A33111D6}"/>
              </a:ext>
            </a:extLst>
          </p:cNvPr>
          <p:cNvSpPr>
            <a:spLocks xmlns:a="http://schemas.openxmlformats.org/drawingml/2006/main" noGrp="1"/>
          </p:cNvSpPr>
          <p:nvPr/>
        </p:nvSpPr>
        <p:spPr>
          <a:xfrm xmlns:a="http://schemas.openxmlformats.org/drawingml/2006/main">
            <a:off x="876300" y="4514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Prompt effects will vary by action; averaging three paraphrases may not improve mean IoU and may trade localization gains for false alarms.</a:t>
            </a:r>
          </a:p>
        </p:txBody>
      </p:sp>
      <p:sp>
        <p:nvSpPr>
          <p:cNvPr id="13" name="">
            <a:extLst xmlns:a="http://schemas.openxmlformats.org/drawingml/2006/main">
              <a:ext uri="{FF2B5EF4-FFF2-40B4-BE49-F238E27FC236}">
                <a16:creationId xmlns:a16="http://schemas.microsoft.com/office/drawing/2014/main" id="{1AE63BFF-D54A-4A60-977F-E85C137A1878}"/>
              </a:ext>
            </a:extLst>
          </p:cNvPr>
          <p:cNvSpPr>
            <a:spLocks xmlns:a="http://schemas.openxmlformats.org/drawingml/2006/main" noGrp="1"/>
          </p:cNvSpPr>
          <p:nvPr/>
        </p:nvSpPr>
        <p:spPr>
          <a:xfrm xmlns:a="http://schemas.openxmlformats.org/drawingml/2006/main">
            <a:off x="876300" y="49530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Primary contrast: three-prompt average vs canonical; report paired IoU change and false-alarm change.</a:t>
            </a:r>
          </a:p>
        </p:txBody>
      </p:sp>
    </p:spTree>
    <p:extLst>
      <p:ext uri="{BB962C8B-B14F-4D97-AF65-F5344CB8AC3E}">
        <p14:creationId xmlns:p14="http://schemas.microsoft.com/office/powerpoint/2010/main" val="717149273"/>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1C19E75-A4AB-4978-A26C-183B427B2B6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722863ED-56C5-45C9-95C2-3F42901DE7D6}"/>
              </a:ext>
            </a:extLst>
          </p:cNvPr>
          <p:cNvPicPr>
            <a:picLocks xmlns:a="http://schemas.openxmlformats.org/drawingml/2006/main" noChangeAspect="1"/>
          </p:cNvPicPr>
          <p:nvPr/>
        </p:nvPicPr>
        <p:blipFill>
          <a:blip xmlns:r="http://schemas.openxmlformats.org/officeDocument/2006/relationships" xmlns:a="http://schemas.openxmlformats.org/drawingml/2006/main" r:embed="Reff2a4e893c54d90"/>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F1C7D71-5450-4C7B-9F54-EE42BA3A837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Three query conditions; everything else stays fixed</a:t>
            </a:r>
          </a:p>
        </p:txBody>
      </p:sp>
      <p:sp>
        <p:nvSpPr>
          <p:cNvPr id="4" name="">
            <a:extLst xmlns:a="http://schemas.openxmlformats.org/drawingml/2006/main">
              <a:ext uri="{FF2B5EF4-FFF2-40B4-BE49-F238E27FC236}">
                <a16:creationId xmlns:a16="http://schemas.microsoft.com/office/drawing/2014/main" id="{6698EA5A-A8FA-4944-80F5-DC583CFB62C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CC6B64-2A2A-4257-8A26-94EDFAC30A3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6" name="">
            <a:extLst xmlns:a="http://schemas.openxmlformats.org/drawingml/2006/main">
              <a:ext uri="{FF2B5EF4-FFF2-40B4-BE49-F238E27FC236}">
                <a16:creationId xmlns:a16="http://schemas.microsoft.com/office/drawing/2014/main" id="{C8978566-C257-453E-AC78-A00D2AD2A71A}"/>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91A8E0F-9B24-4F4E-BECD-E8ACF3329569}"/>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8" name="">
            <a:extLst xmlns:a="http://schemas.openxmlformats.org/drawingml/2006/main">
              <a:ext uri="{FF2B5EF4-FFF2-40B4-BE49-F238E27FC236}">
                <a16:creationId xmlns:a16="http://schemas.microsoft.com/office/drawing/2014/main" id="{0F0D26E5-8294-4A0F-8986-3CBE7E488DD9}"/>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40BD11-6CF0-45DC-9424-8E10F149B98F}"/>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Same frozen OpenAD model and point samples</a:t>
            </a:r>
          </a:p>
        </p:txBody>
      </p:sp>
      <p:sp>
        <p:nvSpPr>
          <p:cNvPr id="10" name="">
            <a:extLst xmlns:a="http://schemas.openxmlformats.org/drawingml/2006/main">
              <a:ext uri="{FF2B5EF4-FFF2-40B4-BE49-F238E27FC236}">
                <a16:creationId xmlns:a16="http://schemas.microsoft.com/office/drawing/2014/main" id="{A1F21C8E-DE68-460E-8122-751EF895C111}"/>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AC68F3-2192-4E28-B448-2AF5A5FAD9FA}"/>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canonical action word</a:t>
            </a:r>
          </a:p>
        </p:txBody>
      </p:sp>
      <p:sp>
        <p:nvSpPr>
          <p:cNvPr id="12" name="">
            <a:extLst xmlns:a="http://schemas.openxmlformats.org/drawingml/2006/main">
              <a:ext uri="{FF2B5EF4-FFF2-40B4-BE49-F238E27FC236}">
                <a16:creationId xmlns:a16="http://schemas.microsoft.com/office/drawing/2014/main" id="{23EFDF68-323E-4403-9EC1-BB05F21BD8BF}"/>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1D1E75-BAAB-43E7-9F5B-094910D3A6BF}"/>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B: one fixed paraphrase</a:t>
            </a:r>
          </a:p>
        </p:txBody>
      </p:sp>
      <p:sp>
        <p:nvSpPr>
          <p:cNvPr id="14" name="">
            <a:extLst xmlns:a="http://schemas.openxmlformats.org/drawingml/2006/main">
              <a:ext uri="{FF2B5EF4-FFF2-40B4-BE49-F238E27FC236}">
                <a16:creationId xmlns:a16="http://schemas.microsoft.com/office/drawing/2014/main" id="{AD3EFFEA-7EE4-44B8-8B5D-FCA1C3A4A726}"/>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97638C5-171B-41EA-AACD-A7C75F31CEEF}"/>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 average of three fixed paraphrase score maps</a:t>
            </a:r>
          </a:p>
        </p:txBody>
      </p:sp>
      <p:sp>
        <p:nvSpPr>
          <p:cNvPr id="16" name="">
            <a:extLst xmlns:a="http://schemas.openxmlformats.org/drawingml/2006/main">
              <a:ext uri="{FF2B5EF4-FFF2-40B4-BE49-F238E27FC236}">
                <a16:creationId xmlns:a16="http://schemas.microsoft.com/office/drawing/2014/main" id="{6977453C-4115-47A5-8B45-EBC5030F1560}"/>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15D060E-E1DE-4D13-8981-202089214E9C}"/>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Partial views primary; full shapes control</a:t>
            </a:r>
          </a:p>
        </p:txBody>
      </p:sp>
      <p:sp>
        <p:nvSpPr>
          <p:cNvPr id="18" name="">
            <a:extLst xmlns:a="http://schemas.openxmlformats.org/drawingml/2006/main">
              <a:ext uri="{FF2B5EF4-FFF2-40B4-BE49-F238E27FC236}">
                <a16:creationId xmlns:a16="http://schemas.microsoft.com/office/drawing/2014/main" id="{A9F7D823-B616-4BF6-95C5-FD6EA0B0FAE3}"/>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5C94242C-A5DC-40E9-A51C-5BEDA7FAC81E}"/>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20" name="">
            <a:extLst xmlns:a="http://schemas.openxmlformats.org/drawingml/2006/main">
              <a:ext uri="{FF2B5EF4-FFF2-40B4-BE49-F238E27FC236}">
                <a16:creationId xmlns:a16="http://schemas.microsoft.com/office/drawing/2014/main" id="{25B0080C-FCD0-4B56-A4D1-2B8CBEDE0D8A}"/>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59E6598-CAD9-4842-A9F7-B1E6379E7F4E}"/>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Primary: 18-action mean IoU, C vs A</a:t>
            </a:r>
          </a:p>
        </p:txBody>
      </p:sp>
      <p:sp>
        <p:nvSpPr>
          <p:cNvPr id="22" name="">
            <a:extLst xmlns:a="http://schemas.openxmlformats.org/drawingml/2006/main">
              <a:ext uri="{FF2B5EF4-FFF2-40B4-BE49-F238E27FC236}">
                <a16:creationId xmlns:a16="http://schemas.microsoft.com/office/drawing/2014/main" id="{F9FCB42E-B2CE-4F32-B1C6-58FA11B31140}"/>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3CDB308-FD1D-4EB3-82D1-44FD6808D504}"/>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Secondary: B vs A; per-action IoU</a:t>
            </a:r>
          </a:p>
        </p:txBody>
      </p:sp>
      <p:sp>
        <p:nvSpPr>
          <p:cNvPr id="24" name="">
            <a:extLst xmlns:a="http://schemas.openxmlformats.org/drawingml/2006/main">
              <a:ext uri="{FF2B5EF4-FFF2-40B4-BE49-F238E27FC236}">
                <a16:creationId xmlns:a16="http://schemas.microsoft.com/office/drawing/2014/main" id="{7A9D0045-CDC1-4904-A6E9-A28F5254B0A8}"/>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C35937A-4B0B-4501-93FB-5177E6CFDA9D}"/>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19-class IoU and AUC</a:t>
            </a:r>
          </a:p>
        </p:txBody>
      </p:sp>
      <p:sp>
        <p:nvSpPr>
          <p:cNvPr id="26" name="">
            <a:extLst xmlns:a="http://schemas.openxmlformats.org/drawingml/2006/main">
              <a:ext uri="{FF2B5EF4-FFF2-40B4-BE49-F238E27FC236}">
                <a16:creationId xmlns:a16="http://schemas.microsoft.com/office/drawing/2014/main" id="{07815C34-43FD-42CE-B565-E05F27A6E35A}"/>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E8E77D7-B4A6-4AA1-85F0-D5794B714F4F}"/>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False alarms on negative objects</a:t>
            </a:r>
          </a:p>
        </p:txBody>
      </p:sp>
      <p:sp>
        <p:nvSpPr>
          <p:cNvPr id="28" name="">
            <a:extLst xmlns:a="http://schemas.openxmlformats.org/drawingml/2006/main">
              <a:ext uri="{FF2B5EF4-FFF2-40B4-BE49-F238E27FC236}">
                <a16:creationId xmlns:a16="http://schemas.microsoft.com/office/drawing/2014/main" id="{AB09FAF6-08CF-44E7-9830-E1B72605B515}"/>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D77B5BF-B498-4023-A6C0-172EB57829C0}"/>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Paired 95% CI, resampling by object</a:t>
            </a:r>
          </a:p>
        </p:txBody>
      </p:sp>
    </p:spTree>
    <p:extLst>
      <p:ext uri="{BB962C8B-B14F-4D97-AF65-F5344CB8AC3E}">
        <p14:creationId xmlns:p14="http://schemas.microsoft.com/office/powerpoint/2010/main" val="1077558391"/>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3CD305-BF3A-482F-A750-B9BF95861F9C}"/>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6C35CA2-370D-4F3C-BE82-E53878FFEAF5}"/>
              </a:ext>
            </a:extLst>
          </p:cNvPr>
          <p:cNvPicPr>
            <a:picLocks xmlns:a="http://schemas.openxmlformats.org/drawingml/2006/main" noChangeAspect="1"/>
          </p:cNvPicPr>
          <p:nvPr/>
        </p:nvPicPr>
        <p:blipFill>
          <a:blip xmlns:r="http://schemas.openxmlformats.org/officeDocument/2006/relationships" xmlns:a="http://schemas.openxmlformats.org/drawingml/2006/main" r:embed="Ra2c0cdd679c14608"/>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B7F4D6-BD81-41A7-9C85-F59A6E5A0B3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compare three prompt strategies</a:t>
            </a:r>
          </a:p>
        </p:txBody>
      </p:sp>
      <p:sp>
        <p:nvSpPr>
          <p:cNvPr id="4" name="">
            <a:extLst xmlns:a="http://schemas.openxmlformats.org/drawingml/2006/main">
              <a:ext uri="{FF2B5EF4-FFF2-40B4-BE49-F238E27FC236}">
                <a16:creationId xmlns:a16="http://schemas.microsoft.com/office/drawing/2014/main" id="{368D4883-75C8-43C7-8C63-36D6E96969C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ABA1DB-00AB-48B1-AC65-1D166B761E8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6" name="">
            <a:extLst xmlns:a="http://schemas.openxmlformats.org/drawingml/2006/main">
              <a:ext uri="{FF2B5EF4-FFF2-40B4-BE49-F238E27FC236}">
                <a16:creationId xmlns:a16="http://schemas.microsoft.com/office/drawing/2014/main" id="{C4814308-473E-46A6-B3A3-ACD39D0975C6}"/>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9B2A370-ED87-48D5-B0CE-81ED8F004FDB}"/>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E60E2F74-F3C1-4BF9-AA36-3FDD5EC92912}"/>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WRITE</a:t>
            </a:r>
          </a:p>
        </p:txBody>
      </p:sp>
      <p:sp>
        <p:nvSpPr>
          <p:cNvPr id="9" name="">
            <a:extLst xmlns:a="http://schemas.openxmlformats.org/drawingml/2006/main">
              <a:ext uri="{FF2B5EF4-FFF2-40B4-BE49-F238E27FC236}">
                <a16:creationId xmlns:a16="http://schemas.microsoft.com/office/drawing/2014/main" id="{1BB326F5-459A-47D7-BC2D-964F819482D4}"/>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For each of 18 actions, prepare three meaning-equivalent paraphrases. Freeze them before evaluation.</a:t>
            </a:r>
          </a:p>
        </p:txBody>
      </p:sp>
      <p:sp>
        <p:nvSpPr>
          <p:cNvPr id="10" name="">
            <a:extLst xmlns:a="http://schemas.openxmlformats.org/drawingml/2006/main">
              <a:ext uri="{FF2B5EF4-FFF2-40B4-BE49-F238E27FC236}">
                <a16:creationId xmlns:a16="http://schemas.microsoft.com/office/drawing/2014/main" id="{4448E7F2-4DF8-459B-886C-B10D2D2B801B}"/>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1" name="">
            <a:extLst xmlns:a="http://schemas.openxmlformats.org/drawingml/2006/main">
              <a:ext uri="{FF2B5EF4-FFF2-40B4-BE49-F238E27FC236}">
                <a16:creationId xmlns:a16="http://schemas.microsoft.com/office/drawing/2014/main" id="{3B876345-A151-4CFE-94F0-465730BDCB49}"/>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799030BE-B914-4797-8D2A-90AB8B9A311E}"/>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a:t>
            </a:r>
          </a:p>
        </p:txBody>
      </p:sp>
      <p:sp>
        <p:nvSpPr>
          <p:cNvPr id="13" name="">
            <a:extLst xmlns:a="http://schemas.openxmlformats.org/drawingml/2006/main">
              <a:ext uri="{FF2B5EF4-FFF2-40B4-BE49-F238E27FC236}">
                <a16:creationId xmlns:a16="http://schemas.microsoft.com/office/drawing/2014/main" id="{A422F8BC-1A72-4C6D-B851-71A4D78905A0}"/>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Score canonical, one fixed paraphrase, and the average of three paraphrase maps on identical partial views.</a:t>
            </a:r>
          </a:p>
        </p:txBody>
      </p:sp>
      <p:sp>
        <p:nvSpPr>
          <p:cNvPr id="14" name="">
            <a:extLst xmlns:a="http://schemas.openxmlformats.org/drawingml/2006/main">
              <a:ext uri="{FF2B5EF4-FFF2-40B4-BE49-F238E27FC236}">
                <a16:creationId xmlns:a16="http://schemas.microsoft.com/office/drawing/2014/main" id="{87FA83C5-E6BB-4ED9-9A58-E279419B4CDD}"/>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5" name="">
            <a:extLst xmlns:a="http://schemas.openxmlformats.org/drawingml/2006/main">
              <a:ext uri="{FF2B5EF4-FFF2-40B4-BE49-F238E27FC236}">
                <a16:creationId xmlns:a16="http://schemas.microsoft.com/office/drawing/2014/main" id="{54E3CEF7-9243-43BE-A9C7-331265E073A8}"/>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C689AB7D-25E3-45C4-A085-92BA3D394870}"/>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MEASURE</a:t>
            </a:r>
          </a:p>
        </p:txBody>
      </p:sp>
      <p:sp>
        <p:nvSpPr>
          <p:cNvPr id="17" name="">
            <a:extLst xmlns:a="http://schemas.openxmlformats.org/drawingml/2006/main">
              <a:ext uri="{FF2B5EF4-FFF2-40B4-BE49-F238E27FC236}">
                <a16:creationId xmlns:a16="http://schemas.microsoft.com/office/drawing/2014/main" id="{29E1B887-0320-4991-AB84-B6BF37CE7BCE}"/>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three-prompt average vs canonical. Also track false alarms and action-level results.</a:t>
            </a:r>
          </a:p>
        </p:txBody>
      </p:sp>
      <p:sp>
        <p:nvSpPr>
          <p:cNvPr id="18" name="">
            <a:extLst xmlns:a="http://schemas.openxmlformats.org/drawingml/2006/main">
              <a:ext uri="{FF2B5EF4-FFF2-40B4-BE49-F238E27FC236}">
                <a16:creationId xmlns:a16="http://schemas.microsoft.com/office/drawing/2014/main" id="{BD1E26E0-B2E1-4C71-88D8-A3ECB6AA0119}"/>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6939D25C-DD69-49F9-9DD7-CAE32350BCA9}"/>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BBEF394C-0395-43EC-A14A-144C3B7D4F5A}"/>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CHECK</a:t>
            </a:r>
          </a:p>
        </p:txBody>
      </p:sp>
      <p:sp>
        <p:nvSpPr>
          <p:cNvPr id="21" name="">
            <a:extLst xmlns:a="http://schemas.openxmlformats.org/drawingml/2006/main">
              <a:ext uri="{FF2B5EF4-FFF2-40B4-BE49-F238E27FC236}">
                <a16:creationId xmlns:a16="http://schemas.microsoft.com/office/drawing/2014/main" id="{7D0B20B7-4D24-4948-AB82-ADD734B46496}"/>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 full shapes as a control; bootstrap paired differences by object and inspect failure cases.</a:t>
            </a:r>
          </a:p>
        </p:txBody>
      </p:sp>
      <p:sp>
        <p:nvSpPr>
          <p:cNvPr id="22" name="">
            <a:extLst xmlns:a="http://schemas.openxmlformats.org/drawingml/2006/main">
              <a:ext uri="{FF2B5EF4-FFF2-40B4-BE49-F238E27FC236}">
                <a16:creationId xmlns:a16="http://schemas.microsoft.com/office/drawing/2014/main" id="{B2E66CF4-C9E0-4458-9984-1862EBC43FF7}"/>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Use a fresh object-disjoint test set if possible; otherwise call the study exploratory.</a:t>
            </a:r>
          </a:p>
        </p:txBody>
      </p:sp>
    </p:spTree>
    <p:extLst>
      <p:ext uri="{BB962C8B-B14F-4D97-AF65-F5344CB8AC3E}">
        <p14:creationId xmlns:p14="http://schemas.microsoft.com/office/powerpoint/2010/main" val="1546735724"/>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14AFCA7-625C-482D-8E0E-99F16971E0E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48A4964-F643-403F-8753-BB2A35A7558C}"/>
              </a:ext>
            </a:extLst>
          </p:cNvPr>
          <p:cNvPicPr>
            <a:picLocks xmlns:a="http://schemas.openxmlformats.org/drawingml/2006/main" noChangeAspect="1"/>
          </p:cNvPicPr>
          <p:nvPr/>
        </p:nvPicPr>
        <p:blipFill>
          <a:blip xmlns:r="http://schemas.openxmlformats.org/officeDocument/2006/relationships" xmlns:a="http://schemas.openxmlformats.org/drawingml/2006/main" r:embed="Rf1e880916f3c4982"/>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2CA06C-C281-4144-AFFB-24DAB5803DF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prompt comparison</a:t>
            </a:r>
          </a:p>
        </p:txBody>
      </p:sp>
      <p:sp>
        <p:nvSpPr>
          <p:cNvPr id="4" name="">
            <a:extLst xmlns:a="http://schemas.openxmlformats.org/drawingml/2006/main">
              <a:ext uri="{FF2B5EF4-FFF2-40B4-BE49-F238E27FC236}">
                <a16:creationId xmlns:a16="http://schemas.microsoft.com/office/drawing/2014/main" id="{3C6191F9-BFC5-4382-A8C5-6F8592F396F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56199D-95F6-436A-8821-A92B89423F7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6" name="">
            <a:extLst xmlns:a="http://schemas.openxmlformats.org/drawingml/2006/main">
              <a:ext uri="{FF2B5EF4-FFF2-40B4-BE49-F238E27FC236}">
                <a16:creationId xmlns:a16="http://schemas.microsoft.com/office/drawing/2014/main" id="{9FE570C2-D059-483D-8BC8-F2835C6C06B9}"/>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0FC6F9AC-1163-4A6F-936A-A0C5DD203C76}"/>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575DB824-2453-4298-9D76-E236D90AFA9E}"/>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9" name="">
            <a:extLst xmlns:a="http://schemas.openxmlformats.org/drawingml/2006/main">
              <a:ext uri="{FF2B5EF4-FFF2-40B4-BE49-F238E27FC236}">
                <a16:creationId xmlns:a16="http://schemas.microsoft.com/office/drawing/2014/main" id="{8FEC5434-4B26-4C65-8583-B44ED273AD9B}"/>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Freeze the research question, primary comparison, and test split.</a:t>
            </a:r>
          </a:p>
        </p:txBody>
      </p:sp>
      <p:sp>
        <p:nvSpPr>
          <p:cNvPr id="10" name="">
            <a:extLst xmlns:a="http://schemas.openxmlformats.org/drawingml/2006/main">
              <a:ext uri="{FF2B5EF4-FFF2-40B4-BE49-F238E27FC236}">
                <a16:creationId xmlns:a16="http://schemas.microsoft.com/office/drawing/2014/main" id="{9778E51F-9041-4654-87DC-82A67D59FCA6}"/>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5C79BC22-D207-413E-A684-D101C1D1AC2E}"/>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2" name="">
            <a:extLst xmlns:a="http://schemas.openxmlformats.org/drawingml/2006/main">
              <a:ext uri="{FF2B5EF4-FFF2-40B4-BE49-F238E27FC236}">
                <a16:creationId xmlns:a16="http://schemas.microsoft.com/office/drawing/2014/main" id="{5032BD0C-44BC-4444-B306-D2305B0ADD1E}"/>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three paraphrases per action; freeze prompts before scoring.</a:t>
            </a:r>
          </a:p>
        </p:txBody>
      </p:sp>
      <p:sp>
        <p:nvSpPr>
          <p:cNvPr id="13" name="">
            <a:extLst xmlns:a="http://schemas.openxmlformats.org/drawingml/2006/main">
              <a:ext uri="{FF2B5EF4-FFF2-40B4-BE49-F238E27FC236}">
                <a16:creationId xmlns:a16="http://schemas.microsoft.com/office/drawing/2014/main" id="{6FD58AC5-299D-4EBB-AC49-A53B7B17FE42}"/>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04ABA525-7703-48C4-9C41-211EBD11A610}"/>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8CD9FFDA-9807-47C0-A687-4E5D3A233642}"/>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6" name="">
            <a:extLst xmlns:a="http://schemas.openxmlformats.org/drawingml/2006/main">
              <a:ext uri="{FF2B5EF4-FFF2-40B4-BE49-F238E27FC236}">
                <a16:creationId xmlns:a16="http://schemas.microsoft.com/office/drawing/2014/main" id="{B0C0B772-B60D-4688-9B07-B93CDB39AF61}"/>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Test the three scoring conditions and averaging script on a small sample.</a:t>
            </a:r>
          </a:p>
        </p:txBody>
      </p:sp>
      <p:sp>
        <p:nvSpPr>
          <p:cNvPr id="17" name="">
            <a:extLst xmlns:a="http://schemas.openxmlformats.org/drawingml/2006/main">
              <a:ext uri="{FF2B5EF4-FFF2-40B4-BE49-F238E27FC236}">
                <a16:creationId xmlns:a16="http://schemas.microsoft.com/office/drawing/2014/main" id="{874FFAC7-0505-4F34-B2C1-FBDABA494F3A}"/>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5BF379DA-055F-4C21-AFDF-4C5E5DE59243}"/>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9" name="">
            <a:extLst xmlns:a="http://schemas.openxmlformats.org/drawingml/2006/main">
              <a:ext uri="{FF2B5EF4-FFF2-40B4-BE49-F238E27FC236}">
                <a16:creationId xmlns:a16="http://schemas.microsoft.com/office/drawing/2014/main" id="{00206606-49CA-4644-89BB-9633170DA9EA}"/>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all three query conditions on the partial-view test set.</a:t>
            </a:r>
          </a:p>
        </p:txBody>
      </p:sp>
      <p:sp>
        <p:nvSpPr>
          <p:cNvPr id="20" name="">
            <a:extLst xmlns:a="http://schemas.openxmlformats.org/drawingml/2006/main">
              <a:ext uri="{FF2B5EF4-FFF2-40B4-BE49-F238E27FC236}">
                <a16:creationId xmlns:a16="http://schemas.microsoft.com/office/drawing/2014/main" id="{C3935752-CEE7-46FF-9F32-D373AB0AF9B2}"/>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1" name="">
            <a:extLst xmlns:a="http://schemas.openxmlformats.org/drawingml/2006/main">
              <a:ext uri="{FF2B5EF4-FFF2-40B4-BE49-F238E27FC236}">
                <a16:creationId xmlns:a16="http://schemas.microsoft.com/office/drawing/2014/main" id="{CA81E905-2343-4554-83CD-332290F28F2E}"/>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AF7F3D65-8C61-40DF-9AD3-1778A117DC85}"/>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3" name="">
            <a:extLst xmlns:a="http://schemas.openxmlformats.org/drawingml/2006/main">
              <a:ext uri="{FF2B5EF4-FFF2-40B4-BE49-F238E27FC236}">
                <a16:creationId xmlns:a16="http://schemas.microsoft.com/office/drawing/2014/main" id="{78B50D6D-7A93-4F3C-88E1-944B39B90BD8}"/>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4" name="">
            <a:extLst xmlns:a="http://schemas.openxmlformats.org/drawingml/2006/main">
              <a:ext uri="{FF2B5EF4-FFF2-40B4-BE49-F238E27FC236}">
                <a16:creationId xmlns:a16="http://schemas.microsoft.com/office/drawing/2014/main" id="{0BB48D01-8735-49A5-B8A5-C610CB53A8D3}"/>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5" name="">
            <a:extLst xmlns:a="http://schemas.openxmlformats.org/drawingml/2006/main">
              <a:ext uri="{FF2B5EF4-FFF2-40B4-BE49-F238E27FC236}">
                <a16:creationId xmlns:a16="http://schemas.microsoft.com/office/drawing/2014/main" id="{C0C00FC4-C988-48D5-849A-F13BF4E29673}"/>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6" name="">
            <a:extLst xmlns:a="http://schemas.openxmlformats.org/drawingml/2006/main">
              <a:ext uri="{FF2B5EF4-FFF2-40B4-BE49-F238E27FC236}">
                <a16:creationId xmlns:a16="http://schemas.microsoft.com/office/drawing/2014/main" id="{861C9BDF-09E1-480E-A8CF-91200E4434D8}"/>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7" name="">
            <a:extLst xmlns:a="http://schemas.openxmlformats.org/drawingml/2006/main">
              <a:ext uri="{FF2B5EF4-FFF2-40B4-BE49-F238E27FC236}">
                <a16:creationId xmlns:a16="http://schemas.microsoft.com/office/drawing/2014/main" id="{26DF6C6B-BA92-4F4C-85A7-C47E00CDA8A5}"/>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8" name="">
            <a:extLst xmlns:a="http://schemas.openxmlformats.org/drawingml/2006/main">
              <a:ext uri="{FF2B5EF4-FFF2-40B4-BE49-F238E27FC236}">
                <a16:creationId xmlns:a16="http://schemas.microsoft.com/office/drawing/2014/main" id="{8154A285-E6A2-47F7-8D07-B660BDDA66CD}"/>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9" name="">
            <a:extLst xmlns:a="http://schemas.openxmlformats.org/drawingml/2006/main">
              <a:ext uri="{FF2B5EF4-FFF2-40B4-BE49-F238E27FC236}">
                <a16:creationId xmlns:a16="http://schemas.microsoft.com/office/drawing/2014/main" id="{D55DD989-9729-4842-B820-7596A8BB1543}"/>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30" name="">
            <a:extLst xmlns:a="http://schemas.openxmlformats.org/drawingml/2006/main">
              <a:ext uri="{FF2B5EF4-FFF2-40B4-BE49-F238E27FC236}">
                <a16:creationId xmlns:a16="http://schemas.microsoft.com/office/drawing/2014/main" id="{2A21BABD-33FF-4546-A556-2852DA7BC047}"/>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1" name="">
            <a:extLst xmlns:a="http://schemas.openxmlformats.org/drawingml/2006/main">
              <a:ext uri="{FF2B5EF4-FFF2-40B4-BE49-F238E27FC236}">
                <a16:creationId xmlns:a16="http://schemas.microsoft.com/office/drawing/2014/main" id="{7EF5BB7B-7DA2-42FD-AB48-4E06E59D725F}"/>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2" name="">
            <a:extLst xmlns:a="http://schemas.openxmlformats.org/drawingml/2006/main">
              <a:ext uri="{FF2B5EF4-FFF2-40B4-BE49-F238E27FC236}">
                <a16:creationId xmlns:a16="http://schemas.microsoft.com/office/drawing/2014/main" id="{2CB10E7A-B699-44A0-87D8-3DECEC6CC0B4}"/>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3" name="">
            <a:extLst xmlns:a="http://schemas.openxmlformats.org/drawingml/2006/main">
              <a:ext uri="{FF2B5EF4-FFF2-40B4-BE49-F238E27FC236}">
                <a16:creationId xmlns:a16="http://schemas.microsoft.com/office/drawing/2014/main" id="{86948B8F-019D-48FF-971D-D38273498435}"/>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4" name="">
            <a:extLst xmlns:a="http://schemas.openxmlformats.org/drawingml/2006/main">
              <a:ext uri="{FF2B5EF4-FFF2-40B4-BE49-F238E27FC236}">
                <a16:creationId xmlns:a16="http://schemas.microsoft.com/office/drawing/2014/main" id="{7E0E0545-2BF9-475D-ACBD-F1EFE6BDA907}"/>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9DDDB8F-77CE-4E66-A236-CFB8C3741C17}"/>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606234736"/>
      </p:ext>
    </p:extLst>
  </p:cSld>
</p:sld>
</file>

<file path=ppt/slides/slide12.xml><?xml version="1.0" encoding="utf-8"?>
<p:sld xmlns:p="http://schemas.openxmlformats.org/presentationml/2006/main">
  <p:cSld>
    <p:bg>
      <p:bgPr>
        <a:solidFill xmlns:a="http://schemas.openxmlformats.org/drawingml/2006/main">
          <a:srgbClr val="F1F3F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C57E397-EDAB-4C82-A880-ED3716D9A661}"/>
              </a:ext>
            </a:extLst>
          </p:cNvPr>
          <p:cNvPicPr>
            <a:picLocks xmlns:a="http://schemas.openxmlformats.org/drawingml/2006/main" noChangeAspect="1"/>
          </p:cNvPicPr>
          <p:nvPr/>
        </p:nvPicPr>
        <p:blipFill>
          <a:blip xmlns:r="http://schemas.openxmlformats.org/officeDocument/2006/relationships" xmlns:a="http://schemas.openxmlformats.org/drawingml/2006/main" r:embed="Rcc3118f2cb4e40ff"/>
          <a:stretch xmlns:a="http://schemas.openxmlformats.org/drawingml/2006/main"/>
        </p:blipFill>
        <p:spPr>
          <a:xfrm xmlns:a="http://schemas.openxmlformats.org/drawingml/2006/main">
            <a:off x="0" y="1781432"/>
            <a:ext cx="12192000" cy="329513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28566E3-1A25-4851-8E11-16D154BFAD9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1B169C8-9E0D-46E0-9148-292AD810FBAE}"/>
              </a:ext>
            </a:extLst>
          </p:cNvPr>
          <p:cNvSpPr>
            <a:spLocks xmlns:a="http://schemas.openxmlformats.org/drawingml/2006/main" noGrp="1"/>
          </p:cNvSpPr>
          <p:nvPr/>
        </p:nvSpPr>
        <p:spPr>
          <a:xfrm xmlns:a="http://schemas.openxmlformats.org/drawingml/2006/main">
            <a:off x="7239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7DAD"/>
                </a:solidFill>
                <a:latin typeface="Avenir"/>
                <a:ea typeface="Avenir"/>
                <a:cs typeface="Avenir"/>
              </a:defRPr>
            </a:defPPr>
          </a:lstStyle>
          <a:p xmlns:a="http://schemas.openxmlformats.org/drawingml/2006/main">
            <a:pPr algn="l">
              <a:defRPr sz="1275" b="1">
                <a:solidFill>
                  <a:srgbClr val="167DAD"/>
                </a:solidFill>
                <a:latin typeface="Avenir"/>
                <a:ea typeface="Avenir"/>
                <a:cs typeface="Avenir"/>
              </a:defRPr>
            </a:pPr>
            <a:r>
              <a:rPr sz="1275" b="1">
                <a:solidFill>
                  <a:srgbClr val="167DAD"/>
                </a:solidFill>
                <a:latin typeface="Avenir"/>
                <a:ea typeface="Avenir"/>
                <a:cs typeface="Avenir"/>
              </a:rPr>
              <a:t>T14 · 3D AFFORDANCE PREDICTION</a:t>
            </a:r>
          </a:p>
        </p:txBody>
      </p:sp>
      <p:sp>
        <p:nvSpPr>
          <p:cNvPr id="4" name="">
            <a:extLst xmlns:a="http://schemas.openxmlformats.org/drawingml/2006/main">
              <a:ext uri="{FF2B5EF4-FFF2-40B4-BE49-F238E27FC236}">
                <a16:creationId xmlns:a16="http://schemas.microsoft.com/office/drawing/2014/main" id="{3AD3BF37-ABDF-41FD-BF46-F5DF97AD6B2B}"/>
              </a:ext>
            </a:extLst>
          </p:cNvPr>
          <p:cNvSpPr>
            <a:spLocks xmlns:a="http://schemas.openxmlformats.org/drawingml/2006/main" noGrp="1"/>
          </p:cNvSpPr>
          <p:nvPr/>
        </p:nvSpPr>
        <p:spPr>
          <a:xfrm xmlns:a="http://schemas.openxmlformats.org/drawingml/2006/main">
            <a:off x="723900" y="10287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500" b="1">
                <a:solidFill>
                  <a:srgbClr val="102A43"/>
                </a:solidFill>
                <a:latin typeface="Avenir"/>
                <a:ea typeface="Avenir"/>
                <a:cs typeface="Avenir"/>
              </a:defRPr>
            </a:defPPr>
          </a:lstStyle>
          <a:p xmlns:a="http://schemas.openxmlformats.org/drawingml/2006/main">
            <a:pPr algn="l">
              <a:defRPr sz="4500" b="1">
                <a:solidFill>
                  <a:srgbClr val="102A43"/>
                </a:solidFill>
                <a:latin typeface="Avenir"/>
                <a:ea typeface="Avenir"/>
                <a:cs typeface="Avenir"/>
              </a:defRPr>
            </a:pPr>
            <a:r>
              <a:rPr sz="4500" b="1">
                <a:solidFill>
                  <a:srgbClr val="102A43"/>
                </a:solidFill>
                <a:latin typeface="Avenir"/>
                <a:ea typeface="Avenir"/>
                <a:cs typeface="Avenir"/>
              </a:rPr>
              <a:t>Q &amp; A</a:t>
            </a:r>
          </a:p>
        </p:txBody>
      </p:sp>
      <p:sp>
        <p:nvSpPr>
          <p:cNvPr id="5" name="">
            <a:extLst xmlns:a="http://schemas.openxmlformats.org/drawingml/2006/main">
              <a:ext uri="{FF2B5EF4-FFF2-40B4-BE49-F238E27FC236}">
                <a16:creationId xmlns:a16="http://schemas.microsoft.com/office/drawing/2014/main" id="{C1262F40-1474-4AAA-B612-6AB4D8783BC6}"/>
              </a:ext>
            </a:extLst>
          </p:cNvPr>
          <p:cNvSpPr>
            <a:spLocks xmlns:a="http://schemas.openxmlformats.org/drawingml/2006/main" noGrp="1"/>
          </p:cNvSpPr>
          <p:nvPr/>
        </p:nvSpPr>
        <p:spPr>
          <a:xfrm xmlns:a="http://schemas.openxmlformats.org/drawingml/2006/main">
            <a:off x="762000" y="1838325"/>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172B3A"/>
                </a:solidFill>
                <a:latin typeface="Avenir"/>
                <a:ea typeface="Avenir"/>
                <a:cs typeface="Avenir"/>
              </a:defRPr>
            </a:defPPr>
          </a:lstStyle>
          <a:p xmlns:a="http://schemas.openxmlformats.org/drawingml/2006/main">
            <a:pPr algn="l">
              <a:defRPr sz="1800" b="0">
                <a:solidFill>
                  <a:srgbClr val="172B3A"/>
                </a:solidFill>
                <a:latin typeface="Avenir"/>
                <a:ea typeface="Avenir"/>
                <a:cs typeface="Avenir"/>
              </a:defRPr>
            </a:pPr>
            <a:r>
              <a:rPr sz="1800" b="0">
                <a:solidFill>
                  <a:srgbClr val="172B3A"/>
                </a:solidFill>
                <a:latin typeface="Avenir"/>
                <a:ea typeface="Avenir"/>
                <a:cs typeface="Avenir"/>
              </a:rPr>
              <a:t>Thank you</a:t>
            </a:r>
          </a:p>
        </p:txBody>
      </p:sp>
      <p:sp>
        <p:nvSpPr>
          <p:cNvPr id="6" name="">
            <a:extLst xmlns:a="http://schemas.openxmlformats.org/drawingml/2006/main">
              <a:ext uri="{FF2B5EF4-FFF2-40B4-BE49-F238E27FC236}">
                <a16:creationId xmlns:a16="http://schemas.microsoft.com/office/drawing/2014/main" id="{754EE3FB-46D5-4492-929C-A85265C9ED3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12 / 12</a:t>
            </a:r>
          </a:p>
        </p:txBody>
      </p:sp>
    </p:spTree>
    <p:extLst>
      <p:ext uri="{BB962C8B-B14F-4D97-AF65-F5344CB8AC3E}">
        <p14:creationId xmlns:p14="http://schemas.microsoft.com/office/powerpoint/2010/main" val="1934182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2026-10-13T05:59:26.8510000Z</dcterms:created>
  <dcterms:modified xsi:type="dcterms:W3CDTF">2026-10-13T05:59:26.8510000Z</dcterms:modified>
</coreProperties>
</file>