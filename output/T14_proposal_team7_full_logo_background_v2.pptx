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1d10183ab348fe" /><Relationship Type="http://schemas.openxmlformats.org/officeDocument/2006/relationships/extended-properties" Target="/docProps/app.xml" Id="Rcad8ce4a15f94740" /><Relationship Type="http://schemas.openxmlformats.org/officeDocument/2006/relationships/officeDocument" Target="/ppt/presentation.xml" Id="R961a3b5670504290" /></Relationships>
</file>

<file path=ppt/presentation.xml><?xml version="1.0" encoding="utf-8"?>
<p:presentation xmlns:p="http://schemas.openxmlformats.org/presentationml/2006/main">
  <p:sldMasterIdLst>
    <p:sldMasterId xmlns:r="http://schemas.openxmlformats.org/officeDocument/2006/relationships" id="2147483648" r:id="R6785864c7a444bbd"/>
  </p:sldMasterIdLst>
  <p:notesMasterIdLst>
    <p:notesMasterId xmlns:r="http://schemas.openxmlformats.org/officeDocument/2006/relationships" r:id="Raaa4d76bdf574e96"/>
  </p:notesMasterIdLst>
  <p:sldIdLst>
    <p:sldId xmlns:r="http://schemas.openxmlformats.org/officeDocument/2006/relationships" id="256" r:id="Rbeb2d14e40714453"/>
    <p:sldId xmlns:r="http://schemas.openxmlformats.org/officeDocument/2006/relationships" id="257" r:id="Ra682ad234d184876"/>
    <p:sldId xmlns:r="http://schemas.openxmlformats.org/officeDocument/2006/relationships" id="258" r:id="R7cc40109fbd94a66"/>
    <p:sldId xmlns:r="http://schemas.openxmlformats.org/officeDocument/2006/relationships" id="259" r:id="R3c15a50b9d9548d2"/>
    <p:sldId xmlns:r="http://schemas.openxmlformats.org/officeDocument/2006/relationships" id="260" r:id="R22fd5ea4455f4af9"/>
    <p:sldId xmlns:r="http://schemas.openxmlformats.org/officeDocument/2006/relationships" id="261" r:id="R98767762a66643d0"/>
    <p:sldId xmlns:r="http://schemas.openxmlformats.org/officeDocument/2006/relationships" id="262" r:id="R76368f6e44e04c0e"/>
    <p:sldId xmlns:r="http://schemas.openxmlformats.org/officeDocument/2006/relationships" id="263" r:id="R8b50a31f70334a35"/>
    <p:sldId xmlns:r="http://schemas.openxmlformats.org/officeDocument/2006/relationships" id="264" r:id="R0f9a82abeb2e4ac0"/>
    <p:sldId xmlns:r="http://schemas.openxmlformats.org/officeDocument/2006/relationships" id="265" r:id="R30f96de191c046a1"/>
    <p:sldId xmlns:r="http://schemas.openxmlformats.org/officeDocument/2006/relationships" id="266" r:id="R97a74130dd7c43f7"/>
    <p:sldId xmlns:r="http://schemas.openxmlformats.org/officeDocument/2006/relationships" id="267" r:id="R9130054efb9649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34fb81c2a8489e" /><Relationship Type="http://schemas.openxmlformats.org/officeDocument/2006/relationships/slideMaster" Target="/ppt/slideMasters/slideMaster1.xml" Id="R6785864c7a444bbd" /><Relationship Type="http://schemas.openxmlformats.org/officeDocument/2006/relationships/notesMaster" Target="/ppt/notesMasters/notesMaster1.xml" Id="Raaa4d76bdf574e96" /><Relationship Type="http://schemas.openxmlformats.org/officeDocument/2006/relationships/presProps" Target="/ppt/presProps.xml" Id="R79a5eed8b12b4a1e" /><Relationship Type="http://schemas.openxmlformats.org/officeDocument/2006/relationships/tableStyles" Target="/ppt/tableStyles.xml" Id="R1dcc608f141c427b" /><Relationship Type="http://schemas.openxmlformats.org/officeDocument/2006/relationships/slide" Target="/ppt/slides/slide1.xml" Id="Rbeb2d14e40714453" /><Relationship Type="http://schemas.openxmlformats.org/officeDocument/2006/relationships/slide" Target="/ppt/slides/slide2.xml" Id="Ra682ad234d184876" /><Relationship Type="http://schemas.openxmlformats.org/officeDocument/2006/relationships/slide" Target="/ppt/slides/slide3.xml" Id="R7cc40109fbd94a66" /><Relationship Type="http://schemas.openxmlformats.org/officeDocument/2006/relationships/slide" Target="/ppt/slides/slide4.xml" Id="R3c15a50b9d9548d2" /><Relationship Type="http://schemas.openxmlformats.org/officeDocument/2006/relationships/slide" Target="/ppt/slides/slide5.xml" Id="R22fd5ea4455f4af9" /><Relationship Type="http://schemas.openxmlformats.org/officeDocument/2006/relationships/slide" Target="/ppt/slides/slide6.xml" Id="R98767762a66643d0" /><Relationship Type="http://schemas.openxmlformats.org/officeDocument/2006/relationships/slide" Target="/ppt/slides/slide7.xml" Id="R76368f6e44e04c0e" /><Relationship Type="http://schemas.openxmlformats.org/officeDocument/2006/relationships/slide" Target="/ppt/slides/slide8.xml" Id="R8b50a31f70334a35" /><Relationship Type="http://schemas.openxmlformats.org/officeDocument/2006/relationships/slide" Target="/ppt/slides/slide9.xml" Id="R0f9a82abeb2e4ac0" /><Relationship Type="http://schemas.openxmlformats.org/officeDocument/2006/relationships/slide" Target="/ppt/slides/slide10.xml" Id="R30f96de191c046a1" /><Relationship Type="http://schemas.openxmlformats.org/officeDocument/2006/relationships/slide" Target="/ppt/slides/slide11.xml" Id="R97a74130dd7c43f7" /><Relationship Type="http://schemas.openxmlformats.org/officeDocument/2006/relationships/slide" Target="/ppt/slides/slide12.xml" Id="R9130054efb9649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ea23d5b0f349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3255c65ceb4d9f" /><Relationship Type="http://schemas.openxmlformats.org/officeDocument/2006/relationships/notesMaster" Target="/ppt/notesMasters/notesMaster1.xml" Id="R473e6900484149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5a26ca1cd4419f" /><Relationship Type="http://schemas.openxmlformats.org/officeDocument/2006/relationships/notesMaster" Target="/ppt/notesMasters/notesMaster1.xml" Id="R87fc6528e8a746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1088885b3647d4" /><Relationship Type="http://schemas.openxmlformats.org/officeDocument/2006/relationships/notesMaster" Target="/ppt/notesMasters/notesMaster1.xml" Id="R085ef15481ce47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cd3176b1884657" /><Relationship Type="http://schemas.openxmlformats.org/officeDocument/2006/relationships/notesMaster" Target="/ppt/notesMasters/notesMaster1.xml" Id="R100b52b06d764c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52a2f0afcd413f" /><Relationship Type="http://schemas.openxmlformats.org/officeDocument/2006/relationships/notesMaster" Target="/ppt/notesMasters/notesMaster1.xml" Id="Rb8e45bc035444a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750f2d909447d4" /><Relationship Type="http://schemas.openxmlformats.org/officeDocument/2006/relationships/notesMaster" Target="/ppt/notesMasters/notesMaster1.xml" Id="R7a6bbc48162847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5ed93291f644aa" /><Relationship Type="http://schemas.openxmlformats.org/officeDocument/2006/relationships/notesMaster" Target="/ppt/notesMasters/notesMaster1.xml" Id="R82f46fefdc2d4b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3970a578324960" /><Relationship Type="http://schemas.openxmlformats.org/officeDocument/2006/relationships/notesMaster" Target="/ppt/notesMasters/notesMaster1.xml" Id="Re12c1e610ebb4e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de02f950964dbd" /><Relationship Type="http://schemas.openxmlformats.org/officeDocument/2006/relationships/notesMaster" Target="/ppt/notesMasters/notesMaster1.xml" Id="R1f61eece27274a7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a2c50157eb4076" /><Relationship Type="http://schemas.openxmlformats.org/officeDocument/2006/relationships/notesMaster" Target="/ppt/notesMasters/notesMaster1.xml" Id="R6cf2859ecfef4c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0515d810d14234" /><Relationship Type="http://schemas.openxmlformats.org/officeDocument/2006/relationships/notesMaster" Target="/ppt/notesMasters/notesMaster1.xml" Id="R676aa3daed204d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ea5000dc6f14cda" /><Relationship Type="http://schemas.openxmlformats.org/officeDocument/2006/relationships/notesMaster" Target="/ppt/notesMasters/notesMaster1.xml" Id="R26ccfc81946f4c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separates completed baseline and prompt-transfer experiments from the experiment proposed for the next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T14 task described in the instructor guideline: input an object point cloud and affordance query; predict a score/label per point. OpenAD is the baseline. Source paper: https://arxiv.org/abs/2303.02401.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released OpenAD PN2 checkpoint (SHA-256 cbcfe9ff70448d97a7047f1ade817645a9be29dd2782fba57776792a8210f2ae) was evaluated on official AffordanceNet validation data. Partial 9,140 views / 2,285 shapes; full 2,285 shapes. Geometry features are shared within each paired query condition. CPU and MPS headline results agree within 0.0054 percentage points. One synchronized cold forward on 2,048 points took 0.5456s, after setup and without warmup. 1.295 GiB is the 5ms-sampled high-water Metal driver allocation estimate on unified memory, not physical peak VRAM. Source: archived E17 and profile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IoU means intersection over union: overlap between predicted points and ground-truth part points. The table reports global point-wise macro IoU. 18-action rows exclude none; 19-class rows include none. Partial scores: 40.39 vs 10.77 and including none 41.45 vs 12.53. Full scores: 35.18 vs 7.87 and including none 36.18 vs 9.76. These results show sensitivity to query wording, not proof of generalization to entirely new concepts; many aligned labels are related synonyms. Sources: archived E17 results and CPU/MPS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saved failure. All 563 ground-truth pour points were predicted as none, giving IoU 0.000 for this sample. Mean scores over those target points: pour 0.0584 and none 0.6440. Do not imply this is typical of the full dataset. Source: archived E02 failure visualization and score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E18 transferred five prompts selected in earlier Espresso-3D/Affogato-weight experiments to frozen OpenAD. The 1,941 shapes / 7,764 views were disjoint from those earlier prompt-study IDs, but the validation split is not an official independent test set. On MPS, for unlock: original sentence IoU 0.0927%, canonical word 3.6878%, selected paraphrase 12.3621%. Positive-object paired gain over original sentence +8.406 percentage points, 95% CI [+5.691,+11.418]. Negative-object any-alarm rate increased 0.34% to 1.61%. Other four selected paraphrases did not show comparable localization gains. Five tested total; wording “four of five” is accurate. Sources: archived E18 CPU/MPS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teammate ran the unofficial espresso-3d-reimplementation repository with Affogato-pretrained weights and shared the preview. We treat it as exploratory candidate-prompt work, not an official Affogato reproduction. We did not run Affostruction; its paper results are related-work context only. Papers: Affogato https://arxiv.org/abs/2506.12009; Affostruction https://arxiv.org/abs/2601.09211.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Across 18 actions on partial point clouds, do one or three fixed paraphrases improve OpenAD localization over canonical action words without increasing false alarms? Primary hypothesis: the average of three prewritten paraphrase score maps improves 18-action macro IoU over canonical action words. Primary contrast is three-prompt average vs canonical. The one-paraphrase condition is a secondary comparison. Report false alarms as a safety/quality measure, not as a second primary endpoint. Freeze prompts before test evaluation, and do not select wording using test labels or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conditions on exactly the same inputs: A) canonical action word; B) one fixed meaning-equivalent paraphrase; C) arithmetic average of per-point affordance scores from three fixed meaning-equivalent paraphrases. Keep the released OpenAD PN2 checkpoint frozen, use identical objects, views, points, class slots and argmax prediction rule. Primary setting: partial views; full shapes are a control. Primary endpoint and contrast: macro point-wise IoU over 18 actions, condition C vs A. Secondary: B vs A, per-action IoU, 19-class IoU including none, AUC, false-positive point fraction and any-alarm rate on negative objects. Compute paired object-level confidence intervals. Freeze prompts and analysis before test scoring; if reusing validation data, report results as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protocol: write three meaning-equivalent paraphrases for each of the 18 actions, freeze wording before evaluation, and do not tune on test labels or scores. Compare A) canonical action word, B) one preselected paraphrase, and C) unweighted average of the three paraphrase per-point score maps. Use the same frozen OpenAD PN2 checkpoint and identical point clouds, views and point samples. Primary data: partial views; full shapes are a control. Primary comparison is C vs A for macro IoU across 18 actions excluding none. Secondary comparison is B vs A. Also report 19-class IoU, AUC, per-action IoU, false-positive fraction, and any-alarm rate on negative objects. Bootstrap paired differences by object. Prefer an untouched object-disjoint test set; if using the already analyzed validation split, label findings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Week-by-week proposed plan. Week 9: freeze the research question, primary contrast (three-prompt average vs canonical), exact action list, data split and leakage checks. Week 10: prewrite three meaning-equivalent paraphrases per action and freeze wording before evaluation. Week 11: test all three scoring conditions and score-map averaging on a small sample; verify labels, point alignment, metrics and false alarms. Week 12: run canonical, one-paraphrase and three-paraphrase-average conditions on all partial views with the same frozen checkpoint and point samples. Week 13: run full shapes as a control and compute per-action IoU and false alarms. Week 14: bootstrap paired differences by object, inspect uncertainty and failure cases. Week 15: summarize results and limitations, create figures, and complete the proposal presentation. The primary contrast is three paraphrases averaged vs the canonical action word; the one-paraphrase condition is secondary. These are proposed milestones, not completed results. Prefer an untouched object-disjoint test set; if reusing the validation data, explicitly call the follow-up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the required two-minute question-and-answer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c1f9fc6b8d4c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d5b48d593614b4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43c4eda4ac4b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e10809ff4e4c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f807108a394a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bfd4ce3e8641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FFE4B9-E20B-4A1D-8387-DCB45173E1E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0517B2-C496-4F96-9A4D-99DB5A5DCF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02E74CB-4B65-4754-BDAA-4CA1E87642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FBEE6C-498E-41D2-BA2D-D14EEF4991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971C22-93AD-43C9-A388-08849CF4DD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BDD296-962B-41A6-A700-FAEDBB5CF6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CFE733-1B06-48A8-BE4E-F53CA8B1E2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F859FBE-4CCA-47D6-AB56-117C490D4D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4573C2-1DAE-4ED4-BC21-4B30333167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103BDA-9D7F-49FD-9C2D-19CEB8D2A2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8dd98a15be4096" /><Relationship Type="http://schemas.openxmlformats.org/officeDocument/2006/relationships/slideLayout" Target="/ppt/slideLayouts/slideLayout1.xml" Id="Rf9742c3b16f0422e" /><Relationship Type="http://schemas.openxmlformats.org/officeDocument/2006/relationships/slideLayout" Target="/ppt/slideLayouts/slideLayout2.xml" Id="R643022aa087c46ca" /><Relationship Type="http://schemas.openxmlformats.org/officeDocument/2006/relationships/slideLayout" Target="/ppt/slideLayouts/slideLayout3.xml" Id="Rdd4ec1eec60749ef" /><Relationship Type="http://schemas.openxmlformats.org/officeDocument/2006/relationships/slideLayout" Target="/ppt/slideLayouts/slideLayout4.xml" Id="R3eecea86574d480f" /><Relationship Type="http://schemas.openxmlformats.org/officeDocument/2006/relationships/slideLayout" Target="/ppt/slideLayouts/slideLayout5.xml" Id="Rc636a4ad90a04f92" /><Relationship Type="http://schemas.openxmlformats.org/officeDocument/2006/relationships/slideLayout" Target="/ppt/slideLayouts/slideLayout6.xml" Id="Rdb1bcd37fc0340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9742c3b16f0422e"/>
    <p:sldLayoutId xmlns:r="http://schemas.openxmlformats.org/officeDocument/2006/relationships" id="2147483650" r:id="R643022aa087c46ca"/>
    <p:sldLayoutId xmlns:r="http://schemas.openxmlformats.org/officeDocument/2006/relationships" id="2147483651" r:id="Rdd4ec1eec60749ef"/>
    <p:sldLayoutId xmlns:r="http://schemas.openxmlformats.org/officeDocument/2006/relationships" id="2147483652" r:id="R3eecea86574d480f"/>
    <p:sldLayoutId xmlns:r="http://schemas.openxmlformats.org/officeDocument/2006/relationships" id="2147483653" r:id="Rc636a4ad90a04f92"/>
    <p:sldLayoutId xmlns:r="http://schemas.openxmlformats.org/officeDocument/2006/relationships" id="2147483654" r:id="Rdb1bcd37fc0340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b3ede038954f40" /><Relationship Type="http://schemas.openxmlformats.org/officeDocument/2006/relationships/image" Target="/ppt/media/image.png" Id="Rbbd1c53d69f54cfe" /><Relationship Type="http://schemas.openxmlformats.org/officeDocument/2006/relationships/notesSlide" Target="/ppt/notesSlides/notesSlide1.xml" Id="R5739dc05e0e848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200dcb6ad64fab" /><Relationship Type="http://schemas.openxmlformats.org/officeDocument/2006/relationships/image" Target="/ppt/media/image2.png" Id="R1d6b20fb0b5f4f82" /><Relationship Type="http://schemas.openxmlformats.org/officeDocument/2006/relationships/notesSlide" Target="/ppt/notesSlides/notesSlide2.xml" Id="R7eb9bc7659554f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5cff99a1da4f4c" /><Relationship Type="http://schemas.openxmlformats.org/officeDocument/2006/relationships/image" Target="/ppt/media/image3.png" Id="Re47c96600bae4fcc" /><Relationship Type="http://schemas.openxmlformats.org/officeDocument/2006/relationships/notesSlide" Target="/ppt/notesSlides/notesSlide3.xml" Id="Rf70de757951547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d57e993a0964303" /><Relationship Type="http://schemas.openxmlformats.org/officeDocument/2006/relationships/image" Target="/ppt/media/image4.png" Id="R357491d3fefd4e67" /><Relationship Type="http://schemas.openxmlformats.org/officeDocument/2006/relationships/notesSlide" Target="/ppt/notesSlides/notesSlide4.xml" Id="Rba842c701b3440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77f15230b074af3" /><Relationship Type="http://schemas.openxmlformats.org/officeDocument/2006/relationships/image" Target="/ppt/media/image5.png" Id="Redc55e17ebd547a4" /><Relationship Type="http://schemas.openxmlformats.org/officeDocument/2006/relationships/image" Target="/ppt/media/image6.png" Id="R3d7289bbfd09443f" /><Relationship Type="http://schemas.openxmlformats.org/officeDocument/2006/relationships/notesSlide" Target="/ppt/notesSlides/notesSlide5.xml" Id="Ra160c3db9057439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ebb8c4deb24486" /><Relationship Type="http://schemas.openxmlformats.org/officeDocument/2006/relationships/image" Target="/ppt/media/image7.png" Id="R203a7b90d1ae482e" /><Relationship Type="http://schemas.openxmlformats.org/officeDocument/2006/relationships/notesSlide" Target="/ppt/notesSlides/notesSlide6.xml" Id="R9020da288d4a46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33d1bbbbff4c1d" /><Relationship Type="http://schemas.openxmlformats.org/officeDocument/2006/relationships/image" Target="/ppt/media/image8.png" Id="R971fa251b89e4ffa" /><Relationship Type="http://schemas.openxmlformats.org/officeDocument/2006/relationships/notesSlide" Target="/ppt/notesSlides/notesSlide7.xml" Id="R29595907ddc546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7334e17d81d4dab" /><Relationship Type="http://schemas.openxmlformats.org/officeDocument/2006/relationships/image" Target="/ppt/media/image9.png" Id="R399f49215be846b9" /><Relationship Type="http://schemas.openxmlformats.org/officeDocument/2006/relationships/notesSlide" Target="/ppt/notesSlides/notesSlide8.xml" Id="R08f28444d1994a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aeef06280441ec" /><Relationship Type="http://schemas.openxmlformats.org/officeDocument/2006/relationships/image" Target="/ppt/media/image10.png" Id="Rea68f8456f2348f9" /><Relationship Type="http://schemas.openxmlformats.org/officeDocument/2006/relationships/notesSlide" Target="/ppt/notesSlides/notesSlide9.xml" Id="R1434b16d40b54b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1a73953f02457b" /><Relationship Type="http://schemas.openxmlformats.org/officeDocument/2006/relationships/image" Target="/ppt/media/image11.png" Id="R07cf0b0249c14928" /><Relationship Type="http://schemas.openxmlformats.org/officeDocument/2006/relationships/notesSlide" Target="/ppt/notesSlides/notesSlide10.xml" Id="R3f0683f6ee2b4f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b2622a9c10d4ef9" /><Relationship Type="http://schemas.openxmlformats.org/officeDocument/2006/relationships/image" Target="/ppt/media/image12.png" Id="R2a4e8c169e894cfe" /><Relationship Type="http://schemas.openxmlformats.org/officeDocument/2006/relationships/notesSlide" Target="/ppt/notesSlides/notesSlide11.xml" Id="R796afc518a6844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be5322c1d334bd8" /><Relationship Type="http://schemas.openxmlformats.org/officeDocument/2006/relationships/image" Target="/ppt/media/image13.png" Id="Rb9882713ddb5465c" /><Relationship Type="http://schemas.openxmlformats.org/officeDocument/2006/relationships/notesSlide" Target="/ppt/notesSlides/notesSlide12.xml" Id="Rdfad59ceec6a4547" /></Relationships>
</file>

<file path=ppt/slides/slide1.xml><?xml version="1.0" encoding="utf-8"?>
<p:sld xmlns:p="http://schemas.openxmlformats.org/presentationml/2006/main">
  <p:cSld>
    <p:bg>
      <p:bgPr>
        <a:solidFill xmlns:a="http://schemas.openxmlformats.org/drawingml/2006/main">
          <a:srgbClr val="F1F3F8"/>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F77FFB7-50F7-477A-A08A-A252FD73E9D8}"/>
              </a:ext>
            </a:extLst>
          </p:cNvPr>
          <p:cNvPicPr>
            <a:picLocks xmlns:a="http://schemas.openxmlformats.org/drawingml/2006/main" noChangeAspect="1"/>
          </p:cNvPicPr>
          <p:nvPr/>
        </p:nvPicPr>
        <p:blipFill>
          <a:blip xmlns:r="http://schemas.openxmlformats.org/officeDocument/2006/relationships" xmlns:a="http://schemas.openxmlformats.org/drawingml/2006/main" r:embed="Rbbd1c53d69f54cfe"/>
          <a:stretch xmlns:a="http://schemas.openxmlformats.org/drawingml/2006/main"/>
        </p:blipFill>
        <p:spPr>
          <a:xfrm xmlns:a="http://schemas.openxmlformats.org/drawingml/2006/main">
            <a:off x="0" y="1781432"/>
            <a:ext cx="12192000" cy="329513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6CF0A2-DF77-466A-9F35-0139E2DA888E}"/>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22D774-7777-4C37-B53A-E6B1275EAD91}"/>
              </a:ext>
            </a:extLst>
          </p:cNvPr>
          <p:cNvSpPr>
            <a:spLocks xmlns:a="http://schemas.openxmlformats.org/drawingml/2006/main" noGrp="1"/>
          </p:cNvSpPr>
          <p:nvPr/>
        </p:nvSpPr>
        <p:spPr>
          <a:xfrm xmlns:a="http://schemas.openxmlformats.org/drawingml/2006/main">
            <a:off x="7239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67DAD"/>
                </a:solidFill>
                <a:latin typeface="Avenir"/>
                <a:ea typeface="Avenir"/>
                <a:cs typeface="Avenir"/>
              </a:defRPr>
            </a:defPPr>
          </a:lstStyle>
          <a:p xmlns:a="http://schemas.openxmlformats.org/drawingml/2006/main">
            <a:pPr algn="l">
              <a:defRPr sz="1275" b="1">
                <a:solidFill>
                  <a:srgbClr val="167DAD"/>
                </a:solidFill>
                <a:latin typeface="Avenir"/>
                <a:ea typeface="Avenir"/>
                <a:cs typeface="Avenir"/>
              </a:defRPr>
            </a:pPr>
            <a:r>
              <a:rPr sz="1275" b="1">
                <a:solidFill>
                  <a:srgbClr val="167DAD"/>
                </a:solidFill>
                <a:latin typeface="Avenir"/>
                <a:ea typeface="Avenir"/>
                <a:cs typeface="Avenir"/>
              </a:rPr>
              <a:t>RESEARCH PROPOSAL · T14</a:t>
            </a:r>
          </a:p>
        </p:txBody>
      </p:sp>
      <p:sp>
        <p:nvSpPr>
          <p:cNvPr id="4" name="">
            <a:extLst xmlns:a="http://schemas.openxmlformats.org/drawingml/2006/main">
              <a:ext uri="{FF2B5EF4-FFF2-40B4-BE49-F238E27FC236}">
                <a16:creationId xmlns:a16="http://schemas.microsoft.com/office/drawing/2014/main" id="{482E51F3-8117-487A-8378-71176BA7B540}"/>
              </a:ext>
            </a:extLst>
          </p:cNvPr>
          <p:cNvSpPr>
            <a:spLocks xmlns:a="http://schemas.openxmlformats.org/drawingml/2006/main" noGrp="1"/>
          </p:cNvSpPr>
          <p:nvPr/>
        </p:nvSpPr>
        <p:spPr>
          <a:xfrm xmlns:a="http://schemas.openxmlformats.org/drawingml/2006/main">
            <a:off x="723900" y="990600"/>
            <a:ext cx="857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150" b="1">
                <a:solidFill>
                  <a:srgbClr val="102A43"/>
                </a:solidFill>
                <a:latin typeface="Avenir"/>
                <a:ea typeface="Avenir"/>
                <a:cs typeface="Avenir"/>
              </a:defRPr>
            </a:defPPr>
          </a:lstStyle>
          <a:p xmlns:a="http://schemas.openxmlformats.org/drawingml/2006/main">
            <a:pPr algn="l">
              <a:defRPr sz="3150" b="1">
                <a:solidFill>
                  <a:srgbClr val="102A43"/>
                </a:solidFill>
                <a:latin typeface="Avenir"/>
                <a:ea typeface="Avenir"/>
                <a:cs typeface="Avenir"/>
              </a:defRPr>
            </a:pPr>
            <a:r>
              <a:rPr sz="3150" b="1">
                <a:solidFill>
                  <a:srgbClr val="102A43"/>
                </a:solidFill>
                <a:latin typeface="Avenir"/>
                <a:ea typeface="Avenir"/>
                <a:cs typeface="Avenir"/>
              </a:rPr>
              <a:t>What we learned from our</a:t>
            </a:r>
          </a:p>
          <a:p xmlns:a="http://schemas.openxmlformats.org/drawingml/2006/main">
            <a:pPr algn="l">
              <a:defRPr sz="3150" b="1">
                <a:solidFill>
                  <a:srgbClr val="102A43"/>
                </a:solidFill>
                <a:latin typeface="Avenir"/>
                <a:ea typeface="Avenir"/>
                <a:cs typeface="Avenir"/>
              </a:defRPr>
            </a:pPr>
            <a:r>
              <a:rPr sz="3150" b="1">
                <a:solidFill>
                  <a:srgbClr val="102A43"/>
                </a:solidFill>
                <a:latin typeface="Avenir"/>
                <a:ea typeface="Avenir"/>
                <a:cs typeface="Avenir"/>
              </a:rPr>
              <a:t>3D affordance experiments</a:t>
            </a:r>
          </a:p>
        </p:txBody>
      </p:sp>
      <p:sp>
        <p:nvSpPr>
          <p:cNvPr id="5" name="">
            <a:extLst xmlns:a="http://schemas.openxmlformats.org/drawingml/2006/main">
              <a:ext uri="{FF2B5EF4-FFF2-40B4-BE49-F238E27FC236}">
                <a16:creationId xmlns:a16="http://schemas.microsoft.com/office/drawing/2014/main" id="{87E45509-CD32-45ED-A72A-D8FFE4C85ED2}"/>
              </a:ext>
            </a:extLst>
          </p:cNvPr>
          <p:cNvSpPr>
            <a:spLocks xmlns:a="http://schemas.openxmlformats.org/drawingml/2006/main" noGrp="1"/>
          </p:cNvSpPr>
          <p:nvPr/>
        </p:nvSpPr>
        <p:spPr>
          <a:xfrm xmlns:a="http://schemas.openxmlformats.org/drawingml/2006/main">
            <a:off x="762000" y="2181225"/>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72B3A"/>
                </a:solidFill>
                <a:latin typeface="Avenir"/>
                <a:ea typeface="Avenir"/>
                <a:cs typeface="Avenir"/>
              </a:defRPr>
            </a:defPPr>
          </a:lstStyle>
          <a:p xmlns:a="http://schemas.openxmlformats.org/drawingml/2006/main">
            <a:pPr algn="l">
              <a:defRPr sz="1650" b="0">
                <a:solidFill>
                  <a:srgbClr val="172B3A"/>
                </a:solidFill>
                <a:latin typeface="Avenir"/>
                <a:ea typeface="Avenir"/>
                <a:cs typeface="Avenir"/>
              </a:defRPr>
            </a:pPr>
            <a:r>
              <a:rPr sz="1650" b="0">
                <a:solidFill>
                  <a:srgbClr val="172B3A"/>
                </a:solidFill>
                <a:latin typeface="Avenir"/>
                <a:ea typeface="Avenir"/>
                <a:cs typeface="Avenir"/>
              </a:rPr>
              <a:t>And the next question we plan to test</a:t>
            </a:r>
          </a:p>
        </p:txBody>
      </p:sp>
      <p:sp>
        <p:nvSpPr>
          <p:cNvPr id="6" name="">
            <a:extLst xmlns:a="http://schemas.openxmlformats.org/drawingml/2006/main">
              <a:ext uri="{FF2B5EF4-FFF2-40B4-BE49-F238E27FC236}">
                <a16:creationId xmlns:a16="http://schemas.microsoft.com/office/drawing/2014/main" id="{494BD4A1-B527-411B-BCC8-DECC3E21FE26}"/>
              </a:ext>
            </a:extLst>
          </p:cNvPr>
          <p:cNvSpPr>
            <a:spLocks xmlns:a="http://schemas.openxmlformats.org/drawingml/2006/main" noGrp="1"/>
          </p:cNvSpPr>
          <p:nvPr/>
        </p:nvSpPr>
        <p:spPr>
          <a:xfrm xmlns:a="http://schemas.openxmlformats.org/drawingml/2006/main">
            <a:off x="723900" y="5476875"/>
            <a:ext cx="6667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87F38DF6-8127-4B78-84D3-D5A179FF3F36}"/>
              </a:ext>
            </a:extLst>
          </p:cNvPr>
          <p:cNvSpPr>
            <a:spLocks xmlns:a="http://schemas.openxmlformats.org/drawingml/2006/main" noGrp="1"/>
          </p:cNvSpPr>
          <p:nvPr/>
        </p:nvSpPr>
        <p:spPr>
          <a:xfrm xmlns:a="http://schemas.openxmlformats.org/drawingml/2006/main">
            <a:off x="895350" y="5648325"/>
            <a:ext cx="628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2B3A"/>
                </a:solidFill>
                <a:latin typeface="Avenir"/>
                <a:ea typeface="Avenir"/>
                <a:cs typeface="Avenir"/>
              </a:defRPr>
            </a:defPPr>
          </a:lstStyle>
          <a:p xmlns:a="http://schemas.openxmlformats.org/drawingml/2006/main">
            <a:pPr algn="l">
              <a:defRPr sz="1200" b="1">
                <a:solidFill>
                  <a:srgbClr val="172B3A"/>
                </a:solidFill>
                <a:latin typeface="Avenir"/>
                <a:ea typeface="Avenir"/>
                <a:cs typeface="Avenir"/>
              </a:defRPr>
            </a:pPr>
            <a:r>
              <a:rPr sz="1200" b="1">
                <a:solidFill>
                  <a:srgbClr val="172B3A"/>
                </a:solidFill>
                <a:latin typeface="Avenir"/>
                <a:ea typeface="Avenir"/>
                <a:cs typeface="Avenir"/>
              </a:rPr>
              <a:t>Team 7 · Yamin Myat Aung (20233523) · Hakon Maelum (50261597)</a:t>
            </a:r>
          </a:p>
        </p:txBody>
      </p:sp>
      <p:sp>
        <p:nvSpPr>
          <p:cNvPr id="8" name="">
            <a:extLst xmlns:a="http://schemas.openxmlformats.org/drawingml/2006/main">
              <a:ext uri="{FF2B5EF4-FFF2-40B4-BE49-F238E27FC236}">
                <a16:creationId xmlns:a16="http://schemas.microsoft.com/office/drawing/2014/main" id="{98575704-3B5C-4C08-978F-E299A40A6C15}"/>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01 / 12</a:t>
            </a:r>
          </a:p>
        </p:txBody>
      </p:sp>
    </p:spTree>
    <p:extLst>
      <p:ext uri="{BB962C8B-B14F-4D97-AF65-F5344CB8AC3E}">
        <p14:creationId xmlns:p14="http://schemas.microsoft.com/office/powerpoint/2010/main" val="409362784"/>
      </p:ext>
    </p:extLst>
  </p:cSld>
</p:sld>
</file>

<file path=ppt/slides/slide2.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74A3834-B563-4CB1-B719-AF7A3448A540}"/>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1513330B-6344-4FDC-B9E2-E3980AD1E422}"/>
              </a:ext>
            </a:extLst>
          </p:cNvPr>
          <p:cNvPicPr>
            <a:picLocks xmlns:a="http://schemas.openxmlformats.org/drawingml/2006/main" noChangeAspect="1"/>
          </p:cNvPicPr>
          <p:nvPr/>
        </p:nvPicPr>
        <p:blipFill>
          <a:blip xmlns:r="http://schemas.openxmlformats.org/officeDocument/2006/relationships" xmlns:a="http://schemas.openxmlformats.org/drawingml/2006/main" r:embed="R1d6b20fb0b5f4f82"/>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B473FB0-A419-4E42-A18D-E6460A765DA4}"/>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The task is to find which points support an action</a:t>
            </a:r>
          </a:p>
        </p:txBody>
      </p:sp>
      <p:sp>
        <p:nvSpPr>
          <p:cNvPr id="4" name="">
            <a:extLst xmlns:a="http://schemas.openxmlformats.org/drawingml/2006/main">
              <a:ext uri="{FF2B5EF4-FFF2-40B4-BE49-F238E27FC236}">
                <a16:creationId xmlns:a16="http://schemas.microsoft.com/office/drawing/2014/main" id="{B840661F-AE32-47EC-9E5D-E2C8BFD6D917}"/>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D14942-9501-4188-B7B4-4B0156E45BD1}"/>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02 / 12</a:t>
            </a:r>
          </a:p>
        </p:txBody>
      </p:sp>
      <p:sp>
        <p:nvSpPr>
          <p:cNvPr id="6" name="">
            <a:extLst xmlns:a="http://schemas.openxmlformats.org/drawingml/2006/main">
              <a:ext uri="{FF2B5EF4-FFF2-40B4-BE49-F238E27FC236}">
                <a16:creationId xmlns:a16="http://schemas.microsoft.com/office/drawing/2014/main" id="{C0AD5968-3E45-4E35-BCE6-95BE36C7F343}"/>
              </a:ext>
            </a:extLst>
          </p:cNvPr>
          <p:cNvSpPr>
            <a:spLocks xmlns:a="http://schemas.openxmlformats.org/drawingml/2006/main" noGrp="1"/>
          </p:cNvSpPr>
          <p:nvPr/>
        </p:nvSpPr>
        <p:spPr>
          <a:xfrm xmlns:a="http://schemas.openxmlformats.org/drawingml/2006/main">
            <a:off x="609600" y="1619250"/>
            <a:ext cx="10972800"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D158D023-12FD-4F0A-BE31-2B414FCF2D10}"/>
              </a:ext>
            </a:extLst>
          </p:cNvPr>
          <p:cNvSpPr>
            <a:spLocks xmlns:a="http://schemas.openxmlformats.org/drawingml/2006/main" noGrp="1"/>
          </p:cNvSpPr>
          <p:nvPr/>
        </p:nvSpPr>
        <p:spPr>
          <a:xfrm xmlns:a="http://schemas.openxmlformats.org/drawingml/2006/main">
            <a:off x="914400" y="1847850"/>
            <a:ext cx="10477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17F85C75-163B-46C8-8CD8-EA686A868232}"/>
              </a:ext>
            </a:extLst>
          </p:cNvPr>
          <p:cNvSpPr>
            <a:spLocks xmlns:a="http://schemas.openxmlformats.org/drawingml/2006/main" noGrp="1"/>
          </p:cNvSpPr>
          <p:nvPr/>
        </p:nvSpPr>
        <p:spPr>
          <a:xfrm xmlns:a="http://schemas.openxmlformats.org/drawingml/2006/main">
            <a:off x="981075" y="1847850"/>
            <a:ext cx="914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INPUT</a:t>
            </a:r>
          </a:p>
        </p:txBody>
      </p:sp>
      <p:sp>
        <p:nvSpPr>
          <p:cNvPr id="9" name="">
            <a:extLst xmlns:a="http://schemas.openxmlformats.org/drawingml/2006/main">
              <a:ext uri="{FF2B5EF4-FFF2-40B4-BE49-F238E27FC236}">
                <a16:creationId xmlns:a16="http://schemas.microsoft.com/office/drawing/2014/main" id="{1AF027DA-A8AD-4208-B149-AFC76B838A8F}"/>
              </a:ext>
            </a:extLst>
          </p:cNvPr>
          <p:cNvSpPr>
            <a:spLocks xmlns:a="http://schemas.openxmlformats.org/drawingml/2006/main" noGrp="1"/>
          </p:cNvSpPr>
          <p:nvPr/>
        </p:nvSpPr>
        <p:spPr>
          <a:xfrm xmlns:a="http://schemas.openxmlformats.org/drawingml/2006/main">
            <a:off x="914400" y="2419350"/>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3D object point cloud</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about 1,000–2,000 XYZ points</a:t>
            </a:r>
          </a:p>
        </p:txBody>
      </p:sp>
      <p:sp>
        <p:nvSpPr>
          <p:cNvPr id="10" name="">
            <a:extLst xmlns:a="http://schemas.openxmlformats.org/drawingml/2006/main">
              <a:ext uri="{FF2B5EF4-FFF2-40B4-BE49-F238E27FC236}">
                <a16:creationId xmlns:a16="http://schemas.microsoft.com/office/drawing/2014/main" id="{FC85A750-AE27-4942-9E9D-A6C22C474F68}"/>
              </a:ext>
            </a:extLst>
          </p:cNvPr>
          <p:cNvSpPr>
            <a:spLocks xmlns:a="http://schemas.openxmlformats.org/drawingml/2006/main" noGrp="1"/>
          </p:cNvSpPr>
          <p:nvPr/>
        </p:nvSpPr>
        <p:spPr>
          <a:xfrm xmlns:a="http://schemas.openxmlformats.org/drawingml/2006/main">
            <a:off x="5095875" y="2590800"/>
            <a:ext cx="38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850" b="1">
                <a:solidFill>
                  <a:srgbClr val="F2B84B"/>
                </a:solidFill>
                <a:latin typeface="Avenir"/>
                <a:ea typeface="Avenir"/>
                <a:cs typeface="Avenir"/>
              </a:defRPr>
            </a:defPPr>
          </a:lstStyle>
          <a:p xmlns:a="http://schemas.openxmlformats.org/drawingml/2006/main">
            <a:pPr algn="ctr">
              <a:defRPr sz="2850" b="1">
                <a:solidFill>
                  <a:srgbClr val="F2B84B"/>
                </a:solidFill>
                <a:latin typeface="Avenir"/>
                <a:ea typeface="Avenir"/>
                <a:cs typeface="Avenir"/>
              </a:defRPr>
            </a:pPr>
            <a:r>
              <a:rPr sz="2850" b="1">
                <a:solidFill>
                  <a:srgbClr val="F2B84B"/>
                </a:solidFill>
                <a:latin typeface="Avenir"/>
                <a:ea typeface="Avenir"/>
                <a:cs typeface="Avenir"/>
              </a:rPr>
              <a:t>+</a:t>
            </a:r>
          </a:p>
        </p:txBody>
      </p:sp>
      <p:sp>
        <p:nvSpPr>
          <p:cNvPr id="11" name="">
            <a:extLst xmlns:a="http://schemas.openxmlformats.org/drawingml/2006/main">
              <a:ext uri="{FF2B5EF4-FFF2-40B4-BE49-F238E27FC236}">
                <a16:creationId xmlns:a16="http://schemas.microsoft.com/office/drawing/2014/main" id="{BA3C288D-63D0-4757-B2D5-FAC4D5B58133}"/>
              </a:ext>
            </a:extLst>
          </p:cNvPr>
          <p:cNvSpPr>
            <a:spLocks xmlns:a="http://schemas.openxmlformats.org/drawingml/2006/main" noGrp="1"/>
          </p:cNvSpPr>
          <p:nvPr/>
        </p:nvSpPr>
        <p:spPr>
          <a:xfrm xmlns:a="http://schemas.openxmlformats.org/drawingml/2006/main">
            <a:off x="5657850" y="2419350"/>
            <a:ext cx="504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An action in words</a:t>
            </a:r>
          </a:p>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“grasp”, “press”, or “sit on”</a:t>
            </a:r>
          </a:p>
        </p:txBody>
      </p:sp>
      <p:sp>
        <p:nvSpPr>
          <p:cNvPr id="12" name="">
            <a:extLst xmlns:a="http://schemas.openxmlformats.org/drawingml/2006/main">
              <a:ext uri="{FF2B5EF4-FFF2-40B4-BE49-F238E27FC236}">
                <a16:creationId xmlns:a16="http://schemas.microsoft.com/office/drawing/2014/main" id="{9E8C54A5-5E22-48DD-B155-3BCEC39E7F77}"/>
              </a:ext>
            </a:extLst>
          </p:cNvPr>
          <p:cNvSpPr>
            <a:spLocks xmlns:a="http://schemas.openxmlformats.org/drawingml/2006/main" noGrp="1"/>
          </p:cNvSpPr>
          <p:nvPr/>
        </p:nvSpPr>
        <p:spPr>
          <a:xfrm xmlns:a="http://schemas.openxmlformats.org/drawingml/2006/main">
            <a:off x="914400" y="3619500"/>
            <a:ext cx="10363200" cy="9525"/>
          </a:xfrm>
          <a:prstGeom xmlns:a="http://schemas.openxmlformats.org/drawingml/2006/main" prst="rect">
            <a:avLst/>
          </a:prstGeom>
          <a:solidFill xmlns:a="http://schemas.openxmlformats.org/drawingml/2006/main">
            <a:srgbClr val="D7E1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07DF65D-8276-4A91-A082-3828E97E29E5}"/>
              </a:ext>
            </a:extLst>
          </p:cNvPr>
          <p:cNvSpPr>
            <a:spLocks xmlns:a="http://schemas.openxmlformats.org/drawingml/2006/main" noGrp="1"/>
          </p:cNvSpPr>
          <p:nvPr/>
        </p:nvSpPr>
        <p:spPr>
          <a:xfrm xmlns:a="http://schemas.openxmlformats.org/drawingml/2006/main">
            <a:off x="914400" y="3905250"/>
            <a:ext cx="1143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4" name="">
            <a:extLst xmlns:a="http://schemas.openxmlformats.org/drawingml/2006/main">
              <a:ext uri="{FF2B5EF4-FFF2-40B4-BE49-F238E27FC236}">
                <a16:creationId xmlns:a16="http://schemas.microsoft.com/office/drawing/2014/main" id="{8C3D880B-FD57-4593-BC55-9BC115BA3472}"/>
              </a:ext>
            </a:extLst>
          </p:cNvPr>
          <p:cNvSpPr>
            <a:spLocks xmlns:a="http://schemas.openxmlformats.org/drawingml/2006/main" noGrp="1"/>
          </p:cNvSpPr>
          <p:nvPr/>
        </p:nvSpPr>
        <p:spPr>
          <a:xfrm xmlns:a="http://schemas.openxmlformats.org/drawingml/2006/main">
            <a:off x="981075" y="3905250"/>
            <a:ext cx="1009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OUTPUT</a:t>
            </a:r>
          </a:p>
        </p:txBody>
      </p:sp>
      <p:sp>
        <p:nvSpPr>
          <p:cNvPr id="15" name="">
            <a:extLst xmlns:a="http://schemas.openxmlformats.org/drawingml/2006/main">
              <a:ext uri="{FF2B5EF4-FFF2-40B4-BE49-F238E27FC236}">
                <a16:creationId xmlns:a16="http://schemas.microsoft.com/office/drawing/2014/main" id="{0908B66B-4E79-48AC-ADBD-BC87949DF703}"/>
              </a:ext>
            </a:extLst>
          </p:cNvPr>
          <p:cNvSpPr>
            <a:spLocks xmlns:a="http://schemas.openxmlformats.org/drawingml/2006/main" noGrp="1"/>
          </p:cNvSpPr>
          <p:nvPr/>
        </p:nvSpPr>
        <p:spPr>
          <a:xfrm xmlns:a="http://schemas.openxmlformats.org/drawingml/2006/main">
            <a:off x="914400" y="44005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025" b="1">
                <a:solidFill>
                  <a:srgbClr val="102A43"/>
                </a:solidFill>
                <a:latin typeface="Avenir"/>
                <a:ea typeface="Avenir"/>
                <a:cs typeface="Avenir"/>
              </a:defRPr>
            </a:defPPr>
          </a:lstStyle>
          <a:p xmlns:a="http://schemas.openxmlformats.org/drawingml/2006/main">
            <a:pPr algn="l">
              <a:defRPr sz="2025" b="1">
                <a:solidFill>
                  <a:srgbClr val="102A43"/>
                </a:solidFill>
                <a:latin typeface="Avenir"/>
                <a:ea typeface="Avenir"/>
                <a:cs typeface="Avenir"/>
              </a:defRPr>
            </a:pPr>
            <a:r>
              <a:rPr sz="2025" b="1">
                <a:solidFill>
                  <a:srgbClr val="102A43"/>
                </a:solidFill>
                <a:latin typeface="Avenir"/>
                <a:ea typeface="Avenir"/>
                <a:cs typeface="Avenir"/>
              </a:rPr>
              <a:t>A score or label for every point</a:t>
            </a:r>
          </a:p>
        </p:txBody>
      </p:sp>
      <p:sp>
        <p:nvSpPr>
          <p:cNvPr id="16" name="">
            <a:extLst xmlns:a="http://schemas.openxmlformats.org/drawingml/2006/main">
              <a:ext uri="{FF2B5EF4-FFF2-40B4-BE49-F238E27FC236}">
                <a16:creationId xmlns:a16="http://schemas.microsoft.com/office/drawing/2014/main" id="{FF74C647-B8D3-46DC-B9BA-D3A0545C3B57}"/>
              </a:ext>
            </a:extLst>
          </p:cNvPr>
          <p:cNvSpPr>
            <a:spLocks xmlns:a="http://schemas.openxmlformats.org/drawingml/2006/main" noGrp="1"/>
          </p:cNvSpPr>
          <p:nvPr/>
        </p:nvSpPr>
        <p:spPr>
          <a:xfrm xmlns:a="http://schemas.openxmlformats.org/drawingml/2006/main">
            <a:off x="914400" y="501015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26777"/>
                </a:solidFill>
                <a:latin typeface="Avenir"/>
                <a:ea typeface="Avenir"/>
                <a:cs typeface="Avenir"/>
              </a:defRPr>
            </a:defPPr>
          </a:lstStyle>
          <a:p xmlns:a="http://schemas.openxmlformats.org/drawingml/2006/main">
            <a:pPr algn="l">
              <a:defRPr sz="1500" b="0">
                <a:solidFill>
                  <a:srgbClr val="526777"/>
                </a:solidFill>
                <a:latin typeface="Avenir"/>
                <a:ea typeface="Avenir"/>
                <a:cs typeface="Avenir"/>
              </a:defRPr>
            </a:pPr>
            <a:r>
              <a:rPr sz="1500" b="0">
                <a:solidFill>
                  <a:srgbClr val="526777"/>
                </a:solidFill>
                <a:latin typeface="Avenir"/>
                <a:ea typeface="Avenir"/>
                <a:cs typeface="Avenir"/>
              </a:rPr>
              <a:t>The same object can have different parts highlighted for different actions.</a:t>
            </a:r>
          </a:p>
        </p:txBody>
      </p:sp>
      <p:sp>
        <p:nvSpPr>
          <p:cNvPr id="17" name="">
            <a:extLst xmlns:a="http://schemas.openxmlformats.org/drawingml/2006/main">
              <a:ext uri="{FF2B5EF4-FFF2-40B4-BE49-F238E27FC236}">
                <a16:creationId xmlns:a16="http://schemas.microsoft.com/office/drawing/2014/main" id="{0B8C8C14-D523-4FAF-AE17-65DB2C58497A}"/>
              </a:ext>
            </a:extLst>
          </p:cNvPr>
          <p:cNvSpPr>
            <a:spLocks xmlns:a="http://schemas.openxmlformats.org/drawingml/2006/main" noGrp="1"/>
          </p:cNvSpPr>
          <p:nvPr/>
        </p:nvSpPr>
        <p:spPr>
          <a:xfrm xmlns:a="http://schemas.openxmlformats.org/drawingml/2006/main">
            <a:off x="609600" y="567690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72B3A"/>
                </a:solidFill>
                <a:latin typeface="Avenir"/>
                <a:ea typeface="Avenir"/>
                <a:cs typeface="Avenir"/>
              </a:defRPr>
            </a:defPPr>
          </a:lstStyle>
          <a:p xmlns:a="http://schemas.openxmlformats.org/drawingml/2006/main">
            <a:pPr algn="l">
              <a:defRPr sz="1575" b="1">
                <a:solidFill>
                  <a:srgbClr val="172B3A"/>
                </a:solidFill>
                <a:latin typeface="Avenir"/>
                <a:ea typeface="Avenir"/>
                <a:cs typeface="Avenir"/>
              </a:defRPr>
            </a:pPr>
            <a:r>
              <a:rPr sz="1575" b="1">
                <a:solidFill>
                  <a:srgbClr val="172B3A"/>
                </a:solidFill>
                <a:latin typeface="Avenir"/>
                <a:ea typeface="Avenir"/>
                <a:cs typeface="Avenir"/>
              </a:rPr>
              <a:t>Why it is difficult: a partial view may hide the part that matters.</a:t>
            </a:r>
          </a:p>
        </p:txBody>
      </p:sp>
    </p:spTree>
    <p:extLst>
      <p:ext uri="{BB962C8B-B14F-4D97-AF65-F5344CB8AC3E}">
        <p14:creationId xmlns:p14="http://schemas.microsoft.com/office/powerpoint/2010/main" val="739327849"/>
      </p:ext>
    </p:extLst>
  </p:cSld>
</p:sld>
</file>

<file path=ppt/slides/slide3.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250675A-434C-4A37-8757-B7EACA6D4DB5}"/>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9A8FB656-CB9E-40D5-9450-12D4F846B637}"/>
              </a:ext>
            </a:extLst>
          </p:cNvPr>
          <p:cNvPicPr>
            <a:picLocks xmlns:a="http://schemas.openxmlformats.org/drawingml/2006/main" noChangeAspect="1"/>
          </p:cNvPicPr>
          <p:nvPr/>
        </p:nvPicPr>
        <p:blipFill>
          <a:blip xmlns:r="http://schemas.openxmlformats.org/officeDocument/2006/relationships" xmlns:a="http://schemas.openxmlformats.org/drawingml/2006/main" r:embed="Re47c96600bae4fcc"/>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EFB076-4D2D-4BF9-9804-299F3E93472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What we ran: the same OpenAD model on the same data</a:t>
            </a:r>
          </a:p>
        </p:txBody>
      </p:sp>
      <p:sp>
        <p:nvSpPr>
          <p:cNvPr id="4" name="">
            <a:extLst xmlns:a="http://schemas.openxmlformats.org/drawingml/2006/main">
              <a:ext uri="{FF2B5EF4-FFF2-40B4-BE49-F238E27FC236}">
                <a16:creationId xmlns:a16="http://schemas.microsoft.com/office/drawing/2014/main" id="{A91C5E22-D8F1-43A6-B7FB-D5CCC98141C6}"/>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9BC1851-36D8-4CEC-A9C4-46B2D1C922BE}"/>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03 / 12</a:t>
            </a:r>
          </a:p>
        </p:txBody>
      </p:sp>
      <p:sp>
        <p:nvSpPr>
          <p:cNvPr id="6" name="">
            <a:extLst xmlns:a="http://schemas.openxmlformats.org/drawingml/2006/main">
              <a:ext uri="{FF2B5EF4-FFF2-40B4-BE49-F238E27FC236}">
                <a16:creationId xmlns:a16="http://schemas.microsoft.com/office/drawing/2014/main" id="{189AD4C4-E05B-43DA-B476-55E777A96A84}"/>
              </a:ext>
            </a:extLst>
          </p:cNvPr>
          <p:cNvSpPr>
            <a:spLocks xmlns:a="http://schemas.openxmlformats.org/drawingml/2006/main" noGrp="1"/>
          </p:cNvSpPr>
          <p:nvPr/>
        </p:nvSpPr>
        <p:spPr>
          <a:xfrm xmlns:a="http://schemas.openxmlformats.org/drawingml/2006/main">
            <a:off x="609600" y="1619250"/>
            <a:ext cx="51816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F6280C26-747F-4B40-92F8-FF20B77D6FC6}"/>
              </a:ext>
            </a:extLst>
          </p:cNvPr>
          <p:cNvSpPr>
            <a:spLocks xmlns:a="http://schemas.openxmlformats.org/drawingml/2006/main" noGrp="1"/>
          </p:cNvSpPr>
          <p:nvPr/>
        </p:nvSpPr>
        <p:spPr>
          <a:xfrm xmlns:a="http://schemas.openxmlformats.org/drawingml/2006/main">
            <a:off x="85725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OUR BASELINE</a:t>
            </a:r>
          </a:p>
        </p:txBody>
      </p:sp>
      <p:sp>
        <p:nvSpPr>
          <p:cNvPr id="8" name="">
            <a:extLst xmlns:a="http://schemas.openxmlformats.org/drawingml/2006/main">
              <a:ext uri="{FF2B5EF4-FFF2-40B4-BE49-F238E27FC236}">
                <a16:creationId xmlns:a16="http://schemas.microsoft.com/office/drawing/2014/main" id="{B8D0D639-3A20-4D30-951E-7A60E3887824}"/>
              </a:ext>
            </a:extLst>
          </p:cNvPr>
          <p:cNvSpPr>
            <a:spLocks xmlns:a="http://schemas.openxmlformats.org/drawingml/2006/main" noGrp="1"/>
          </p:cNvSpPr>
          <p:nvPr/>
        </p:nvSpPr>
        <p:spPr>
          <a:xfrm xmlns:a="http://schemas.openxmlformats.org/drawingml/2006/main">
            <a:off x="857250" y="2200275"/>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02A43"/>
                </a:solidFill>
                <a:latin typeface="Avenir"/>
                <a:ea typeface="Avenir"/>
                <a:cs typeface="Avenir"/>
              </a:defRPr>
            </a:defPPr>
          </a:lstStyle>
          <a:p xmlns:a="http://schemas.openxmlformats.org/drawingml/2006/main">
            <a:pPr algn="l">
              <a:defRPr sz="2175" b="1">
                <a:solidFill>
                  <a:srgbClr val="102A43"/>
                </a:solidFill>
                <a:latin typeface="Avenir"/>
                <a:ea typeface="Avenir"/>
                <a:cs typeface="Avenir"/>
              </a:defRPr>
            </a:pPr>
            <a:r>
              <a:rPr sz="2175" b="1">
                <a:solidFill>
                  <a:srgbClr val="102A43"/>
                </a:solidFill>
                <a:latin typeface="Avenir"/>
                <a:ea typeface="Avenir"/>
                <a:cs typeface="Avenir"/>
              </a:rPr>
              <a:t>OpenAD PN2</a:t>
            </a:r>
          </a:p>
        </p:txBody>
      </p:sp>
      <p:sp>
        <p:nvSpPr>
          <p:cNvPr id="9" name="">
            <a:extLst xmlns:a="http://schemas.openxmlformats.org/drawingml/2006/main">
              <a:ext uri="{FF2B5EF4-FFF2-40B4-BE49-F238E27FC236}">
                <a16:creationId xmlns:a16="http://schemas.microsoft.com/office/drawing/2014/main" id="{6590C72E-9215-4BD6-8229-4928AF58D2FB}"/>
              </a:ext>
            </a:extLst>
          </p:cNvPr>
          <p:cNvSpPr>
            <a:spLocks xmlns:a="http://schemas.openxmlformats.org/drawingml/2006/main" noGrp="1"/>
          </p:cNvSpPr>
          <p:nvPr/>
        </p:nvSpPr>
        <p:spPr>
          <a:xfrm xmlns:a="http://schemas.openxmlformats.org/drawingml/2006/main">
            <a:off x="857250" y="28003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8A5AE2-5008-44B5-9EE5-BF7709CD9107}"/>
              </a:ext>
            </a:extLst>
          </p:cNvPr>
          <p:cNvSpPr>
            <a:spLocks xmlns:a="http://schemas.openxmlformats.org/drawingml/2006/main" noGrp="1"/>
          </p:cNvSpPr>
          <p:nvPr/>
        </p:nvSpPr>
        <p:spPr>
          <a:xfrm xmlns:a="http://schemas.openxmlformats.org/drawingml/2006/main">
            <a:off x="1085850" y="27146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the released pretrained checkpoint</a:t>
            </a:r>
          </a:p>
        </p:txBody>
      </p:sp>
      <p:sp>
        <p:nvSpPr>
          <p:cNvPr id="11" name="">
            <a:extLst xmlns:a="http://schemas.openxmlformats.org/drawingml/2006/main">
              <a:ext uri="{FF2B5EF4-FFF2-40B4-BE49-F238E27FC236}">
                <a16:creationId xmlns:a16="http://schemas.microsoft.com/office/drawing/2014/main" id="{BF45879E-949A-4A7A-9FAD-0C83FCD9A058}"/>
              </a:ext>
            </a:extLst>
          </p:cNvPr>
          <p:cNvSpPr>
            <a:spLocks xmlns:a="http://schemas.openxmlformats.org/drawingml/2006/main" noGrp="1"/>
          </p:cNvSpPr>
          <p:nvPr/>
        </p:nvSpPr>
        <p:spPr>
          <a:xfrm xmlns:a="http://schemas.openxmlformats.org/drawingml/2006/main">
            <a:off x="857250" y="33528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144A2C-CB5C-4F21-BDEE-2955BC5DE5E7}"/>
              </a:ext>
            </a:extLst>
          </p:cNvPr>
          <p:cNvSpPr>
            <a:spLocks xmlns:a="http://schemas.openxmlformats.org/drawingml/2006/main" noGrp="1"/>
          </p:cNvSpPr>
          <p:nvPr/>
        </p:nvSpPr>
        <p:spPr>
          <a:xfrm xmlns:a="http://schemas.openxmlformats.org/drawingml/2006/main">
            <a:off x="1085850" y="32670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Kept the model weights fixed; no retraining</a:t>
            </a:r>
          </a:p>
        </p:txBody>
      </p:sp>
      <p:sp>
        <p:nvSpPr>
          <p:cNvPr id="13" name="">
            <a:extLst xmlns:a="http://schemas.openxmlformats.org/drawingml/2006/main">
              <a:ext uri="{FF2B5EF4-FFF2-40B4-BE49-F238E27FC236}">
                <a16:creationId xmlns:a16="http://schemas.microsoft.com/office/drawing/2014/main" id="{9075DF29-68D0-4C53-8105-D76221B0BCEF}"/>
              </a:ext>
            </a:extLst>
          </p:cNvPr>
          <p:cNvSpPr>
            <a:spLocks xmlns:a="http://schemas.openxmlformats.org/drawingml/2006/main" noGrp="1"/>
          </p:cNvSpPr>
          <p:nvPr/>
        </p:nvSpPr>
        <p:spPr>
          <a:xfrm xmlns:a="http://schemas.openxmlformats.org/drawingml/2006/main">
            <a:off x="857250" y="390525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F814AC-71DF-4F49-A241-9907A7757E1F}"/>
              </a:ext>
            </a:extLst>
          </p:cNvPr>
          <p:cNvSpPr>
            <a:spLocks xmlns:a="http://schemas.openxmlformats.org/drawingml/2006/main" noGrp="1"/>
          </p:cNvSpPr>
          <p:nvPr/>
        </p:nvSpPr>
        <p:spPr>
          <a:xfrm xmlns:a="http://schemas.openxmlformats.org/drawingml/2006/main">
            <a:off x="1085850" y="381952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Compared training-name and held-out query words</a:t>
            </a:r>
          </a:p>
        </p:txBody>
      </p:sp>
      <p:sp>
        <p:nvSpPr>
          <p:cNvPr id="15" name="">
            <a:extLst xmlns:a="http://schemas.openxmlformats.org/drawingml/2006/main">
              <a:ext uri="{FF2B5EF4-FFF2-40B4-BE49-F238E27FC236}">
                <a16:creationId xmlns:a16="http://schemas.microsoft.com/office/drawing/2014/main" id="{B49D6879-DF42-4497-B8A6-7375ADAACDF0}"/>
              </a:ext>
            </a:extLst>
          </p:cNvPr>
          <p:cNvSpPr>
            <a:spLocks xmlns:a="http://schemas.openxmlformats.org/drawingml/2006/main" noGrp="1"/>
          </p:cNvSpPr>
          <p:nvPr/>
        </p:nvSpPr>
        <p:spPr>
          <a:xfrm xmlns:a="http://schemas.openxmlformats.org/drawingml/2006/main">
            <a:off x="857250" y="4457700"/>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3D1B236-531D-4DF9-99A8-A515602026BE}"/>
              </a:ext>
            </a:extLst>
          </p:cNvPr>
          <p:cNvSpPr>
            <a:spLocks xmlns:a="http://schemas.openxmlformats.org/drawingml/2006/main" noGrp="1"/>
          </p:cNvSpPr>
          <p:nvPr/>
        </p:nvSpPr>
        <p:spPr>
          <a:xfrm xmlns:a="http://schemas.openxmlformats.org/drawingml/2006/main">
            <a:off x="1085850" y="4371975"/>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Adapted evaluation for MPS; weights stayed fixed</a:t>
            </a:r>
          </a:p>
        </p:txBody>
      </p:sp>
      <p:sp>
        <p:nvSpPr>
          <p:cNvPr id="17" name="">
            <a:extLst xmlns:a="http://schemas.openxmlformats.org/drawingml/2006/main">
              <a:ext uri="{FF2B5EF4-FFF2-40B4-BE49-F238E27FC236}">
                <a16:creationId xmlns:a16="http://schemas.microsoft.com/office/drawing/2014/main" id="{C2BCB5A3-BC75-4408-A557-84A79B2BFC0A}"/>
              </a:ext>
            </a:extLst>
          </p:cNvPr>
          <p:cNvSpPr>
            <a:spLocks xmlns:a="http://schemas.openxmlformats.org/drawingml/2006/main" noGrp="1"/>
          </p:cNvSpPr>
          <p:nvPr/>
        </p:nvSpPr>
        <p:spPr>
          <a:xfrm xmlns:a="http://schemas.openxmlformats.org/drawingml/2006/main">
            <a:off x="6057900" y="1619250"/>
            <a:ext cx="5524500" cy="37909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9525">
            <a:solidFill>
              <a:srgbClr val="D7E1E8"/>
            </a:solidFill>
            <a:prstDash val="solid"/>
          </a:ln>
        </p:spPr>
      </p:sp>
      <p:sp>
        <p:nvSpPr>
          <p:cNvPr id="18" name="">
            <a:extLst xmlns:a="http://schemas.openxmlformats.org/drawingml/2006/main">
              <a:ext uri="{FF2B5EF4-FFF2-40B4-BE49-F238E27FC236}">
                <a16:creationId xmlns:a16="http://schemas.microsoft.com/office/drawing/2014/main" id="{C8310E49-029B-4101-B564-71AF49E1AF98}"/>
              </a:ext>
            </a:extLst>
          </p:cNvPr>
          <p:cNvSpPr>
            <a:spLocks xmlns:a="http://schemas.openxmlformats.org/drawingml/2006/main" noGrp="1"/>
          </p:cNvSpPr>
          <p:nvPr/>
        </p:nvSpPr>
        <p:spPr>
          <a:xfrm xmlns:a="http://schemas.openxmlformats.org/drawingml/2006/main">
            <a:off x="6305550" y="1828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3D-AFFORDANCENET VALIDATION</a:t>
            </a:r>
          </a:p>
        </p:txBody>
      </p:sp>
      <p:sp>
        <p:nvSpPr>
          <p:cNvPr id="19" name="">
            <a:extLst xmlns:a="http://schemas.openxmlformats.org/drawingml/2006/main">
              <a:ext uri="{FF2B5EF4-FFF2-40B4-BE49-F238E27FC236}">
                <a16:creationId xmlns:a16="http://schemas.microsoft.com/office/drawing/2014/main" id="{F8C7024A-3BD9-4238-A377-492C95726F36}"/>
              </a:ext>
            </a:extLst>
          </p:cNvPr>
          <p:cNvSpPr>
            <a:spLocks xmlns:a="http://schemas.openxmlformats.org/drawingml/2006/main" noGrp="1"/>
          </p:cNvSpPr>
          <p:nvPr/>
        </p:nvSpPr>
        <p:spPr>
          <a:xfrm xmlns:a="http://schemas.openxmlformats.org/drawingml/2006/main">
            <a:off x="6305550" y="22383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Partial views</a:t>
            </a:r>
          </a:p>
        </p:txBody>
      </p:sp>
      <p:sp>
        <p:nvSpPr>
          <p:cNvPr id="20" name="">
            <a:extLst xmlns:a="http://schemas.openxmlformats.org/drawingml/2006/main">
              <a:ext uri="{FF2B5EF4-FFF2-40B4-BE49-F238E27FC236}">
                <a16:creationId xmlns:a16="http://schemas.microsoft.com/office/drawing/2014/main" id="{A8EF3BCF-EC3A-4AF2-95B6-1B474685CAE8}"/>
              </a:ext>
            </a:extLst>
          </p:cNvPr>
          <p:cNvSpPr>
            <a:spLocks xmlns:a="http://schemas.openxmlformats.org/drawingml/2006/main" noGrp="1"/>
          </p:cNvSpPr>
          <p:nvPr/>
        </p:nvSpPr>
        <p:spPr>
          <a:xfrm xmlns:a="http://schemas.openxmlformats.org/drawingml/2006/main">
            <a:off x="6305550" y="25527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9,140 views from 2,285 objects</a:t>
            </a:r>
          </a:p>
        </p:txBody>
      </p:sp>
      <p:sp>
        <p:nvSpPr>
          <p:cNvPr id="21" name="">
            <a:extLst xmlns:a="http://schemas.openxmlformats.org/drawingml/2006/main">
              <a:ext uri="{FF2B5EF4-FFF2-40B4-BE49-F238E27FC236}">
                <a16:creationId xmlns:a16="http://schemas.microsoft.com/office/drawing/2014/main" id="{1FC4A8DC-B3A8-4DCF-8FFC-FD803150F32A}"/>
              </a:ext>
            </a:extLst>
          </p:cNvPr>
          <p:cNvSpPr>
            <a:spLocks xmlns:a="http://schemas.openxmlformats.org/drawingml/2006/main" noGrp="1"/>
          </p:cNvSpPr>
          <p:nvPr/>
        </p:nvSpPr>
        <p:spPr>
          <a:xfrm xmlns:a="http://schemas.openxmlformats.org/drawingml/2006/main">
            <a:off x="6305550" y="303847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Full shapes</a:t>
            </a:r>
          </a:p>
        </p:txBody>
      </p:sp>
      <p:sp>
        <p:nvSpPr>
          <p:cNvPr id="22" name="">
            <a:extLst xmlns:a="http://schemas.openxmlformats.org/drawingml/2006/main">
              <a:ext uri="{FF2B5EF4-FFF2-40B4-BE49-F238E27FC236}">
                <a16:creationId xmlns:a16="http://schemas.microsoft.com/office/drawing/2014/main" id="{A5132536-B011-4B6F-ABE9-246B08E2F297}"/>
              </a:ext>
            </a:extLst>
          </p:cNvPr>
          <p:cNvSpPr>
            <a:spLocks xmlns:a="http://schemas.openxmlformats.org/drawingml/2006/main" noGrp="1"/>
          </p:cNvSpPr>
          <p:nvPr/>
        </p:nvSpPr>
        <p:spPr>
          <a:xfrm xmlns:a="http://schemas.openxmlformats.org/drawingml/2006/main">
            <a:off x="6305550" y="33528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2,285 complete objects</a:t>
            </a:r>
          </a:p>
        </p:txBody>
      </p:sp>
      <p:sp>
        <p:nvSpPr>
          <p:cNvPr id="23" name="">
            <a:extLst xmlns:a="http://schemas.openxmlformats.org/drawingml/2006/main">
              <a:ext uri="{FF2B5EF4-FFF2-40B4-BE49-F238E27FC236}">
                <a16:creationId xmlns:a16="http://schemas.microsoft.com/office/drawing/2014/main" id="{7DE01C6C-0EAF-435C-925C-DCE29A44CF16}"/>
              </a:ext>
            </a:extLst>
          </p:cNvPr>
          <p:cNvSpPr>
            <a:spLocks xmlns:a="http://schemas.openxmlformats.org/drawingml/2006/main" noGrp="1"/>
          </p:cNvSpPr>
          <p:nvPr/>
        </p:nvSpPr>
        <p:spPr>
          <a:xfrm xmlns:a="http://schemas.openxmlformats.org/drawingml/2006/main">
            <a:off x="6305550" y="38671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02A43"/>
                </a:solidFill>
                <a:latin typeface="Avenir"/>
                <a:ea typeface="Avenir"/>
                <a:cs typeface="Avenir"/>
              </a:defRPr>
            </a:defPPr>
          </a:lstStyle>
          <a:p xmlns:a="http://schemas.openxmlformats.org/drawingml/2006/main">
            <a:pPr algn="l">
              <a:defRPr sz="1350" b="1">
                <a:solidFill>
                  <a:srgbClr val="102A43"/>
                </a:solidFill>
                <a:latin typeface="Avenir"/>
                <a:ea typeface="Avenir"/>
                <a:cs typeface="Avenir"/>
              </a:defRPr>
            </a:pPr>
            <a:r>
              <a:rPr sz="1350" b="1">
                <a:solidFill>
                  <a:srgbClr val="102A43"/>
                </a:solidFill>
                <a:latin typeface="Avenir"/>
                <a:ea typeface="Avenir"/>
                <a:cs typeface="Avenir"/>
              </a:rPr>
              <a:t>One 2,048-point forward pass: 0.546 s</a:t>
            </a:r>
          </a:p>
        </p:txBody>
      </p:sp>
      <p:sp>
        <p:nvSpPr>
          <p:cNvPr id="24" name="">
            <a:extLst xmlns:a="http://schemas.openxmlformats.org/drawingml/2006/main">
              <a:ext uri="{FF2B5EF4-FFF2-40B4-BE49-F238E27FC236}">
                <a16:creationId xmlns:a16="http://schemas.microsoft.com/office/drawing/2014/main" id="{303FD28A-8FE0-4533-A57F-02250581D16C}"/>
              </a:ext>
            </a:extLst>
          </p:cNvPr>
          <p:cNvSpPr>
            <a:spLocks xmlns:a="http://schemas.openxmlformats.org/drawingml/2006/main" noGrp="1"/>
          </p:cNvSpPr>
          <p:nvPr/>
        </p:nvSpPr>
        <p:spPr>
          <a:xfrm xmlns:a="http://schemas.openxmlformats.org/drawingml/2006/main">
            <a:off x="6305550" y="4191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~1.295 GiB sampled Metal allocation¹</a:t>
            </a:r>
          </a:p>
        </p:txBody>
      </p:sp>
      <p:sp>
        <p:nvSpPr>
          <p:cNvPr id="25" name="">
            <a:extLst xmlns:a="http://schemas.openxmlformats.org/drawingml/2006/main">
              <a:ext uri="{FF2B5EF4-FFF2-40B4-BE49-F238E27FC236}">
                <a16:creationId xmlns:a16="http://schemas.microsoft.com/office/drawing/2014/main" id="{F57D77A5-DA5F-4266-BDEA-1F2DEB404007}"/>
              </a:ext>
            </a:extLst>
          </p:cNvPr>
          <p:cNvSpPr>
            <a:spLocks xmlns:a="http://schemas.openxmlformats.org/drawingml/2006/main" noGrp="1"/>
          </p:cNvSpPr>
          <p:nvPr/>
        </p:nvSpPr>
        <p:spPr>
          <a:xfrm xmlns:a="http://schemas.openxmlformats.org/drawingml/2006/main">
            <a:off x="6305550" y="459105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526777"/>
                </a:solidFill>
                <a:latin typeface="Avenir"/>
                <a:ea typeface="Avenir"/>
                <a:cs typeface="Avenir"/>
              </a:defRPr>
            </a:defPPr>
          </a:lstStyle>
          <a:p xmlns:a="http://schemas.openxmlformats.org/drawingml/2006/main">
            <a:pPr algn="l">
              <a:defRPr sz="1125" b="0">
                <a:solidFill>
                  <a:srgbClr val="526777"/>
                </a:solidFill>
                <a:latin typeface="Avenir"/>
                <a:ea typeface="Avenir"/>
                <a:cs typeface="Avenir"/>
              </a:defRPr>
            </a:pPr>
            <a:r>
              <a:rPr sz="1125" b="0">
                <a:solidFill>
                  <a:srgbClr val="526777"/>
                </a:solidFill>
                <a:latin typeface="Avenir"/>
                <a:ea typeface="Avenir"/>
                <a:cs typeface="Avenir"/>
              </a:rPr>
              <a:t>¹5 ms sampling on unified memory; not a separate VRAM peak.</a:t>
            </a:r>
          </a:p>
        </p:txBody>
      </p:sp>
      <p:sp>
        <p:nvSpPr>
          <p:cNvPr id="26" name="">
            <a:extLst xmlns:a="http://schemas.openxmlformats.org/drawingml/2006/main">
              <a:ext uri="{FF2B5EF4-FFF2-40B4-BE49-F238E27FC236}">
                <a16:creationId xmlns:a16="http://schemas.microsoft.com/office/drawing/2014/main" id="{179835D6-910B-43C0-8478-FED5C9736423}"/>
              </a:ext>
            </a:extLst>
          </p:cNvPr>
          <p:cNvSpPr>
            <a:spLocks xmlns:a="http://schemas.openxmlformats.org/drawingml/2006/main" noGrp="1"/>
          </p:cNvSpPr>
          <p:nvPr/>
        </p:nvSpPr>
        <p:spPr>
          <a:xfrm xmlns:a="http://schemas.openxmlformats.org/drawingml/2006/main">
            <a:off x="609600" y="5667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526777"/>
                </a:solidFill>
                <a:latin typeface="Avenir"/>
                <a:ea typeface="Avenir"/>
                <a:cs typeface="Avenir"/>
              </a:defRPr>
            </a:defPPr>
          </a:lstStyle>
          <a:p xmlns:a="http://schemas.openxmlformats.org/drawingml/2006/main">
            <a:pPr algn="l">
              <a:defRPr sz="1200" b="0">
                <a:solidFill>
                  <a:srgbClr val="526777"/>
                </a:solidFill>
                <a:latin typeface="Avenir"/>
                <a:ea typeface="Avenir"/>
                <a:cs typeface="Avenir"/>
              </a:defRPr>
            </a:pPr>
            <a:r>
              <a:rPr sz="1200" b="0">
                <a:solidFill>
                  <a:srgbClr val="526777"/>
                </a:solidFill>
                <a:latin typeface="Avenir"/>
                <a:ea typeface="Avenir"/>
                <a:cs typeface="Avenir"/>
              </a:rPr>
              <a:t>OpenAD PN2 checkpoint SHA-256: cbcfe9ff…8210f2ae · MPS-compatible evaluation</a:t>
            </a:r>
          </a:p>
        </p:txBody>
      </p:sp>
    </p:spTree>
    <p:extLst>
      <p:ext uri="{BB962C8B-B14F-4D97-AF65-F5344CB8AC3E}">
        <p14:creationId xmlns:p14="http://schemas.microsoft.com/office/powerpoint/2010/main" val="383630917"/>
      </p:ext>
    </p:extLst>
  </p:cSld>
</p:sld>
</file>

<file path=ppt/slides/slide4.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7E0C2107-5767-4E32-9D92-F65B89966ACA}"/>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0B41A5A4-C103-470C-9A57-F92C1199597E}"/>
              </a:ext>
            </a:extLst>
          </p:cNvPr>
          <p:cNvPicPr>
            <a:picLocks xmlns:a="http://schemas.openxmlformats.org/drawingml/2006/main" noChangeAspect="1"/>
          </p:cNvPicPr>
          <p:nvPr/>
        </p:nvPicPr>
        <p:blipFill>
          <a:blip xmlns:r="http://schemas.openxmlformats.org/officeDocument/2006/relationships" xmlns:a="http://schemas.openxmlformats.org/drawingml/2006/main" r:embed="R357491d3fefd4e67"/>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398A527-EE11-4473-94FF-CD6166824C2D}"/>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Changing the query words changed the baseline scores</a:t>
            </a:r>
          </a:p>
        </p:txBody>
      </p:sp>
      <p:sp>
        <p:nvSpPr>
          <p:cNvPr id="4" name="">
            <a:extLst xmlns:a="http://schemas.openxmlformats.org/drawingml/2006/main">
              <a:ext uri="{FF2B5EF4-FFF2-40B4-BE49-F238E27FC236}">
                <a16:creationId xmlns:a16="http://schemas.microsoft.com/office/drawing/2014/main" id="{B81D25C6-24B6-495F-B728-B3634CD42D84}"/>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A03DC02-B429-4DA9-B9E5-DE41D2A15B3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04 / 12</a:t>
            </a:r>
          </a:p>
        </p:txBody>
      </p:sp>
      <p:sp>
        <p:nvSpPr>
          <p:cNvPr id="6" name="">
            <a:extLst xmlns:a="http://schemas.openxmlformats.org/drawingml/2006/main">
              <a:ext uri="{FF2B5EF4-FFF2-40B4-BE49-F238E27FC236}">
                <a16:creationId xmlns:a16="http://schemas.microsoft.com/office/drawing/2014/main" id="{DE10BE42-06AE-48C6-A1C7-0F3FF63258C9}"/>
              </a:ext>
            </a:extLst>
          </p:cNvPr>
          <p:cNvSpPr>
            <a:spLocks xmlns:a="http://schemas.openxmlformats.org/drawingml/2006/main" noGrp="1"/>
          </p:cNvSpPr>
          <p:nvPr/>
        </p:nvSpPr>
        <p:spPr>
          <a:xfrm xmlns:a="http://schemas.openxmlformats.org/drawingml/2006/main">
            <a:off x="609600" y="14763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777"/>
                </a:solidFill>
                <a:latin typeface="Avenir"/>
                <a:ea typeface="Avenir"/>
                <a:cs typeface="Avenir"/>
              </a:defRPr>
            </a:defPPr>
          </a:lstStyle>
          <a:p xmlns:a="http://schemas.openxmlformats.org/drawingml/2006/main">
            <a:pPr algn="l">
              <a:defRPr sz="1425" b="0">
                <a:solidFill>
                  <a:srgbClr val="526777"/>
                </a:solidFill>
                <a:latin typeface="Avenir"/>
                <a:ea typeface="Avenir"/>
                <a:cs typeface="Avenir"/>
              </a:defRPr>
            </a:pPr>
            <a:r>
              <a:rPr sz="1425" b="0">
                <a:solidFill>
                  <a:srgbClr val="526777"/>
                </a:solidFill>
                <a:latin typeface="Avenir"/>
                <a:ea typeface="Avenir"/>
                <a:cs typeface="Avenir"/>
              </a:rPr>
              <a:t>Same checkpoint and point clouds; only the query vocabulary changed.</a:t>
            </a:r>
          </a:p>
        </p:txBody>
      </p:sp>
      <p:sp>
        <p:nvSpPr>
          <p:cNvPr id="7" name="">
            <a:extLst xmlns:a="http://schemas.openxmlformats.org/drawingml/2006/main">
              <a:ext uri="{FF2B5EF4-FFF2-40B4-BE49-F238E27FC236}">
                <a16:creationId xmlns:a16="http://schemas.microsoft.com/office/drawing/2014/main" id="{E5A4C4F7-F4C7-4FC0-924E-99E82A17ABB9}"/>
              </a:ext>
            </a:extLst>
          </p:cNvPr>
          <p:cNvSpPr>
            <a:spLocks xmlns:a="http://schemas.openxmlformats.org/drawingml/2006/main" noGrp="1"/>
          </p:cNvSpPr>
          <p:nvPr/>
        </p:nvSpPr>
        <p:spPr>
          <a:xfrm xmlns:a="http://schemas.openxmlformats.org/drawingml/2006/main">
            <a:off x="609600" y="191452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MEAN POINT-WISE IoU¹</a:t>
            </a:r>
          </a:p>
        </p:txBody>
      </p:sp>
      <p:sp>
        <p:nvSpPr>
          <p:cNvPr id="8" name="">
            <a:extLst xmlns:a="http://schemas.openxmlformats.org/drawingml/2006/main">
              <a:ext uri="{FF2B5EF4-FFF2-40B4-BE49-F238E27FC236}">
                <a16:creationId xmlns:a16="http://schemas.microsoft.com/office/drawing/2014/main" id="{CEA58986-24CD-4EC7-88DE-F3B258BBD321}"/>
              </a:ext>
            </a:extLst>
          </p:cNvPr>
          <p:cNvSpPr>
            <a:spLocks xmlns:a="http://schemas.openxmlformats.org/drawingml/2006/main" noGrp="1"/>
          </p:cNvSpPr>
          <p:nvPr/>
        </p:nvSpPr>
        <p:spPr>
          <a:xfrm xmlns:a="http://schemas.openxmlformats.org/drawingml/2006/main">
            <a:off x="3924300" y="1885950"/>
            <a:ext cx="28575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9" name="">
            <a:extLst xmlns:a="http://schemas.openxmlformats.org/drawingml/2006/main">
              <a:ext uri="{FF2B5EF4-FFF2-40B4-BE49-F238E27FC236}">
                <a16:creationId xmlns:a16="http://schemas.microsoft.com/office/drawing/2014/main" id="{6B582AAD-5990-430C-BCC2-4683DDABDC3A}"/>
              </a:ext>
            </a:extLst>
          </p:cNvPr>
          <p:cNvSpPr>
            <a:spLocks xmlns:a="http://schemas.openxmlformats.org/drawingml/2006/main" noGrp="1"/>
          </p:cNvSpPr>
          <p:nvPr/>
        </p:nvSpPr>
        <p:spPr>
          <a:xfrm xmlns:a="http://schemas.openxmlformats.org/drawingml/2006/main">
            <a:off x="3990975" y="18859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TRAINING-NAME QUERIES</a:t>
            </a:r>
          </a:p>
        </p:txBody>
      </p:sp>
      <p:sp>
        <p:nvSpPr>
          <p:cNvPr id="10" name="">
            <a:extLst xmlns:a="http://schemas.openxmlformats.org/drawingml/2006/main">
              <a:ext uri="{FF2B5EF4-FFF2-40B4-BE49-F238E27FC236}">
                <a16:creationId xmlns:a16="http://schemas.microsoft.com/office/drawing/2014/main" id="{977A28E3-36B2-4E94-868E-F8474B063F04}"/>
              </a:ext>
            </a:extLst>
          </p:cNvPr>
          <p:cNvSpPr>
            <a:spLocks xmlns:a="http://schemas.openxmlformats.org/drawingml/2006/main" noGrp="1"/>
          </p:cNvSpPr>
          <p:nvPr/>
        </p:nvSpPr>
        <p:spPr>
          <a:xfrm xmlns:a="http://schemas.openxmlformats.org/drawingml/2006/main">
            <a:off x="7734300" y="1885950"/>
            <a:ext cx="3048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491BEF2B-2486-4D2B-8FA5-FB26CE7C99DD}"/>
              </a:ext>
            </a:extLst>
          </p:cNvPr>
          <p:cNvSpPr>
            <a:spLocks xmlns:a="http://schemas.openxmlformats.org/drawingml/2006/main" noGrp="1"/>
          </p:cNvSpPr>
          <p:nvPr/>
        </p:nvSpPr>
        <p:spPr>
          <a:xfrm xmlns:a="http://schemas.openxmlformats.org/drawingml/2006/main">
            <a:off x="7800975" y="188595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HELD-OUT QUERY NAMES</a:t>
            </a:r>
          </a:p>
        </p:txBody>
      </p:sp>
      <p:sp>
        <p:nvSpPr>
          <p:cNvPr id="12" name="">
            <a:extLst xmlns:a="http://schemas.openxmlformats.org/drawingml/2006/main">
              <a:ext uri="{FF2B5EF4-FFF2-40B4-BE49-F238E27FC236}">
                <a16:creationId xmlns:a16="http://schemas.microsoft.com/office/drawing/2014/main" id="{9689FB62-C480-4865-A0E6-652726748B67}"/>
              </a:ext>
            </a:extLst>
          </p:cNvPr>
          <p:cNvSpPr>
            <a:spLocks xmlns:a="http://schemas.openxmlformats.org/drawingml/2006/main" noGrp="1"/>
          </p:cNvSpPr>
          <p:nvPr/>
        </p:nvSpPr>
        <p:spPr>
          <a:xfrm xmlns:a="http://schemas.openxmlformats.org/drawingml/2006/main">
            <a:off x="609600" y="235267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13" name="">
            <a:extLst xmlns:a="http://schemas.openxmlformats.org/drawingml/2006/main">
              <a:ext uri="{FF2B5EF4-FFF2-40B4-BE49-F238E27FC236}">
                <a16:creationId xmlns:a16="http://schemas.microsoft.com/office/drawing/2014/main" id="{7B539D25-8E22-451F-BD79-E7C764D8932E}"/>
              </a:ext>
            </a:extLst>
          </p:cNvPr>
          <p:cNvSpPr>
            <a:spLocks xmlns:a="http://schemas.openxmlformats.org/drawingml/2006/main" noGrp="1"/>
          </p:cNvSpPr>
          <p:nvPr/>
        </p:nvSpPr>
        <p:spPr>
          <a:xfrm xmlns:a="http://schemas.openxmlformats.org/drawingml/2006/main">
            <a:off x="8001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18 actions</a:t>
            </a:r>
          </a:p>
        </p:txBody>
      </p:sp>
      <p:sp>
        <p:nvSpPr>
          <p:cNvPr id="14" name="">
            <a:extLst xmlns:a="http://schemas.openxmlformats.org/drawingml/2006/main">
              <a:ext uri="{FF2B5EF4-FFF2-40B4-BE49-F238E27FC236}">
                <a16:creationId xmlns:a16="http://schemas.microsoft.com/office/drawing/2014/main" id="{AFFC7714-11A2-41D4-BAF1-B9C59888EBEC}"/>
              </a:ext>
            </a:extLst>
          </p:cNvPr>
          <p:cNvSpPr>
            <a:spLocks xmlns:a="http://schemas.openxmlformats.org/drawingml/2006/main" noGrp="1"/>
          </p:cNvSpPr>
          <p:nvPr/>
        </p:nvSpPr>
        <p:spPr>
          <a:xfrm xmlns:a="http://schemas.openxmlformats.org/drawingml/2006/main">
            <a:off x="3924300" y="235267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40.39%</a:t>
            </a:r>
          </a:p>
        </p:txBody>
      </p:sp>
      <p:sp>
        <p:nvSpPr>
          <p:cNvPr id="15" name="">
            <a:extLst xmlns:a="http://schemas.openxmlformats.org/drawingml/2006/main">
              <a:ext uri="{FF2B5EF4-FFF2-40B4-BE49-F238E27FC236}">
                <a16:creationId xmlns:a16="http://schemas.microsoft.com/office/drawing/2014/main" id="{709FF8E9-F138-497A-8C55-A07493C13F39}"/>
              </a:ext>
            </a:extLst>
          </p:cNvPr>
          <p:cNvSpPr>
            <a:spLocks xmlns:a="http://schemas.openxmlformats.org/drawingml/2006/main" noGrp="1"/>
          </p:cNvSpPr>
          <p:nvPr/>
        </p:nvSpPr>
        <p:spPr>
          <a:xfrm xmlns:a="http://schemas.openxmlformats.org/drawingml/2006/main">
            <a:off x="7734300" y="23526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10.77%</a:t>
            </a:r>
          </a:p>
        </p:txBody>
      </p:sp>
      <p:sp>
        <p:nvSpPr>
          <p:cNvPr id="16" name="">
            <a:extLst xmlns:a="http://schemas.openxmlformats.org/drawingml/2006/main">
              <a:ext uri="{FF2B5EF4-FFF2-40B4-BE49-F238E27FC236}">
                <a16:creationId xmlns:a16="http://schemas.microsoft.com/office/drawing/2014/main" id="{CD00FA96-6A17-4D79-B5F7-9A28EFFEA545}"/>
              </a:ext>
            </a:extLst>
          </p:cNvPr>
          <p:cNvSpPr>
            <a:spLocks xmlns:a="http://schemas.openxmlformats.org/drawingml/2006/main" noGrp="1"/>
          </p:cNvSpPr>
          <p:nvPr/>
        </p:nvSpPr>
        <p:spPr>
          <a:xfrm xmlns:a="http://schemas.openxmlformats.org/drawingml/2006/main">
            <a:off x="8001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Partial views · incl. “none”</a:t>
            </a:r>
          </a:p>
        </p:txBody>
      </p:sp>
      <p:sp>
        <p:nvSpPr>
          <p:cNvPr id="17" name="">
            <a:extLst xmlns:a="http://schemas.openxmlformats.org/drawingml/2006/main">
              <a:ext uri="{FF2B5EF4-FFF2-40B4-BE49-F238E27FC236}">
                <a16:creationId xmlns:a16="http://schemas.microsoft.com/office/drawing/2014/main" id="{B3C9A294-709B-40D6-89C9-02BF92931805}"/>
              </a:ext>
            </a:extLst>
          </p:cNvPr>
          <p:cNvSpPr>
            <a:spLocks xmlns:a="http://schemas.openxmlformats.org/drawingml/2006/main" noGrp="1"/>
          </p:cNvSpPr>
          <p:nvPr/>
        </p:nvSpPr>
        <p:spPr>
          <a:xfrm xmlns:a="http://schemas.openxmlformats.org/drawingml/2006/main">
            <a:off x="3924300" y="3028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41.45%</a:t>
            </a:r>
          </a:p>
        </p:txBody>
      </p:sp>
      <p:sp>
        <p:nvSpPr>
          <p:cNvPr id="18" name="">
            <a:extLst xmlns:a="http://schemas.openxmlformats.org/drawingml/2006/main">
              <a:ext uri="{FF2B5EF4-FFF2-40B4-BE49-F238E27FC236}">
                <a16:creationId xmlns:a16="http://schemas.microsoft.com/office/drawing/2014/main" id="{FBE8F7BA-085E-4D0F-B1F1-F11829CCFBF9}"/>
              </a:ext>
            </a:extLst>
          </p:cNvPr>
          <p:cNvSpPr>
            <a:spLocks xmlns:a="http://schemas.openxmlformats.org/drawingml/2006/main" noGrp="1"/>
          </p:cNvSpPr>
          <p:nvPr/>
        </p:nvSpPr>
        <p:spPr>
          <a:xfrm xmlns:a="http://schemas.openxmlformats.org/drawingml/2006/main">
            <a:off x="7734300" y="30289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12.53%</a:t>
            </a:r>
          </a:p>
        </p:txBody>
      </p:sp>
      <p:sp>
        <p:nvSpPr>
          <p:cNvPr id="19" name="">
            <a:extLst xmlns:a="http://schemas.openxmlformats.org/drawingml/2006/main">
              <a:ext uri="{FF2B5EF4-FFF2-40B4-BE49-F238E27FC236}">
                <a16:creationId xmlns:a16="http://schemas.microsoft.com/office/drawing/2014/main" id="{62C418EC-A157-4C5E-912F-3A13C4AD6180}"/>
              </a:ext>
            </a:extLst>
          </p:cNvPr>
          <p:cNvSpPr>
            <a:spLocks xmlns:a="http://schemas.openxmlformats.org/drawingml/2006/main" noGrp="1"/>
          </p:cNvSpPr>
          <p:nvPr/>
        </p:nvSpPr>
        <p:spPr>
          <a:xfrm xmlns:a="http://schemas.openxmlformats.org/drawingml/2006/main">
            <a:off x="609600" y="3705225"/>
            <a:ext cx="1097280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9525">
            <a:solidFill>
              <a:srgbClr val="D7E1E8"/>
            </a:solidFill>
            <a:prstDash val="solid"/>
          </a:ln>
        </p:spPr>
      </p:sp>
      <p:sp>
        <p:nvSpPr>
          <p:cNvPr id="20" name="">
            <a:extLst xmlns:a="http://schemas.openxmlformats.org/drawingml/2006/main">
              <a:ext uri="{FF2B5EF4-FFF2-40B4-BE49-F238E27FC236}">
                <a16:creationId xmlns:a16="http://schemas.microsoft.com/office/drawing/2014/main" id="{D9730861-A423-4B51-85EE-EA94EA4FC147}"/>
              </a:ext>
            </a:extLst>
          </p:cNvPr>
          <p:cNvSpPr>
            <a:spLocks xmlns:a="http://schemas.openxmlformats.org/drawingml/2006/main" noGrp="1"/>
          </p:cNvSpPr>
          <p:nvPr/>
        </p:nvSpPr>
        <p:spPr>
          <a:xfrm xmlns:a="http://schemas.openxmlformats.org/drawingml/2006/main">
            <a:off x="8001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18 actions</a:t>
            </a:r>
          </a:p>
        </p:txBody>
      </p:sp>
      <p:sp>
        <p:nvSpPr>
          <p:cNvPr id="21" name="">
            <a:extLst xmlns:a="http://schemas.openxmlformats.org/drawingml/2006/main">
              <a:ext uri="{FF2B5EF4-FFF2-40B4-BE49-F238E27FC236}">
                <a16:creationId xmlns:a16="http://schemas.microsoft.com/office/drawing/2014/main" id="{47FEDE10-5941-464A-932A-54B859CF5BD7}"/>
              </a:ext>
            </a:extLst>
          </p:cNvPr>
          <p:cNvSpPr>
            <a:spLocks xmlns:a="http://schemas.openxmlformats.org/drawingml/2006/main" noGrp="1"/>
          </p:cNvSpPr>
          <p:nvPr/>
        </p:nvSpPr>
        <p:spPr>
          <a:xfrm xmlns:a="http://schemas.openxmlformats.org/drawingml/2006/main">
            <a:off x="3924300" y="37052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35.18%</a:t>
            </a:r>
          </a:p>
        </p:txBody>
      </p:sp>
      <p:sp>
        <p:nvSpPr>
          <p:cNvPr id="22" name="">
            <a:extLst xmlns:a="http://schemas.openxmlformats.org/drawingml/2006/main">
              <a:ext uri="{FF2B5EF4-FFF2-40B4-BE49-F238E27FC236}">
                <a16:creationId xmlns:a16="http://schemas.microsoft.com/office/drawing/2014/main" id="{7311921D-E99D-4015-B95F-C1AAE2C58B7D}"/>
              </a:ext>
            </a:extLst>
          </p:cNvPr>
          <p:cNvSpPr>
            <a:spLocks xmlns:a="http://schemas.openxmlformats.org/drawingml/2006/main" noGrp="1"/>
          </p:cNvSpPr>
          <p:nvPr/>
        </p:nvSpPr>
        <p:spPr>
          <a:xfrm xmlns:a="http://schemas.openxmlformats.org/drawingml/2006/main">
            <a:off x="7734300" y="37052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7.87%</a:t>
            </a:r>
          </a:p>
        </p:txBody>
      </p:sp>
      <p:sp>
        <p:nvSpPr>
          <p:cNvPr id="23" name="">
            <a:extLst xmlns:a="http://schemas.openxmlformats.org/drawingml/2006/main">
              <a:ext uri="{FF2B5EF4-FFF2-40B4-BE49-F238E27FC236}">
                <a16:creationId xmlns:a16="http://schemas.microsoft.com/office/drawing/2014/main" id="{C253A7D8-7E53-41D5-B96B-1EF47206C2E2}"/>
              </a:ext>
            </a:extLst>
          </p:cNvPr>
          <p:cNvSpPr>
            <a:spLocks xmlns:a="http://schemas.openxmlformats.org/drawingml/2006/main" noGrp="1"/>
          </p:cNvSpPr>
          <p:nvPr/>
        </p:nvSpPr>
        <p:spPr>
          <a:xfrm xmlns:a="http://schemas.openxmlformats.org/drawingml/2006/main">
            <a:off x="8001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72B3A"/>
                </a:solidFill>
                <a:latin typeface="Avenir"/>
                <a:ea typeface="Avenir"/>
                <a:cs typeface="Avenir"/>
              </a:defRPr>
            </a:defPPr>
          </a:lstStyle>
          <a:p xmlns:a="http://schemas.openxmlformats.org/drawingml/2006/main">
            <a:pPr algn="l">
              <a:defRPr sz="1425" b="1">
                <a:solidFill>
                  <a:srgbClr val="172B3A"/>
                </a:solidFill>
                <a:latin typeface="Avenir"/>
                <a:ea typeface="Avenir"/>
                <a:cs typeface="Avenir"/>
              </a:defRPr>
            </a:pPr>
            <a:r>
              <a:rPr sz="1425" b="1">
                <a:solidFill>
                  <a:srgbClr val="172B3A"/>
                </a:solidFill>
                <a:latin typeface="Avenir"/>
                <a:ea typeface="Avenir"/>
                <a:cs typeface="Avenir"/>
              </a:rPr>
              <a:t>Full shapes · incl. “none”</a:t>
            </a:r>
          </a:p>
        </p:txBody>
      </p:sp>
      <p:sp>
        <p:nvSpPr>
          <p:cNvPr id="24" name="">
            <a:extLst xmlns:a="http://schemas.openxmlformats.org/drawingml/2006/main">
              <a:ext uri="{FF2B5EF4-FFF2-40B4-BE49-F238E27FC236}">
                <a16:creationId xmlns:a16="http://schemas.microsoft.com/office/drawing/2014/main" id="{F8AAE668-5BD7-4D7E-9BDF-CD9D2CA2F110}"/>
              </a:ext>
            </a:extLst>
          </p:cNvPr>
          <p:cNvSpPr>
            <a:spLocks xmlns:a="http://schemas.openxmlformats.org/drawingml/2006/main" noGrp="1"/>
          </p:cNvSpPr>
          <p:nvPr/>
        </p:nvSpPr>
        <p:spPr>
          <a:xfrm xmlns:a="http://schemas.openxmlformats.org/drawingml/2006/main">
            <a:off x="3924300" y="4381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67DAD"/>
                </a:solidFill>
                <a:latin typeface="Avenir"/>
                <a:ea typeface="Avenir"/>
                <a:cs typeface="Avenir"/>
              </a:defRPr>
            </a:defPPr>
          </a:lstStyle>
          <a:p xmlns:a="http://schemas.openxmlformats.org/drawingml/2006/main">
            <a:pPr algn="ctr">
              <a:defRPr sz="1650" b="1">
                <a:solidFill>
                  <a:srgbClr val="167DAD"/>
                </a:solidFill>
                <a:latin typeface="Avenir"/>
                <a:ea typeface="Avenir"/>
                <a:cs typeface="Avenir"/>
              </a:defRPr>
            </a:pPr>
            <a:r>
              <a:rPr sz="1650" b="1">
                <a:solidFill>
                  <a:srgbClr val="167DAD"/>
                </a:solidFill>
                <a:latin typeface="Avenir"/>
                <a:ea typeface="Avenir"/>
                <a:cs typeface="Avenir"/>
              </a:rPr>
              <a:t>36.18%</a:t>
            </a:r>
          </a:p>
        </p:txBody>
      </p:sp>
      <p:sp>
        <p:nvSpPr>
          <p:cNvPr id="25" name="">
            <a:extLst xmlns:a="http://schemas.openxmlformats.org/drawingml/2006/main">
              <a:ext uri="{FF2B5EF4-FFF2-40B4-BE49-F238E27FC236}">
                <a16:creationId xmlns:a16="http://schemas.microsoft.com/office/drawing/2014/main" id="{39E62B70-CCAE-4BD2-A741-2EF658EEAFF7}"/>
              </a:ext>
            </a:extLst>
          </p:cNvPr>
          <p:cNvSpPr>
            <a:spLocks xmlns:a="http://schemas.openxmlformats.org/drawingml/2006/main" noGrp="1"/>
          </p:cNvSpPr>
          <p:nvPr/>
        </p:nvSpPr>
        <p:spPr>
          <a:xfrm xmlns:a="http://schemas.openxmlformats.org/drawingml/2006/main">
            <a:off x="7734300" y="43815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02A43"/>
                </a:solidFill>
                <a:latin typeface="Avenir"/>
                <a:ea typeface="Avenir"/>
                <a:cs typeface="Avenir"/>
              </a:defRPr>
            </a:defPPr>
          </a:lstStyle>
          <a:p xmlns:a="http://schemas.openxmlformats.org/drawingml/2006/main">
            <a:pPr algn="ctr">
              <a:defRPr sz="1650" b="1">
                <a:solidFill>
                  <a:srgbClr val="102A43"/>
                </a:solidFill>
                <a:latin typeface="Avenir"/>
                <a:ea typeface="Avenir"/>
                <a:cs typeface="Avenir"/>
              </a:defRPr>
            </a:pPr>
            <a:r>
              <a:rPr sz="1650" b="1">
                <a:solidFill>
                  <a:srgbClr val="102A43"/>
                </a:solidFill>
                <a:latin typeface="Avenir"/>
                <a:ea typeface="Avenir"/>
                <a:cs typeface="Avenir"/>
              </a:rPr>
              <a:t>9.76%</a:t>
            </a:r>
          </a:p>
        </p:txBody>
      </p:sp>
      <p:sp>
        <p:nvSpPr>
          <p:cNvPr id="26" name="">
            <a:extLst xmlns:a="http://schemas.openxmlformats.org/drawingml/2006/main">
              <a:ext uri="{FF2B5EF4-FFF2-40B4-BE49-F238E27FC236}">
                <a16:creationId xmlns:a16="http://schemas.microsoft.com/office/drawing/2014/main" id="{E40AA582-9FB6-4E9F-A608-5532F36BC7CB}"/>
              </a:ext>
            </a:extLst>
          </p:cNvPr>
          <p:cNvSpPr>
            <a:spLocks xmlns:a="http://schemas.openxmlformats.org/drawingml/2006/main" noGrp="1"/>
          </p:cNvSpPr>
          <p:nvPr/>
        </p:nvSpPr>
        <p:spPr>
          <a:xfrm xmlns:a="http://schemas.openxmlformats.org/drawingml/2006/main">
            <a:off x="609600" y="52768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¹ IoU measures overlap between predicted points and the labeled part. Higher is better.</a:t>
            </a:r>
          </a:p>
        </p:txBody>
      </p:sp>
      <p:sp>
        <p:nvSpPr>
          <p:cNvPr id="27" name="">
            <a:extLst xmlns:a="http://schemas.openxmlformats.org/drawingml/2006/main">
              <a:ext uri="{FF2B5EF4-FFF2-40B4-BE49-F238E27FC236}">
                <a16:creationId xmlns:a16="http://schemas.microsoft.com/office/drawing/2014/main" id="{6B6D89FC-AED9-40BD-A6D7-39E79336CC5D}"/>
              </a:ext>
            </a:extLst>
          </p:cNvPr>
          <p:cNvSpPr>
            <a:spLocks xmlns:a="http://schemas.openxmlformats.org/drawingml/2006/main" noGrp="1"/>
          </p:cNvSpPr>
          <p:nvPr/>
        </p:nvSpPr>
        <p:spPr>
          <a:xfrm xmlns:a="http://schemas.openxmlformats.org/drawingml/2006/main">
            <a:off x="609600" y="56769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72B3A"/>
                </a:solidFill>
                <a:latin typeface="Avenir"/>
                <a:ea typeface="Avenir"/>
                <a:cs typeface="Avenir"/>
              </a:defRPr>
            </a:defPPr>
          </a:lstStyle>
          <a:p xmlns:a="http://schemas.openxmlformats.org/drawingml/2006/main">
            <a:pPr algn="l">
              <a:defRPr sz="1350" b="1">
                <a:solidFill>
                  <a:srgbClr val="172B3A"/>
                </a:solidFill>
                <a:latin typeface="Avenir"/>
                <a:ea typeface="Avenir"/>
                <a:cs typeface="Avenir"/>
              </a:defRPr>
            </a:pPr>
            <a:r>
              <a:rPr sz="1350" b="1">
                <a:solidFill>
                  <a:srgbClr val="172B3A"/>
                </a:solidFill>
                <a:latin typeface="Avenir"/>
                <a:ea typeface="Avenir"/>
                <a:cs typeface="Avenir"/>
              </a:rPr>
              <a:t>The model scored lower with held-out query names. This shows wording sensitivity, not new-concept generalization.</a:t>
            </a:r>
          </a:p>
        </p:txBody>
      </p:sp>
    </p:spTree>
    <p:extLst>
      <p:ext uri="{BB962C8B-B14F-4D97-AF65-F5344CB8AC3E}">
        <p14:creationId xmlns:p14="http://schemas.microsoft.com/office/powerpoint/2010/main" val="922284055"/>
      </p:ext>
    </p:extLst>
  </p:cSld>
</p:sld>
</file>

<file path=ppt/slides/slide5.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AA58085-F082-4684-8D01-8948750CE6D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210A6381-DA7E-40E2-AEAC-F07BB2E6CFD2}"/>
              </a:ext>
            </a:extLst>
          </p:cNvPr>
          <p:cNvPicPr>
            <a:picLocks xmlns:a="http://schemas.openxmlformats.org/drawingml/2006/main" noChangeAspect="1"/>
          </p:cNvPicPr>
          <p:nvPr/>
        </p:nvPicPr>
        <p:blipFill>
          <a:blip xmlns:r="http://schemas.openxmlformats.org/officeDocument/2006/relationships" xmlns:a="http://schemas.openxmlformats.org/drawingml/2006/main" r:embed="Redc55e17ebd547a4"/>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8F4B6B3-571B-42D2-AEC9-3BF463E76CF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 found a clear failure on one partial vase</a:t>
            </a:r>
          </a:p>
        </p:txBody>
      </p:sp>
      <p:sp>
        <p:nvSpPr>
          <p:cNvPr id="4" name="">
            <a:extLst xmlns:a="http://schemas.openxmlformats.org/drawingml/2006/main">
              <a:ext uri="{FF2B5EF4-FFF2-40B4-BE49-F238E27FC236}">
                <a16:creationId xmlns:a16="http://schemas.microsoft.com/office/drawing/2014/main" id="{BB331D2F-09A4-42AC-8B3E-5A4902C8F42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1EE17E5-438F-4E87-895D-1ECBC12CC988}"/>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05 / 12</a:t>
            </a:r>
          </a:p>
        </p:txBody>
      </p:sp>
      <p:pic>
        <p:nvPicPr>
          <p:cNvPr id="6" name="">
            <a:extLst xmlns:a="http://schemas.openxmlformats.org/drawingml/2006/main">
              <a:ext uri="{FF2B5EF4-FFF2-40B4-BE49-F238E27FC236}">
                <a16:creationId xmlns:a16="http://schemas.microsoft.com/office/drawing/2014/main" id="{C095A408-70E1-41E4-9812-358B7C274600}"/>
              </a:ext>
            </a:extLst>
          </p:cNvPr>
          <p:cNvPicPr>
            <a:picLocks xmlns:a="http://schemas.openxmlformats.org/drawingml/2006/main" noChangeAspect="1"/>
          </p:cNvPicPr>
          <p:nvPr/>
        </p:nvPicPr>
        <p:blipFill>
          <a:blip xmlns:r="http://schemas.openxmlformats.org/officeDocument/2006/relationships" xmlns:a="http://schemas.openxmlformats.org/drawingml/2006/main" r:embed="R3d7289bbfd09443f"/>
          <a:stretch xmlns:a="http://schemas.openxmlformats.org/drawingml/2006/main"/>
        </p:blipFill>
        <p:spPr>
          <a:xfrm xmlns:a="http://schemas.openxmlformats.org/drawingml/2006/main">
            <a:off x="609600" y="1802000"/>
            <a:ext cx="7239000" cy="2472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3B2BBCB-B989-444C-A4A9-C0F92CCDC989}"/>
              </a:ext>
            </a:extLst>
          </p:cNvPr>
          <p:cNvSpPr>
            <a:spLocks xmlns:a="http://schemas.openxmlformats.org/drawingml/2006/main" noGrp="1"/>
          </p:cNvSpPr>
          <p:nvPr/>
        </p:nvSpPr>
        <p:spPr>
          <a:xfrm xmlns:a="http://schemas.openxmlformats.org/drawingml/2006/main">
            <a:off x="8172450" y="1676400"/>
            <a:ext cx="3409950" cy="2914650"/>
          </a:xfrm>
          <a:prstGeom xmlns:a="http://schemas.openxmlformats.org/drawingml/2006/main" prst="roundRect">
            <a:avLst>
              <a:gd name="adj" fmla="val 2614"/>
            </a:avLst>
          </a:prstGeom>
          <a:solidFill xmlns:a="http://schemas.openxmlformats.org/drawingml/2006/main">
            <a:srgbClr val="FFFFFF"/>
          </a:solidFill>
          <a:ln xmlns:a="http://schemas.openxmlformats.org/drawingml/2006/main" w="9525">
            <a:solidFill>
              <a:srgbClr val="D7E1E8"/>
            </a:solidFill>
            <a:prstDash val="solid"/>
          </a:ln>
        </p:spPr>
      </p:sp>
      <p:sp>
        <p:nvSpPr>
          <p:cNvPr id="8" name="">
            <a:extLst xmlns:a="http://schemas.openxmlformats.org/drawingml/2006/main">
              <a:ext uri="{FF2B5EF4-FFF2-40B4-BE49-F238E27FC236}">
                <a16:creationId xmlns:a16="http://schemas.microsoft.com/office/drawing/2014/main" id="{45500615-8887-46B8-94C3-185547EB94FE}"/>
              </a:ext>
            </a:extLst>
          </p:cNvPr>
          <p:cNvSpPr>
            <a:spLocks xmlns:a="http://schemas.openxmlformats.org/drawingml/2006/main" noGrp="1"/>
          </p:cNvSpPr>
          <p:nvPr/>
        </p:nvSpPr>
        <p:spPr>
          <a:xfrm xmlns:a="http://schemas.openxmlformats.org/drawingml/2006/main">
            <a:off x="8420100" y="18669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Object: vase · Query: “pour”</a:t>
            </a:r>
          </a:p>
        </p:txBody>
      </p:sp>
      <p:sp>
        <p:nvSpPr>
          <p:cNvPr id="9" name="">
            <a:extLst xmlns:a="http://schemas.openxmlformats.org/drawingml/2006/main">
              <a:ext uri="{FF2B5EF4-FFF2-40B4-BE49-F238E27FC236}">
                <a16:creationId xmlns:a16="http://schemas.microsoft.com/office/drawing/2014/main" id="{AE22A2B0-B060-45D8-9DC0-C7F2B1A9162C}"/>
              </a:ext>
            </a:extLst>
          </p:cNvPr>
          <p:cNvSpPr>
            <a:spLocks xmlns:a="http://schemas.openxmlformats.org/drawingml/2006/main" noGrp="1"/>
          </p:cNvSpPr>
          <p:nvPr/>
        </p:nvSpPr>
        <p:spPr>
          <a:xfrm xmlns:a="http://schemas.openxmlformats.org/drawingml/2006/main">
            <a:off x="8420100" y="24003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225" b="1">
                <a:solidFill>
                  <a:srgbClr val="C94747"/>
                </a:solidFill>
                <a:latin typeface="Avenir"/>
                <a:ea typeface="Avenir"/>
                <a:cs typeface="Avenir"/>
              </a:defRPr>
            </a:defPPr>
          </a:lstStyle>
          <a:p xmlns:a="http://schemas.openxmlformats.org/drawingml/2006/main">
            <a:pPr algn="l">
              <a:defRPr sz="3225" b="1">
                <a:solidFill>
                  <a:srgbClr val="C94747"/>
                </a:solidFill>
                <a:latin typeface="Avenir"/>
                <a:ea typeface="Avenir"/>
                <a:cs typeface="Avenir"/>
              </a:defRPr>
            </a:pPr>
            <a:r>
              <a:rPr sz="3225" b="1">
                <a:solidFill>
                  <a:srgbClr val="C94747"/>
                </a:solidFill>
                <a:latin typeface="Avenir"/>
                <a:ea typeface="Avenir"/>
                <a:cs typeface="Avenir"/>
              </a:rPr>
              <a:t>563</a:t>
            </a:r>
          </a:p>
        </p:txBody>
      </p:sp>
      <p:sp>
        <p:nvSpPr>
          <p:cNvPr id="10" name="">
            <a:extLst xmlns:a="http://schemas.openxmlformats.org/drawingml/2006/main">
              <a:ext uri="{FF2B5EF4-FFF2-40B4-BE49-F238E27FC236}">
                <a16:creationId xmlns:a16="http://schemas.microsoft.com/office/drawing/2014/main" id="{FF03B900-B160-4EF5-965A-B6E7E1FEB34D}"/>
              </a:ext>
            </a:extLst>
          </p:cNvPr>
          <p:cNvSpPr>
            <a:spLocks xmlns:a="http://schemas.openxmlformats.org/drawingml/2006/main" noGrp="1"/>
          </p:cNvSpPr>
          <p:nvPr/>
        </p:nvSpPr>
        <p:spPr>
          <a:xfrm xmlns:a="http://schemas.openxmlformats.org/drawingml/2006/main">
            <a:off x="8420100" y="2952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points marked “pour” in the labels</a:t>
            </a:r>
          </a:p>
        </p:txBody>
      </p:sp>
      <p:sp>
        <p:nvSpPr>
          <p:cNvPr id="11" name="">
            <a:extLst xmlns:a="http://schemas.openxmlformats.org/drawingml/2006/main">
              <a:ext uri="{FF2B5EF4-FFF2-40B4-BE49-F238E27FC236}">
                <a16:creationId xmlns:a16="http://schemas.microsoft.com/office/drawing/2014/main" id="{B100C3FB-F0D9-4D62-9DB9-19635A8B247F}"/>
              </a:ext>
            </a:extLst>
          </p:cNvPr>
          <p:cNvSpPr>
            <a:spLocks xmlns:a="http://schemas.openxmlformats.org/drawingml/2006/main" noGrp="1"/>
          </p:cNvSpPr>
          <p:nvPr/>
        </p:nvSpPr>
        <p:spPr>
          <a:xfrm xmlns:a="http://schemas.openxmlformats.org/drawingml/2006/main">
            <a:off x="8420100" y="347662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02A43"/>
                </a:solidFill>
                <a:latin typeface="Avenir"/>
                <a:ea typeface="Avenir"/>
                <a:cs typeface="Avenir"/>
              </a:defRPr>
            </a:defPPr>
          </a:lstStyle>
          <a:p xmlns:a="http://schemas.openxmlformats.org/drawingml/2006/main">
            <a:pPr algn="l">
              <a:defRPr sz="2100" b="1">
                <a:solidFill>
                  <a:srgbClr val="102A43"/>
                </a:solidFill>
                <a:latin typeface="Avenir"/>
                <a:ea typeface="Avenir"/>
                <a:cs typeface="Avenir"/>
              </a:defRPr>
            </a:pPr>
            <a:r>
              <a:rPr sz="2100" b="1">
                <a:solidFill>
                  <a:srgbClr val="102A43"/>
                </a:solidFill>
                <a:latin typeface="Avenir"/>
                <a:ea typeface="Avenir"/>
                <a:cs typeface="Avenir"/>
              </a:rPr>
              <a:t>0 of 563</a:t>
            </a:r>
          </a:p>
        </p:txBody>
      </p:sp>
      <p:sp>
        <p:nvSpPr>
          <p:cNvPr id="12" name="">
            <a:extLst xmlns:a="http://schemas.openxmlformats.org/drawingml/2006/main">
              <a:ext uri="{FF2B5EF4-FFF2-40B4-BE49-F238E27FC236}">
                <a16:creationId xmlns:a16="http://schemas.microsoft.com/office/drawing/2014/main" id="{A8F7A08D-FFA7-478C-870B-D793698AD454}"/>
              </a:ext>
            </a:extLst>
          </p:cNvPr>
          <p:cNvSpPr>
            <a:spLocks xmlns:a="http://schemas.openxmlformats.org/drawingml/2006/main" noGrp="1"/>
          </p:cNvSpPr>
          <p:nvPr/>
        </p:nvSpPr>
        <p:spPr>
          <a:xfrm xmlns:a="http://schemas.openxmlformats.org/drawingml/2006/main">
            <a:off x="8420100" y="3886200"/>
            <a:ext cx="2809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target points predicted correctly</a:t>
            </a:r>
          </a:p>
        </p:txBody>
      </p:sp>
      <p:sp>
        <p:nvSpPr>
          <p:cNvPr id="13" name="">
            <a:extLst xmlns:a="http://schemas.openxmlformats.org/drawingml/2006/main">
              <a:ext uri="{FF2B5EF4-FFF2-40B4-BE49-F238E27FC236}">
                <a16:creationId xmlns:a16="http://schemas.microsoft.com/office/drawing/2014/main" id="{D9BACBA0-F5B2-4BBB-B8E6-70B9E20E1F4A}"/>
              </a:ext>
            </a:extLst>
          </p:cNvPr>
          <p:cNvSpPr>
            <a:spLocks xmlns:a="http://schemas.openxmlformats.org/drawingml/2006/main" noGrp="1"/>
          </p:cNvSpPr>
          <p:nvPr/>
        </p:nvSpPr>
        <p:spPr>
          <a:xfrm xmlns:a="http://schemas.openxmlformats.org/drawingml/2006/main">
            <a:off x="609600" y="4876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On those target points: pour score 0.058; none score 0.644.</a:t>
            </a:r>
          </a:p>
        </p:txBody>
      </p:sp>
      <p:sp>
        <p:nvSpPr>
          <p:cNvPr id="14" name="">
            <a:extLst xmlns:a="http://schemas.openxmlformats.org/drawingml/2006/main">
              <a:ext uri="{FF2B5EF4-FFF2-40B4-BE49-F238E27FC236}">
                <a16:creationId xmlns:a16="http://schemas.microsoft.com/office/drawing/2014/main" id="{AD49A8A4-2D1E-481F-9E46-F2DDE27B547B}"/>
              </a:ext>
            </a:extLst>
          </p:cNvPr>
          <p:cNvSpPr>
            <a:spLocks xmlns:a="http://schemas.openxmlformats.org/drawingml/2006/main" noGrp="1"/>
          </p:cNvSpPr>
          <p:nvPr/>
        </p:nvSpPr>
        <p:spPr>
          <a:xfrm xmlns:a="http://schemas.openxmlformats.org/drawingml/2006/main">
            <a:off x="609600" y="5391150"/>
            <a:ext cx="31432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B56644D3-BCD4-4E18-BAA0-1EB45104B236}"/>
              </a:ext>
            </a:extLst>
          </p:cNvPr>
          <p:cNvSpPr>
            <a:spLocks xmlns:a="http://schemas.openxmlformats.org/drawingml/2006/main" noGrp="1"/>
          </p:cNvSpPr>
          <p:nvPr/>
        </p:nvSpPr>
        <p:spPr>
          <a:xfrm xmlns:a="http://schemas.openxmlformats.org/drawingml/2006/main">
            <a:off x="676275" y="5391150"/>
            <a:ext cx="3009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ONE EXAMPLE — NOT AN AVERAGE</a:t>
            </a:r>
          </a:p>
        </p:txBody>
      </p:sp>
    </p:spTree>
    <p:extLst>
      <p:ext uri="{BB962C8B-B14F-4D97-AF65-F5344CB8AC3E}">
        <p14:creationId xmlns:p14="http://schemas.microsoft.com/office/powerpoint/2010/main" val="1355458273"/>
      </p:ext>
    </p:extLst>
  </p:cSld>
</p:sld>
</file>

<file path=ppt/slides/slide6.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6414FB6-5514-4AB2-8BA0-0F2B9BF2101E}"/>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C6673EE5-CC65-4789-8163-07EAF01E16C3}"/>
              </a:ext>
            </a:extLst>
          </p:cNvPr>
          <p:cNvPicPr>
            <a:picLocks xmlns:a="http://schemas.openxmlformats.org/drawingml/2006/main" noChangeAspect="1"/>
          </p:cNvPicPr>
          <p:nvPr/>
        </p:nvPicPr>
        <p:blipFill>
          <a:blip xmlns:r="http://schemas.openxmlformats.org/officeDocument/2006/relationships" xmlns:a="http://schemas.openxmlformats.org/drawingml/2006/main" r:embed="R203a7b90d1ae482e"/>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25AB609-3B72-4656-82FF-9C7F07F1CBC7}"/>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One paraphrase helped “unlock”; it did not help every query</a:t>
            </a:r>
          </a:p>
        </p:txBody>
      </p:sp>
      <p:sp>
        <p:nvSpPr>
          <p:cNvPr id="4" name="">
            <a:extLst xmlns:a="http://schemas.openxmlformats.org/drawingml/2006/main">
              <a:ext uri="{FF2B5EF4-FFF2-40B4-BE49-F238E27FC236}">
                <a16:creationId xmlns:a16="http://schemas.microsoft.com/office/drawing/2014/main" id="{C26E6199-E6E8-4382-8582-63BB22D7DAB5}"/>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9480D6-3F4D-44D9-B633-5245DED1CBD6}"/>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06 / 12</a:t>
            </a:r>
          </a:p>
        </p:txBody>
      </p:sp>
      <p:sp>
        <p:nvSpPr>
          <p:cNvPr id="6" name="">
            <a:extLst xmlns:a="http://schemas.openxmlformats.org/drawingml/2006/main">
              <a:ext uri="{FF2B5EF4-FFF2-40B4-BE49-F238E27FC236}">
                <a16:creationId xmlns:a16="http://schemas.microsoft.com/office/drawing/2014/main" id="{07D91464-C1D1-40AD-A706-650CAF6EAFE9}"/>
              </a:ext>
            </a:extLst>
          </p:cNvPr>
          <p:cNvSpPr>
            <a:spLocks xmlns:a="http://schemas.openxmlformats.org/drawingml/2006/main" noGrp="1"/>
          </p:cNvSpPr>
          <p:nvPr/>
        </p:nvSpPr>
        <p:spPr>
          <a:xfrm xmlns:a="http://schemas.openxmlformats.org/drawingml/2006/main">
            <a:off x="609600" y="1657350"/>
            <a:ext cx="5238750" cy="3371850"/>
          </a:xfrm>
          <a:prstGeom xmlns:a="http://schemas.openxmlformats.org/drawingml/2006/main" prst="roundRect">
            <a:avLst>
              <a:gd name="adj" fmla="val 226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8AC2936E-72B6-4EAE-ABDD-BE0A1BD7FE5B}"/>
              </a:ext>
            </a:extLst>
          </p:cNvPr>
          <p:cNvSpPr>
            <a:spLocks xmlns:a="http://schemas.openxmlformats.org/drawingml/2006/main" noGrp="1"/>
          </p:cNvSpPr>
          <p:nvPr/>
        </p:nvSpPr>
        <p:spPr>
          <a:xfrm xmlns:a="http://schemas.openxmlformats.org/drawingml/2006/main">
            <a:off x="857250" y="18669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167DAD"/>
                </a:solidFill>
                <a:latin typeface="Avenir"/>
                <a:ea typeface="Avenir"/>
                <a:cs typeface="Avenir"/>
              </a:defRPr>
            </a:defPPr>
          </a:lstStyle>
          <a:p xmlns:a="http://schemas.openxmlformats.org/drawingml/2006/main">
            <a:pPr algn="l">
              <a:defRPr sz="1125" b="1">
                <a:solidFill>
                  <a:srgbClr val="167DAD"/>
                </a:solidFill>
                <a:latin typeface="Avenir"/>
                <a:ea typeface="Avenir"/>
                <a:cs typeface="Avenir"/>
              </a:defRPr>
            </a:pPr>
            <a:r>
              <a:rPr sz="1125" b="1">
                <a:solidFill>
                  <a:srgbClr val="167DAD"/>
                </a:solidFill>
                <a:latin typeface="Avenir"/>
                <a:ea typeface="Avenir"/>
                <a:cs typeface="Avenir"/>
              </a:rPr>
              <a:t>OPENAD PROMPT-TRANSFER PILOT · 1,941 OBJECTS</a:t>
            </a:r>
          </a:p>
        </p:txBody>
      </p:sp>
      <p:sp>
        <p:nvSpPr>
          <p:cNvPr id="8" name="">
            <a:extLst xmlns:a="http://schemas.openxmlformats.org/drawingml/2006/main">
              <a:ext uri="{FF2B5EF4-FFF2-40B4-BE49-F238E27FC236}">
                <a16:creationId xmlns:a16="http://schemas.microsoft.com/office/drawing/2014/main" id="{4B3288F1-FE83-4209-99C9-89D7625B4717}"/>
              </a:ext>
            </a:extLst>
          </p:cNvPr>
          <p:cNvSpPr>
            <a:spLocks xmlns:a="http://schemas.openxmlformats.org/drawingml/2006/main" noGrp="1"/>
          </p:cNvSpPr>
          <p:nvPr/>
        </p:nvSpPr>
        <p:spPr>
          <a:xfrm xmlns:a="http://schemas.openxmlformats.org/drawingml/2006/main">
            <a:off x="857250" y="2286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102A43"/>
                </a:solidFill>
                <a:latin typeface="Avenir"/>
                <a:ea typeface="Avenir"/>
                <a:cs typeface="Avenir"/>
              </a:defRPr>
            </a:defPPr>
          </a:lstStyle>
          <a:p xmlns:a="http://schemas.openxmlformats.org/drawingml/2006/main">
            <a:pPr algn="l">
              <a:defRPr sz="1575" b="1">
                <a:solidFill>
                  <a:srgbClr val="102A43"/>
                </a:solidFill>
                <a:latin typeface="Avenir"/>
                <a:ea typeface="Avenir"/>
                <a:cs typeface="Avenir"/>
              </a:defRPr>
            </a:pPr>
            <a:r>
              <a:rPr sz="1575" b="1">
                <a:solidFill>
                  <a:srgbClr val="102A43"/>
                </a:solidFill>
                <a:latin typeface="Avenir"/>
                <a:ea typeface="Avenir"/>
                <a:cs typeface="Avenir"/>
              </a:rPr>
              <a:t>“unlock” point-wise IoU</a:t>
            </a:r>
          </a:p>
        </p:txBody>
      </p:sp>
      <p:sp>
        <p:nvSpPr>
          <p:cNvPr id="9" name="">
            <a:extLst xmlns:a="http://schemas.openxmlformats.org/drawingml/2006/main">
              <a:ext uri="{FF2B5EF4-FFF2-40B4-BE49-F238E27FC236}">
                <a16:creationId xmlns:a16="http://schemas.microsoft.com/office/drawing/2014/main" id="{6D5B7A82-65E0-474C-90CC-13C1C28A46D0}"/>
              </a:ext>
            </a:extLst>
          </p:cNvPr>
          <p:cNvSpPr>
            <a:spLocks xmlns:a="http://schemas.openxmlformats.org/drawingml/2006/main" noGrp="1"/>
          </p:cNvSpPr>
          <p:nvPr/>
        </p:nvSpPr>
        <p:spPr>
          <a:xfrm xmlns:a="http://schemas.openxmlformats.org/drawingml/2006/main">
            <a:off x="857250" y="2857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Original sentence</a:t>
            </a:r>
          </a:p>
        </p:txBody>
      </p:sp>
      <p:sp>
        <p:nvSpPr>
          <p:cNvPr id="10" name="">
            <a:extLst xmlns:a="http://schemas.openxmlformats.org/drawingml/2006/main">
              <a:ext uri="{FF2B5EF4-FFF2-40B4-BE49-F238E27FC236}">
                <a16:creationId xmlns:a16="http://schemas.microsoft.com/office/drawing/2014/main" id="{C524328B-33A6-4485-8F38-6E51356B2ABA}"/>
              </a:ext>
            </a:extLst>
          </p:cNvPr>
          <p:cNvSpPr>
            <a:spLocks xmlns:a="http://schemas.openxmlformats.org/drawingml/2006/main" noGrp="1"/>
          </p:cNvSpPr>
          <p:nvPr/>
        </p:nvSpPr>
        <p:spPr>
          <a:xfrm xmlns:a="http://schemas.openxmlformats.org/drawingml/2006/main">
            <a:off x="2762250" y="2867025"/>
            <a:ext cx="11487" cy="209550"/>
          </a:xfrm>
          <a:prstGeom xmlns:a="http://schemas.openxmlformats.org/drawingml/2006/main" prst="roundRect">
            <a:avLst>
              <a:gd name="adj" fmla="val 50000"/>
            </a:avLst>
          </a:prstGeom>
          <a:solidFill xmlns:a="http://schemas.openxmlformats.org/drawingml/2006/main">
            <a:srgbClr val="52677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4996E51-1F7B-4360-9151-6A4EDF89FCF0}"/>
              </a:ext>
            </a:extLst>
          </p:cNvPr>
          <p:cNvSpPr>
            <a:spLocks xmlns:a="http://schemas.openxmlformats.org/drawingml/2006/main" noGrp="1"/>
          </p:cNvSpPr>
          <p:nvPr/>
        </p:nvSpPr>
        <p:spPr>
          <a:xfrm xmlns:a="http://schemas.openxmlformats.org/drawingml/2006/main">
            <a:off x="4476750" y="28479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0.09%</a:t>
            </a:r>
          </a:p>
        </p:txBody>
      </p:sp>
      <p:sp>
        <p:nvSpPr>
          <p:cNvPr id="12" name="">
            <a:extLst xmlns:a="http://schemas.openxmlformats.org/drawingml/2006/main">
              <a:ext uri="{FF2B5EF4-FFF2-40B4-BE49-F238E27FC236}">
                <a16:creationId xmlns:a16="http://schemas.microsoft.com/office/drawing/2014/main" id="{176CDF31-3213-4EF8-B0CC-B2730CB362CC}"/>
              </a:ext>
            </a:extLst>
          </p:cNvPr>
          <p:cNvSpPr>
            <a:spLocks xmlns:a="http://schemas.openxmlformats.org/drawingml/2006/main" noGrp="1"/>
          </p:cNvSpPr>
          <p:nvPr/>
        </p:nvSpPr>
        <p:spPr>
          <a:xfrm xmlns:a="http://schemas.openxmlformats.org/drawingml/2006/main">
            <a:off x="857250" y="344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Canonical word</a:t>
            </a:r>
          </a:p>
        </p:txBody>
      </p:sp>
      <p:sp>
        <p:nvSpPr>
          <p:cNvPr id="13" name="">
            <a:extLst xmlns:a="http://schemas.openxmlformats.org/drawingml/2006/main">
              <a:ext uri="{FF2B5EF4-FFF2-40B4-BE49-F238E27FC236}">
                <a16:creationId xmlns:a16="http://schemas.microsoft.com/office/drawing/2014/main" id="{F41DB458-3CA3-4BD7-90D4-966D16B1898E}"/>
              </a:ext>
            </a:extLst>
          </p:cNvPr>
          <p:cNvSpPr>
            <a:spLocks xmlns:a="http://schemas.openxmlformats.org/drawingml/2006/main" noGrp="1"/>
          </p:cNvSpPr>
          <p:nvPr/>
        </p:nvSpPr>
        <p:spPr>
          <a:xfrm xmlns:a="http://schemas.openxmlformats.org/drawingml/2006/main">
            <a:off x="2762250" y="3457575"/>
            <a:ext cx="470973" cy="209550"/>
          </a:xfrm>
          <a:prstGeom xmlns:a="http://schemas.openxmlformats.org/drawingml/2006/main" prst="roundRect">
            <a:avLst>
              <a:gd name="adj" fmla="val 36364"/>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C3D46CA-6A9E-4079-8512-E708F3AE12FC}"/>
              </a:ext>
            </a:extLst>
          </p:cNvPr>
          <p:cNvSpPr>
            <a:spLocks xmlns:a="http://schemas.openxmlformats.org/drawingml/2006/main" noGrp="1"/>
          </p:cNvSpPr>
          <p:nvPr/>
        </p:nvSpPr>
        <p:spPr>
          <a:xfrm xmlns:a="http://schemas.openxmlformats.org/drawingml/2006/main">
            <a:off x="4476750" y="343852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3.69%</a:t>
            </a:r>
          </a:p>
        </p:txBody>
      </p:sp>
      <p:sp>
        <p:nvSpPr>
          <p:cNvPr id="15" name="">
            <a:extLst xmlns:a="http://schemas.openxmlformats.org/drawingml/2006/main">
              <a:ext uri="{FF2B5EF4-FFF2-40B4-BE49-F238E27FC236}">
                <a16:creationId xmlns:a16="http://schemas.microsoft.com/office/drawing/2014/main" id="{9B97BB80-6ED1-4582-9097-092F116FACAE}"/>
              </a:ext>
            </a:extLst>
          </p:cNvPr>
          <p:cNvSpPr>
            <a:spLocks xmlns:a="http://schemas.openxmlformats.org/drawingml/2006/main" noGrp="1"/>
          </p:cNvSpPr>
          <p:nvPr/>
        </p:nvSpPr>
        <p:spPr>
          <a:xfrm xmlns:a="http://schemas.openxmlformats.org/drawingml/2006/main">
            <a:off x="857250" y="40386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72B3A"/>
                </a:solidFill>
                <a:latin typeface="Avenir"/>
                <a:ea typeface="Avenir"/>
                <a:cs typeface="Avenir"/>
              </a:defRPr>
            </a:defPPr>
          </a:lstStyle>
          <a:p xmlns:a="http://schemas.openxmlformats.org/drawingml/2006/main">
            <a:pPr algn="l">
              <a:defRPr sz="1275" b="0">
                <a:solidFill>
                  <a:srgbClr val="172B3A"/>
                </a:solidFill>
                <a:latin typeface="Avenir"/>
                <a:ea typeface="Avenir"/>
                <a:cs typeface="Avenir"/>
              </a:defRPr>
            </a:pPr>
            <a:r>
              <a:rPr sz="1275" b="0">
                <a:solidFill>
                  <a:srgbClr val="172B3A"/>
                </a:solidFill>
                <a:latin typeface="Avenir"/>
                <a:ea typeface="Avenir"/>
                <a:cs typeface="Avenir"/>
              </a:rPr>
              <a:t>Preselected paraphrase</a:t>
            </a:r>
          </a:p>
        </p:txBody>
      </p:sp>
      <p:sp>
        <p:nvSpPr>
          <p:cNvPr id="16" name="">
            <a:extLst xmlns:a="http://schemas.openxmlformats.org/drawingml/2006/main">
              <a:ext uri="{FF2B5EF4-FFF2-40B4-BE49-F238E27FC236}">
                <a16:creationId xmlns:a16="http://schemas.microsoft.com/office/drawing/2014/main" id="{DB2497BB-7422-4FC6-8B0B-812F3802DD89}"/>
              </a:ext>
            </a:extLst>
          </p:cNvPr>
          <p:cNvSpPr>
            <a:spLocks xmlns:a="http://schemas.openxmlformats.org/drawingml/2006/main" noGrp="1"/>
          </p:cNvSpPr>
          <p:nvPr/>
        </p:nvSpPr>
        <p:spPr>
          <a:xfrm xmlns:a="http://schemas.openxmlformats.org/drawingml/2006/main">
            <a:off x="2762250" y="4048125"/>
            <a:ext cx="1577569" cy="209550"/>
          </a:xfrm>
          <a:prstGeom xmlns:a="http://schemas.openxmlformats.org/drawingml/2006/main" prst="roundRect">
            <a:avLst>
              <a:gd name="adj" fmla="val 36364"/>
            </a:avLst>
          </a:prstGeom>
          <a:solidFill xmlns:a="http://schemas.openxmlformats.org/drawingml/2006/main">
            <a:srgbClr val="167DA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4E5DD4-4789-42AD-BB1E-A9222BD2814E}"/>
              </a:ext>
            </a:extLst>
          </p:cNvPr>
          <p:cNvSpPr>
            <a:spLocks xmlns:a="http://schemas.openxmlformats.org/drawingml/2006/main" noGrp="1"/>
          </p:cNvSpPr>
          <p:nvPr/>
        </p:nvSpPr>
        <p:spPr>
          <a:xfrm xmlns:a="http://schemas.openxmlformats.org/drawingml/2006/main">
            <a:off x="4476750" y="4029075"/>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102A43"/>
                </a:solidFill>
                <a:latin typeface="Avenir"/>
                <a:ea typeface="Avenir"/>
                <a:cs typeface="Avenir"/>
              </a:defRPr>
            </a:defPPr>
          </a:lstStyle>
          <a:p xmlns:a="http://schemas.openxmlformats.org/drawingml/2006/main">
            <a:pPr algn="r">
              <a:defRPr sz="1200" b="1">
                <a:solidFill>
                  <a:srgbClr val="102A43"/>
                </a:solidFill>
                <a:latin typeface="Avenir"/>
                <a:ea typeface="Avenir"/>
                <a:cs typeface="Avenir"/>
              </a:defRPr>
            </a:pPr>
            <a:r>
              <a:rPr sz="1200" b="1">
                <a:solidFill>
                  <a:srgbClr val="102A43"/>
                </a:solidFill>
                <a:latin typeface="Avenir"/>
                <a:ea typeface="Avenir"/>
                <a:cs typeface="Avenir"/>
              </a:rPr>
              <a:t>12.36%</a:t>
            </a:r>
          </a:p>
        </p:txBody>
      </p:sp>
      <p:sp>
        <p:nvSpPr>
          <p:cNvPr id="18" name="">
            <a:extLst xmlns:a="http://schemas.openxmlformats.org/drawingml/2006/main">
              <a:ext uri="{FF2B5EF4-FFF2-40B4-BE49-F238E27FC236}">
                <a16:creationId xmlns:a16="http://schemas.microsoft.com/office/drawing/2014/main" id="{245330E6-8333-4308-99A9-1CB9BACA8D2E}"/>
              </a:ext>
            </a:extLst>
          </p:cNvPr>
          <p:cNvSpPr>
            <a:spLocks xmlns:a="http://schemas.openxmlformats.org/drawingml/2006/main" noGrp="1"/>
          </p:cNvSpPr>
          <p:nvPr/>
        </p:nvSpPr>
        <p:spPr>
          <a:xfrm xmlns:a="http://schemas.openxmlformats.org/drawingml/2006/main">
            <a:off x="6134100" y="1657350"/>
            <a:ext cx="5448300" cy="3371850"/>
          </a:xfrm>
          <a:prstGeom xmlns:a="http://schemas.openxmlformats.org/drawingml/2006/main" prst="roundRect">
            <a:avLst>
              <a:gd name="adj" fmla="val 2260"/>
            </a:avLst>
          </a:prstGeom>
          <a:solidFill xmlns:a="http://schemas.openxmlformats.org/drawingml/2006/main">
            <a:srgbClr val="FFF4D9"/>
          </a:solidFill>
          <a:ln xmlns:a="http://schemas.openxmlformats.org/drawingml/2006/main" w="9525">
            <a:noFill/>
            <a:prstDash val="solid"/>
          </a:ln>
        </p:spPr>
      </p:sp>
      <p:sp>
        <p:nvSpPr>
          <p:cNvPr id="19" name="">
            <a:extLst xmlns:a="http://schemas.openxmlformats.org/drawingml/2006/main">
              <a:ext uri="{FF2B5EF4-FFF2-40B4-BE49-F238E27FC236}">
                <a16:creationId xmlns:a16="http://schemas.microsoft.com/office/drawing/2014/main" id="{57034776-719A-4B7A-8613-A37B21604F62}"/>
              </a:ext>
            </a:extLst>
          </p:cNvPr>
          <p:cNvSpPr>
            <a:spLocks xmlns:a="http://schemas.openxmlformats.org/drawingml/2006/main" noGrp="1"/>
          </p:cNvSpPr>
          <p:nvPr/>
        </p:nvSpPr>
        <p:spPr>
          <a:xfrm xmlns:a="http://schemas.openxmlformats.org/drawingml/2006/main">
            <a:off x="6419850" y="18859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02A43"/>
                </a:solidFill>
                <a:latin typeface="Avenir"/>
                <a:ea typeface="Avenir"/>
                <a:cs typeface="Avenir"/>
              </a:defRPr>
            </a:defPPr>
          </a:lstStyle>
          <a:p xmlns:a="http://schemas.openxmlformats.org/drawingml/2006/main">
            <a:pPr algn="l">
              <a:defRPr sz="1200" b="1">
                <a:solidFill>
                  <a:srgbClr val="102A43"/>
                </a:solidFill>
                <a:latin typeface="Avenir"/>
                <a:ea typeface="Avenir"/>
                <a:cs typeface="Avenir"/>
              </a:defRPr>
            </a:pPr>
            <a:r>
              <a:rPr sz="1200" b="1">
                <a:solidFill>
                  <a:srgbClr val="102A43"/>
                </a:solidFill>
                <a:latin typeface="Avenir"/>
                <a:ea typeface="Avenir"/>
                <a:cs typeface="Avenir"/>
              </a:rPr>
              <a:t>THE TRADE-OFF</a:t>
            </a:r>
          </a:p>
        </p:txBody>
      </p:sp>
      <p:sp>
        <p:nvSpPr>
          <p:cNvPr id="20" name="">
            <a:extLst xmlns:a="http://schemas.openxmlformats.org/drawingml/2006/main">
              <a:ext uri="{FF2B5EF4-FFF2-40B4-BE49-F238E27FC236}">
                <a16:creationId xmlns:a16="http://schemas.microsoft.com/office/drawing/2014/main" id="{74F2AC90-23DB-4F54-856E-AE997AD159FB}"/>
              </a:ext>
            </a:extLst>
          </p:cNvPr>
          <p:cNvSpPr>
            <a:spLocks xmlns:a="http://schemas.openxmlformats.org/drawingml/2006/main" noGrp="1"/>
          </p:cNvSpPr>
          <p:nvPr/>
        </p:nvSpPr>
        <p:spPr>
          <a:xfrm xmlns:a="http://schemas.openxmlformats.org/drawingml/2006/main">
            <a:off x="6419850" y="24003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Negative objects with any false alarm</a:t>
            </a:r>
          </a:p>
        </p:txBody>
      </p:sp>
      <p:sp>
        <p:nvSpPr>
          <p:cNvPr id="21" name="">
            <a:extLst xmlns:a="http://schemas.openxmlformats.org/drawingml/2006/main">
              <a:ext uri="{FF2B5EF4-FFF2-40B4-BE49-F238E27FC236}">
                <a16:creationId xmlns:a16="http://schemas.microsoft.com/office/drawing/2014/main" id="{F8998ACD-97D1-4487-8F43-735F19A65FFF}"/>
              </a:ext>
            </a:extLst>
          </p:cNvPr>
          <p:cNvSpPr>
            <a:spLocks xmlns:a="http://schemas.openxmlformats.org/drawingml/2006/main" noGrp="1"/>
          </p:cNvSpPr>
          <p:nvPr/>
        </p:nvSpPr>
        <p:spPr>
          <a:xfrm xmlns:a="http://schemas.openxmlformats.org/drawingml/2006/main">
            <a:off x="6419850" y="27622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C94747"/>
                </a:solidFill>
                <a:latin typeface="Avenir"/>
                <a:ea typeface="Avenir"/>
                <a:cs typeface="Avenir"/>
              </a:defRPr>
            </a:defPPr>
          </a:lstStyle>
          <a:p xmlns:a="http://schemas.openxmlformats.org/drawingml/2006/main">
            <a:pPr algn="l">
              <a:defRPr sz="2250" b="1">
                <a:solidFill>
                  <a:srgbClr val="C94747"/>
                </a:solidFill>
                <a:latin typeface="Avenir"/>
                <a:ea typeface="Avenir"/>
                <a:cs typeface="Avenir"/>
              </a:defRPr>
            </a:pPr>
            <a:r>
              <a:rPr sz="2250" b="1">
                <a:solidFill>
                  <a:srgbClr val="C94747"/>
                </a:solidFill>
                <a:latin typeface="Avenir"/>
                <a:ea typeface="Avenir"/>
                <a:cs typeface="Avenir"/>
              </a:rPr>
              <a:t>0.34% → 1.61%</a:t>
            </a:r>
          </a:p>
        </p:txBody>
      </p:sp>
      <p:sp>
        <p:nvSpPr>
          <p:cNvPr id="22" name="">
            <a:extLst xmlns:a="http://schemas.openxmlformats.org/drawingml/2006/main">
              <a:ext uri="{FF2B5EF4-FFF2-40B4-BE49-F238E27FC236}">
                <a16:creationId xmlns:a16="http://schemas.microsoft.com/office/drawing/2014/main" id="{A8AEC256-2791-48E7-9C61-2F01044D8ACC}"/>
              </a:ext>
            </a:extLst>
          </p:cNvPr>
          <p:cNvSpPr>
            <a:spLocks xmlns:a="http://schemas.openxmlformats.org/drawingml/2006/main" noGrp="1"/>
          </p:cNvSpPr>
          <p:nvPr/>
        </p:nvSpPr>
        <p:spPr>
          <a:xfrm xmlns:a="http://schemas.openxmlformats.org/drawingml/2006/main">
            <a:off x="6419850" y="3476625"/>
            <a:ext cx="471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The other four tested prompts did not show a similar gain.</a:t>
            </a:r>
          </a:p>
        </p:txBody>
      </p:sp>
      <p:sp>
        <p:nvSpPr>
          <p:cNvPr id="23" name="">
            <a:extLst xmlns:a="http://schemas.openxmlformats.org/drawingml/2006/main">
              <a:ext uri="{FF2B5EF4-FFF2-40B4-BE49-F238E27FC236}">
                <a16:creationId xmlns:a16="http://schemas.microsoft.com/office/drawing/2014/main" id="{CA3050DD-6DF2-45A2-B24F-B5CB929DF6AA}"/>
              </a:ext>
            </a:extLst>
          </p:cNvPr>
          <p:cNvSpPr>
            <a:spLocks xmlns:a="http://schemas.openxmlformats.org/drawingml/2006/main" noGrp="1"/>
          </p:cNvSpPr>
          <p:nvPr/>
        </p:nvSpPr>
        <p:spPr>
          <a:xfrm xmlns:a="http://schemas.openxmlformats.org/drawingml/2006/main">
            <a:off x="609600" y="542925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7,764 partial views · exploratory validation, not an official test set</a:t>
            </a:r>
          </a:p>
        </p:txBody>
      </p:sp>
    </p:spTree>
    <p:extLst>
      <p:ext uri="{BB962C8B-B14F-4D97-AF65-F5344CB8AC3E}">
        <p14:creationId xmlns:p14="http://schemas.microsoft.com/office/powerpoint/2010/main" val="515004656"/>
      </p:ext>
    </p:extLst>
  </p:cSld>
</p:sld>
</file>

<file path=ppt/slides/slide7.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DF228C3-E186-476F-BF71-774B96AB53EB}"/>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E58D4874-8E0D-46DA-9770-C8AF5CEC7B58}"/>
              </a:ext>
            </a:extLst>
          </p:cNvPr>
          <p:cNvPicPr>
            <a:picLocks xmlns:a="http://schemas.openxmlformats.org/drawingml/2006/main" noChangeAspect="1"/>
          </p:cNvPicPr>
          <p:nvPr/>
        </p:nvPicPr>
        <p:blipFill>
          <a:blip xmlns:r="http://schemas.openxmlformats.org/officeDocument/2006/relationships" xmlns:a="http://schemas.openxmlformats.org/drawingml/2006/main" r:embed="R971fa251b89e4ffa"/>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18307CD-C7F4-4988-9D33-E2D1575BF222}"/>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Affogato helped generate ideas; Affostruction is still untested</a:t>
            </a:r>
          </a:p>
        </p:txBody>
      </p:sp>
      <p:sp>
        <p:nvSpPr>
          <p:cNvPr id="4" name="">
            <a:extLst xmlns:a="http://schemas.openxmlformats.org/drawingml/2006/main">
              <a:ext uri="{FF2B5EF4-FFF2-40B4-BE49-F238E27FC236}">
                <a16:creationId xmlns:a16="http://schemas.microsoft.com/office/drawing/2014/main" id="{6CE4C75C-683F-4681-8B41-D7B1FE2991E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330EEF-49FF-4496-B183-80CBFF4053E3}"/>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07 / 12</a:t>
            </a:r>
          </a:p>
        </p:txBody>
      </p:sp>
      <p:sp>
        <p:nvSpPr>
          <p:cNvPr id="6" name="">
            <a:extLst xmlns:a="http://schemas.openxmlformats.org/drawingml/2006/main">
              <a:ext uri="{FF2B5EF4-FFF2-40B4-BE49-F238E27FC236}">
                <a16:creationId xmlns:a16="http://schemas.microsoft.com/office/drawing/2014/main" id="{FB6A9E67-8C46-40E4-B0F1-D26A8DAB32EF}"/>
              </a:ext>
            </a:extLst>
          </p:cNvPr>
          <p:cNvSpPr>
            <a:spLocks xmlns:a="http://schemas.openxmlformats.org/drawingml/2006/main" noGrp="1"/>
          </p:cNvSpPr>
          <p:nvPr/>
        </p:nvSpPr>
        <p:spPr>
          <a:xfrm xmlns:a="http://schemas.openxmlformats.org/drawingml/2006/main">
            <a:off x="609600" y="1638300"/>
            <a:ext cx="5191125"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93BAC74E-016E-479D-8DE5-C29A084B2AA4}"/>
              </a:ext>
            </a:extLst>
          </p:cNvPr>
          <p:cNvSpPr>
            <a:spLocks xmlns:a="http://schemas.openxmlformats.org/drawingml/2006/main" noGrp="1"/>
          </p:cNvSpPr>
          <p:nvPr/>
        </p:nvSpPr>
        <p:spPr>
          <a:xfrm xmlns:a="http://schemas.openxmlformats.org/drawingml/2006/main">
            <a:off x="857250" y="18478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AFFOGATO + ESPRESSO</a:t>
            </a:r>
          </a:p>
        </p:txBody>
      </p:sp>
      <p:sp>
        <p:nvSpPr>
          <p:cNvPr id="8" name="">
            <a:extLst xmlns:a="http://schemas.openxmlformats.org/drawingml/2006/main">
              <a:ext uri="{FF2B5EF4-FFF2-40B4-BE49-F238E27FC236}">
                <a16:creationId xmlns:a16="http://schemas.microsoft.com/office/drawing/2014/main" id="{E8C8A366-56B0-4EC8-BF28-60D307C2E1EE}"/>
              </a:ext>
            </a:extLst>
          </p:cNvPr>
          <p:cNvSpPr>
            <a:spLocks xmlns:a="http://schemas.openxmlformats.org/drawingml/2006/main" noGrp="1"/>
          </p:cNvSpPr>
          <p:nvPr/>
        </p:nvSpPr>
        <p:spPr>
          <a:xfrm xmlns:a="http://schemas.openxmlformats.org/drawingml/2006/main">
            <a:off x="857250" y="22669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What we explored</a:t>
            </a:r>
          </a:p>
        </p:txBody>
      </p:sp>
      <p:sp>
        <p:nvSpPr>
          <p:cNvPr id="9" name="">
            <a:extLst xmlns:a="http://schemas.openxmlformats.org/drawingml/2006/main">
              <a:ext uri="{FF2B5EF4-FFF2-40B4-BE49-F238E27FC236}">
                <a16:creationId xmlns:a16="http://schemas.microsoft.com/office/drawing/2014/main" id="{B60C1D2C-16CD-4C02-8F21-387ADA83A060}"/>
              </a:ext>
            </a:extLst>
          </p:cNvPr>
          <p:cNvSpPr>
            <a:spLocks xmlns:a="http://schemas.openxmlformats.org/drawingml/2006/main" noGrp="1"/>
          </p:cNvSpPr>
          <p:nvPr/>
        </p:nvSpPr>
        <p:spPr>
          <a:xfrm xmlns:a="http://schemas.openxmlformats.org/drawingml/2006/main">
            <a:off x="857250" y="29051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FC23409-CD92-4BBB-8DED-19A023E6D804}"/>
              </a:ext>
            </a:extLst>
          </p:cNvPr>
          <p:cNvSpPr>
            <a:spLocks xmlns:a="http://schemas.openxmlformats.org/drawingml/2006/main" noGrp="1"/>
          </p:cNvSpPr>
          <p:nvPr/>
        </p:nvSpPr>
        <p:spPr>
          <a:xfrm xmlns:a="http://schemas.openxmlformats.org/drawingml/2006/main">
            <a:off x="1085850" y="28194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Unofficial Espresso-3D reimplementation</a:t>
            </a:r>
          </a:p>
        </p:txBody>
      </p:sp>
      <p:sp>
        <p:nvSpPr>
          <p:cNvPr id="11" name="">
            <a:extLst xmlns:a="http://schemas.openxmlformats.org/drawingml/2006/main">
              <a:ext uri="{FF2B5EF4-FFF2-40B4-BE49-F238E27FC236}">
                <a16:creationId xmlns:a16="http://schemas.microsoft.com/office/drawing/2014/main" id="{61E48E48-8BB9-432B-9E3E-89D0BED2FEDF}"/>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20DA28A-0FF5-4D58-A3A7-5E8AEB833326}"/>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Used Affogato-pretrained weights</a:t>
            </a:r>
          </a:p>
        </p:txBody>
      </p:sp>
      <p:sp>
        <p:nvSpPr>
          <p:cNvPr id="13" name="">
            <a:extLst xmlns:a="http://schemas.openxmlformats.org/drawingml/2006/main">
              <a:ext uri="{FF2B5EF4-FFF2-40B4-BE49-F238E27FC236}">
                <a16:creationId xmlns:a16="http://schemas.microsoft.com/office/drawing/2014/main" id="{E3EEC079-FFDC-4899-A04B-56AE4747461E}"/>
              </a:ext>
            </a:extLst>
          </p:cNvPr>
          <p:cNvSpPr>
            <a:spLocks xmlns:a="http://schemas.openxmlformats.org/drawingml/2006/main" noGrp="1"/>
          </p:cNvSpPr>
          <p:nvPr/>
        </p:nvSpPr>
        <p:spPr>
          <a:xfrm xmlns:a="http://schemas.openxmlformats.org/drawingml/2006/main">
            <a:off x="857250" y="408622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CBA0214-59D5-486B-84E9-56D0F388C56F}"/>
              </a:ext>
            </a:extLst>
          </p:cNvPr>
          <p:cNvSpPr>
            <a:spLocks xmlns:a="http://schemas.openxmlformats.org/drawingml/2006/main" noGrp="1"/>
          </p:cNvSpPr>
          <p:nvPr/>
        </p:nvSpPr>
        <p:spPr>
          <a:xfrm xmlns:a="http://schemas.openxmlformats.org/drawingml/2006/main">
            <a:off x="1085850" y="400050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Generated candidate query prompts and previews</a:t>
            </a:r>
          </a:p>
        </p:txBody>
      </p:sp>
      <p:sp>
        <p:nvSpPr>
          <p:cNvPr id="15" name="">
            <a:extLst xmlns:a="http://schemas.openxmlformats.org/drawingml/2006/main">
              <a:ext uri="{FF2B5EF4-FFF2-40B4-BE49-F238E27FC236}">
                <a16:creationId xmlns:a16="http://schemas.microsoft.com/office/drawing/2014/main" id="{F29AA7EF-CFA7-40AC-9B8F-401E66681ACB}"/>
              </a:ext>
            </a:extLst>
          </p:cNvPr>
          <p:cNvSpPr>
            <a:spLocks xmlns:a="http://schemas.openxmlformats.org/drawingml/2006/main" noGrp="1"/>
          </p:cNvSpPr>
          <p:nvPr/>
        </p:nvSpPr>
        <p:spPr>
          <a:xfrm xmlns:a="http://schemas.openxmlformats.org/drawingml/2006/main">
            <a:off x="857250" y="4619625"/>
            <a:ext cx="423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777"/>
                </a:solidFill>
                <a:latin typeface="Avenir"/>
                <a:ea typeface="Avenir"/>
                <a:cs typeface="Avenir"/>
              </a:defRPr>
            </a:defPPr>
          </a:lstStyle>
          <a:p xmlns:a="http://schemas.openxmlformats.org/drawingml/2006/main">
            <a:pPr algn="l">
              <a:defRPr sz="1275" b="1">
                <a:solidFill>
                  <a:srgbClr val="526777"/>
                </a:solidFill>
                <a:latin typeface="Avenir"/>
                <a:ea typeface="Avenir"/>
                <a:cs typeface="Avenir"/>
              </a:defRPr>
            </a:pPr>
            <a:r>
              <a:rPr sz="1275" b="1">
                <a:solidFill>
                  <a:srgbClr val="526777"/>
                </a:solidFill>
                <a:latin typeface="Avenir"/>
                <a:ea typeface="Avenir"/>
                <a:cs typeface="Avenir"/>
              </a:rPr>
              <a:t>Useful pilot evidence, but not an official Affogato benchmark.</a:t>
            </a:r>
          </a:p>
        </p:txBody>
      </p:sp>
      <p:sp>
        <p:nvSpPr>
          <p:cNvPr id="16" name="">
            <a:extLst xmlns:a="http://schemas.openxmlformats.org/drawingml/2006/main">
              <a:ext uri="{FF2B5EF4-FFF2-40B4-BE49-F238E27FC236}">
                <a16:creationId xmlns:a16="http://schemas.microsoft.com/office/drawing/2014/main" id="{B2DADA23-2121-40F1-A06E-B3D608D1AC63}"/>
              </a:ext>
            </a:extLst>
          </p:cNvPr>
          <p:cNvSpPr>
            <a:spLocks xmlns:a="http://schemas.openxmlformats.org/drawingml/2006/main" noGrp="1"/>
          </p:cNvSpPr>
          <p:nvPr/>
        </p:nvSpPr>
        <p:spPr>
          <a:xfrm xmlns:a="http://schemas.openxmlformats.org/drawingml/2006/main">
            <a:off x="6057900" y="1638300"/>
            <a:ext cx="55245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0FDD1BDA-F505-4395-83FC-2ADEC503C5B8}"/>
              </a:ext>
            </a:extLst>
          </p:cNvPr>
          <p:cNvSpPr>
            <a:spLocks xmlns:a="http://schemas.openxmlformats.org/drawingml/2006/main" noGrp="1"/>
          </p:cNvSpPr>
          <p:nvPr/>
        </p:nvSpPr>
        <p:spPr>
          <a:xfrm xmlns:a="http://schemas.openxmlformats.org/drawingml/2006/main">
            <a:off x="6305550" y="18478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AFFOSTRUCTION</a:t>
            </a:r>
          </a:p>
        </p:txBody>
      </p:sp>
      <p:sp>
        <p:nvSpPr>
          <p:cNvPr id="18" name="">
            <a:extLst xmlns:a="http://schemas.openxmlformats.org/drawingml/2006/main">
              <a:ext uri="{FF2B5EF4-FFF2-40B4-BE49-F238E27FC236}">
                <a16:creationId xmlns:a16="http://schemas.microsoft.com/office/drawing/2014/main" id="{2C5CAD2A-D98E-43B4-9577-63675CAD53E6}"/>
              </a:ext>
            </a:extLst>
          </p:cNvPr>
          <p:cNvSpPr>
            <a:spLocks xmlns:a="http://schemas.openxmlformats.org/drawingml/2006/main" noGrp="1"/>
          </p:cNvSpPr>
          <p:nvPr/>
        </p:nvSpPr>
        <p:spPr>
          <a:xfrm xmlns:a="http://schemas.openxmlformats.org/drawingml/2006/main">
            <a:off x="6305550" y="226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02A43"/>
                </a:solidFill>
                <a:latin typeface="Avenir"/>
                <a:ea typeface="Avenir"/>
                <a:cs typeface="Avenir"/>
              </a:defRPr>
            </a:defPPr>
          </a:lstStyle>
          <a:p xmlns:a="http://schemas.openxmlformats.org/drawingml/2006/main">
            <a:pPr algn="l">
              <a:defRPr sz="1800" b="1">
                <a:solidFill>
                  <a:srgbClr val="102A43"/>
                </a:solidFill>
                <a:latin typeface="Avenir"/>
                <a:ea typeface="Avenir"/>
                <a:cs typeface="Avenir"/>
              </a:defRPr>
            </a:pPr>
            <a:r>
              <a:rPr sz="1800" b="1">
                <a:solidFill>
                  <a:srgbClr val="102A43"/>
                </a:solidFill>
                <a:latin typeface="Avenir"/>
                <a:ea typeface="Avenir"/>
                <a:cs typeface="Avenir"/>
              </a:rPr>
              <a:t>Not run in our experiments</a:t>
            </a:r>
          </a:p>
        </p:txBody>
      </p:sp>
      <p:sp>
        <p:nvSpPr>
          <p:cNvPr id="19" name="">
            <a:extLst xmlns:a="http://schemas.openxmlformats.org/drawingml/2006/main">
              <a:ext uri="{FF2B5EF4-FFF2-40B4-BE49-F238E27FC236}">
                <a16:creationId xmlns:a16="http://schemas.microsoft.com/office/drawing/2014/main" id="{7EE9C613-96CA-4589-8251-53295C1A6862}"/>
              </a:ext>
            </a:extLst>
          </p:cNvPr>
          <p:cNvSpPr>
            <a:spLocks xmlns:a="http://schemas.openxmlformats.org/drawingml/2006/main" noGrp="1"/>
          </p:cNvSpPr>
          <p:nvPr/>
        </p:nvSpPr>
        <p:spPr>
          <a:xfrm xmlns:a="http://schemas.openxmlformats.org/drawingml/2006/main">
            <a:off x="6305550" y="2781300"/>
            <a:ext cx="4762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B3A"/>
                </a:solidFill>
                <a:latin typeface="Avenir"/>
                <a:ea typeface="Avenir"/>
                <a:cs typeface="Avenir"/>
              </a:defRPr>
            </a:defPPr>
          </a:lstStyle>
          <a:p xmlns:a="http://schemas.openxmlformats.org/drawingml/2006/main">
            <a:pPr algn="l">
              <a:defRPr sz="1500" b="0">
                <a:solidFill>
                  <a:srgbClr val="172B3A"/>
                </a:solidFill>
                <a:latin typeface="Avenir"/>
                <a:ea typeface="Avenir"/>
                <a:cs typeface="Avenir"/>
              </a:defRPr>
            </a:pPr>
            <a:r>
              <a:rPr sz="1500" b="0">
                <a:solidFill>
                  <a:srgbClr val="172B3A"/>
                </a:solidFill>
                <a:latin typeface="Avenir"/>
                <a:ea typeface="Avenir"/>
                <a:cs typeface="Avenir"/>
              </a:rPr>
              <a:t>We cite it as related work, not as a result from our project.</a:t>
            </a:r>
          </a:p>
        </p:txBody>
      </p:sp>
      <p:sp>
        <p:nvSpPr>
          <p:cNvPr id="20" name="">
            <a:extLst xmlns:a="http://schemas.openxmlformats.org/drawingml/2006/main">
              <a:ext uri="{FF2B5EF4-FFF2-40B4-BE49-F238E27FC236}">
                <a16:creationId xmlns:a16="http://schemas.microsoft.com/office/drawing/2014/main" id="{885DD00C-6031-4126-B6E1-640C1EA147A9}"/>
              </a:ext>
            </a:extLst>
          </p:cNvPr>
          <p:cNvSpPr>
            <a:spLocks xmlns:a="http://schemas.openxmlformats.org/drawingml/2006/main" noGrp="1"/>
          </p:cNvSpPr>
          <p:nvPr/>
        </p:nvSpPr>
        <p:spPr>
          <a:xfrm xmlns:a="http://schemas.openxmlformats.org/drawingml/2006/main">
            <a:off x="6305550" y="4067175"/>
            <a:ext cx="34290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1" name="">
            <a:extLst xmlns:a="http://schemas.openxmlformats.org/drawingml/2006/main">
              <a:ext uri="{FF2B5EF4-FFF2-40B4-BE49-F238E27FC236}">
                <a16:creationId xmlns:a16="http://schemas.microsoft.com/office/drawing/2014/main" id="{EC984C58-A3BF-498D-AC50-9A8DD2A84FC1}"/>
              </a:ext>
            </a:extLst>
          </p:cNvPr>
          <p:cNvSpPr>
            <a:spLocks xmlns:a="http://schemas.openxmlformats.org/drawingml/2006/main" noGrp="1"/>
          </p:cNvSpPr>
          <p:nvPr/>
        </p:nvSpPr>
        <p:spPr>
          <a:xfrm xmlns:a="http://schemas.openxmlformats.org/drawingml/2006/main">
            <a:off x="6372225" y="4067175"/>
            <a:ext cx="3295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DO NOT MIX THESE WITH OPENAD SCORES</a:t>
            </a:r>
          </a:p>
        </p:txBody>
      </p:sp>
      <p:sp>
        <p:nvSpPr>
          <p:cNvPr id="22" name="">
            <a:extLst xmlns:a="http://schemas.openxmlformats.org/drawingml/2006/main">
              <a:ext uri="{FF2B5EF4-FFF2-40B4-BE49-F238E27FC236}">
                <a16:creationId xmlns:a16="http://schemas.microsoft.com/office/drawing/2014/main" id="{8D405FDD-CA42-4E61-AB81-B876296E78D2}"/>
              </a:ext>
            </a:extLst>
          </p:cNvPr>
          <p:cNvSpPr>
            <a:spLocks xmlns:a="http://schemas.openxmlformats.org/drawingml/2006/main" noGrp="1"/>
          </p:cNvSpPr>
          <p:nvPr/>
        </p:nvSpPr>
        <p:spPr>
          <a:xfrm xmlns:a="http://schemas.openxmlformats.org/drawingml/2006/main">
            <a:off x="609600" y="5448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72B3A"/>
                </a:solidFill>
                <a:latin typeface="Avenir"/>
                <a:ea typeface="Avenir"/>
                <a:cs typeface="Avenir"/>
              </a:defRPr>
            </a:defPPr>
          </a:lstStyle>
          <a:p xmlns:a="http://schemas.openxmlformats.org/drawingml/2006/main">
            <a:pPr algn="l">
              <a:defRPr sz="1500" b="1">
                <a:solidFill>
                  <a:srgbClr val="172B3A"/>
                </a:solidFill>
                <a:latin typeface="Avenir"/>
                <a:ea typeface="Avenir"/>
                <a:cs typeface="Avenir"/>
              </a:defRPr>
            </a:pPr>
            <a:r>
              <a:rPr sz="1500" b="1">
                <a:solidFill>
                  <a:srgbClr val="172B3A"/>
                </a:solidFill>
                <a:latin typeface="Avenir"/>
                <a:ea typeface="Avenir"/>
                <a:cs typeface="Avenir"/>
              </a:rPr>
              <a:t>Our measured results in this proposal are OpenAD results.</a:t>
            </a:r>
          </a:p>
        </p:txBody>
      </p:sp>
    </p:spTree>
    <p:extLst>
      <p:ext uri="{BB962C8B-B14F-4D97-AF65-F5344CB8AC3E}">
        <p14:creationId xmlns:p14="http://schemas.microsoft.com/office/powerpoint/2010/main" val="1681161555"/>
      </p:ext>
    </p:extLst>
  </p:cSld>
</p:sld>
</file>

<file path=ppt/slides/slide8.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412C384-F10C-4F3D-991E-EA2722E9A6B4}"/>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5466FC77-595D-4653-A2B6-1D422A177924}"/>
              </a:ext>
            </a:extLst>
          </p:cNvPr>
          <p:cNvPicPr>
            <a:picLocks xmlns:a="http://schemas.openxmlformats.org/drawingml/2006/main" noChangeAspect="1"/>
          </p:cNvPicPr>
          <p:nvPr/>
        </p:nvPicPr>
        <p:blipFill>
          <a:blip xmlns:r="http://schemas.openxmlformats.org/officeDocument/2006/relationships" xmlns:a="http://schemas.openxmlformats.org/drawingml/2006/main" r:embed="R399f49215be846b9"/>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C649A2-913B-4311-AA07-821ABD911F4A}"/>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Can multiple prompts improve localization reliably?</a:t>
            </a:r>
          </a:p>
        </p:txBody>
      </p:sp>
      <p:sp>
        <p:nvSpPr>
          <p:cNvPr id="4" name="">
            <a:extLst xmlns:a="http://schemas.openxmlformats.org/drawingml/2006/main">
              <a:ext uri="{FF2B5EF4-FFF2-40B4-BE49-F238E27FC236}">
                <a16:creationId xmlns:a16="http://schemas.microsoft.com/office/drawing/2014/main" id="{3620B503-4617-47EA-847C-A3DA13DC50FD}"/>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FDA05B8-B081-44C1-A507-1AD6054DB154}"/>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08 / 12</a:t>
            </a:r>
          </a:p>
        </p:txBody>
      </p:sp>
      <p:sp>
        <p:nvSpPr>
          <p:cNvPr id="6" name="">
            <a:extLst xmlns:a="http://schemas.openxmlformats.org/drawingml/2006/main">
              <a:ext uri="{FF2B5EF4-FFF2-40B4-BE49-F238E27FC236}">
                <a16:creationId xmlns:a16="http://schemas.microsoft.com/office/drawing/2014/main" id="{DEC7129D-BDF0-4228-85BA-0C0F3EC123D1}"/>
              </a:ext>
            </a:extLst>
          </p:cNvPr>
          <p:cNvSpPr>
            <a:spLocks xmlns:a="http://schemas.openxmlformats.org/drawingml/2006/main" noGrp="1"/>
          </p:cNvSpPr>
          <p:nvPr/>
        </p:nvSpPr>
        <p:spPr>
          <a:xfrm xmlns:a="http://schemas.openxmlformats.org/drawingml/2006/main">
            <a:off x="609600" y="1638300"/>
            <a:ext cx="10972800" cy="1943100"/>
          </a:xfrm>
          <a:prstGeom xmlns:a="http://schemas.openxmlformats.org/drawingml/2006/main" prst="roundRect">
            <a:avLst>
              <a:gd name="adj" fmla="val 3922"/>
            </a:avLst>
          </a:prstGeom>
          <a:solidFill xmlns:a="http://schemas.openxmlformats.org/drawingml/2006/main">
            <a:srgbClr val="102A43"/>
          </a:solidFill>
          <a:ln xmlns:a="http://schemas.openxmlformats.org/drawingml/2006/main" w="9525">
            <a:noFill/>
            <a:prstDash val="solid"/>
          </a:ln>
        </p:spPr>
      </p:sp>
      <p:sp>
        <p:nvSpPr>
          <p:cNvPr id="7" name="">
            <a:extLst xmlns:a="http://schemas.openxmlformats.org/drawingml/2006/main">
              <a:ext uri="{FF2B5EF4-FFF2-40B4-BE49-F238E27FC236}">
                <a16:creationId xmlns:a16="http://schemas.microsoft.com/office/drawing/2014/main" id="{E40C557A-7868-4379-BEEB-6EFC08D3A8B7}"/>
              </a:ext>
            </a:extLst>
          </p:cNvPr>
          <p:cNvSpPr>
            <a:spLocks xmlns:a="http://schemas.openxmlformats.org/drawingml/2006/main" noGrp="1"/>
          </p:cNvSpPr>
          <p:nvPr/>
        </p:nvSpPr>
        <p:spPr>
          <a:xfrm xmlns:a="http://schemas.openxmlformats.org/drawingml/2006/main">
            <a:off x="914400" y="1847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RESEARCH QUESTION</a:t>
            </a:r>
          </a:p>
        </p:txBody>
      </p:sp>
      <p:sp>
        <p:nvSpPr>
          <p:cNvPr id="8" name="">
            <a:extLst xmlns:a="http://schemas.openxmlformats.org/drawingml/2006/main">
              <a:ext uri="{FF2B5EF4-FFF2-40B4-BE49-F238E27FC236}">
                <a16:creationId xmlns:a16="http://schemas.microsoft.com/office/drawing/2014/main" id="{90ADA801-EFAD-47BF-A908-AC28179D3AAF}"/>
              </a:ext>
            </a:extLst>
          </p:cNvPr>
          <p:cNvSpPr>
            <a:spLocks xmlns:a="http://schemas.openxmlformats.org/drawingml/2006/main" noGrp="1"/>
          </p:cNvSpPr>
          <p:nvPr/>
        </p:nvSpPr>
        <p:spPr>
          <a:xfrm xmlns:a="http://schemas.openxmlformats.org/drawingml/2006/main">
            <a:off x="914400" y="2247900"/>
            <a:ext cx="1009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950" b="1">
                <a:solidFill>
                  <a:srgbClr val="FFFFFF"/>
                </a:solidFill>
                <a:latin typeface="Avenir"/>
                <a:ea typeface="Avenir"/>
                <a:cs typeface="Avenir"/>
              </a:defRPr>
            </a:defPPr>
          </a:lstStyle>
          <a:p xmlns:a="http://schemas.openxmlformats.org/drawingml/2006/main">
            <a:pPr algn="l">
              <a:defRPr sz="1950" b="1">
                <a:solidFill>
                  <a:srgbClr val="FFFFFF"/>
                </a:solidFill>
                <a:latin typeface="Avenir"/>
                <a:ea typeface="Avenir"/>
                <a:cs typeface="Avenir"/>
              </a:defRPr>
            </a:pPr>
            <a:r>
              <a:rPr sz="1950" b="1">
                <a:solidFill>
                  <a:srgbClr val="FFFFFF"/>
                </a:solidFill>
                <a:latin typeface="Avenir"/>
                <a:ea typeface="Avenir"/>
                <a:cs typeface="Avenir"/>
              </a:rPr>
              <a:t>Across 18 actions on partial point clouds, do one or three fixed paraphrases improve OpenAD localization over canonical action words without increasing false alarms?</a:t>
            </a:r>
          </a:p>
        </p:txBody>
      </p:sp>
      <p:sp>
        <p:nvSpPr>
          <p:cNvPr id="9" name="">
            <a:extLst xmlns:a="http://schemas.openxmlformats.org/drawingml/2006/main">
              <a:ext uri="{FF2B5EF4-FFF2-40B4-BE49-F238E27FC236}">
                <a16:creationId xmlns:a16="http://schemas.microsoft.com/office/drawing/2014/main" id="{C26D4E8F-8A52-4747-8935-B5B2AA4449D2}"/>
              </a:ext>
            </a:extLst>
          </p:cNvPr>
          <p:cNvSpPr>
            <a:spLocks xmlns:a="http://schemas.openxmlformats.org/drawingml/2006/main" noGrp="1"/>
          </p:cNvSpPr>
          <p:nvPr/>
        </p:nvSpPr>
        <p:spPr>
          <a:xfrm xmlns:a="http://schemas.openxmlformats.org/drawingml/2006/main">
            <a:off x="609600" y="3857625"/>
            <a:ext cx="1097280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7E1E8"/>
            </a:solidFill>
            <a:prstDash val="solid"/>
          </a:ln>
        </p:spPr>
      </p:sp>
      <p:sp>
        <p:nvSpPr>
          <p:cNvPr id="10" name="">
            <a:extLst xmlns:a="http://schemas.openxmlformats.org/drawingml/2006/main">
              <a:ext uri="{FF2B5EF4-FFF2-40B4-BE49-F238E27FC236}">
                <a16:creationId xmlns:a16="http://schemas.microsoft.com/office/drawing/2014/main" id="{ED13BE92-3BA6-41CC-99E2-60F4088CB37C}"/>
              </a:ext>
            </a:extLst>
          </p:cNvPr>
          <p:cNvSpPr>
            <a:spLocks xmlns:a="http://schemas.openxmlformats.org/drawingml/2006/main" noGrp="1"/>
          </p:cNvSpPr>
          <p:nvPr/>
        </p:nvSpPr>
        <p:spPr>
          <a:xfrm xmlns:a="http://schemas.openxmlformats.org/drawingml/2006/main">
            <a:off x="876300" y="4057650"/>
            <a:ext cx="2238375"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38FC49FF-7CFA-4D9B-8A80-14BCD1650FB5}"/>
              </a:ext>
            </a:extLst>
          </p:cNvPr>
          <p:cNvSpPr>
            <a:spLocks xmlns:a="http://schemas.openxmlformats.org/drawingml/2006/main" noGrp="1"/>
          </p:cNvSpPr>
          <p:nvPr/>
        </p:nvSpPr>
        <p:spPr>
          <a:xfrm xmlns:a="http://schemas.openxmlformats.org/drawingml/2006/main">
            <a:off x="942975" y="4057650"/>
            <a:ext cx="21050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TESTABLE HYPOTHESIS</a:t>
            </a:r>
          </a:p>
        </p:txBody>
      </p:sp>
      <p:sp>
        <p:nvSpPr>
          <p:cNvPr id="12" name="">
            <a:extLst xmlns:a="http://schemas.openxmlformats.org/drawingml/2006/main">
              <a:ext uri="{FF2B5EF4-FFF2-40B4-BE49-F238E27FC236}">
                <a16:creationId xmlns:a16="http://schemas.microsoft.com/office/drawing/2014/main" id="{4FC10230-8342-47F4-BC81-DA71D4AFA126}"/>
              </a:ext>
            </a:extLst>
          </p:cNvPr>
          <p:cNvSpPr>
            <a:spLocks xmlns:a="http://schemas.openxmlformats.org/drawingml/2006/main" noGrp="1"/>
          </p:cNvSpPr>
          <p:nvPr/>
        </p:nvSpPr>
        <p:spPr>
          <a:xfrm xmlns:a="http://schemas.openxmlformats.org/drawingml/2006/main">
            <a:off x="876300" y="451485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02A43"/>
                </a:solidFill>
                <a:latin typeface="Avenir"/>
                <a:ea typeface="Avenir"/>
                <a:cs typeface="Avenir"/>
              </a:defRPr>
            </a:defPPr>
          </a:lstStyle>
          <a:p xmlns:a="http://schemas.openxmlformats.org/drawingml/2006/main">
            <a:pPr algn="l">
              <a:defRPr sz="1500" b="1">
                <a:solidFill>
                  <a:srgbClr val="102A43"/>
                </a:solidFill>
                <a:latin typeface="Avenir"/>
                <a:ea typeface="Avenir"/>
                <a:cs typeface="Avenir"/>
              </a:defRPr>
            </a:pPr>
            <a:r>
              <a:rPr sz="1500" b="1">
                <a:solidFill>
                  <a:srgbClr val="102A43"/>
                </a:solidFill>
                <a:latin typeface="Avenir"/>
                <a:ea typeface="Avenir"/>
                <a:cs typeface="Avenir"/>
              </a:rPr>
              <a:t>Averaging three fixed paraphrase scores will improve mean IoU over canonical queries and help more consistently across actions.</a:t>
            </a:r>
          </a:p>
        </p:txBody>
      </p:sp>
      <p:sp>
        <p:nvSpPr>
          <p:cNvPr id="13" name="">
            <a:extLst xmlns:a="http://schemas.openxmlformats.org/drawingml/2006/main">
              <a:ext uri="{FF2B5EF4-FFF2-40B4-BE49-F238E27FC236}">
                <a16:creationId xmlns:a16="http://schemas.microsoft.com/office/drawing/2014/main" id="{168F5FBF-FDCA-4270-87E4-D4C487BF74A9}"/>
              </a:ext>
            </a:extLst>
          </p:cNvPr>
          <p:cNvSpPr>
            <a:spLocks xmlns:a="http://schemas.openxmlformats.org/drawingml/2006/main" noGrp="1"/>
          </p:cNvSpPr>
          <p:nvPr/>
        </p:nvSpPr>
        <p:spPr>
          <a:xfrm xmlns:a="http://schemas.openxmlformats.org/drawingml/2006/main">
            <a:off x="876300" y="4953000"/>
            <a:ext cx="10144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526777"/>
                </a:solidFill>
                <a:latin typeface="Avenir"/>
                <a:ea typeface="Avenir"/>
                <a:cs typeface="Avenir"/>
              </a:defRPr>
            </a:defPPr>
          </a:lstStyle>
          <a:p xmlns:a="http://schemas.openxmlformats.org/drawingml/2006/main">
            <a:pPr algn="l">
              <a:defRPr sz="1275" b="0">
                <a:solidFill>
                  <a:srgbClr val="526777"/>
                </a:solidFill>
                <a:latin typeface="Avenir"/>
                <a:ea typeface="Avenir"/>
                <a:cs typeface="Avenir"/>
              </a:defRPr>
            </a:pPr>
            <a:r>
              <a:rPr sz="1275" b="0">
                <a:solidFill>
                  <a:srgbClr val="526777"/>
                </a:solidFill>
                <a:latin typeface="Avenir"/>
                <a:ea typeface="Avenir"/>
                <a:cs typeface="Avenir"/>
              </a:rPr>
              <a:t>Primary test: three-prompt average vs canonical; support requires a positive paired gain with 95% CI above zero.</a:t>
            </a:r>
          </a:p>
        </p:txBody>
      </p:sp>
    </p:spTree>
    <p:extLst>
      <p:ext uri="{BB962C8B-B14F-4D97-AF65-F5344CB8AC3E}">
        <p14:creationId xmlns:p14="http://schemas.microsoft.com/office/powerpoint/2010/main" val="504435144"/>
      </p:ext>
    </p:extLst>
  </p:cSld>
</p:sld>
</file>

<file path=ppt/slides/slide9.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EA370484-38BD-4D78-97A8-4BD27EF10372}"/>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17BE1E63-0E5C-412B-9E46-E1EF19E84980}"/>
              </a:ext>
            </a:extLst>
          </p:cNvPr>
          <p:cNvPicPr>
            <a:picLocks xmlns:a="http://schemas.openxmlformats.org/drawingml/2006/main" noChangeAspect="1"/>
          </p:cNvPicPr>
          <p:nvPr/>
        </p:nvPicPr>
        <p:blipFill>
          <a:blip xmlns:r="http://schemas.openxmlformats.org/officeDocument/2006/relationships" xmlns:a="http://schemas.openxmlformats.org/drawingml/2006/main" r:embed="Rea68f8456f2348f9"/>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5A5735-C4AB-41FB-B4A4-649B6ED8162F}"/>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Three query conditions; everything else stays fixed</a:t>
            </a:r>
          </a:p>
        </p:txBody>
      </p:sp>
      <p:sp>
        <p:nvSpPr>
          <p:cNvPr id="4" name="">
            <a:extLst xmlns:a="http://schemas.openxmlformats.org/drawingml/2006/main">
              <a:ext uri="{FF2B5EF4-FFF2-40B4-BE49-F238E27FC236}">
                <a16:creationId xmlns:a16="http://schemas.microsoft.com/office/drawing/2014/main" id="{0664C292-3CCF-4143-9A35-B3DD0887EDE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727472-5BA5-4CD8-9EE4-2E455C85D5A2}"/>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09 / 12</a:t>
            </a:r>
          </a:p>
        </p:txBody>
      </p:sp>
      <p:sp>
        <p:nvSpPr>
          <p:cNvPr id="6" name="">
            <a:extLst xmlns:a="http://schemas.openxmlformats.org/drawingml/2006/main">
              <a:ext uri="{FF2B5EF4-FFF2-40B4-BE49-F238E27FC236}">
                <a16:creationId xmlns:a16="http://schemas.microsoft.com/office/drawing/2014/main" id="{2A088C86-3AD6-402F-BF5F-5BEBFADF47C7}"/>
              </a:ext>
            </a:extLst>
          </p:cNvPr>
          <p:cNvSpPr>
            <a:spLocks xmlns:a="http://schemas.openxmlformats.org/drawingml/2006/main" noGrp="1"/>
          </p:cNvSpPr>
          <p:nvPr/>
        </p:nvSpPr>
        <p:spPr>
          <a:xfrm xmlns:a="http://schemas.openxmlformats.org/drawingml/2006/main">
            <a:off x="609600" y="1619250"/>
            <a:ext cx="5191125"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63251EC7-9508-49D2-8CDF-35784D865CFF}"/>
              </a:ext>
            </a:extLst>
          </p:cNvPr>
          <p:cNvSpPr>
            <a:spLocks xmlns:a="http://schemas.openxmlformats.org/drawingml/2006/main" noGrp="1"/>
          </p:cNvSpPr>
          <p:nvPr/>
        </p:nvSpPr>
        <p:spPr>
          <a:xfrm xmlns:a="http://schemas.openxmlformats.org/drawingml/2006/main">
            <a:off x="85725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FAIR COMPARISON</a:t>
            </a:r>
          </a:p>
        </p:txBody>
      </p:sp>
      <p:sp>
        <p:nvSpPr>
          <p:cNvPr id="8" name="">
            <a:extLst xmlns:a="http://schemas.openxmlformats.org/drawingml/2006/main">
              <a:ext uri="{FF2B5EF4-FFF2-40B4-BE49-F238E27FC236}">
                <a16:creationId xmlns:a16="http://schemas.microsoft.com/office/drawing/2014/main" id="{0FA13FC8-4C07-4BD4-BBF2-B6DCBA9E56BA}"/>
              </a:ext>
            </a:extLst>
          </p:cNvPr>
          <p:cNvSpPr>
            <a:spLocks xmlns:a="http://schemas.openxmlformats.org/drawingml/2006/main" noGrp="1"/>
          </p:cNvSpPr>
          <p:nvPr/>
        </p:nvSpPr>
        <p:spPr>
          <a:xfrm xmlns:a="http://schemas.openxmlformats.org/drawingml/2006/main">
            <a:off x="85725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D9BB6BD-D200-4112-88E8-DEA155E632FD}"/>
              </a:ext>
            </a:extLst>
          </p:cNvPr>
          <p:cNvSpPr>
            <a:spLocks xmlns:a="http://schemas.openxmlformats.org/drawingml/2006/main" noGrp="1"/>
          </p:cNvSpPr>
          <p:nvPr/>
        </p:nvSpPr>
        <p:spPr>
          <a:xfrm xmlns:a="http://schemas.openxmlformats.org/drawingml/2006/main">
            <a:off x="1085850" y="2266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Same frozen OpenAD model and point samples</a:t>
            </a:r>
          </a:p>
        </p:txBody>
      </p:sp>
      <p:sp>
        <p:nvSpPr>
          <p:cNvPr id="10" name="">
            <a:extLst xmlns:a="http://schemas.openxmlformats.org/drawingml/2006/main">
              <a:ext uri="{FF2B5EF4-FFF2-40B4-BE49-F238E27FC236}">
                <a16:creationId xmlns:a16="http://schemas.microsoft.com/office/drawing/2014/main" id="{E4DA3AB6-3DC2-4320-9220-FC4F778C67D9}"/>
              </a:ext>
            </a:extLst>
          </p:cNvPr>
          <p:cNvSpPr>
            <a:spLocks xmlns:a="http://schemas.openxmlformats.org/drawingml/2006/main" noGrp="1"/>
          </p:cNvSpPr>
          <p:nvPr/>
        </p:nvSpPr>
        <p:spPr>
          <a:xfrm xmlns:a="http://schemas.openxmlformats.org/drawingml/2006/main">
            <a:off x="85725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796863-0701-4356-BD47-37CA13B24F27}"/>
              </a:ext>
            </a:extLst>
          </p:cNvPr>
          <p:cNvSpPr>
            <a:spLocks xmlns:a="http://schemas.openxmlformats.org/drawingml/2006/main" noGrp="1"/>
          </p:cNvSpPr>
          <p:nvPr/>
        </p:nvSpPr>
        <p:spPr>
          <a:xfrm xmlns:a="http://schemas.openxmlformats.org/drawingml/2006/main">
            <a:off x="1085850" y="2838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A: canonical action word</a:t>
            </a:r>
          </a:p>
        </p:txBody>
      </p:sp>
      <p:sp>
        <p:nvSpPr>
          <p:cNvPr id="12" name="">
            <a:extLst xmlns:a="http://schemas.openxmlformats.org/drawingml/2006/main">
              <a:ext uri="{FF2B5EF4-FFF2-40B4-BE49-F238E27FC236}">
                <a16:creationId xmlns:a16="http://schemas.microsoft.com/office/drawing/2014/main" id="{6B1B4A03-87FC-4236-BFC5-ED229C024A85}"/>
              </a:ext>
            </a:extLst>
          </p:cNvPr>
          <p:cNvSpPr>
            <a:spLocks xmlns:a="http://schemas.openxmlformats.org/drawingml/2006/main" noGrp="1"/>
          </p:cNvSpPr>
          <p:nvPr/>
        </p:nvSpPr>
        <p:spPr>
          <a:xfrm xmlns:a="http://schemas.openxmlformats.org/drawingml/2006/main">
            <a:off x="85725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563BE9-B2EA-4535-BE8D-9BAF340157A4}"/>
              </a:ext>
            </a:extLst>
          </p:cNvPr>
          <p:cNvSpPr>
            <a:spLocks xmlns:a="http://schemas.openxmlformats.org/drawingml/2006/main" noGrp="1"/>
          </p:cNvSpPr>
          <p:nvPr/>
        </p:nvSpPr>
        <p:spPr>
          <a:xfrm xmlns:a="http://schemas.openxmlformats.org/drawingml/2006/main">
            <a:off x="1085850" y="3409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B: one fixed paraphrase</a:t>
            </a:r>
          </a:p>
        </p:txBody>
      </p:sp>
      <p:sp>
        <p:nvSpPr>
          <p:cNvPr id="14" name="">
            <a:extLst xmlns:a="http://schemas.openxmlformats.org/drawingml/2006/main">
              <a:ext uri="{FF2B5EF4-FFF2-40B4-BE49-F238E27FC236}">
                <a16:creationId xmlns:a16="http://schemas.microsoft.com/office/drawing/2014/main" id="{3A32B121-E7BF-44DB-A2FF-EFBEA9FEB570}"/>
              </a:ext>
            </a:extLst>
          </p:cNvPr>
          <p:cNvSpPr>
            <a:spLocks xmlns:a="http://schemas.openxmlformats.org/drawingml/2006/main" noGrp="1"/>
          </p:cNvSpPr>
          <p:nvPr/>
        </p:nvSpPr>
        <p:spPr>
          <a:xfrm xmlns:a="http://schemas.openxmlformats.org/drawingml/2006/main">
            <a:off x="85725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50C600F-6443-49C4-94AA-F449D583D13C}"/>
              </a:ext>
            </a:extLst>
          </p:cNvPr>
          <p:cNvSpPr>
            <a:spLocks xmlns:a="http://schemas.openxmlformats.org/drawingml/2006/main" noGrp="1"/>
          </p:cNvSpPr>
          <p:nvPr/>
        </p:nvSpPr>
        <p:spPr>
          <a:xfrm xmlns:a="http://schemas.openxmlformats.org/drawingml/2006/main">
            <a:off x="1085850" y="39814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C: average of three fixed paraphrase score maps</a:t>
            </a:r>
          </a:p>
        </p:txBody>
      </p:sp>
      <p:sp>
        <p:nvSpPr>
          <p:cNvPr id="16" name="">
            <a:extLst xmlns:a="http://schemas.openxmlformats.org/drawingml/2006/main">
              <a:ext uri="{FF2B5EF4-FFF2-40B4-BE49-F238E27FC236}">
                <a16:creationId xmlns:a16="http://schemas.microsoft.com/office/drawing/2014/main" id="{F09FD644-16F2-4665-A5EC-13212C4EEFA9}"/>
              </a:ext>
            </a:extLst>
          </p:cNvPr>
          <p:cNvSpPr>
            <a:spLocks xmlns:a="http://schemas.openxmlformats.org/drawingml/2006/main" noGrp="1"/>
          </p:cNvSpPr>
          <p:nvPr/>
        </p:nvSpPr>
        <p:spPr>
          <a:xfrm xmlns:a="http://schemas.openxmlformats.org/drawingml/2006/main">
            <a:off x="85725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AFFFF94-87A3-462B-87FB-C86101223392}"/>
              </a:ext>
            </a:extLst>
          </p:cNvPr>
          <p:cNvSpPr>
            <a:spLocks xmlns:a="http://schemas.openxmlformats.org/drawingml/2006/main" noGrp="1"/>
          </p:cNvSpPr>
          <p:nvPr/>
        </p:nvSpPr>
        <p:spPr>
          <a:xfrm xmlns:a="http://schemas.openxmlformats.org/drawingml/2006/main">
            <a:off x="1085850" y="4552950"/>
            <a:ext cx="4248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Partial views primary; full shapes control</a:t>
            </a:r>
          </a:p>
        </p:txBody>
      </p:sp>
      <p:sp>
        <p:nvSpPr>
          <p:cNvPr id="18" name="">
            <a:extLst xmlns:a="http://schemas.openxmlformats.org/drawingml/2006/main">
              <a:ext uri="{FF2B5EF4-FFF2-40B4-BE49-F238E27FC236}">
                <a16:creationId xmlns:a16="http://schemas.microsoft.com/office/drawing/2014/main" id="{5D8FC701-8D23-4912-A868-4EEE8597FF08}"/>
              </a:ext>
            </a:extLst>
          </p:cNvPr>
          <p:cNvSpPr>
            <a:spLocks xmlns:a="http://schemas.openxmlformats.org/drawingml/2006/main" noGrp="1"/>
          </p:cNvSpPr>
          <p:nvPr/>
        </p:nvSpPr>
        <p:spPr>
          <a:xfrm xmlns:a="http://schemas.openxmlformats.org/drawingml/2006/main">
            <a:off x="6038850" y="1619250"/>
            <a:ext cx="5543550" cy="4000500"/>
          </a:xfrm>
          <a:prstGeom xmlns:a="http://schemas.openxmlformats.org/drawingml/2006/main" prst="roundRect">
            <a:avLst>
              <a:gd name="adj" fmla="val 1905"/>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29A1A620-A388-4535-8B83-263E71AF542E}"/>
              </a:ext>
            </a:extLst>
          </p:cNvPr>
          <p:cNvSpPr>
            <a:spLocks xmlns:a="http://schemas.openxmlformats.org/drawingml/2006/main" noGrp="1"/>
          </p:cNvSpPr>
          <p:nvPr/>
        </p:nvSpPr>
        <p:spPr>
          <a:xfrm xmlns:a="http://schemas.openxmlformats.org/drawingml/2006/main">
            <a:off x="6286500" y="182880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67DAD"/>
                </a:solidFill>
                <a:latin typeface="Avenir"/>
                <a:ea typeface="Avenir"/>
                <a:cs typeface="Avenir"/>
              </a:defRPr>
            </a:defPPr>
          </a:lstStyle>
          <a:p xmlns:a="http://schemas.openxmlformats.org/drawingml/2006/main">
            <a:pPr algn="l">
              <a:defRPr sz="1200" b="1">
                <a:solidFill>
                  <a:srgbClr val="167DAD"/>
                </a:solidFill>
                <a:latin typeface="Avenir"/>
                <a:ea typeface="Avenir"/>
                <a:cs typeface="Avenir"/>
              </a:defRPr>
            </a:pPr>
            <a:r>
              <a:rPr sz="1200" b="1">
                <a:solidFill>
                  <a:srgbClr val="167DAD"/>
                </a:solidFill>
                <a:latin typeface="Avenir"/>
                <a:ea typeface="Avenir"/>
                <a:cs typeface="Avenir"/>
              </a:rPr>
              <a:t>WHAT WE WILL REPORT</a:t>
            </a:r>
          </a:p>
        </p:txBody>
      </p:sp>
      <p:sp>
        <p:nvSpPr>
          <p:cNvPr id="20" name="">
            <a:extLst xmlns:a="http://schemas.openxmlformats.org/drawingml/2006/main">
              <a:ext uri="{FF2B5EF4-FFF2-40B4-BE49-F238E27FC236}">
                <a16:creationId xmlns:a16="http://schemas.microsoft.com/office/drawing/2014/main" id="{AB257E0F-AD44-427D-A6AC-C07AD18A92C5}"/>
              </a:ext>
            </a:extLst>
          </p:cNvPr>
          <p:cNvSpPr>
            <a:spLocks xmlns:a="http://schemas.openxmlformats.org/drawingml/2006/main" noGrp="1"/>
          </p:cNvSpPr>
          <p:nvPr/>
        </p:nvSpPr>
        <p:spPr>
          <a:xfrm xmlns:a="http://schemas.openxmlformats.org/drawingml/2006/main">
            <a:off x="6286500" y="2352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46BF251-B6A0-4EE6-B8F1-6EB62F263BB9}"/>
              </a:ext>
            </a:extLst>
          </p:cNvPr>
          <p:cNvSpPr>
            <a:spLocks xmlns:a="http://schemas.openxmlformats.org/drawingml/2006/main" noGrp="1"/>
          </p:cNvSpPr>
          <p:nvPr/>
        </p:nvSpPr>
        <p:spPr>
          <a:xfrm xmlns:a="http://schemas.openxmlformats.org/drawingml/2006/main">
            <a:off x="6515100" y="2266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Primary: 18-action mean IoU, C vs A</a:t>
            </a:r>
          </a:p>
        </p:txBody>
      </p:sp>
      <p:sp>
        <p:nvSpPr>
          <p:cNvPr id="22" name="">
            <a:extLst xmlns:a="http://schemas.openxmlformats.org/drawingml/2006/main">
              <a:ext uri="{FF2B5EF4-FFF2-40B4-BE49-F238E27FC236}">
                <a16:creationId xmlns:a16="http://schemas.microsoft.com/office/drawing/2014/main" id="{A7C2935F-C490-4FA9-98CA-26792B930D33}"/>
              </a:ext>
            </a:extLst>
          </p:cNvPr>
          <p:cNvSpPr>
            <a:spLocks xmlns:a="http://schemas.openxmlformats.org/drawingml/2006/main" noGrp="1"/>
          </p:cNvSpPr>
          <p:nvPr/>
        </p:nvSpPr>
        <p:spPr>
          <a:xfrm xmlns:a="http://schemas.openxmlformats.org/drawingml/2006/main">
            <a:off x="6286500" y="2924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7629EDA-EEF3-4A87-8424-192E1356A998}"/>
              </a:ext>
            </a:extLst>
          </p:cNvPr>
          <p:cNvSpPr>
            <a:spLocks xmlns:a="http://schemas.openxmlformats.org/drawingml/2006/main" noGrp="1"/>
          </p:cNvSpPr>
          <p:nvPr/>
        </p:nvSpPr>
        <p:spPr>
          <a:xfrm xmlns:a="http://schemas.openxmlformats.org/drawingml/2006/main">
            <a:off x="6515100" y="2838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Secondary: B vs A; per-action IoU</a:t>
            </a:r>
          </a:p>
        </p:txBody>
      </p:sp>
      <p:sp>
        <p:nvSpPr>
          <p:cNvPr id="24" name="">
            <a:extLst xmlns:a="http://schemas.openxmlformats.org/drawingml/2006/main">
              <a:ext uri="{FF2B5EF4-FFF2-40B4-BE49-F238E27FC236}">
                <a16:creationId xmlns:a16="http://schemas.microsoft.com/office/drawing/2014/main" id="{FD81E34E-062F-4A31-A4F5-D156CEF0D680}"/>
              </a:ext>
            </a:extLst>
          </p:cNvPr>
          <p:cNvSpPr>
            <a:spLocks xmlns:a="http://schemas.openxmlformats.org/drawingml/2006/main" noGrp="1"/>
          </p:cNvSpPr>
          <p:nvPr/>
        </p:nvSpPr>
        <p:spPr>
          <a:xfrm xmlns:a="http://schemas.openxmlformats.org/drawingml/2006/main">
            <a:off x="6286500" y="3495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2313CE8-6DF8-462B-9975-A88AB6E72266}"/>
              </a:ext>
            </a:extLst>
          </p:cNvPr>
          <p:cNvSpPr>
            <a:spLocks xmlns:a="http://schemas.openxmlformats.org/drawingml/2006/main" noGrp="1"/>
          </p:cNvSpPr>
          <p:nvPr/>
        </p:nvSpPr>
        <p:spPr>
          <a:xfrm xmlns:a="http://schemas.openxmlformats.org/drawingml/2006/main">
            <a:off x="6515100" y="3409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19-class IoU and AUC</a:t>
            </a:r>
          </a:p>
        </p:txBody>
      </p:sp>
      <p:sp>
        <p:nvSpPr>
          <p:cNvPr id="26" name="">
            <a:extLst xmlns:a="http://schemas.openxmlformats.org/drawingml/2006/main">
              <a:ext uri="{FF2B5EF4-FFF2-40B4-BE49-F238E27FC236}">
                <a16:creationId xmlns:a16="http://schemas.microsoft.com/office/drawing/2014/main" id="{804EA1D0-A916-431D-A58F-E69694E94FD6}"/>
              </a:ext>
            </a:extLst>
          </p:cNvPr>
          <p:cNvSpPr>
            <a:spLocks xmlns:a="http://schemas.openxmlformats.org/drawingml/2006/main" noGrp="1"/>
          </p:cNvSpPr>
          <p:nvPr/>
        </p:nvSpPr>
        <p:spPr>
          <a:xfrm xmlns:a="http://schemas.openxmlformats.org/drawingml/2006/main">
            <a:off x="6286500" y="40671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772A6E5-EB14-491C-A13D-0C9524028D76}"/>
              </a:ext>
            </a:extLst>
          </p:cNvPr>
          <p:cNvSpPr>
            <a:spLocks xmlns:a="http://schemas.openxmlformats.org/drawingml/2006/main" noGrp="1"/>
          </p:cNvSpPr>
          <p:nvPr/>
        </p:nvSpPr>
        <p:spPr>
          <a:xfrm xmlns:a="http://schemas.openxmlformats.org/drawingml/2006/main">
            <a:off x="6515100" y="39814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False alarms on negative objects</a:t>
            </a:r>
          </a:p>
        </p:txBody>
      </p:sp>
      <p:sp>
        <p:nvSpPr>
          <p:cNvPr id="28" name="">
            <a:extLst xmlns:a="http://schemas.openxmlformats.org/drawingml/2006/main">
              <a:ext uri="{FF2B5EF4-FFF2-40B4-BE49-F238E27FC236}">
                <a16:creationId xmlns:a16="http://schemas.microsoft.com/office/drawing/2014/main" id="{DE0B0AC3-64B3-42C1-B27E-DA0118559C49}"/>
              </a:ext>
            </a:extLst>
          </p:cNvPr>
          <p:cNvSpPr>
            <a:spLocks xmlns:a="http://schemas.openxmlformats.org/drawingml/2006/main" noGrp="1"/>
          </p:cNvSpPr>
          <p:nvPr/>
        </p:nvSpPr>
        <p:spPr>
          <a:xfrm xmlns:a="http://schemas.openxmlformats.org/drawingml/2006/main">
            <a:off x="6286500" y="4638675"/>
            <a:ext cx="95250" cy="95250"/>
          </a:xfrm>
          <a:prstGeom xmlns:a="http://schemas.openxmlformats.org/drawingml/2006/main" prst="ellipse">
            <a:avLst/>
          </a:prstGeom>
          <a:solidFill xmlns:a="http://schemas.openxmlformats.org/drawingml/2006/main">
            <a:srgbClr val="F2B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B511969-4845-49B3-923D-731D20EB4329}"/>
              </a:ext>
            </a:extLst>
          </p:cNvPr>
          <p:cNvSpPr>
            <a:spLocks xmlns:a="http://schemas.openxmlformats.org/drawingml/2006/main" noGrp="1"/>
          </p:cNvSpPr>
          <p:nvPr/>
        </p:nvSpPr>
        <p:spPr>
          <a:xfrm xmlns:a="http://schemas.openxmlformats.org/drawingml/2006/main">
            <a:off x="6515100" y="4552950"/>
            <a:ext cx="4724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0">
                <a:solidFill>
                  <a:srgbClr val="172B3A"/>
                </a:solidFill>
                <a:latin typeface="Avenir"/>
                <a:ea typeface="Avenir"/>
                <a:cs typeface="Avenir"/>
              </a:defRPr>
            </a:defPPr>
          </a:lstStyle>
          <a:p xmlns:a="http://schemas.openxmlformats.org/drawingml/2006/main">
            <a:pPr algn="l">
              <a:defRPr sz="1350" b="0">
                <a:solidFill>
                  <a:srgbClr val="172B3A"/>
                </a:solidFill>
                <a:latin typeface="Avenir"/>
                <a:ea typeface="Avenir"/>
                <a:cs typeface="Avenir"/>
              </a:defRPr>
            </a:pPr>
            <a:r>
              <a:rPr sz="1350" b="0">
                <a:solidFill>
                  <a:srgbClr val="172B3A"/>
                </a:solidFill>
                <a:latin typeface="Avenir"/>
                <a:ea typeface="Avenir"/>
                <a:cs typeface="Avenir"/>
              </a:rPr>
              <a:t>Paired 95% CI, resampling by object</a:t>
            </a:r>
          </a:p>
        </p:txBody>
      </p:sp>
    </p:spTree>
    <p:extLst>
      <p:ext uri="{BB962C8B-B14F-4D97-AF65-F5344CB8AC3E}">
        <p14:creationId xmlns:p14="http://schemas.microsoft.com/office/powerpoint/2010/main" val="353983710"/>
      </p:ext>
    </p:extLst>
  </p:cSld>
</p:sld>
</file>

<file path=ppt/slides/slide10.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25E834E-93B1-4706-8571-2A1BBE81792D}"/>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B528771A-47E5-4D0A-A573-043CABAEB556}"/>
              </a:ext>
            </a:extLst>
          </p:cNvPr>
          <p:cNvPicPr>
            <a:picLocks xmlns:a="http://schemas.openxmlformats.org/drawingml/2006/main" noChangeAspect="1"/>
          </p:cNvPicPr>
          <p:nvPr/>
        </p:nvPicPr>
        <p:blipFill>
          <a:blip xmlns:r="http://schemas.openxmlformats.org/officeDocument/2006/relationships" xmlns:a="http://schemas.openxmlformats.org/drawingml/2006/main" r:embed="R07cf0b0249c14928"/>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C1E6A7E-5087-4FE1-9CDB-1450012BF7B9}"/>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Next experiment: compare three prompt strategies</a:t>
            </a:r>
          </a:p>
        </p:txBody>
      </p:sp>
      <p:sp>
        <p:nvSpPr>
          <p:cNvPr id="4" name="">
            <a:extLst xmlns:a="http://schemas.openxmlformats.org/drawingml/2006/main">
              <a:ext uri="{FF2B5EF4-FFF2-40B4-BE49-F238E27FC236}">
                <a16:creationId xmlns:a16="http://schemas.microsoft.com/office/drawing/2014/main" id="{9ADD95FB-D567-4FEA-9E47-E5186DBB5FA9}"/>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48C524-4D15-4E69-9E65-2E087451CBAB}"/>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10 / 12</a:t>
            </a:r>
          </a:p>
        </p:txBody>
      </p:sp>
      <p:sp>
        <p:nvSpPr>
          <p:cNvPr id="6" name="">
            <a:extLst xmlns:a="http://schemas.openxmlformats.org/drawingml/2006/main">
              <a:ext uri="{FF2B5EF4-FFF2-40B4-BE49-F238E27FC236}">
                <a16:creationId xmlns:a16="http://schemas.microsoft.com/office/drawing/2014/main" id="{1DB2758A-09D5-4635-A274-D57DFC4635FA}"/>
              </a:ext>
            </a:extLst>
          </p:cNvPr>
          <p:cNvSpPr>
            <a:spLocks xmlns:a="http://schemas.openxmlformats.org/drawingml/2006/main" noGrp="1"/>
          </p:cNvSpPr>
          <p:nvPr/>
        </p:nvSpPr>
        <p:spPr>
          <a:xfrm xmlns:a="http://schemas.openxmlformats.org/drawingml/2006/main">
            <a:off x="609600" y="16192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43AA9873-F952-4416-BDD1-730636D3F98A}"/>
              </a:ext>
            </a:extLst>
          </p:cNvPr>
          <p:cNvSpPr>
            <a:spLocks xmlns:a="http://schemas.openxmlformats.org/drawingml/2006/main" noGrp="1"/>
          </p:cNvSpPr>
          <p:nvPr/>
        </p:nvSpPr>
        <p:spPr>
          <a:xfrm xmlns:a="http://schemas.openxmlformats.org/drawingml/2006/main">
            <a:off x="800100" y="18478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CD54BD1C-BA03-46C6-8A77-8E51100F1B5A}"/>
              </a:ext>
            </a:extLst>
          </p:cNvPr>
          <p:cNvSpPr>
            <a:spLocks xmlns:a="http://schemas.openxmlformats.org/drawingml/2006/main" noGrp="1"/>
          </p:cNvSpPr>
          <p:nvPr/>
        </p:nvSpPr>
        <p:spPr>
          <a:xfrm xmlns:a="http://schemas.openxmlformats.org/drawingml/2006/main">
            <a:off x="866775" y="1847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1 · WRITE</a:t>
            </a:r>
          </a:p>
        </p:txBody>
      </p:sp>
      <p:sp>
        <p:nvSpPr>
          <p:cNvPr id="9" name="">
            <a:extLst xmlns:a="http://schemas.openxmlformats.org/drawingml/2006/main">
              <a:ext uri="{FF2B5EF4-FFF2-40B4-BE49-F238E27FC236}">
                <a16:creationId xmlns:a16="http://schemas.microsoft.com/office/drawing/2014/main" id="{0CE42345-BBDB-42E0-9652-DF662CFF9506}"/>
              </a:ext>
            </a:extLst>
          </p:cNvPr>
          <p:cNvSpPr>
            <a:spLocks xmlns:a="http://schemas.openxmlformats.org/drawingml/2006/main" noGrp="1"/>
          </p:cNvSpPr>
          <p:nvPr/>
        </p:nvSpPr>
        <p:spPr>
          <a:xfrm xmlns:a="http://schemas.openxmlformats.org/drawingml/2006/main">
            <a:off x="2381250" y="17145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For each of 18 actions, prepare three meaning-equivalent paraphrases. Freeze them before evaluation.</a:t>
            </a:r>
          </a:p>
        </p:txBody>
      </p:sp>
      <p:sp>
        <p:nvSpPr>
          <p:cNvPr id="10" name="">
            <a:extLst xmlns:a="http://schemas.openxmlformats.org/drawingml/2006/main">
              <a:ext uri="{FF2B5EF4-FFF2-40B4-BE49-F238E27FC236}">
                <a16:creationId xmlns:a16="http://schemas.microsoft.com/office/drawing/2014/main" id="{CF72C876-CBAF-484B-9E18-0D18FC2318AA}"/>
              </a:ext>
            </a:extLst>
          </p:cNvPr>
          <p:cNvSpPr>
            <a:spLocks xmlns:a="http://schemas.openxmlformats.org/drawingml/2006/main" noGrp="1"/>
          </p:cNvSpPr>
          <p:nvPr/>
        </p:nvSpPr>
        <p:spPr>
          <a:xfrm xmlns:a="http://schemas.openxmlformats.org/drawingml/2006/main">
            <a:off x="609600" y="25336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1" name="">
            <a:extLst xmlns:a="http://schemas.openxmlformats.org/drawingml/2006/main">
              <a:ext uri="{FF2B5EF4-FFF2-40B4-BE49-F238E27FC236}">
                <a16:creationId xmlns:a16="http://schemas.microsoft.com/office/drawing/2014/main" id="{4216660C-5A58-49B4-AE7F-2B5870C18387}"/>
              </a:ext>
            </a:extLst>
          </p:cNvPr>
          <p:cNvSpPr>
            <a:spLocks xmlns:a="http://schemas.openxmlformats.org/drawingml/2006/main" noGrp="1"/>
          </p:cNvSpPr>
          <p:nvPr/>
        </p:nvSpPr>
        <p:spPr>
          <a:xfrm xmlns:a="http://schemas.openxmlformats.org/drawingml/2006/main">
            <a:off x="800100" y="27622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2" name="">
            <a:extLst xmlns:a="http://schemas.openxmlformats.org/drawingml/2006/main">
              <a:ext uri="{FF2B5EF4-FFF2-40B4-BE49-F238E27FC236}">
                <a16:creationId xmlns:a16="http://schemas.microsoft.com/office/drawing/2014/main" id="{E77D8B41-5C22-4531-8990-A5ED29DA3761}"/>
              </a:ext>
            </a:extLst>
          </p:cNvPr>
          <p:cNvSpPr>
            <a:spLocks xmlns:a="http://schemas.openxmlformats.org/drawingml/2006/main" noGrp="1"/>
          </p:cNvSpPr>
          <p:nvPr/>
        </p:nvSpPr>
        <p:spPr>
          <a:xfrm xmlns:a="http://schemas.openxmlformats.org/drawingml/2006/main">
            <a:off x="866775" y="27622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2 · RUN</a:t>
            </a:r>
          </a:p>
        </p:txBody>
      </p:sp>
      <p:sp>
        <p:nvSpPr>
          <p:cNvPr id="13" name="">
            <a:extLst xmlns:a="http://schemas.openxmlformats.org/drawingml/2006/main">
              <a:ext uri="{FF2B5EF4-FFF2-40B4-BE49-F238E27FC236}">
                <a16:creationId xmlns:a16="http://schemas.microsoft.com/office/drawing/2014/main" id="{A238EA11-AD62-4163-9AE1-7389500DDF57}"/>
              </a:ext>
            </a:extLst>
          </p:cNvPr>
          <p:cNvSpPr>
            <a:spLocks xmlns:a="http://schemas.openxmlformats.org/drawingml/2006/main" noGrp="1"/>
          </p:cNvSpPr>
          <p:nvPr/>
        </p:nvSpPr>
        <p:spPr>
          <a:xfrm xmlns:a="http://schemas.openxmlformats.org/drawingml/2006/main">
            <a:off x="2381250" y="26289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Score canonical, one fixed paraphrase, and the average of three paraphrase maps on identical partial views.</a:t>
            </a:r>
          </a:p>
        </p:txBody>
      </p:sp>
      <p:sp>
        <p:nvSpPr>
          <p:cNvPr id="14" name="">
            <a:extLst xmlns:a="http://schemas.openxmlformats.org/drawingml/2006/main">
              <a:ext uri="{FF2B5EF4-FFF2-40B4-BE49-F238E27FC236}">
                <a16:creationId xmlns:a16="http://schemas.microsoft.com/office/drawing/2014/main" id="{F62E1454-C0E5-4BB3-93D4-0AB6B39A3387}"/>
              </a:ext>
            </a:extLst>
          </p:cNvPr>
          <p:cNvSpPr>
            <a:spLocks xmlns:a="http://schemas.openxmlformats.org/drawingml/2006/main" noGrp="1"/>
          </p:cNvSpPr>
          <p:nvPr/>
        </p:nvSpPr>
        <p:spPr>
          <a:xfrm xmlns:a="http://schemas.openxmlformats.org/drawingml/2006/main">
            <a:off x="609600" y="34480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5" name="">
            <a:extLst xmlns:a="http://schemas.openxmlformats.org/drawingml/2006/main">
              <a:ext uri="{FF2B5EF4-FFF2-40B4-BE49-F238E27FC236}">
                <a16:creationId xmlns:a16="http://schemas.microsoft.com/office/drawing/2014/main" id="{5B244378-1187-4BCC-989B-F1D8A8FC72E2}"/>
              </a:ext>
            </a:extLst>
          </p:cNvPr>
          <p:cNvSpPr>
            <a:spLocks xmlns:a="http://schemas.openxmlformats.org/drawingml/2006/main" noGrp="1"/>
          </p:cNvSpPr>
          <p:nvPr/>
        </p:nvSpPr>
        <p:spPr>
          <a:xfrm xmlns:a="http://schemas.openxmlformats.org/drawingml/2006/main">
            <a:off x="800100" y="3676650"/>
            <a:ext cx="135255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6" name="">
            <a:extLst xmlns:a="http://schemas.openxmlformats.org/drawingml/2006/main">
              <a:ext uri="{FF2B5EF4-FFF2-40B4-BE49-F238E27FC236}">
                <a16:creationId xmlns:a16="http://schemas.microsoft.com/office/drawing/2014/main" id="{E3B83BB5-4CFC-4F9F-9F5D-198A357400F2}"/>
              </a:ext>
            </a:extLst>
          </p:cNvPr>
          <p:cNvSpPr>
            <a:spLocks xmlns:a="http://schemas.openxmlformats.org/drawingml/2006/main" noGrp="1"/>
          </p:cNvSpPr>
          <p:nvPr/>
        </p:nvSpPr>
        <p:spPr>
          <a:xfrm xmlns:a="http://schemas.openxmlformats.org/drawingml/2006/main">
            <a:off x="866775" y="3676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3 · MEASURE</a:t>
            </a:r>
          </a:p>
        </p:txBody>
      </p:sp>
      <p:sp>
        <p:nvSpPr>
          <p:cNvPr id="17" name="">
            <a:extLst xmlns:a="http://schemas.openxmlformats.org/drawingml/2006/main">
              <a:ext uri="{FF2B5EF4-FFF2-40B4-BE49-F238E27FC236}">
                <a16:creationId xmlns:a16="http://schemas.microsoft.com/office/drawing/2014/main" id="{DC17D099-D345-4FF0-AA63-3DBE667FB614}"/>
              </a:ext>
            </a:extLst>
          </p:cNvPr>
          <p:cNvSpPr>
            <a:spLocks xmlns:a="http://schemas.openxmlformats.org/drawingml/2006/main" noGrp="1"/>
          </p:cNvSpPr>
          <p:nvPr/>
        </p:nvSpPr>
        <p:spPr>
          <a:xfrm xmlns:a="http://schemas.openxmlformats.org/drawingml/2006/main">
            <a:off x="2381250" y="35433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Primary: 18-action mean IoU, three-prompt average vs canonical. Also track false alarms and action-level results.</a:t>
            </a:r>
          </a:p>
        </p:txBody>
      </p:sp>
      <p:sp>
        <p:nvSpPr>
          <p:cNvPr id="18" name="">
            <a:extLst xmlns:a="http://schemas.openxmlformats.org/drawingml/2006/main">
              <a:ext uri="{FF2B5EF4-FFF2-40B4-BE49-F238E27FC236}">
                <a16:creationId xmlns:a16="http://schemas.microsoft.com/office/drawing/2014/main" id="{2777F542-8BF3-4070-BAF0-29402F162502}"/>
              </a:ext>
            </a:extLst>
          </p:cNvPr>
          <p:cNvSpPr>
            <a:spLocks xmlns:a="http://schemas.openxmlformats.org/drawingml/2006/main" noGrp="1"/>
          </p:cNvSpPr>
          <p:nvPr/>
        </p:nvSpPr>
        <p:spPr>
          <a:xfrm xmlns:a="http://schemas.openxmlformats.org/drawingml/2006/main">
            <a:off x="609600" y="4362450"/>
            <a:ext cx="109728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9525">
            <a:solidFill>
              <a:srgbClr val="D7E1E8"/>
            </a:solidFill>
            <a:prstDash val="solid"/>
          </a:ln>
        </p:spPr>
      </p:sp>
      <p:sp>
        <p:nvSpPr>
          <p:cNvPr id="19" name="">
            <a:extLst xmlns:a="http://schemas.openxmlformats.org/drawingml/2006/main">
              <a:ext uri="{FF2B5EF4-FFF2-40B4-BE49-F238E27FC236}">
                <a16:creationId xmlns:a16="http://schemas.microsoft.com/office/drawing/2014/main" id="{E917695E-C18E-4379-B4BF-81D3669EB621}"/>
              </a:ext>
            </a:extLst>
          </p:cNvPr>
          <p:cNvSpPr>
            <a:spLocks xmlns:a="http://schemas.openxmlformats.org/drawingml/2006/main" noGrp="1"/>
          </p:cNvSpPr>
          <p:nvPr/>
        </p:nvSpPr>
        <p:spPr>
          <a:xfrm xmlns:a="http://schemas.openxmlformats.org/drawingml/2006/main">
            <a:off x="800100" y="4591050"/>
            <a:ext cx="135255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0" name="">
            <a:extLst xmlns:a="http://schemas.openxmlformats.org/drawingml/2006/main">
              <a:ext uri="{FF2B5EF4-FFF2-40B4-BE49-F238E27FC236}">
                <a16:creationId xmlns:a16="http://schemas.microsoft.com/office/drawing/2014/main" id="{FB477935-A4D5-4BAF-A8CD-E6480179FFB1}"/>
              </a:ext>
            </a:extLst>
          </p:cNvPr>
          <p:cNvSpPr>
            <a:spLocks xmlns:a="http://schemas.openxmlformats.org/drawingml/2006/main" noGrp="1"/>
          </p:cNvSpPr>
          <p:nvPr/>
        </p:nvSpPr>
        <p:spPr>
          <a:xfrm xmlns:a="http://schemas.openxmlformats.org/drawingml/2006/main">
            <a:off x="866775" y="45910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4 · CHECK</a:t>
            </a:r>
          </a:p>
        </p:txBody>
      </p:sp>
      <p:sp>
        <p:nvSpPr>
          <p:cNvPr id="21" name="">
            <a:extLst xmlns:a="http://schemas.openxmlformats.org/drawingml/2006/main">
              <a:ext uri="{FF2B5EF4-FFF2-40B4-BE49-F238E27FC236}">
                <a16:creationId xmlns:a16="http://schemas.microsoft.com/office/drawing/2014/main" id="{185E60C6-2315-4ADE-AC40-33BB436AA756}"/>
              </a:ext>
            </a:extLst>
          </p:cNvPr>
          <p:cNvSpPr>
            <a:spLocks xmlns:a="http://schemas.openxmlformats.org/drawingml/2006/main" noGrp="1"/>
          </p:cNvSpPr>
          <p:nvPr/>
        </p:nvSpPr>
        <p:spPr>
          <a:xfrm xmlns:a="http://schemas.openxmlformats.org/drawingml/2006/main">
            <a:off x="2381250" y="4457700"/>
            <a:ext cx="885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B3A"/>
                </a:solidFill>
                <a:latin typeface="Avenir"/>
                <a:ea typeface="Avenir"/>
                <a:cs typeface="Avenir"/>
              </a:defRPr>
            </a:defPPr>
          </a:lstStyle>
          <a:p xmlns:a="http://schemas.openxmlformats.org/drawingml/2006/main">
            <a:pPr algn="l">
              <a:defRPr sz="1425" b="0">
                <a:solidFill>
                  <a:srgbClr val="172B3A"/>
                </a:solidFill>
                <a:latin typeface="Avenir"/>
                <a:ea typeface="Avenir"/>
                <a:cs typeface="Avenir"/>
              </a:defRPr>
            </a:pPr>
            <a:r>
              <a:rPr sz="1425" b="0">
                <a:solidFill>
                  <a:srgbClr val="172B3A"/>
                </a:solidFill>
                <a:latin typeface="Avenir"/>
                <a:ea typeface="Avenir"/>
                <a:cs typeface="Avenir"/>
              </a:rPr>
              <a:t>Use full shapes as a control; bootstrap paired differences by object and inspect failure cases.</a:t>
            </a:r>
          </a:p>
        </p:txBody>
      </p:sp>
      <p:sp>
        <p:nvSpPr>
          <p:cNvPr id="22" name="">
            <a:extLst xmlns:a="http://schemas.openxmlformats.org/drawingml/2006/main">
              <a:ext uri="{FF2B5EF4-FFF2-40B4-BE49-F238E27FC236}">
                <a16:creationId xmlns:a16="http://schemas.microsoft.com/office/drawing/2014/main" id="{676F5FAD-2E3B-4321-AEAD-B950763789F7}"/>
              </a:ext>
            </a:extLst>
          </p:cNvPr>
          <p:cNvSpPr>
            <a:spLocks xmlns:a="http://schemas.openxmlformats.org/drawingml/2006/main" noGrp="1"/>
          </p:cNvSpPr>
          <p:nvPr/>
        </p:nvSpPr>
        <p:spPr>
          <a:xfrm xmlns:a="http://schemas.openxmlformats.org/drawingml/2006/main">
            <a:off x="609600" y="54102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C94747"/>
                </a:solidFill>
                <a:latin typeface="Avenir"/>
                <a:ea typeface="Avenir"/>
                <a:cs typeface="Avenir"/>
              </a:defRPr>
            </a:defPPr>
          </a:lstStyle>
          <a:p xmlns:a="http://schemas.openxmlformats.org/drawingml/2006/main">
            <a:pPr algn="l">
              <a:defRPr sz="1350" b="1">
                <a:solidFill>
                  <a:srgbClr val="C94747"/>
                </a:solidFill>
                <a:latin typeface="Avenir"/>
                <a:ea typeface="Avenir"/>
                <a:cs typeface="Avenir"/>
              </a:defRPr>
            </a:pPr>
            <a:r>
              <a:rPr sz="1350" b="1">
                <a:solidFill>
                  <a:srgbClr val="C94747"/>
                </a:solidFill>
                <a:latin typeface="Avenir"/>
                <a:ea typeface="Avenir"/>
                <a:cs typeface="Avenir"/>
              </a:rPr>
              <a:t>Use a fresh object-disjoint test set if possible; otherwise call the study exploratory.</a:t>
            </a:r>
          </a:p>
        </p:txBody>
      </p:sp>
    </p:spTree>
    <p:extLst>
      <p:ext uri="{BB962C8B-B14F-4D97-AF65-F5344CB8AC3E}">
        <p14:creationId xmlns:p14="http://schemas.microsoft.com/office/powerpoint/2010/main" val="2069725919"/>
      </p:ext>
    </p:extLst>
  </p:cSld>
</p:sld>
</file>

<file path=ppt/slides/slide11.xml><?xml version="1.0" encoding="utf-8"?>
<p:sld xmlns:p="http://schemas.openxmlformats.org/presentationml/2006/main">
  <p:cSld>
    <p:bg>
      <p:bgPr>
        <a:solidFill xmlns:a="http://schemas.openxmlformats.org/drawingml/2006/main">
          <a:srgbClr val="F4F8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D07E459E-5D75-491A-ABC0-5C15DAB2F1D7}"/>
              </a:ext>
            </a:extLst>
          </p:cNvPr>
          <p:cNvSpPr>
            <a:spLocks xmlns:a="http://schemas.openxmlformats.org/drawingml/2006/main" noGrp="1"/>
          </p:cNvSpPr>
          <p:nvPr/>
        </p:nvSpPr>
        <p:spPr>
          <a:xfrm xmlns:a="http://schemas.openxmlformats.org/drawingml/2006/main">
            <a:off x="609600" y="238125"/>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050" b="1">
                <a:solidFill>
                  <a:srgbClr val="167DAD"/>
                </a:solidFill>
                <a:latin typeface="Avenir"/>
                <a:ea typeface="Avenir"/>
                <a:cs typeface="Avenir"/>
              </a:defRPr>
            </a:defPPr>
          </a:lstStyle>
          <a:p xmlns:a="http://schemas.openxmlformats.org/drawingml/2006/main">
            <a:pPr algn="l">
              <a:defRPr sz="1050" b="1">
                <a:solidFill>
                  <a:srgbClr val="167DAD"/>
                </a:solidFill>
                <a:latin typeface="Avenir"/>
                <a:ea typeface="Avenir"/>
                <a:cs typeface="Avenir"/>
              </a:defRPr>
            </a:pPr>
            <a:r>
              <a:rPr sz="1050" b="1">
                <a:solidFill>
                  <a:srgbClr val="167DAD"/>
                </a:solidFill>
                <a:latin typeface="Avenir"/>
                <a:ea typeface="Avenir"/>
                <a:cs typeface="Avenir"/>
              </a:rPr>
              <a:t>T14 · 3D AFFORDANCE PREDICTION</a:t>
            </a:r>
          </a:p>
        </p:txBody>
      </p:sp>
      <p:pic>
        <p:nvPicPr>
          <p:cNvPr id="2" name="">
            <a:extLst xmlns:a="http://schemas.openxmlformats.org/drawingml/2006/main">
              <a:ext uri="{FF2B5EF4-FFF2-40B4-BE49-F238E27FC236}">
                <a16:creationId xmlns:a16="http://schemas.microsoft.com/office/drawing/2014/main" id="{A39A6FB1-52CD-4DAA-ADFE-44298ABEA1D5}"/>
              </a:ext>
            </a:extLst>
          </p:cNvPr>
          <p:cNvPicPr>
            <a:picLocks xmlns:a="http://schemas.openxmlformats.org/drawingml/2006/main" noChangeAspect="1"/>
          </p:cNvPicPr>
          <p:nvPr/>
        </p:nvPicPr>
        <p:blipFill>
          <a:blip xmlns:r="http://schemas.openxmlformats.org/officeDocument/2006/relationships" xmlns:a="http://schemas.openxmlformats.org/drawingml/2006/main" r:embed="R2a4e8c169e894cfe"/>
          <a:stretch xmlns:a="http://schemas.openxmlformats.org/drawingml/2006/main"/>
        </p:blipFill>
        <p:spPr>
          <a:xfrm xmlns:a="http://schemas.openxmlformats.org/drawingml/2006/main">
            <a:off x="9906000" y="175054"/>
            <a:ext cx="1524000" cy="411892"/>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1DC0331-C585-49E4-8E4E-E299916DAEF1}"/>
              </a:ext>
            </a:extLst>
          </p:cNvPr>
          <p:cNvSpPr>
            <a:spLocks xmlns:a="http://schemas.openxmlformats.org/drawingml/2006/main" noGrp="1"/>
          </p:cNvSpPr>
          <p:nvPr/>
        </p:nvSpPr>
        <p:spPr>
          <a:xfrm xmlns:a="http://schemas.openxmlformats.org/drawingml/2006/main">
            <a:off x="609600" y="571500"/>
            <a:ext cx="10820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625" b="1">
                <a:solidFill>
                  <a:srgbClr val="102A43"/>
                </a:solidFill>
                <a:latin typeface="Avenir"/>
                <a:ea typeface="Avenir"/>
                <a:cs typeface="Avenir"/>
              </a:defRPr>
            </a:defPPr>
          </a:lstStyle>
          <a:p xmlns:a="http://schemas.openxmlformats.org/drawingml/2006/main">
            <a:pPr algn="l">
              <a:defRPr sz="2625" b="1">
                <a:solidFill>
                  <a:srgbClr val="102A43"/>
                </a:solidFill>
                <a:latin typeface="Avenir"/>
                <a:ea typeface="Avenir"/>
                <a:cs typeface="Avenir"/>
              </a:defRPr>
            </a:pPr>
            <a:r>
              <a:rPr sz="2625" b="1">
                <a:solidFill>
                  <a:srgbClr val="102A43"/>
                </a:solidFill>
                <a:latin typeface="Avenir"/>
                <a:ea typeface="Avenir"/>
                <a:cs typeface="Avenir"/>
              </a:rPr>
              <a:t>Week 9–15: a staged plan for the prompt comparison</a:t>
            </a:r>
          </a:p>
        </p:txBody>
      </p:sp>
      <p:sp>
        <p:nvSpPr>
          <p:cNvPr id="4" name="">
            <a:extLst xmlns:a="http://schemas.openxmlformats.org/drawingml/2006/main">
              <a:ext uri="{FF2B5EF4-FFF2-40B4-BE49-F238E27FC236}">
                <a16:creationId xmlns:a16="http://schemas.microsoft.com/office/drawing/2014/main" id="{B0544F9A-144B-45B5-8FFD-0AFAC8C316AC}"/>
              </a:ext>
            </a:extLst>
          </p:cNvPr>
          <p:cNvSpPr>
            <a:spLocks xmlns:a="http://schemas.openxmlformats.org/drawingml/2006/main" noGrp="1"/>
          </p:cNvSpPr>
          <p:nvPr/>
        </p:nvSpPr>
        <p:spPr>
          <a:xfrm xmlns:a="http://schemas.openxmlformats.org/drawingml/2006/main">
            <a:off x="609600" y="1257300"/>
            <a:ext cx="609600" cy="47625"/>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AB74613-25B2-41BD-95B8-EA2B8B23AF00}"/>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11 / 12</a:t>
            </a:r>
          </a:p>
        </p:txBody>
      </p:sp>
      <p:sp>
        <p:nvSpPr>
          <p:cNvPr id="6" name="">
            <a:extLst xmlns:a="http://schemas.openxmlformats.org/drawingml/2006/main">
              <a:ext uri="{FF2B5EF4-FFF2-40B4-BE49-F238E27FC236}">
                <a16:creationId xmlns:a16="http://schemas.microsoft.com/office/drawing/2014/main" id="{7B45D8B8-FDDE-46FD-B052-9B163AC020FC}"/>
              </a:ext>
            </a:extLst>
          </p:cNvPr>
          <p:cNvSpPr>
            <a:spLocks xmlns:a="http://schemas.openxmlformats.org/drawingml/2006/main" noGrp="1"/>
          </p:cNvSpPr>
          <p:nvPr/>
        </p:nvSpPr>
        <p:spPr>
          <a:xfrm xmlns:a="http://schemas.openxmlformats.org/drawingml/2006/main">
            <a:off x="609600" y="14954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B81F573B-B294-44E1-8ECD-68B312D2EA2C}"/>
              </a:ext>
            </a:extLst>
          </p:cNvPr>
          <p:cNvSpPr>
            <a:spLocks xmlns:a="http://schemas.openxmlformats.org/drawingml/2006/main" noGrp="1"/>
          </p:cNvSpPr>
          <p:nvPr/>
        </p:nvSpPr>
        <p:spPr>
          <a:xfrm xmlns:a="http://schemas.openxmlformats.org/drawingml/2006/main">
            <a:off x="723900" y="15811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8" name="">
            <a:extLst xmlns:a="http://schemas.openxmlformats.org/drawingml/2006/main">
              <a:ext uri="{FF2B5EF4-FFF2-40B4-BE49-F238E27FC236}">
                <a16:creationId xmlns:a16="http://schemas.microsoft.com/office/drawing/2014/main" id="{D6D9CB0F-9E95-4E64-B0E9-C34992E168CE}"/>
              </a:ext>
            </a:extLst>
          </p:cNvPr>
          <p:cNvSpPr>
            <a:spLocks xmlns:a="http://schemas.openxmlformats.org/drawingml/2006/main" noGrp="1"/>
          </p:cNvSpPr>
          <p:nvPr/>
        </p:nvSpPr>
        <p:spPr>
          <a:xfrm xmlns:a="http://schemas.openxmlformats.org/drawingml/2006/main">
            <a:off x="790575" y="15811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9</a:t>
            </a:r>
          </a:p>
        </p:txBody>
      </p:sp>
      <p:sp>
        <p:nvSpPr>
          <p:cNvPr id="9" name="">
            <a:extLst xmlns:a="http://schemas.openxmlformats.org/drawingml/2006/main">
              <a:ext uri="{FF2B5EF4-FFF2-40B4-BE49-F238E27FC236}">
                <a16:creationId xmlns:a16="http://schemas.microsoft.com/office/drawing/2014/main" id="{2F9D0495-CDC2-4FCD-AB86-0D4135C130B5}"/>
              </a:ext>
            </a:extLst>
          </p:cNvPr>
          <p:cNvSpPr>
            <a:spLocks xmlns:a="http://schemas.openxmlformats.org/drawingml/2006/main" noGrp="1"/>
          </p:cNvSpPr>
          <p:nvPr/>
        </p:nvSpPr>
        <p:spPr>
          <a:xfrm xmlns:a="http://schemas.openxmlformats.org/drawingml/2006/main">
            <a:off x="1924050" y="15430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Freeze the research question, primary comparison, and test split.</a:t>
            </a:r>
          </a:p>
        </p:txBody>
      </p:sp>
      <p:sp>
        <p:nvSpPr>
          <p:cNvPr id="10" name="">
            <a:extLst xmlns:a="http://schemas.openxmlformats.org/drawingml/2006/main">
              <a:ext uri="{FF2B5EF4-FFF2-40B4-BE49-F238E27FC236}">
                <a16:creationId xmlns:a16="http://schemas.microsoft.com/office/drawing/2014/main" id="{59647978-0344-44EF-952E-D627B3E7AAE3}"/>
              </a:ext>
            </a:extLst>
          </p:cNvPr>
          <p:cNvSpPr>
            <a:spLocks xmlns:a="http://schemas.openxmlformats.org/drawingml/2006/main" noGrp="1"/>
          </p:cNvSpPr>
          <p:nvPr/>
        </p:nvSpPr>
        <p:spPr>
          <a:xfrm xmlns:a="http://schemas.openxmlformats.org/drawingml/2006/main">
            <a:off x="723900" y="21336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1" name="">
            <a:extLst xmlns:a="http://schemas.openxmlformats.org/drawingml/2006/main">
              <a:ext uri="{FF2B5EF4-FFF2-40B4-BE49-F238E27FC236}">
                <a16:creationId xmlns:a16="http://schemas.microsoft.com/office/drawing/2014/main" id="{544E050E-3E9C-4F67-AED7-4DC49A4493DA}"/>
              </a:ext>
            </a:extLst>
          </p:cNvPr>
          <p:cNvSpPr>
            <a:spLocks xmlns:a="http://schemas.openxmlformats.org/drawingml/2006/main" noGrp="1"/>
          </p:cNvSpPr>
          <p:nvPr/>
        </p:nvSpPr>
        <p:spPr>
          <a:xfrm xmlns:a="http://schemas.openxmlformats.org/drawingml/2006/main">
            <a:off x="790575" y="21336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10</a:t>
            </a:r>
          </a:p>
        </p:txBody>
      </p:sp>
      <p:sp>
        <p:nvSpPr>
          <p:cNvPr id="12" name="">
            <a:extLst xmlns:a="http://schemas.openxmlformats.org/drawingml/2006/main">
              <a:ext uri="{FF2B5EF4-FFF2-40B4-BE49-F238E27FC236}">
                <a16:creationId xmlns:a16="http://schemas.microsoft.com/office/drawing/2014/main" id="{DDBB5A1E-A9AD-4BEB-867B-576B5802953F}"/>
              </a:ext>
            </a:extLst>
          </p:cNvPr>
          <p:cNvSpPr>
            <a:spLocks xmlns:a="http://schemas.openxmlformats.org/drawingml/2006/main" noGrp="1"/>
          </p:cNvSpPr>
          <p:nvPr/>
        </p:nvSpPr>
        <p:spPr>
          <a:xfrm xmlns:a="http://schemas.openxmlformats.org/drawingml/2006/main">
            <a:off x="1924050" y="20955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Write three paraphrases per action; freeze prompts before scoring.</a:t>
            </a:r>
          </a:p>
        </p:txBody>
      </p:sp>
      <p:sp>
        <p:nvSpPr>
          <p:cNvPr id="13" name="">
            <a:extLst xmlns:a="http://schemas.openxmlformats.org/drawingml/2006/main">
              <a:ext uri="{FF2B5EF4-FFF2-40B4-BE49-F238E27FC236}">
                <a16:creationId xmlns:a16="http://schemas.microsoft.com/office/drawing/2014/main" id="{50029922-4C32-4152-8D58-1D54DC5D48FE}"/>
              </a:ext>
            </a:extLst>
          </p:cNvPr>
          <p:cNvSpPr>
            <a:spLocks xmlns:a="http://schemas.openxmlformats.org/drawingml/2006/main" noGrp="1"/>
          </p:cNvSpPr>
          <p:nvPr/>
        </p:nvSpPr>
        <p:spPr>
          <a:xfrm xmlns:a="http://schemas.openxmlformats.org/drawingml/2006/main">
            <a:off x="609600" y="26003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14" name="">
            <a:extLst xmlns:a="http://schemas.openxmlformats.org/drawingml/2006/main">
              <a:ext uri="{FF2B5EF4-FFF2-40B4-BE49-F238E27FC236}">
                <a16:creationId xmlns:a16="http://schemas.microsoft.com/office/drawing/2014/main" id="{53BC021D-33BB-4345-8E02-DB6689DE41D0}"/>
              </a:ext>
            </a:extLst>
          </p:cNvPr>
          <p:cNvSpPr>
            <a:spLocks xmlns:a="http://schemas.openxmlformats.org/drawingml/2006/main" noGrp="1"/>
          </p:cNvSpPr>
          <p:nvPr/>
        </p:nvSpPr>
        <p:spPr>
          <a:xfrm xmlns:a="http://schemas.openxmlformats.org/drawingml/2006/main">
            <a:off x="723900" y="26860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5" name="">
            <a:extLst xmlns:a="http://schemas.openxmlformats.org/drawingml/2006/main">
              <a:ext uri="{FF2B5EF4-FFF2-40B4-BE49-F238E27FC236}">
                <a16:creationId xmlns:a16="http://schemas.microsoft.com/office/drawing/2014/main" id="{A264DAD0-1F5F-441B-99C2-B14C04C2DE41}"/>
              </a:ext>
            </a:extLst>
          </p:cNvPr>
          <p:cNvSpPr>
            <a:spLocks xmlns:a="http://schemas.openxmlformats.org/drawingml/2006/main" noGrp="1"/>
          </p:cNvSpPr>
          <p:nvPr/>
        </p:nvSpPr>
        <p:spPr>
          <a:xfrm xmlns:a="http://schemas.openxmlformats.org/drawingml/2006/main">
            <a:off x="790575" y="26860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11</a:t>
            </a:r>
          </a:p>
        </p:txBody>
      </p:sp>
      <p:sp>
        <p:nvSpPr>
          <p:cNvPr id="16" name="">
            <a:extLst xmlns:a="http://schemas.openxmlformats.org/drawingml/2006/main">
              <a:ext uri="{FF2B5EF4-FFF2-40B4-BE49-F238E27FC236}">
                <a16:creationId xmlns:a16="http://schemas.microsoft.com/office/drawing/2014/main" id="{FBF3DF0B-5E70-413A-A0C3-596C8BD886C6}"/>
              </a:ext>
            </a:extLst>
          </p:cNvPr>
          <p:cNvSpPr>
            <a:spLocks xmlns:a="http://schemas.openxmlformats.org/drawingml/2006/main" noGrp="1"/>
          </p:cNvSpPr>
          <p:nvPr/>
        </p:nvSpPr>
        <p:spPr>
          <a:xfrm xmlns:a="http://schemas.openxmlformats.org/drawingml/2006/main">
            <a:off x="1924050" y="26479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Test the three scoring conditions and averaging script on a small sample.</a:t>
            </a:r>
          </a:p>
        </p:txBody>
      </p:sp>
      <p:sp>
        <p:nvSpPr>
          <p:cNvPr id="17" name="">
            <a:extLst xmlns:a="http://schemas.openxmlformats.org/drawingml/2006/main">
              <a:ext uri="{FF2B5EF4-FFF2-40B4-BE49-F238E27FC236}">
                <a16:creationId xmlns:a16="http://schemas.microsoft.com/office/drawing/2014/main" id="{A3791AFB-2A94-464A-A2E4-3C0BD68C861B}"/>
              </a:ext>
            </a:extLst>
          </p:cNvPr>
          <p:cNvSpPr>
            <a:spLocks xmlns:a="http://schemas.openxmlformats.org/drawingml/2006/main" noGrp="1"/>
          </p:cNvSpPr>
          <p:nvPr/>
        </p:nvSpPr>
        <p:spPr>
          <a:xfrm xmlns:a="http://schemas.openxmlformats.org/drawingml/2006/main">
            <a:off x="723900" y="32385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18" name="">
            <a:extLst xmlns:a="http://schemas.openxmlformats.org/drawingml/2006/main">
              <a:ext uri="{FF2B5EF4-FFF2-40B4-BE49-F238E27FC236}">
                <a16:creationId xmlns:a16="http://schemas.microsoft.com/office/drawing/2014/main" id="{A6A194A5-7B91-41AA-B8BF-D652518BA9A9}"/>
              </a:ext>
            </a:extLst>
          </p:cNvPr>
          <p:cNvSpPr>
            <a:spLocks xmlns:a="http://schemas.openxmlformats.org/drawingml/2006/main" noGrp="1"/>
          </p:cNvSpPr>
          <p:nvPr/>
        </p:nvSpPr>
        <p:spPr>
          <a:xfrm xmlns:a="http://schemas.openxmlformats.org/drawingml/2006/main">
            <a:off x="790575" y="32385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12</a:t>
            </a:r>
          </a:p>
        </p:txBody>
      </p:sp>
      <p:sp>
        <p:nvSpPr>
          <p:cNvPr id="19" name="">
            <a:extLst xmlns:a="http://schemas.openxmlformats.org/drawingml/2006/main">
              <a:ext uri="{FF2B5EF4-FFF2-40B4-BE49-F238E27FC236}">
                <a16:creationId xmlns:a16="http://schemas.microsoft.com/office/drawing/2014/main" id="{2BA9824F-8866-4D5B-A81F-FBFA4EDCFE0B}"/>
              </a:ext>
            </a:extLst>
          </p:cNvPr>
          <p:cNvSpPr>
            <a:spLocks xmlns:a="http://schemas.openxmlformats.org/drawingml/2006/main" noGrp="1"/>
          </p:cNvSpPr>
          <p:nvPr/>
        </p:nvSpPr>
        <p:spPr>
          <a:xfrm xmlns:a="http://schemas.openxmlformats.org/drawingml/2006/main">
            <a:off x="1924050" y="32004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all three query conditions on the partial-view test set.</a:t>
            </a:r>
          </a:p>
        </p:txBody>
      </p:sp>
      <p:sp>
        <p:nvSpPr>
          <p:cNvPr id="20" name="">
            <a:extLst xmlns:a="http://schemas.openxmlformats.org/drawingml/2006/main">
              <a:ext uri="{FF2B5EF4-FFF2-40B4-BE49-F238E27FC236}">
                <a16:creationId xmlns:a16="http://schemas.microsoft.com/office/drawing/2014/main" id="{D4FE4378-7DC3-4663-B6FB-9F5000C47A06}"/>
              </a:ext>
            </a:extLst>
          </p:cNvPr>
          <p:cNvSpPr>
            <a:spLocks xmlns:a="http://schemas.openxmlformats.org/drawingml/2006/main" noGrp="1"/>
          </p:cNvSpPr>
          <p:nvPr/>
        </p:nvSpPr>
        <p:spPr>
          <a:xfrm xmlns:a="http://schemas.openxmlformats.org/drawingml/2006/main">
            <a:off x="609600" y="37052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1" name="">
            <a:extLst xmlns:a="http://schemas.openxmlformats.org/drawingml/2006/main">
              <a:ext uri="{FF2B5EF4-FFF2-40B4-BE49-F238E27FC236}">
                <a16:creationId xmlns:a16="http://schemas.microsoft.com/office/drawing/2014/main" id="{BEF5FFFA-7762-47A9-8D54-793C71CA92FF}"/>
              </a:ext>
            </a:extLst>
          </p:cNvPr>
          <p:cNvSpPr>
            <a:spLocks xmlns:a="http://schemas.openxmlformats.org/drawingml/2006/main" noGrp="1"/>
          </p:cNvSpPr>
          <p:nvPr/>
        </p:nvSpPr>
        <p:spPr>
          <a:xfrm xmlns:a="http://schemas.openxmlformats.org/drawingml/2006/main">
            <a:off x="723900" y="379095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2" name="">
            <a:extLst xmlns:a="http://schemas.openxmlformats.org/drawingml/2006/main">
              <a:ext uri="{FF2B5EF4-FFF2-40B4-BE49-F238E27FC236}">
                <a16:creationId xmlns:a16="http://schemas.microsoft.com/office/drawing/2014/main" id="{076EE7AB-1472-4AE6-A693-63B299FE2514}"/>
              </a:ext>
            </a:extLst>
          </p:cNvPr>
          <p:cNvSpPr>
            <a:spLocks xmlns:a="http://schemas.openxmlformats.org/drawingml/2006/main" noGrp="1"/>
          </p:cNvSpPr>
          <p:nvPr/>
        </p:nvSpPr>
        <p:spPr>
          <a:xfrm xmlns:a="http://schemas.openxmlformats.org/drawingml/2006/main">
            <a:off x="790575" y="37909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13</a:t>
            </a:r>
          </a:p>
        </p:txBody>
      </p:sp>
      <p:sp>
        <p:nvSpPr>
          <p:cNvPr id="23" name="">
            <a:extLst xmlns:a="http://schemas.openxmlformats.org/drawingml/2006/main">
              <a:ext uri="{FF2B5EF4-FFF2-40B4-BE49-F238E27FC236}">
                <a16:creationId xmlns:a16="http://schemas.microsoft.com/office/drawing/2014/main" id="{3F6469E7-DD36-4C91-8A1A-B49F7765C632}"/>
              </a:ext>
            </a:extLst>
          </p:cNvPr>
          <p:cNvSpPr>
            <a:spLocks xmlns:a="http://schemas.openxmlformats.org/drawingml/2006/main" noGrp="1"/>
          </p:cNvSpPr>
          <p:nvPr/>
        </p:nvSpPr>
        <p:spPr>
          <a:xfrm xmlns:a="http://schemas.openxmlformats.org/drawingml/2006/main">
            <a:off x="1924050" y="37528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Run the full-shape control; calculate per-action IoU and false alarms.</a:t>
            </a:r>
          </a:p>
        </p:txBody>
      </p:sp>
      <p:sp>
        <p:nvSpPr>
          <p:cNvPr id="24" name="">
            <a:extLst xmlns:a="http://schemas.openxmlformats.org/drawingml/2006/main">
              <a:ext uri="{FF2B5EF4-FFF2-40B4-BE49-F238E27FC236}">
                <a16:creationId xmlns:a16="http://schemas.microsoft.com/office/drawing/2014/main" id="{EA26E553-64ED-46EE-A39B-8C10CF23AFAD}"/>
              </a:ext>
            </a:extLst>
          </p:cNvPr>
          <p:cNvSpPr>
            <a:spLocks xmlns:a="http://schemas.openxmlformats.org/drawingml/2006/main" noGrp="1"/>
          </p:cNvSpPr>
          <p:nvPr/>
        </p:nvSpPr>
        <p:spPr>
          <a:xfrm xmlns:a="http://schemas.openxmlformats.org/drawingml/2006/main">
            <a:off x="723900" y="4343400"/>
            <a:ext cx="1066800" cy="304800"/>
          </a:xfrm>
          <a:prstGeom xmlns:a="http://schemas.openxmlformats.org/drawingml/2006/main" prst="roundRect">
            <a:avLst>
              <a:gd name="adj" fmla="val 25000"/>
            </a:avLst>
          </a:prstGeom>
          <a:solidFill xmlns:a="http://schemas.openxmlformats.org/drawingml/2006/main">
            <a:srgbClr val="E9F4F8"/>
          </a:solidFill>
          <a:ln xmlns:a="http://schemas.openxmlformats.org/drawingml/2006/main" w="9525">
            <a:noFill/>
            <a:prstDash val="solid"/>
          </a:ln>
        </p:spPr>
      </p:sp>
      <p:sp>
        <p:nvSpPr>
          <p:cNvPr id="25" name="">
            <a:extLst xmlns:a="http://schemas.openxmlformats.org/drawingml/2006/main">
              <a:ext uri="{FF2B5EF4-FFF2-40B4-BE49-F238E27FC236}">
                <a16:creationId xmlns:a16="http://schemas.microsoft.com/office/drawing/2014/main" id="{5E4A5A2B-82BA-4E56-A8C7-35A093073817}"/>
              </a:ext>
            </a:extLst>
          </p:cNvPr>
          <p:cNvSpPr>
            <a:spLocks xmlns:a="http://schemas.openxmlformats.org/drawingml/2006/main" noGrp="1"/>
          </p:cNvSpPr>
          <p:nvPr/>
        </p:nvSpPr>
        <p:spPr>
          <a:xfrm xmlns:a="http://schemas.openxmlformats.org/drawingml/2006/main">
            <a:off x="790575" y="434340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67DAD"/>
                </a:solidFill>
                <a:latin typeface="Avenir"/>
                <a:ea typeface="Avenir"/>
                <a:cs typeface="Avenir"/>
              </a:defRPr>
            </a:defPPr>
          </a:lstStyle>
          <a:p xmlns:a="http://schemas.openxmlformats.org/drawingml/2006/main">
            <a:pPr algn="ctr">
              <a:defRPr sz="1050" b="1">
                <a:solidFill>
                  <a:srgbClr val="167DAD"/>
                </a:solidFill>
                <a:latin typeface="Avenir"/>
                <a:ea typeface="Avenir"/>
                <a:cs typeface="Avenir"/>
              </a:defRPr>
            </a:pPr>
            <a:r>
              <a:rPr sz="1050" b="1">
                <a:solidFill>
                  <a:srgbClr val="167DAD"/>
                </a:solidFill>
                <a:latin typeface="Avenir"/>
                <a:ea typeface="Avenir"/>
                <a:cs typeface="Avenir"/>
              </a:rPr>
              <a:t>WEEK 14</a:t>
            </a:r>
          </a:p>
        </p:txBody>
      </p:sp>
      <p:sp>
        <p:nvSpPr>
          <p:cNvPr id="26" name="">
            <a:extLst xmlns:a="http://schemas.openxmlformats.org/drawingml/2006/main">
              <a:ext uri="{FF2B5EF4-FFF2-40B4-BE49-F238E27FC236}">
                <a16:creationId xmlns:a16="http://schemas.microsoft.com/office/drawing/2014/main" id="{57D77CAF-20C9-4AAF-A815-F6AFA3D1D76C}"/>
              </a:ext>
            </a:extLst>
          </p:cNvPr>
          <p:cNvSpPr>
            <a:spLocks xmlns:a="http://schemas.openxmlformats.org/drawingml/2006/main" noGrp="1"/>
          </p:cNvSpPr>
          <p:nvPr/>
        </p:nvSpPr>
        <p:spPr>
          <a:xfrm xmlns:a="http://schemas.openxmlformats.org/drawingml/2006/main">
            <a:off x="1924050" y="430530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Bootstrap paired differences by object; inspect gains and failure cases.</a:t>
            </a:r>
          </a:p>
        </p:txBody>
      </p:sp>
      <p:sp>
        <p:nvSpPr>
          <p:cNvPr id="27" name="">
            <a:extLst xmlns:a="http://schemas.openxmlformats.org/drawingml/2006/main">
              <a:ext uri="{FF2B5EF4-FFF2-40B4-BE49-F238E27FC236}">
                <a16:creationId xmlns:a16="http://schemas.microsoft.com/office/drawing/2014/main" id="{F4D90652-0D4C-4C91-86B7-B89A369D4FC8}"/>
              </a:ext>
            </a:extLst>
          </p:cNvPr>
          <p:cNvSpPr>
            <a:spLocks xmlns:a="http://schemas.openxmlformats.org/drawingml/2006/main" noGrp="1"/>
          </p:cNvSpPr>
          <p:nvPr/>
        </p:nvSpPr>
        <p:spPr>
          <a:xfrm xmlns:a="http://schemas.openxmlformats.org/drawingml/2006/main">
            <a:off x="609600" y="4810125"/>
            <a:ext cx="72390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7E1E8"/>
            </a:solidFill>
            <a:prstDash val="solid"/>
          </a:ln>
        </p:spPr>
      </p:sp>
      <p:sp>
        <p:nvSpPr>
          <p:cNvPr id="28" name="">
            <a:extLst xmlns:a="http://schemas.openxmlformats.org/drawingml/2006/main">
              <a:ext uri="{FF2B5EF4-FFF2-40B4-BE49-F238E27FC236}">
                <a16:creationId xmlns:a16="http://schemas.microsoft.com/office/drawing/2014/main" id="{BD7FDCB3-76F2-40A8-8E4C-EE8B0134187E}"/>
              </a:ext>
            </a:extLst>
          </p:cNvPr>
          <p:cNvSpPr>
            <a:spLocks xmlns:a="http://schemas.openxmlformats.org/drawingml/2006/main" noGrp="1"/>
          </p:cNvSpPr>
          <p:nvPr/>
        </p:nvSpPr>
        <p:spPr>
          <a:xfrm xmlns:a="http://schemas.openxmlformats.org/drawingml/2006/main">
            <a:off x="723900" y="4895850"/>
            <a:ext cx="1066800" cy="304800"/>
          </a:xfrm>
          <a:prstGeom xmlns:a="http://schemas.openxmlformats.org/drawingml/2006/main" prst="roundRect">
            <a:avLst>
              <a:gd name="adj" fmla="val 25000"/>
            </a:avLst>
          </a:prstGeom>
          <a:solidFill xmlns:a="http://schemas.openxmlformats.org/drawingml/2006/main">
            <a:srgbClr val="FFF4D9"/>
          </a:solidFill>
          <a:ln xmlns:a="http://schemas.openxmlformats.org/drawingml/2006/main" w="9525">
            <a:noFill/>
            <a:prstDash val="solid"/>
          </a:ln>
        </p:spPr>
      </p:sp>
      <p:sp>
        <p:nvSpPr>
          <p:cNvPr id="29" name="">
            <a:extLst xmlns:a="http://schemas.openxmlformats.org/drawingml/2006/main">
              <a:ext uri="{FF2B5EF4-FFF2-40B4-BE49-F238E27FC236}">
                <a16:creationId xmlns:a16="http://schemas.microsoft.com/office/drawing/2014/main" id="{5424A274-27E8-481C-8574-C312E9F2DCE2}"/>
              </a:ext>
            </a:extLst>
          </p:cNvPr>
          <p:cNvSpPr>
            <a:spLocks xmlns:a="http://schemas.openxmlformats.org/drawingml/2006/main" noGrp="1"/>
          </p:cNvSpPr>
          <p:nvPr/>
        </p:nvSpPr>
        <p:spPr>
          <a:xfrm xmlns:a="http://schemas.openxmlformats.org/drawingml/2006/main">
            <a:off x="790575" y="4895850"/>
            <a:ext cx="933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102A43"/>
                </a:solidFill>
                <a:latin typeface="Avenir"/>
                <a:ea typeface="Avenir"/>
                <a:cs typeface="Avenir"/>
              </a:defRPr>
            </a:defPPr>
          </a:lstStyle>
          <a:p xmlns:a="http://schemas.openxmlformats.org/drawingml/2006/main">
            <a:pPr algn="ctr">
              <a:defRPr sz="1050" b="1">
                <a:solidFill>
                  <a:srgbClr val="102A43"/>
                </a:solidFill>
                <a:latin typeface="Avenir"/>
                <a:ea typeface="Avenir"/>
                <a:cs typeface="Avenir"/>
              </a:defRPr>
            </a:pPr>
            <a:r>
              <a:rPr sz="1050" b="1">
                <a:solidFill>
                  <a:srgbClr val="102A43"/>
                </a:solidFill>
                <a:latin typeface="Avenir"/>
                <a:ea typeface="Avenir"/>
                <a:cs typeface="Avenir"/>
              </a:rPr>
              <a:t>WEEK 15</a:t>
            </a:r>
          </a:p>
        </p:txBody>
      </p:sp>
      <p:sp>
        <p:nvSpPr>
          <p:cNvPr id="30" name="">
            <a:extLst xmlns:a="http://schemas.openxmlformats.org/drawingml/2006/main">
              <a:ext uri="{FF2B5EF4-FFF2-40B4-BE49-F238E27FC236}">
                <a16:creationId xmlns:a16="http://schemas.microsoft.com/office/drawing/2014/main" id="{F7C7EE80-B952-4D11-9CD5-2F3ABD7ADD13}"/>
              </a:ext>
            </a:extLst>
          </p:cNvPr>
          <p:cNvSpPr>
            <a:spLocks xmlns:a="http://schemas.openxmlformats.org/drawingml/2006/main" noGrp="1"/>
          </p:cNvSpPr>
          <p:nvPr/>
        </p:nvSpPr>
        <p:spPr>
          <a:xfrm xmlns:a="http://schemas.openxmlformats.org/drawingml/2006/main">
            <a:off x="1924050" y="4857750"/>
            <a:ext cx="576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72B3A"/>
                </a:solidFill>
                <a:latin typeface="Avenir"/>
                <a:ea typeface="Avenir"/>
                <a:cs typeface="Avenir"/>
              </a:defRPr>
            </a:defPPr>
          </a:lstStyle>
          <a:p xmlns:a="http://schemas.openxmlformats.org/drawingml/2006/main">
            <a:pPr algn="l">
              <a:defRPr sz="1200" b="0">
                <a:solidFill>
                  <a:srgbClr val="172B3A"/>
                </a:solidFill>
                <a:latin typeface="Avenir"/>
                <a:ea typeface="Avenir"/>
                <a:cs typeface="Avenir"/>
              </a:defRPr>
            </a:pPr>
            <a:r>
              <a:rPr sz="1200" b="0">
                <a:solidFill>
                  <a:srgbClr val="172B3A"/>
                </a:solidFill>
                <a:latin typeface="Avenir"/>
                <a:ea typeface="Avenir"/>
                <a:cs typeface="Avenir"/>
              </a:rPr>
              <a:t>Summarize findings, limitations, and figures; finish the proposal presentation.</a:t>
            </a:r>
          </a:p>
        </p:txBody>
      </p:sp>
      <p:sp>
        <p:nvSpPr>
          <p:cNvPr id="31" name="">
            <a:extLst xmlns:a="http://schemas.openxmlformats.org/drawingml/2006/main">
              <a:ext uri="{FF2B5EF4-FFF2-40B4-BE49-F238E27FC236}">
                <a16:creationId xmlns:a16="http://schemas.microsoft.com/office/drawing/2014/main" id="{AB5BCCA7-7C42-4A7F-A115-DC05E495904B}"/>
              </a:ext>
            </a:extLst>
          </p:cNvPr>
          <p:cNvSpPr>
            <a:spLocks xmlns:a="http://schemas.openxmlformats.org/drawingml/2006/main" noGrp="1"/>
          </p:cNvSpPr>
          <p:nvPr/>
        </p:nvSpPr>
        <p:spPr>
          <a:xfrm xmlns:a="http://schemas.openxmlformats.org/drawingml/2006/main">
            <a:off x="8153400" y="1495425"/>
            <a:ext cx="3429000" cy="3790950"/>
          </a:xfrm>
          <a:prstGeom xmlns:a="http://schemas.openxmlformats.org/drawingml/2006/main" prst="roundRect">
            <a:avLst>
              <a:gd name="adj" fmla="val 2222"/>
            </a:avLst>
          </a:prstGeom>
          <a:solidFill xmlns:a="http://schemas.openxmlformats.org/drawingml/2006/main">
            <a:srgbClr val="102A43"/>
          </a:solidFill>
          <a:ln xmlns:a="http://schemas.openxmlformats.org/drawingml/2006/main" w="9525">
            <a:noFill/>
            <a:prstDash val="solid"/>
          </a:ln>
        </p:spPr>
      </p:sp>
      <p:sp>
        <p:nvSpPr>
          <p:cNvPr id="32" name="">
            <a:extLst xmlns:a="http://schemas.openxmlformats.org/drawingml/2006/main">
              <a:ext uri="{FF2B5EF4-FFF2-40B4-BE49-F238E27FC236}">
                <a16:creationId xmlns:a16="http://schemas.microsoft.com/office/drawing/2014/main" id="{58EE5ACB-3DC8-4C7B-96A7-7D5EF40EC01B}"/>
              </a:ext>
            </a:extLst>
          </p:cNvPr>
          <p:cNvSpPr>
            <a:spLocks xmlns:a="http://schemas.openxmlformats.org/drawingml/2006/main" noGrp="1"/>
          </p:cNvSpPr>
          <p:nvPr/>
        </p:nvSpPr>
        <p:spPr>
          <a:xfrm xmlns:a="http://schemas.openxmlformats.org/drawingml/2006/main">
            <a:off x="8401050" y="1714500"/>
            <a:ext cx="2762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58C4D6"/>
                </a:solidFill>
                <a:latin typeface="Avenir"/>
                <a:ea typeface="Avenir"/>
                <a:cs typeface="Avenir"/>
              </a:defRPr>
            </a:defPPr>
          </a:lstStyle>
          <a:p xmlns:a="http://schemas.openxmlformats.org/drawingml/2006/main">
            <a:pPr algn="l">
              <a:defRPr sz="1200" b="1">
                <a:solidFill>
                  <a:srgbClr val="58C4D6"/>
                </a:solidFill>
                <a:latin typeface="Avenir"/>
                <a:ea typeface="Avenir"/>
                <a:cs typeface="Avenir"/>
              </a:defRPr>
            </a:pPr>
            <a:r>
              <a:rPr sz="1200" b="1">
                <a:solidFill>
                  <a:srgbClr val="58C4D6"/>
                </a:solidFill>
                <a:latin typeface="Avenir"/>
                <a:ea typeface="Avenir"/>
                <a:cs typeface="Avenir"/>
              </a:rPr>
              <a:t>CHECKPOINTS</a:t>
            </a:r>
          </a:p>
        </p:txBody>
      </p:sp>
      <p:sp>
        <p:nvSpPr>
          <p:cNvPr id="33" name="">
            <a:extLst xmlns:a="http://schemas.openxmlformats.org/drawingml/2006/main">
              <a:ext uri="{FF2B5EF4-FFF2-40B4-BE49-F238E27FC236}">
                <a16:creationId xmlns:a16="http://schemas.microsoft.com/office/drawing/2014/main" id="{E71DAAEB-236A-483A-A807-4790BEC60A15}"/>
              </a:ext>
            </a:extLst>
          </p:cNvPr>
          <p:cNvSpPr>
            <a:spLocks xmlns:a="http://schemas.openxmlformats.org/drawingml/2006/main" noGrp="1"/>
          </p:cNvSpPr>
          <p:nvPr/>
        </p:nvSpPr>
        <p:spPr>
          <a:xfrm xmlns:a="http://schemas.openxmlformats.org/drawingml/2006/main">
            <a:off x="8401050" y="213360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FFFFFF"/>
                </a:solidFill>
                <a:latin typeface="Avenir"/>
                <a:ea typeface="Avenir"/>
                <a:cs typeface="Avenir"/>
              </a:defRPr>
            </a:defPPr>
          </a:lstStyle>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frozen model</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Same objects and point samples</a:t>
            </a:r>
          </a:p>
          <a:p xmlns:a="http://schemas.openxmlformats.org/drawingml/2006/main">
            <a:pPr algn="l">
              <a:defRPr sz="1350" b="1">
                <a:solidFill>
                  <a:srgbClr val="FFFFFF"/>
                </a:solidFill>
                <a:latin typeface="Avenir"/>
                <a:ea typeface="Avenir"/>
                <a:cs typeface="Avenir"/>
              </a:defRPr>
            </a:pPr>
            <a:r>
              <a:rPr sz="1350" b="1">
                <a:solidFill>
                  <a:srgbClr val="FFFFFF"/>
                </a:solidFill>
                <a:latin typeface="Avenir"/>
                <a:ea typeface="Avenir"/>
                <a:cs typeface="Avenir"/>
              </a:rPr>
              <a:t>Prompt wording fixed before evaluation</a:t>
            </a:r>
          </a:p>
        </p:txBody>
      </p:sp>
      <p:sp>
        <p:nvSpPr>
          <p:cNvPr id="34" name="">
            <a:extLst xmlns:a="http://schemas.openxmlformats.org/drawingml/2006/main">
              <a:ext uri="{FF2B5EF4-FFF2-40B4-BE49-F238E27FC236}">
                <a16:creationId xmlns:a16="http://schemas.microsoft.com/office/drawing/2014/main" id="{1EA0C685-0F0F-4408-AFAE-B903179782D4}"/>
              </a:ext>
            </a:extLst>
          </p:cNvPr>
          <p:cNvSpPr>
            <a:spLocks xmlns:a="http://schemas.openxmlformats.org/drawingml/2006/main" noGrp="1"/>
          </p:cNvSpPr>
          <p:nvPr/>
        </p:nvSpPr>
        <p:spPr>
          <a:xfrm xmlns:a="http://schemas.openxmlformats.org/drawingml/2006/main">
            <a:off x="8401050" y="3714750"/>
            <a:ext cx="2857500" cy="9525"/>
          </a:xfrm>
          <a:prstGeom xmlns:a="http://schemas.openxmlformats.org/drawingml/2006/main" prst="rect">
            <a:avLst/>
          </a:prstGeom>
          <a:solidFill xmlns:a="http://schemas.openxmlformats.org/drawingml/2006/main">
            <a:srgbClr val="526777"/>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9CABBB89-9BB0-4F77-9849-C08E120377FC}"/>
              </a:ext>
            </a:extLst>
          </p:cNvPr>
          <p:cNvSpPr>
            <a:spLocks xmlns:a="http://schemas.openxmlformats.org/drawingml/2006/main" noGrp="1"/>
          </p:cNvSpPr>
          <p:nvPr/>
        </p:nvSpPr>
        <p:spPr>
          <a:xfrm xmlns:a="http://schemas.openxmlformats.org/drawingml/2006/main">
            <a:off x="8401050" y="3943350"/>
            <a:ext cx="2857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D8E6EF"/>
                </a:solidFill>
                <a:latin typeface="Avenir"/>
                <a:ea typeface="Avenir"/>
                <a:cs typeface="Avenir"/>
              </a:defRPr>
            </a:defPPr>
          </a:lstStyle>
          <a:p xmlns:a="http://schemas.openxmlformats.org/drawingml/2006/main">
            <a:pPr algn="l">
              <a:defRPr sz="1275" b="0">
                <a:solidFill>
                  <a:srgbClr val="D8E6EF"/>
                </a:solidFill>
                <a:latin typeface="Avenir"/>
                <a:ea typeface="Avenir"/>
                <a:cs typeface="Avenir"/>
              </a:defRPr>
            </a:pPr>
            <a:r>
              <a:rPr sz="1275" b="0">
                <a:solidFill>
                  <a:srgbClr val="D8E6EF"/>
                </a:solidFill>
                <a:latin typeface="Avenir"/>
                <a:ea typeface="Avenir"/>
                <a:cs typeface="Avenir"/>
              </a:rPr>
              <a:t>If the validation set is reused, report the result as exploratory. A fresh object-disjoint test set is stronger.</a:t>
            </a:r>
          </a:p>
        </p:txBody>
      </p:sp>
    </p:spTree>
    <p:extLst>
      <p:ext uri="{BB962C8B-B14F-4D97-AF65-F5344CB8AC3E}">
        <p14:creationId xmlns:p14="http://schemas.microsoft.com/office/powerpoint/2010/main" val="524664545"/>
      </p:ext>
    </p:extLst>
  </p:cSld>
</p:sld>
</file>

<file path=ppt/slides/slide12.xml><?xml version="1.0" encoding="utf-8"?>
<p:sld xmlns:p="http://schemas.openxmlformats.org/presentationml/2006/main">
  <p:cSld>
    <p:bg>
      <p:bgPr>
        <a:solidFill xmlns:a="http://schemas.openxmlformats.org/drawingml/2006/main">
          <a:srgbClr val="F1F3F8"/>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E8F7557-290E-462B-8C3B-21A8052A1A51}"/>
              </a:ext>
            </a:extLst>
          </p:cNvPr>
          <p:cNvPicPr>
            <a:picLocks xmlns:a="http://schemas.openxmlformats.org/drawingml/2006/main" noChangeAspect="1"/>
          </p:cNvPicPr>
          <p:nvPr/>
        </p:nvPicPr>
        <p:blipFill>
          <a:blip xmlns:r="http://schemas.openxmlformats.org/officeDocument/2006/relationships" xmlns:a="http://schemas.openxmlformats.org/drawingml/2006/main" r:embed="Rb9882713ddb5465c"/>
          <a:stretch xmlns:a="http://schemas.openxmlformats.org/drawingml/2006/main"/>
        </p:blipFill>
        <p:spPr>
          <a:xfrm xmlns:a="http://schemas.openxmlformats.org/drawingml/2006/main">
            <a:off x="0" y="1781432"/>
            <a:ext cx="12192000" cy="329513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48884BF-CCC2-4E74-9612-DEF939AAC26B}"/>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F2B84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29F5506-366C-4235-B3B3-CC511F41213F}"/>
              </a:ext>
            </a:extLst>
          </p:cNvPr>
          <p:cNvSpPr>
            <a:spLocks xmlns:a="http://schemas.openxmlformats.org/drawingml/2006/main" noGrp="1"/>
          </p:cNvSpPr>
          <p:nvPr/>
        </p:nvSpPr>
        <p:spPr>
          <a:xfrm xmlns:a="http://schemas.openxmlformats.org/drawingml/2006/main">
            <a:off x="723900" y="4572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67DAD"/>
                </a:solidFill>
                <a:latin typeface="Avenir"/>
                <a:ea typeface="Avenir"/>
                <a:cs typeface="Avenir"/>
              </a:defRPr>
            </a:defPPr>
          </a:lstStyle>
          <a:p xmlns:a="http://schemas.openxmlformats.org/drawingml/2006/main">
            <a:pPr algn="l">
              <a:defRPr sz="1275" b="1">
                <a:solidFill>
                  <a:srgbClr val="167DAD"/>
                </a:solidFill>
                <a:latin typeface="Avenir"/>
                <a:ea typeface="Avenir"/>
                <a:cs typeface="Avenir"/>
              </a:defRPr>
            </a:pPr>
            <a:r>
              <a:rPr sz="1275" b="1">
                <a:solidFill>
                  <a:srgbClr val="167DAD"/>
                </a:solidFill>
                <a:latin typeface="Avenir"/>
                <a:ea typeface="Avenir"/>
                <a:cs typeface="Avenir"/>
              </a:rPr>
              <a:t>T14 · 3D AFFORDANCE PREDICTION</a:t>
            </a:r>
          </a:p>
        </p:txBody>
      </p:sp>
      <p:sp>
        <p:nvSpPr>
          <p:cNvPr id="4" name="">
            <a:extLst xmlns:a="http://schemas.openxmlformats.org/drawingml/2006/main">
              <a:ext uri="{FF2B5EF4-FFF2-40B4-BE49-F238E27FC236}">
                <a16:creationId xmlns:a16="http://schemas.microsoft.com/office/drawing/2014/main" id="{D895EF4C-F2D4-4BF5-A205-C127048E5B85}"/>
              </a:ext>
            </a:extLst>
          </p:cNvPr>
          <p:cNvSpPr>
            <a:spLocks xmlns:a="http://schemas.openxmlformats.org/drawingml/2006/main" noGrp="1"/>
          </p:cNvSpPr>
          <p:nvPr/>
        </p:nvSpPr>
        <p:spPr>
          <a:xfrm xmlns:a="http://schemas.openxmlformats.org/drawingml/2006/main">
            <a:off x="723900" y="102870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500" b="1">
                <a:solidFill>
                  <a:srgbClr val="102A43"/>
                </a:solidFill>
                <a:latin typeface="Avenir"/>
                <a:ea typeface="Avenir"/>
                <a:cs typeface="Avenir"/>
              </a:defRPr>
            </a:defPPr>
          </a:lstStyle>
          <a:p xmlns:a="http://schemas.openxmlformats.org/drawingml/2006/main">
            <a:pPr algn="l">
              <a:defRPr sz="4500" b="1">
                <a:solidFill>
                  <a:srgbClr val="102A43"/>
                </a:solidFill>
                <a:latin typeface="Avenir"/>
                <a:ea typeface="Avenir"/>
                <a:cs typeface="Avenir"/>
              </a:defRPr>
            </a:pPr>
            <a:r>
              <a:rPr sz="4500" b="1">
                <a:solidFill>
                  <a:srgbClr val="102A43"/>
                </a:solidFill>
                <a:latin typeface="Avenir"/>
                <a:ea typeface="Avenir"/>
                <a:cs typeface="Avenir"/>
              </a:rPr>
              <a:t>Q &amp; A</a:t>
            </a:r>
          </a:p>
        </p:txBody>
      </p:sp>
      <p:sp>
        <p:nvSpPr>
          <p:cNvPr id="5" name="">
            <a:extLst xmlns:a="http://schemas.openxmlformats.org/drawingml/2006/main">
              <a:ext uri="{FF2B5EF4-FFF2-40B4-BE49-F238E27FC236}">
                <a16:creationId xmlns:a16="http://schemas.microsoft.com/office/drawing/2014/main" id="{67C881E8-B3BE-495D-AB39-9C62769B7ADB}"/>
              </a:ext>
            </a:extLst>
          </p:cNvPr>
          <p:cNvSpPr>
            <a:spLocks xmlns:a="http://schemas.openxmlformats.org/drawingml/2006/main" noGrp="1"/>
          </p:cNvSpPr>
          <p:nvPr/>
        </p:nvSpPr>
        <p:spPr>
          <a:xfrm xmlns:a="http://schemas.openxmlformats.org/drawingml/2006/main">
            <a:off x="762000" y="1838325"/>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172B3A"/>
                </a:solidFill>
                <a:latin typeface="Avenir"/>
                <a:ea typeface="Avenir"/>
                <a:cs typeface="Avenir"/>
              </a:defRPr>
            </a:defPPr>
          </a:lstStyle>
          <a:p xmlns:a="http://schemas.openxmlformats.org/drawingml/2006/main">
            <a:pPr algn="l">
              <a:defRPr sz="1800" b="0">
                <a:solidFill>
                  <a:srgbClr val="172B3A"/>
                </a:solidFill>
                <a:latin typeface="Avenir"/>
                <a:ea typeface="Avenir"/>
                <a:cs typeface="Avenir"/>
              </a:defRPr>
            </a:pPr>
            <a:r>
              <a:rPr sz="1800" b="0">
                <a:solidFill>
                  <a:srgbClr val="172B3A"/>
                </a:solidFill>
                <a:latin typeface="Avenir"/>
                <a:ea typeface="Avenir"/>
                <a:cs typeface="Avenir"/>
              </a:rPr>
              <a:t>Thank you</a:t>
            </a:r>
          </a:p>
        </p:txBody>
      </p:sp>
      <p:sp>
        <p:nvSpPr>
          <p:cNvPr id="6" name="">
            <a:extLst xmlns:a="http://schemas.openxmlformats.org/drawingml/2006/main">
              <a:ext uri="{FF2B5EF4-FFF2-40B4-BE49-F238E27FC236}">
                <a16:creationId xmlns:a16="http://schemas.microsoft.com/office/drawing/2014/main" id="{09474A68-0556-41D5-811B-80A0DA5D838F}"/>
              </a:ext>
            </a:extLst>
          </p:cNvPr>
          <p:cNvSpPr>
            <a:spLocks xmlns:a="http://schemas.openxmlformats.org/drawingml/2006/main" noGrp="1"/>
          </p:cNvSpPr>
          <p:nvPr/>
        </p:nvSpPr>
        <p:spPr>
          <a:xfrm xmlns:a="http://schemas.openxmlformats.org/drawingml/2006/main">
            <a:off x="10477500" y="6353175"/>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050" b="1">
                <a:solidFill>
                  <a:srgbClr val="526777"/>
                </a:solidFill>
                <a:latin typeface="Avenir"/>
                <a:ea typeface="Avenir"/>
                <a:cs typeface="Avenir"/>
              </a:defRPr>
            </a:defPPr>
          </a:lstStyle>
          <a:p xmlns:a="http://schemas.openxmlformats.org/drawingml/2006/main">
            <a:pPr algn="r">
              <a:defRPr sz="1050" b="1">
                <a:solidFill>
                  <a:srgbClr val="526777"/>
                </a:solidFill>
                <a:latin typeface="Avenir"/>
                <a:ea typeface="Avenir"/>
                <a:cs typeface="Avenir"/>
              </a:defRPr>
            </a:pPr>
            <a:r>
              <a:rPr sz="1050" b="1">
                <a:solidFill>
                  <a:srgbClr val="526777"/>
                </a:solidFill>
                <a:latin typeface="Avenir"/>
                <a:ea typeface="Avenir"/>
                <a:cs typeface="Avenir"/>
              </a:rPr>
              <a:t>12 / 12</a:t>
            </a:r>
          </a:p>
        </p:txBody>
      </p:sp>
    </p:spTree>
    <p:extLst>
      <p:ext uri="{BB962C8B-B14F-4D97-AF65-F5344CB8AC3E}">
        <p14:creationId xmlns:p14="http://schemas.microsoft.com/office/powerpoint/2010/main" val="1780164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2026-10-13T04:52:02.7210000Z</dcterms:created>
  <dcterms:modified xsi:type="dcterms:W3CDTF">2026-10-13T04:52:02.7210000Z</dcterms:modified>
</coreProperties>
</file>