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800567376b4219" /><Relationship Type="http://schemas.openxmlformats.org/officeDocument/2006/relationships/extended-properties" Target="/docProps/app.xml" Id="Rd536f86262734273" /><Relationship Type="http://schemas.openxmlformats.org/officeDocument/2006/relationships/officeDocument" Target="/ppt/presentation.xml" Id="R4fb7be9f213543ea" /></Relationships>
</file>

<file path=ppt/presentation.xml><?xml version="1.0" encoding="utf-8"?>
<p:presentation xmlns:p="http://schemas.openxmlformats.org/presentationml/2006/main">
  <p:sldMasterIdLst>
    <p:sldMasterId xmlns:r="http://schemas.openxmlformats.org/officeDocument/2006/relationships" id="2147483648" r:id="R9f6609ebf68d4755"/>
  </p:sldMasterIdLst>
  <p:notesMasterIdLst>
    <p:notesMasterId xmlns:r="http://schemas.openxmlformats.org/officeDocument/2006/relationships" r:id="R978a00216fd44e43"/>
  </p:notesMasterIdLst>
  <p:sldIdLst>
    <p:sldId xmlns:r="http://schemas.openxmlformats.org/officeDocument/2006/relationships" id="256" r:id="R031bda82ab4f4b09"/>
    <p:sldId xmlns:r="http://schemas.openxmlformats.org/officeDocument/2006/relationships" id="257" r:id="Rbfd567fd5400480d"/>
    <p:sldId xmlns:r="http://schemas.openxmlformats.org/officeDocument/2006/relationships" id="258" r:id="Rfae23523bd024b5f"/>
    <p:sldId xmlns:r="http://schemas.openxmlformats.org/officeDocument/2006/relationships" id="259" r:id="R7e475d1d14204a17"/>
    <p:sldId xmlns:r="http://schemas.openxmlformats.org/officeDocument/2006/relationships" id="260" r:id="R82dcaace66a548d1"/>
    <p:sldId xmlns:r="http://schemas.openxmlformats.org/officeDocument/2006/relationships" id="261" r:id="Rd51daa2552914a4b"/>
    <p:sldId xmlns:r="http://schemas.openxmlformats.org/officeDocument/2006/relationships" id="262" r:id="R58fb34d9d8d247e2"/>
    <p:sldId xmlns:r="http://schemas.openxmlformats.org/officeDocument/2006/relationships" id="263" r:id="R213d4020082e451c"/>
    <p:sldId xmlns:r="http://schemas.openxmlformats.org/officeDocument/2006/relationships" id="264" r:id="R62395b92d4824a59"/>
    <p:sldId xmlns:r="http://schemas.openxmlformats.org/officeDocument/2006/relationships" id="265" r:id="Rd04413fe2f974a77"/>
    <p:sldId xmlns:r="http://schemas.openxmlformats.org/officeDocument/2006/relationships" id="266" r:id="Ra2e77f734c4a4171"/>
    <p:sldId xmlns:r="http://schemas.openxmlformats.org/officeDocument/2006/relationships" id="267" r:id="R0fc0028dcbed49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dff82cfaac4c14" /><Relationship Type="http://schemas.openxmlformats.org/officeDocument/2006/relationships/slideMaster" Target="/ppt/slideMasters/slideMaster1.xml" Id="R9f6609ebf68d4755" /><Relationship Type="http://schemas.openxmlformats.org/officeDocument/2006/relationships/notesMaster" Target="/ppt/notesMasters/notesMaster1.xml" Id="R978a00216fd44e43" /><Relationship Type="http://schemas.openxmlformats.org/officeDocument/2006/relationships/presProps" Target="/ppt/presProps.xml" Id="Rd3591c1ba5764820" /><Relationship Type="http://schemas.openxmlformats.org/officeDocument/2006/relationships/tableStyles" Target="/ppt/tableStyles.xml" Id="Rb96f4649b24a4963" /><Relationship Type="http://schemas.openxmlformats.org/officeDocument/2006/relationships/slide" Target="/ppt/slides/slide1.xml" Id="R031bda82ab4f4b09" /><Relationship Type="http://schemas.openxmlformats.org/officeDocument/2006/relationships/slide" Target="/ppt/slides/slide2.xml" Id="Rbfd567fd5400480d" /><Relationship Type="http://schemas.openxmlformats.org/officeDocument/2006/relationships/slide" Target="/ppt/slides/slide3.xml" Id="Rfae23523bd024b5f" /><Relationship Type="http://schemas.openxmlformats.org/officeDocument/2006/relationships/slide" Target="/ppt/slides/slide4.xml" Id="R7e475d1d14204a17" /><Relationship Type="http://schemas.openxmlformats.org/officeDocument/2006/relationships/slide" Target="/ppt/slides/slide5.xml" Id="R82dcaace66a548d1" /><Relationship Type="http://schemas.openxmlformats.org/officeDocument/2006/relationships/slide" Target="/ppt/slides/slide6.xml" Id="Rd51daa2552914a4b" /><Relationship Type="http://schemas.openxmlformats.org/officeDocument/2006/relationships/slide" Target="/ppt/slides/slide7.xml" Id="R58fb34d9d8d247e2" /><Relationship Type="http://schemas.openxmlformats.org/officeDocument/2006/relationships/slide" Target="/ppt/slides/slide8.xml" Id="R213d4020082e451c" /><Relationship Type="http://schemas.openxmlformats.org/officeDocument/2006/relationships/slide" Target="/ppt/slides/slide9.xml" Id="R62395b92d4824a59" /><Relationship Type="http://schemas.openxmlformats.org/officeDocument/2006/relationships/slide" Target="/ppt/slides/slide10.xml" Id="Rd04413fe2f974a77" /><Relationship Type="http://schemas.openxmlformats.org/officeDocument/2006/relationships/slide" Target="/ppt/slides/slide11.xml" Id="Ra2e77f734c4a4171" /><Relationship Type="http://schemas.openxmlformats.org/officeDocument/2006/relationships/slide" Target="/ppt/slides/slide12.xml" Id="R0fc0028dcbed49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b555d91c6746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763be5bf8743c1" /><Relationship Type="http://schemas.openxmlformats.org/officeDocument/2006/relationships/notesMaster" Target="/ppt/notesMasters/notesMaster1.xml" Id="Ra7325affd30b41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0ff7fdc8d146dc" /><Relationship Type="http://schemas.openxmlformats.org/officeDocument/2006/relationships/notesMaster" Target="/ppt/notesMasters/notesMaster1.xml" Id="R5c3804a1f91341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f02724b660405d" /><Relationship Type="http://schemas.openxmlformats.org/officeDocument/2006/relationships/notesMaster" Target="/ppt/notesMasters/notesMaster1.xml" Id="R5a2b75827f7946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d4b24a3bc34140" /><Relationship Type="http://schemas.openxmlformats.org/officeDocument/2006/relationships/notesMaster" Target="/ppt/notesMasters/notesMaster1.xml" Id="Rccaedc7ae5ce44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f42c6b46a84c63" /><Relationship Type="http://schemas.openxmlformats.org/officeDocument/2006/relationships/notesMaster" Target="/ppt/notesMasters/notesMaster1.xml" Id="Rc953a4d0d22d47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d890249adb4f0d" /><Relationship Type="http://schemas.openxmlformats.org/officeDocument/2006/relationships/notesMaster" Target="/ppt/notesMasters/notesMaster1.xml" Id="R984a21b7420c49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53078ec6d04dd2" /><Relationship Type="http://schemas.openxmlformats.org/officeDocument/2006/relationships/notesMaster" Target="/ppt/notesMasters/notesMaster1.xml" Id="R7eb6302129c14d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74ca14057e4713" /><Relationship Type="http://schemas.openxmlformats.org/officeDocument/2006/relationships/notesMaster" Target="/ppt/notesMasters/notesMaster1.xml" Id="R58d56b7295c448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f872ce2a984525" /><Relationship Type="http://schemas.openxmlformats.org/officeDocument/2006/relationships/notesMaster" Target="/ppt/notesMasters/notesMaster1.xml" Id="R2f65b20208fd49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e53151886f43ae" /><Relationship Type="http://schemas.openxmlformats.org/officeDocument/2006/relationships/notesMaster" Target="/ppt/notesMasters/notesMaster1.xml" Id="Rc4fe89292d1a4c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4c5e82986249e5" /><Relationship Type="http://schemas.openxmlformats.org/officeDocument/2006/relationships/notesMaster" Target="/ppt/notesMasters/notesMaster1.xml" Id="R9a7f32ceba8448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01041e253c4e5f" /><Relationship Type="http://schemas.openxmlformats.org/officeDocument/2006/relationships/notesMaster" Target="/ppt/notesMasters/notesMaster1.xml" Id="R4e240ced7ee04d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Across 18 actions on partial point clouds, do one or three fixed paraphrases improve OpenAD localization over canonical action words without increasing false alarms? Primary hypothesis: the average of three prewritten paraphrase score maps improves 18-action macro IoU over canonical action words. Primary contrast is three-prompt average vs canonical. The one-paraphrase condition is a secondary comparison. Report false alarms as a safety/quality measure, not as a second primary endpoint. Freeze prompts before test evaluation, and do not select wording using test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conditions on exactly the same inputs: A) canonical action word; B) one fixed meaning-equivalent paraphrase; C) arithmetic average of per-point affordance scores from three fixed meaning-equivalent paraphrases. Keep the released OpenAD PN2 checkpoint frozen, use identical objects, views, points, class slots and argmax prediction rule. Primary setting: partial views; full shapes are a control. Primary endpoint and contrast: macro point-wise IoU over 18 actions, condition C vs A. Secondary: B vs A, per-action IoU, 19-class IoU including none, AUC, false-positive point fraction and any-alarm rate on negative objects. Compute paired object-level confidence intervals. Freeze prompts and analysis before test scoring; if reusing validation data, report results as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protocol: write three meaning-equivalent paraphrases for each of the 18 actions, freeze wording before evaluation, and do not tune on test labels or scores. Compare A) canonical action word, B) one preselected paraphrase, and C) unweighted average of the three paraphrase per-point score maps. Use the same frozen OpenAD PN2 checkpoint and identical point clouds, views and point samples. Primary data: partial views; full shapes are a control. Primary comparison is C vs A for macro IoU across 18 actions excluding none. Secondary comparison is B vs A. Also report 19-class IoU, AUC, per-action IoU, false-positive fraction, and any-alarm rate on negative objects. Bootstrap paired differences by object. Prefer an untouched object-disjoint test set; if using the already analyzed validation split, label findings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Week-by-week proposed plan. Week 9: freeze the research question, primary contrast (three-prompt average vs canonical), exact action list, data split and leakage checks. Week 10: prewrite three meaning-equivalent paraphrases per action and freeze wording before evaluation. Week 11: test all three scoring conditions and score-map averaging on a small sample; verify labels, point alignment, metrics and false alarms. Week 12: run canonical, one-paraphrase and three-paraphrase-average conditions on all partial views with the same frozen checkpoint and point samples. Week 13: run full shapes as a control and compute per-action IoU and false alarms. Week 14: bootstrap paired differences by object, inspect uncertainty and failure cases. Week 15: summarize results and limitations, create figures, and complete the proposal presentation. The primary contrast is three paraphrases averaged vs the canonical action word; the one-paraphrase condition is secondary. These are proposed milestones, not completed results. Prefer an untouched object-disjoint test set; if reusing the validation data, explicitly call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3b235780e748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ed836c3cd449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b5b0816e0047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1222b10bd14a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f3a9a1d4934b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6db0b4053a49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78D35E-7C0B-4A17-995B-2D5E79EB3B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4FBE44-6848-4FCA-B60B-3D2AAA640D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404CD3-A716-46E8-A1F9-799A21974E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DF688A-06D2-4D3E-B860-516C474D7A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F3861E-BCC2-4986-9368-AE88B768AD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DC6A8F-1DEE-43EC-803E-3521B3406C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AFFED0-C740-4FF0-88EE-6635A1B75B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0AA50D-AE54-43BD-B71E-BAAA5A153B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99507A-4665-41AA-911A-78C47F1CD1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F721A9-DC95-4AEA-B83A-63AAD8F5C2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3cb835b08c4d02" /><Relationship Type="http://schemas.openxmlformats.org/officeDocument/2006/relationships/slideLayout" Target="/ppt/slideLayouts/slideLayout1.xml" Id="R8e38270f470b4ca5" /><Relationship Type="http://schemas.openxmlformats.org/officeDocument/2006/relationships/slideLayout" Target="/ppt/slideLayouts/slideLayout2.xml" Id="R040d4aa6dc1141b3" /><Relationship Type="http://schemas.openxmlformats.org/officeDocument/2006/relationships/slideLayout" Target="/ppt/slideLayouts/slideLayout3.xml" Id="R08c03bbb3a5b47dc" /><Relationship Type="http://schemas.openxmlformats.org/officeDocument/2006/relationships/slideLayout" Target="/ppt/slideLayouts/slideLayout4.xml" Id="R2435f513135a45b2" /><Relationship Type="http://schemas.openxmlformats.org/officeDocument/2006/relationships/slideLayout" Target="/ppt/slideLayouts/slideLayout5.xml" Id="Rccbe5e49c1354c46" /><Relationship Type="http://schemas.openxmlformats.org/officeDocument/2006/relationships/slideLayout" Target="/ppt/slideLayouts/slideLayout6.xml" Id="R45bf954fb6a64a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38270f470b4ca5"/>
    <p:sldLayoutId xmlns:r="http://schemas.openxmlformats.org/officeDocument/2006/relationships" id="2147483650" r:id="R040d4aa6dc1141b3"/>
    <p:sldLayoutId xmlns:r="http://schemas.openxmlformats.org/officeDocument/2006/relationships" id="2147483651" r:id="R08c03bbb3a5b47dc"/>
    <p:sldLayoutId xmlns:r="http://schemas.openxmlformats.org/officeDocument/2006/relationships" id="2147483652" r:id="R2435f513135a45b2"/>
    <p:sldLayoutId xmlns:r="http://schemas.openxmlformats.org/officeDocument/2006/relationships" id="2147483653" r:id="Rccbe5e49c1354c46"/>
    <p:sldLayoutId xmlns:r="http://schemas.openxmlformats.org/officeDocument/2006/relationships" id="2147483654" r:id="R45bf954fb6a64a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0a582e1f18438d" /><Relationship Type="http://schemas.openxmlformats.org/officeDocument/2006/relationships/image" Target="/ppt/media/image.png" Id="R49e41bf5b7664d9b" /><Relationship Type="http://schemas.openxmlformats.org/officeDocument/2006/relationships/notesSlide" Target="/ppt/notesSlides/notesSlide1.xml" Id="R9292d68254214b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6870f7ddb24ef7" /><Relationship Type="http://schemas.openxmlformats.org/officeDocument/2006/relationships/image" Target="/ppt/media/image2.png" Id="R95a430c3d9f24ddb" /><Relationship Type="http://schemas.openxmlformats.org/officeDocument/2006/relationships/notesSlide" Target="/ppt/notesSlides/notesSlide2.xml" Id="R6bbfce36aecd44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dc84f7df334dc8" /><Relationship Type="http://schemas.openxmlformats.org/officeDocument/2006/relationships/image" Target="/ppt/media/image3.png" Id="R01a4d4373f074c33" /><Relationship Type="http://schemas.openxmlformats.org/officeDocument/2006/relationships/notesSlide" Target="/ppt/notesSlides/notesSlide3.xml" Id="Rb59d68d16c9646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101582a4f54770" /><Relationship Type="http://schemas.openxmlformats.org/officeDocument/2006/relationships/image" Target="/ppt/media/image4.png" Id="R351188a765a64493" /><Relationship Type="http://schemas.openxmlformats.org/officeDocument/2006/relationships/notesSlide" Target="/ppt/notesSlides/notesSlide4.xml" Id="R5e9cd12674f344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6f5c7037eaf4b6a" /><Relationship Type="http://schemas.openxmlformats.org/officeDocument/2006/relationships/image" Target="/ppt/media/image5.png" Id="Rfd76106ead3f4978" /><Relationship Type="http://schemas.openxmlformats.org/officeDocument/2006/relationships/image" Target="/ppt/media/image6.png" Id="Rd7183bf9d108489a" /><Relationship Type="http://schemas.openxmlformats.org/officeDocument/2006/relationships/notesSlide" Target="/ppt/notesSlides/notesSlide5.xml" Id="Ra13db74d64594b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68c1a9d10f474c" /><Relationship Type="http://schemas.openxmlformats.org/officeDocument/2006/relationships/image" Target="/ppt/media/image7.png" Id="R402179b2e0b74ecd" /><Relationship Type="http://schemas.openxmlformats.org/officeDocument/2006/relationships/notesSlide" Target="/ppt/notesSlides/notesSlide6.xml" Id="R3429de4a779941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1e6c4629a745fb" /><Relationship Type="http://schemas.openxmlformats.org/officeDocument/2006/relationships/image" Target="/ppt/media/image8.png" Id="R82db8449c60746ad" /><Relationship Type="http://schemas.openxmlformats.org/officeDocument/2006/relationships/notesSlide" Target="/ppt/notesSlides/notesSlide7.xml" Id="R6afa64d9bdb648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5174bb87e94ec3" /><Relationship Type="http://schemas.openxmlformats.org/officeDocument/2006/relationships/image" Target="/ppt/media/image9.png" Id="Rd35bd398abec4e0e" /><Relationship Type="http://schemas.openxmlformats.org/officeDocument/2006/relationships/notesSlide" Target="/ppt/notesSlides/notesSlide8.xml" Id="R5175fa85cf8044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e1d600c9a64ae1" /><Relationship Type="http://schemas.openxmlformats.org/officeDocument/2006/relationships/image" Target="/ppt/media/image10.png" Id="R6314e1517eca4225" /><Relationship Type="http://schemas.openxmlformats.org/officeDocument/2006/relationships/notesSlide" Target="/ppt/notesSlides/notesSlide9.xml" Id="R25761b98262046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fda02dca5442bc" /><Relationship Type="http://schemas.openxmlformats.org/officeDocument/2006/relationships/image" Target="/ppt/media/image11.png" Id="R1256dbcd9cd44a72" /><Relationship Type="http://schemas.openxmlformats.org/officeDocument/2006/relationships/notesSlide" Target="/ppt/notesSlides/notesSlide10.xml" Id="Rbcdc028069f742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4806fca14b43c2" /><Relationship Type="http://schemas.openxmlformats.org/officeDocument/2006/relationships/image" Target="/ppt/media/image12.png" Id="Rb74bf7c217d645fe" /><Relationship Type="http://schemas.openxmlformats.org/officeDocument/2006/relationships/notesSlide" Target="/ppt/notesSlides/notesSlide11.xml" Id="R9e476c1183354c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ac9eb89f9d40be" /><Relationship Type="http://schemas.openxmlformats.org/officeDocument/2006/relationships/image" Target="/ppt/media/image13.png" Id="R45ae4ad8a187442a" /><Relationship Type="http://schemas.openxmlformats.org/officeDocument/2006/relationships/notesSlide" Target="/ppt/notesSlides/notesSlide12.xml" Id="R0113066af40a44dc" /></Relationships>
</file>

<file path=ppt/slides/slide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6173B17-FD19-41F4-AE81-3F3FE0AB0A7C}"/>
              </a:ext>
            </a:extLst>
          </p:cNvPr>
          <p:cNvPicPr>
            <a:picLocks xmlns:a="http://schemas.openxmlformats.org/drawingml/2006/main" noChangeAspect="1"/>
          </p:cNvPicPr>
          <p:nvPr/>
        </p:nvPicPr>
        <p:blipFill>
          <a:blip xmlns:r="http://schemas.openxmlformats.org/officeDocument/2006/relationships" xmlns:a="http://schemas.openxmlformats.org/drawingml/2006/main" r:embed="R49e41bf5b7664d9b"/>
          <a:srcRect xmlns:a="http://schemas.openxmlformats.org/drawingml/2006/main" l="25976" t="0" r="2597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5F668B-60DC-40E8-94C1-FFBA4D8C060B}"/>
              </a:ext>
            </a:extLst>
          </p:cNvPr>
          <p:cNvSpPr>
            <a:spLocks xmlns:a="http://schemas.openxmlformats.org/drawingml/2006/main" noGrp="1"/>
          </p:cNvSpPr>
          <p:nvPr/>
        </p:nvSpPr>
        <p:spPr>
          <a:xfrm xmlns:a="http://schemas.openxmlformats.org/drawingml/2006/main">
            <a:off x="0" y="3714750"/>
            <a:ext cx="12192000" cy="31432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698577-7035-47A2-B2B4-25FF35947B9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001C949-C1FD-478E-B4A7-AC45FB5EC52A}"/>
              </a:ext>
            </a:extLst>
          </p:cNvPr>
          <p:cNvSpPr>
            <a:spLocks xmlns:a="http://schemas.openxmlformats.org/drawingml/2006/main" noGrp="1"/>
          </p:cNvSpPr>
          <p:nvPr/>
        </p:nvSpPr>
        <p:spPr>
          <a:xfrm xmlns:a="http://schemas.openxmlformats.org/drawingml/2006/main">
            <a:off x="723900" y="39814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5" name="">
            <a:extLst xmlns:a="http://schemas.openxmlformats.org/drawingml/2006/main">
              <a:ext uri="{FF2B5EF4-FFF2-40B4-BE49-F238E27FC236}">
                <a16:creationId xmlns:a16="http://schemas.microsoft.com/office/drawing/2014/main" id="{9DD7589E-6BB6-435B-A63B-C688CEBFA245}"/>
              </a:ext>
            </a:extLst>
          </p:cNvPr>
          <p:cNvSpPr>
            <a:spLocks xmlns:a="http://schemas.openxmlformats.org/drawingml/2006/main" noGrp="1"/>
          </p:cNvSpPr>
          <p:nvPr/>
        </p:nvSpPr>
        <p:spPr>
          <a:xfrm xmlns:a="http://schemas.openxmlformats.org/drawingml/2006/main">
            <a:off x="723900" y="4381500"/>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FFFFFF"/>
                </a:solidFill>
                <a:latin typeface="Avenir"/>
                <a:ea typeface="Avenir"/>
                <a:cs typeface="Avenir"/>
              </a:defRPr>
            </a:defPPr>
          </a:lstStyle>
          <a:p xmlns:a="http://schemas.openxmlformats.org/drawingml/2006/main">
            <a:pPr algn="l">
              <a:defRPr sz="3150" b="1">
                <a:solidFill>
                  <a:srgbClr val="FFFFFF"/>
                </a:solidFill>
                <a:latin typeface="Avenir"/>
                <a:ea typeface="Avenir"/>
                <a:cs typeface="Avenir"/>
              </a:defRPr>
            </a:pPr>
            <a:r>
              <a:rPr sz="3150" b="1">
                <a:solidFill>
                  <a:srgbClr val="FFFFFF"/>
                </a:solidFill>
                <a:latin typeface="Avenir"/>
                <a:ea typeface="Avenir"/>
                <a:cs typeface="Avenir"/>
              </a:rPr>
              <a:t>What we learned from our</a:t>
            </a:r>
          </a:p>
          <a:p xmlns:a="http://schemas.openxmlformats.org/drawingml/2006/main">
            <a:pPr algn="l">
              <a:defRPr sz="3150" b="1">
                <a:solidFill>
                  <a:srgbClr val="FFFFFF"/>
                </a:solidFill>
                <a:latin typeface="Avenir"/>
                <a:ea typeface="Avenir"/>
                <a:cs typeface="Avenir"/>
              </a:defRPr>
            </a:pPr>
            <a:r>
              <a:rPr sz="3150" b="1">
                <a:solidFill>
                  <a:srgbClr val="FFFFFF"/>
                </a:solidFill>
                <a:latin typeface="Avenir"/>
                <a:ea typeface="Avenir"/>
                <a:cs typeface="Avenir"/>
              </a:rPr>
              <a:t>3D affordance experiments</a:t>
            </a:r>
          </a:p>
        </p:txBody>
      </p:sp>
      <p:sp>
        <p:nvSpPr>
          <p:cNvPr id="6" name="">
            <a:extLst xmlns:a="http://schemas.openxmlformats.org/drawingml/2006/main">
              <a:ext uri="{FF2B5EF4-FFF2-40B4-BE49-F238E27FC236}">
                <a16:creationId xmlns:a16="http://schemas.microsoft.com/office/drawing/2014/main" id="{419C4A53-5479-43BF-B0F8-2B695C3598C3}"/>
              </a:ext>
            </a:extLst>
          </p:cNvPr>
          <p:cNvSpPr>
            <a:spLocks xmlns:a="http://schemas.openxmlformats.org/drawingml/2006/main" noGrp="1"/>
          </p:cNvSpPr>
          <p:nvPr/>
        </p:nvSpPr>
        <p:spPr>
          <a:xfrm xmlns:a="http://schemas.openxmlformats.org/drawingml/2006/main">
            <a:off x="762000" y="541020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D8E6EF"/>
                </a:solidFill>
                <a:latin typeface="Avenir"/>
                <a:ea typeface="Avenir"/>
                <a:cs typeface="Avenir"/>
              </a:defRPr>
            </a:defPPr>
          </a:lstStyle>
          <a:p xmlns:a="http://schemas.openxmlformats.org/drawingml/2006/main">
            <a:pPr algn="l">
              <a:defRPr sz="1650" b="0">
                <a:solidFill>
                  <a:srgbClr val="D8E6EF"/>
                </a:solidFill>
                <a:latin typeface="Avenir"/>
                <a:ea typeface="Avenir"/>
                <a:cs typeface="Avenir"/>
              </a:defRPr>
            </a:pPr>
            <a:r>
              <a:rPr sz="1650" b="0">
                <a:solidFill>
                  <a:srgbClr val="D8E6EF"/>
                </a:solidFill>
                <a:latin typeface="Avenir"/>
                <a:ea typeface="Avenir"/>
                <a:cs typeface="Avenir"/>
              </a:rPr>
              <a:t>And the next question we plan to test</a:t>
            </a:r>
          </a:p>
        </p:txBody>
      </p:sp>
      <p:sp>
        <p:nvSpPr>
          <p:cNvPr id="7" name="">
            <a:extLst xmlns:a="http://schemas.openxmlformats.org/drawingml/2006/main">
              <a:ext uri="{FF2B5EF4-FFF2-40B4-BE49-F238E27FC236}">
                <a16:creationId xmlns:a16="http://schemas.microsoft.com/office/drawing/2014/main" id="{06FB7466-2DBB-4CA6-9E61-61AD6D6CC3D9}"/>
              </a:ext>
            </a:extLst>
          </p:cNvPr>
          <p:cNvSpPr>
            <a:spLocks xmlns:a="http://schemas.openxmlformats.org/drawingml/2006/main" noGrp="1"/>
          </p:cNvSpPr>
          <p:nvPr/>
        </p:nvSpPr>
        <p:spPr>
          <a:xfrm xmlns:a="http://schemas.openxmlformats.org/drawingml/2006/main">
            <a:off x="762000" y="60483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FFFFFF"/>
                </a:solidFill>
                <a:latin typeface="Avenir"/>
                <a:ea typeface="Avenir"/>
                <a:cs typeface="Avenir"/>
              </a:defRPr>
            </a:defPPr>
          </a:lstStyle>
          <a:p xmlns:a="http://schemas.openxmlformats.org/drawingml/2006/main">
            <a:pPr algn="l">
              <a:defRPr sz="1200" b="0">
                <a:solidFill>
                  <a:srgbClr val="FFFFFF"/>
                </a:solidFill>
                <a:latin typeface="Avenir"/>
                <a:ea typeface="Avenir"/>
                <a:cs typeface="Avenir"/>
              </a:defRPr>
            </a:pPr>
            <a:r>
              <a:rPr sz="1200" b="0">
                <a:solidFill>
                  <a:srgbClr val="FFFFFF"/>
                </a:solidFill>
                <a:latin typeface="Avenir"/>
                <a:ea typeface="Avenir"/>
                <a:cs typeface="Avenir"/>
              </a:rPr>
              <a:t>Team 7 · Yamin Myat Aung (20233523) · Hakon Maelum (50261597)</a:t>
            </a:r>
          </a:p>
        </p:txBody>
      </p:sp>
      <p:sp>
        <p:nvSpPr>
          <p:cNvPr id="8" name="">
            <a:extLst xmlns:a="http://schemas.openxmlformats.org/drawingml/2006/main">
              <a:ext uri="{FF2B5EF4-FFF2-40B4-BE49-F238E27FC236}">
                <a16:creationId xmlns:a16="http://schemas.microsoft.com/office/drawing/2014/main" id="{0699FFA0-A846-499A-907A-327A99065A9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12</a:t>
            </a:r>
          </a:p>
        </p:txBody>
      </p:sp>
    </p:spTree>
    <p:extLst>
      <p:ext uri="{BB962C8B-B14F-4D97-AF65-F5344CB8AC3E}">
        <p14:creationId xmlns:p14="http://schemas.microsoft.com/office/powerpoint/2010/main" val="1993295176"/>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8479F42-2061-416D-A654-6F6BB1451CC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6709BE52-F763-4E54-AE29-91CF16C6B59C}"/>
              </a:ext>
            </a:extLst>
          </p:cNvPr>
          <p:cNvPicPr>
            <a:picLocks xmlns:a="http://schemas.openxmlformats.org/drawingml/2006/main" noChangeAspect="1"/>
          </p:cNvPicPr>
          <p:nvPr/>
        </p:nvPicPr>
        <p:blipFill>
          <a:blip xmlns:r="http://schemas.openxmlformats.org/officeDocument/2006/relationships" xmlns:a="http://schemas.openxmlformats.org/drawingml/2006/main" r:embed="R95a430c3d9f24ddb"/>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FFD835-8CA0-4CB8-8BAF-44719F95E6C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4" name="">
            <a:extLst xmlns:a="http://schemas.openxmlformats.org/drawingml/2006/main">
              <a:ext uri="{FF2B5EF4-FFF2-40B4-BE49-F238E27FC236}">
                <a16:creationId xmlns:a16="http://schemas.microsoft.com/office/drawing/2014/main" id="{C432FD5B-9653-468B-9EF2-BBB3193ABF3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A28F7E-427D-4481-8531-9DEBFB09628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6" name="">
            <a:extLst xmlns:a="http://schemas.openxmlformats.org/drawingml/2006/main">
              <a:ext uri="{FF2B5EF4-FFF2-40B4-BE49-F238E27FC236}">
                <a16:creationId xmlns:a16="http://schemas.microsoft.com/office/drawing/2014/main" id="{8768A477-8D72-4E3B-BFD3-4412BC70266F}"/>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FC8E2838-5415-43B6-8F09-2D7D12C4E958}"/>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4B8B6650-F20C-42F3-984D-682547595A8A}"/>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9" name="">
            <a:extLst xmlns:a="http://schemas.openxmlformats.org/drawingml/2006/main">
              <a:ext uri="{FF2B5EF4-FFF2-40B4-BE49-F238E27FC236}">
                <a16:creationId xmlns:a16="http://schemas.microsoft.com/office/drawing/2014/main" id="{2BAFD565-013B-461E-88CD-0EC6ACA666BA}"/>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10" name="">
            <a:extLst xmlns:a="http://schemas.openxmlformats.org/drawingml/2006/main">
              <a:ext uri="{FF2B5EF4-FFF2-40B4-BE49-F238E27FC236}">
                <a16:creationId xmlns:a16="http://schemas.microsoft.com/office/drawing/2014/main" id="{80CD95F1-4724-4D41-9444-694E8AC315BE}"/>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1" name="">
            <a:extLst xmlns:a="http://schemas.openxmlformats.org/drawingml/2006/main">
              <a:ext uri="{FF2B5EF4-FFF2-40B4-BE49-F238E27FC236}">
                <a16:creationId xmlns:a16="http://schemas.microsoft.com/office/drawing/2014/main" id="{FC91C536-B36C-4C0F-BABE-7CDDA88265E0}"/>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2" name="">
            <a:extLst xmlns:a="http://schemas.openxmlformats.org/drawingml/2006/main">
              <a:ext uri="{FF2B5EF4-FFF2-40B4-BE49-F238E27FC236}">
                <a16:creationId xmlns:a16="http://schemas.microsoft.com/office/drawing/2014/main" id="{FBDD93E7-6FA7-4281-A3D9-8E936A05F98D}"/>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687730E-7B5C-483F-99D8-438107E8F2A0}"/>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BDB3BD2F-7404-4E6C-9B43-50BD6EF4CC9B}"/>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5" name="">
            <a:extLst xmlns:a="http://schemas.openxmlformats.org/drawingml/2006/main">
              <a:ext uri="{FF2B5EF4-FFF2-40B4-BE49-F238E27FC236}">
                <a16:creationId xmlns:a16="http://schemas.microsoft.com/office/drawing/2014/main" id="{FDDF46B6-693B-4BD4-8791-7613676A518C}"/>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6" name="">
            <a:extLst xmlns:a="http://schemas.openxmlformats.org/drawingml/2006/main">
              <a:ext uri="{FF2B5EF4-FFF2-40B4-BE49-F238E27FC236}">
                <a16:creationId xmlns:a16="http://schemas.microsoft.com/office/drawing/2014/main" id="{4100255D-8BF2-4D1C-86E4-37DCFFDC1E90}"/>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7" name="">
            <a:extLst xmlns:a="http://schemas.openxmlformats.org/drawingml/2006/main">
              <a:ext uri="{FF2B5EF4-FFF2-40B4-BE49-F238E27FC236}">
                <a16:creationId xmlns:a16="http://schemas.microsoft.com/office/drawing/2014/main" id="{FF2425A9-A565-4F48-95AF-3F360174DFF1}"/>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68028981"/>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9873113-5F19-4288-9903-D37247E3F14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9CD8485A-3926-4841-955C-B960AA734355}"/>
              </a:ext>
            </a:extLst>
          </p:cNvPr>
          <p:cNvPicPr>
            <a:picLocks xmlns:a="http://schemas.openxmlformats.org/drawingml/2006/main" noChangeAspect="1"/>
          </p:cNvPicPr>
          <p:nvPr/>
        </p:nvPicPr>
        <p:blipFill>
          <a:blip xmlns:r="http://schemas.openxmlformats.org/officeDocument/2006/relationships" xmlns:a="http://schemas.openxmlformats.org/drawingml/2006/main" r:embed="R01a4d4373f074c33"/>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57298C-3BA5-4EFA-B889-2572EA81610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4" name="">
            <a:extLst xmlns:a="http://schemas.openxmlformats.org/drawingml/2006/main">
              <a:ext uri="{FF2B5EF4-FFF2-40B4-BE49-F238E27FC236}">
                <a16:creationId xmlns:a16="http://schemas.microsoft.com/office/drawing/2014/main" id="{88C544A9-BDF0-455B-9581-A0FFE6C9CDB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E4CC5A-C7AD-4D1B-AD91-A069429AD94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6" name="">
            <a:extLst xmlns:a="http://schemas.openxmlformats.org/drawingml/2006/main">
              <a:ext uri="{FF2B5EF4-FFF2-40B4-BE49-F238E27FC236}">
                <a16:creationId xmlns:a16="http://schemas.microsoft.com/office/drawing/2014/main" id="{3B16A0A9-C7A2-423D-B72A-26A135923ECA}"/>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C3AA142E-2077-49E8-9F18-A9099C449B63}"/>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8" name="">
            <a:extLst xmlns:a="http://schemas.openxmlformats.org/drawingml/2006/main">
              <a:ext uri="{FF2B5EF4-FFF2-40B4-BE49-F238E27FC236}">
                <a16:creationId xmlns:a16="http://schemas.microsoft.com/office/drawing/2014/main" id="{EA25A0F9-D79F-49ED-9B7C-D95719D10371}"/>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9" name="">
            <a:extLst xmlns:a="http://schemas.openxmlformats.org/drawingml/2006/main">
              <a:ext uri="{FF2B5EF4-FFF2-40B4-BE49-F238E27FC236}">
                <a16:creationId xmlns:a16="http://schemas.microsoft.com/office/drawing/2014/main" id="{4379C3BE-7903-4A8C-8790-C419E5099544}"/>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C5187F-4E35-408A-8BB0-54EB6D8E1276}"/>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1" name="">
            <a:extLst xmlns:a="http://schemas.openxmlformats.org/drawingml/2006/main">
              <a:ext uri="{FF2B5EF4-FFF2-40B4-BE49-F238E27FC236}">
                <a16:creationId xmlns:a16="http://schemas.microsoft.com/office/drawing/2014/main" id="{A19FCE3D-B678-4DBC-9279-63028B34534F}"/>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9FF24D-3121-4044-B6F9-BE1D92752EB8}"/>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3" name="">
            <a:extLst xmlns:a="http://schemas.openxmlformats.org/drawingml/2006/main">
              <a:ext uri="{FF2B5EF4-FFF2-40B4-BE49-F238E27FC236}">
                <a16:creationId xmlns:a16="http://schemas.microsoft.com/office/drawing/2014/main" id="{E758EAAD-AC09-48F1-B09C-1B2F3696D51B}"/>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AD79550-8F22-463D-9575-7E1B6FAF8479}"/>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5" name="">
            <a:extLst xmlns:a="http://schemas.openxmlformats.org/drawingml/2006/main">
              <a:ext uri="{FF2B5EF4-FFF2-40B4-BE49-F238E27FC236}">
                <a16:creationId xmlns:a16="http://schemas.microsoft.com/office/drawing/2014/main" id="{7988D9D9-B5F2-4943-BD5E-B891DDD17A52}"/>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72D299-B7F9-4BBF-AC54-089EA4DC6697}"/>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7" name="">
            <a:extLst xmlns:a="http://schemas.openxmlformats.org/drawingml/2006/main">
              <a:ext uri="{FF2B5EF4-FFF2-40B4-BE49-F238E27FC236}">
                <a16:creationId xmlns:a16="http://schemas.microsoft.com/office/drawing/2014/main" id="{1EA5470A-23CF-4194-896E-10F1B14A0838}"/>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15F29D10-AF25-4055-A866-B22D5E0EA1D4}"/>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9" name="">
            <a:extLst xmlns:a="http://schemas.openxmlformats.org/drawingml/2006/main">
              <a:ext uri="{FF2B5EF4-FFF2-40B4-BE49-F238E27FC236}">
                <a16:creationId xmlns:a16="http://schemas.microsoft.com/office/drawing/2014/main" id="{4DFCD7D2-F833-4D86-9EBF-F0D871456246}"/>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20" name="">
            <a:extLst xmlns:a="http://schemas.openxmlformats.org/drawingml/2006/main">
              <a:ext uri="{FF2B5EF4-FFF2-40B4-BE49-F238E27FC236}">
                <a16:creationId xmlns:a16="http://schemas.microsoft.com/office/drawing/2014/main" id="{F037E8F5-E687-4295-B248-8057146A6555}"/>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1" name="">
            <a:extLst xmlns:a="http://schemas.openxmlformats.org/drawingml/2006/main">
              <a:ext uri="{FF2B5EF4-FFF2-40B4-BE49-F238E27FC236}">
                <a16:creationId xmlns:a16="http://schemas.microsoft.com/office/drawing/2014/main" id="{94AE5F5F-6C35-4A6A-BD4E-6D33B514323C}"/>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2" name="">
            <a:extLst xmlns:a="http://schemas.openxmlformats.org/drawingml/2006/main">
              <a:ext uri="{FF2B5EF4-FFF2-40B4-BE49-F238E27FC236}">
                <a16:creationId xmlns:a16="http://schemas.microsoft.com/office/drawing/2014/main" id="{7F4DBC2A-A2CF-420F-A8BA-6D8308566F0A}"/>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3" name="">
            <a:extLst xmlns:a="http://schemas.openxmlformats.org/drawingml/2006/main">
              <a:ext uri="{FF2B5EF4-FFF2-40B4-BE49-F238E27FC236}">
                <a16:creationId xmlns:a16="http://schemas.microsoft.com/office/drawing/2014/main" id="{4FF72A3D-1C27-4FE3-A50F-8E3204354A5A}"/>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4" name="">
            <a:extLst xmlns:a="http://schemas.openxmlformats.org/drawingml/2006/main">
              <a:ext uri="{FF2B5EF4-FFF2-40B4-BE49-F238E27FC236}">
                <a16:creationId xmlns:a16="http://schemas.microsoft.com/office/drawing/2014/main" id="{ABF99CF1-C9BE-4B25-A4C0-CD97A919A4E1}"/>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5" name="">
            <a:extLst xmlns:a="http://schemas.openxmlformats.org/drawingml/2006/main">
              <a:ext uri="{FF2B5EF4-FFF2-40B4-BE49-F238E27FC236}">
                <a16:creationId xmlns:a16="http://schemas.microsoft.com/office/drawing/2014/main" id="{295038E1-35C6-40C8-8890-9FC853EE1880}"/>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6" name="">
            <a:extLst xmlns:a="http://schemas.openxmlformats.org/drawingml/2006/main">
              <a:ext uri="{FF2B5EF4-FFF2-40B4-BE49-F238E27FC236}">
                <a16:creationId xmlns:a16="http://schemas.microsoft.com/office/drawing/2014/main" id="{55C7B00D-C7A4-4CF1-BE44-B91B86826270}"/>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797042598"/>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FCA507A-790D-4822-B022-FF020BB1C08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E6A132EC-04DB-4B2C-BCA2-97B8AB008A45}"/>
              </a:ext>
            </a:extLst>
          </p:cNvPr>
          <p:cNvPicPr>
            <a:picLocks xmlns:a="http://schemas.openxmlformats.org/drawingml/2006/main" noChangeAspect="1"/>
          </p:cNvPicPr>
          <p:nvPr/>
        </p:nvPicPr>
        <p:blipFill>
          <a:blip xmlns:r="http://schemas.openxmlformats.org/officeDocument/2006/relationships" xmlns:a="http://schemas.openxmlformats.org/drawingml/2006/main" r:embed="R351188a765a64493"/>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4E5824-C8CE-4E6E-8414-B951D4CEFE3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4" name="">
            <a:extLst xmlns:a="http://schemas.openxmlformats.org/drawingml/2006/main">
              <a:ext uri="{FF2B5EF4-FFF2-40B4-BE49-F238E27FC236}">
                <a16:creationId xmlns:a16="http://schemas.microsoft.com/office/drawing/2014/main" id="{DEEDC80E-07A7-4070-8CB1-7EC5C5E922A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EDB68E4-A04C-423C-AA4B-8A232585F4C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6" name="">
            <a:extLst xmlns:a="http://schemas.openxmlformats.org/drawingml/2006/main">
              <a:ext uri="{FF2B5EF4-FFF2-40B4-BE49-F238E27FC236}">
                <a16:creationId xmlns:a16="http://schemas.microsoft.com/office/drawing/2014/main" id="{4CE27BD8-22A9-41D8-ACA8-1DA13CE5315A}"/>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7" name="">
            <a:extLst xmlns:a="http://schemas.openxmlformats.org/drawingml/2006/main">
              <a:ext uri="{FF2B5EF4-FFF2-40B4-BE49-F238E27FC236}">
                <a16:creationId xmlns:a16="http://schemas.microsoft.com/office/drawing/2014/main" id="{5E93CFC6-99F2-4522-B308-54A4001416FE}"/>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8" name="">
            <a:extLst xmlns:a="http://schemas.openxmlformats.org/drawingml/2006/main">
              <a:ext uri="{FF2B5EF4-FFF2-40B4-BE49-F238E27FC236}">
                <a16:creationId xmlns:a16="http://schemas.microsoft.com/office/drawing/2014/main" id="{B22563A0-891C-4D92-B429-98833EA4A20D}"/>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148BB75E-9403-4116-B711-9DC1DFDCAE1B}"/>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10" name="">
            <a:extLst xmlns:a="http://schemas.openxmlformats.org/drawingml/2006/main">
              <a:ext uri="{FF2B5EF4-FFF2-40B4-BE49-F238E27FC236}">
                <a16:creationId xmlns:a16="http://schemas.microsoft.com/office/drawing/2014/main" id="{7809D1F2-84E7-4358-A440-CFB4FD3CBF1D}"/>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14E18F62-C304-4A16-8DB0-DD4A456DAF41}"/>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2" name="">
            <a:extLst xmlns:a="http://schemas.openxmlformats.org/drawingml/2006/main">
              <a:ext uri="{FF2B5EF4-FFF2-40B4-BE49-F238E27FC236}">
                <a16:creationId xmlns:a16="http://schemas.microsoft.com/office/drawing/2014/main" id="{295EFAF0-DAC4-4053-A6BD-D03463D9EDFD}"/>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545E487C-AE33-414F-9123-6855028AF0DA}"/>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4" name="">
            <a:extLst xmlns:a="http://schemas.openxmlformats.org/drawingml/2006/main">
              <a:ext uri="{FF2B5EF4-FFF2-40B4-BE49-F238E27FC236}">
                <a16:creationId xmlns:a16="http://schemas.microsoft.com/office/drawing/2014/main" id="{02C8FB1C-6422-46FB-93E6-9A14F79BFCD8}"/>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5" name="">
            <a:extLst xmlns:a="http://schemas.openxmlformats.org/drawingml/2006/main">
              <a:ext uri="{FF2B5EF4-FFF2-40B4-BE49-F238E27FC236}">
                <a16:creationId xmlns:a16="http://schemas.microsoft.com/office/drawing/2014/main" id="{C973A388-20EA-4735-8548-0E72339FDA80}"/>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6" name="">
            <a:extLst xmlns:a="http://schemas.openxmlformats.org/drawingml/2006/main">
              <a:ext uri="{FF2B5EF4-FFF2-40B4-BE49-F238E27FC236}">
                <a16:creationId xmlns:a16="http://schemas.microsoft.com/office/drawing/2014/main" id="{AAE113CB-6225-419D-8891-1FBB6CFA9DC4}"/>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7" name="">
            <a:extLst xmlns:a="http://schemas.openxmlformats.org/drawingml/2006/main">
              <a:ext uri="{FF2B5EF4-FFF2-40B4-BE49-F238E27FC236}">
                <a16:creationId xmlns:a16="http://schemas.microsoft.com/office/drawing/2014/main" id="{7559B6B3-A263-4ADC-A3C9-8E099178F259}"/>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8" name="">
            <a:extLst xmlns:a="http://schemas.openxmlformats.org/drawingml/2006/main">
              <a:ext uri="{FF2B5EF4-FFF2-40B4-BE49-F238E27FC236}">
                <a16:creationId xmlns:a16="http://schemas.microsoft.com/office/drawing/2014/main" id="{E897AE89-F882-4115-B6FD-97F11D6712BF}"/>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9" name="">
            <a:extLst xmlns:a="http://schemas.openxmlformats.org/drawingml/2006/main">
              <a:ext uri="{FF2B5EF4-FFF2-40B4-BE49-F238E27FC236}">
                <a16:creationId xmlns:a16="http://schemas.microsoft.com/office/drawing/2014/main" id="{E6755373-6CB3-4DE4-9F2C-E4C116E2C6C1}"/>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DBF0F366-3DD2-47B5-BA0F-15C68E5B4873}"/>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1" name="">
            <a:extLst xmlns:a="http://schemas.openxmlformats.org/drawingml/2006/main">
              <a:ext uri="{FF2B5EF4-FFF2-40B4-BE49-F238E27FC236}">
                <a16:creationId xmlns:a16="http://schemas.microsoft.com/office/drawing/2014/main" id="{144242FC-E0F6-416F-8065-58B718D1CFD0}"/>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2" name="">
            <a:extLst xmlns:a="http://schemas.openxmlformats.org/drawingml/2006/main">
              <a:ext uri="{FF2B5EF4-FFF2-40B4-BE49-F238E27FC236}">
                <a16:creationId xmlns:a16="http://schemas.microsoft.com/office/drawing/2014/main" id="{1E1785C5-A652-48F1-913B-E61706C71CFF}"/>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3" name="">
            <a:extLst xmlns:a="http://schemas.openxmlformats.org/drawingml/2006/main">
              <a:ext uri="{FF2B5EF4-FFF2-40B4-BE49-F238E27FC236}">
                <a16:creationId xmlns:a16="http://schemas.microsoft.com/office/drawing/2014/main" id="{F0CA73F3-F075-484B-BC2C-9519DB32F8FC}"/>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4" name="">
            <a:extLst xmlns:a="http://schemas.openxmlformats.org/drawingml/2006/main">
              <a:ext uri="{FF2B5EF4-FFF2-40B4-BE49-F238E27FC236}">
                <a16:creationId xmlns:a16="http://schemas.microsoft.com/office/drawing/2014/main" id="{D29A17B3-BFB0-4520-843B-EB29C45D1D0D}"/>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5" name="">
            <a:extLst xmlns:a="http://schemas.openxmlformats.org/drawingml/2006/main">
              <a:ext uri="{FF2B5EF4-FFF2-40B4-BE49-F238E27FC236}">
                <a16:creationId xmlns:a16="http://schemas.microsoft.com/office/drawing/2014/main" id="{6312401B-5148-474E-A6E5-B46A594956E0}"/>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6" name="">
            <a:extLst xmlns:a="http://schemas.openxmlformats.org/drawingml/2006/main">
              <a:ext uri="{FF2B5EF4-FFF2-40B4-BE49-F238E27FC236}">
                <a16:creationId xmlns:a16="http://schemas.microsoft.com/office/drawing/2014/main" id="{19B98019-0181-4E32-B77F-998407C8BEE5}"/>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7" name="">
            <a:extLst xmlns:a="http://schemas.openxmlformats.org/drawingml/2006/main">
              <a:ext uri="{FF2B5EF4-FFF2-40B4-BE49-F238E27FC236}">
                <a16:creationId xmlns:a16="http://schemas.microsoft.com/office/drawing/2014/main" id="{4CDB3DC3-0C5A-4850-8652-57EFCA18636A}"/>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657265669"/>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53D4C4-A7C5-4DFB-9212-8554CBD75D9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5A65C41C-10BD-4157-A04E-44F2462CBCFD}"/>
              </a:ext>
            </a:extLst>
          </p:cNvPr>
          <p:cNvPicPr>
            <a:picLocks xmlns:a="http://schemas.openxmlformats.org/drawingml/2006/main" noChangeAspect="1"/>
          </p:cNvPicPr>
          <p:nvPr/>
        </p:nvPicPr>
        <p:blipFill>
          <a:blip xmlns:r="http://schemas.openxmlformats.org/officeDocument/2006/relationships" xmlns:a="http://schemas.openxmlformats.org/drawingml/2006/main" r:embed="Rfd76106ead3f4978"/>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441309-D2FF-401E-BC92-281635643D3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4" name="">
            <a:extLst xmlns:a="http://schemas.openxmlformats.org/drawingml/2006/main">
              <a:ext uri="{FF2B5EF4-FFF2-40B4-BE49-F238E27FC236}">
                <a16:creationId xmlns:a16="http://schemas.microsoft.com/office/drawing/2014/main" id="{FD7CB839-342B-42A3-88EF-48C5877ED8A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D51074-49F5-4A91-AF89-8660F76A487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6" name="">
            <a:extLst xmlns:a="http://schemas.openxmlformats.org/drawingml/2006/main">
              <a:ext uri="{FF2B5EF4-FFF2-40B4-BE49-F238E27FC236}">
                <a16:creationId xmlns:a16="http://schemas.microsoft.com/office/drawing/2014/main" id="{D9D705AB-BE8A-468E-8077-A3FDE895EFF5}"/>
              </a:ext>
            </a:extLst>
          </p:cNvPr>
          <p:cNvPicPr>
            <a:picLocks xmlns:a="http://schemas.openxmlformats.org/drawingml/2006/main" noChangeAspect="1"/>
          </p:cNvPicPr>
          <p:nvPr/>
        </p:nvPicPr>
        <p:blipFill>
          <a:blip xmlns:r="http://schemas.openxmlformats.org/officeDocument/2006/relationships" xmlns:a="http://schemas.openxmlformats.org/drawingml/2006/main" r:embed="Rd7183bf9d108489a"/>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05EDBA4-CA65-4DDE-978C-F29D7FA18D7E}"/>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8" name="">
            <a:extLst xmlns:a="http://schemas.openxmlformats.org/drawingml/2006/main">
              <a:ext uri="{FF2B5EF4-FFF2-40B4-BE49-F238E27FC236}">
                <a16:creationId xmlns:a16="http://schemas.microsoft.com/office/drawing/2014/main" id="{F48E4A88-7083-49C8-89D8-178BC9B64C19}"/>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9" name="">
            <a:extLst xmlns:a="http://schemas.openxmlformats.org/drawingml/2006/main">
              <a:ext uri="{FF2B5EF4-FFF2-40B4-BE49-F238E27FC236}">
                <a16:creationId xmlns:a16="http://schemas.microsoft.com/office/drawing/2014/main" id="{69986163-1268-409B-8AE0-BC29C327E663}"/>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10" name="">
            <a:extLst xmlns:a="http://schemas.openxmlformats.org/drawingml/2006/main">
              <a:ext uri="{FF2B5EF4-FFF2-40B4-BE49-F238E27FC236}">
                <a16:creationId xmlns:a16="http://schemas.microsoft.com/office/drawing/2014/main" id="{259CE500-51CE-4DE7-9195-0835897F7298}"/>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1" name="">
            <a:extLst xmlns:a="http://schemas.openxmlformats.org/drawingml/2006/main">
              <a:ext uri="{FF2B5EF4-FFF2-40B4-BE49-F238E27FC236}">
                <a16:creationId xmlns:a16="http://schemas.microsoft.com/office/drawing/2014/main" id="{736CDA68-DC66-47CF-87B5-6D64214DABB5}"/>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2" name="">
            <a:extLst xmlns:a="http://schemas.openxmlformats.org/drawingml/2006/main">
              <a:ext uri="{FF2B5EF4-FFF2-40B4-BE49-F238E27FC236}">
                <a16:creationId xmlns:a16="http://schemas.microsoft.com/office/drawing/2014/main" id="{42274028-0409-4390-B6CC-85DE46A7E714}"/>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3" name="">
            <a:extLst xmlns:a="http://schemas.openxmlformats.org/drawingml/2006/main">
              <a:ext uri="{FF2B5EF4-FFF2-40B4-BE49-F238E27FC236}">
                <a16:creationId xmlns:a16="http://schemas.microsoft.com/office/drawing/2014/main" id="{FC39F901-1318-4048-922B-F55E084F909C}"/>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4" name="">
            <a:extLst xmlns:a="http://schemas.openxmlformats.org/drawingml/2006/main">
              <a:ext uri="{FF2B5EF4-FFF2-40B4-BE49-F238E27FC236}">
                <a16:creationId xmlns:a16="http://schemas.microsoft.com/office/drawing/2014/main" id="{F51CC59A-AF20-4E4C-BF6F-E5E832974ED1}"/>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E753631F-87CB-4CD1-80A6-41E96620D96C}"/>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230837635"/>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070DD3C-F6DB-4D40-AF83-9A8CF58A2CD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8AF537DA-7D9A-4FD2-8F4D-D57A6AA4519F}"/>
              </a:ext>
            </a:extLst>
          </p:cNvPr>
          <p:cNvPicPr>
            <a:picLocks xmlns:a="http://schemas.openxmlformats.org/drawingml/2006/main" noChangeAspect="1"/>
          </p:cNvPicPr>
          <p:nvPr/>
        </p:nvPicPr>
        <p:blipFill>
          <a:blip xmlns:r="http://schemas.openxmlformats.org/officeDocument/2006/relationships" xmlns:a="http://schemas.openxmlformats.org/drawingml/2006/main" r:embed="R402179b2e0b74ecd"/>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82A135-12E5-48CB-B48F-EBBA684C90E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4" name="">
            <a:extLst xmlns:a="http://schemas.openxmlformats.org/drawingml/2006/main">
              <a:ext uri="{FF2B5EF4-FFF2-40B4-BE49-F238E27FC236}">
                <a16:creationId xmlns:a16="http://schemas.microsoft.com/office/drawing/2014/main" id="{2EC29BD9-5C02-41AC-AF5E-911D7584D22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C32846-9819-4DBA-8606-845CD4A721E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6" name="">
            <a:extLst xmlns:a="http://schemas.openxmlformats.org/drawingml/2006/main">
              <a:ext uri="{FF2B5EF4-FFF2-40B4-BE49-F238E27FC236}">
                <a16:creationId xmlns:a16="http://schemas.microsoft.com/office/drawing/2014/main" id="{FCF2A41A-D4F9-4C5A-964A-D42534D531B9}"/>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022AFACA-4FF2-4E7A-B77C-C0A9425656EF}"/>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8" name="">
            <a:extLst xmlns:a="http://schemas.openxmlformats.org/drawingml/2006/main">
              <a:ext uri="{FF2B5EF4-FFF2-40B4-BE49-F238E27FC236}">
                <a16:creationId xmlns:a16="http://schemas.microsoft.com/office/drawing/2014/main" id="{13D2D545-F150-4DF5-BE69-8F7D3CFA7B7B}"/>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9" name="">
            <a:extLst xmlns:a="http://schemas.openxmlformats.org/drawingml/2006/main">
              <a:ext uri="{FF2B5EF4-FFF2-40B4-BE49-F238E27FC236}">
                <a16:creationId xmlns:a16="http://schemas.microsoft.com/office/drawing/2014/main" id="{66235F14-925D-4E19-8FB8-F6FC71D5F569}"/>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10" name="">
            <a:extLst xmlns:a="http://schemas.openxmlformats.org/drawingml/2006/main">
              <a:ext uri="{FF2B5EF4-FFF2-40B4-BE49-F238E27FC236}">
                <a16:creationId xmlns:a16="http://schemas.microsoft.com/office/drawing/2014/main" id="{331EE663-76EC-42B2-97A5-CDCDA9F33C98}"/>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7E33BB-D928-4106-AAD1-C4726FE20DE4}"/>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2" name="">
            <a:extLst xmlns:a="http://schemas.openxmlformats.org/drawingml/2006/main">
              <a:ext uri="{FF2B5EF4-FFF2-40B4-BE49-F238E27FC236}">
                <a16:creationId xmlns:a16="http://schemas.microsoft.com/office/drawing/2014/main" id="{9C681846-8FC8-4386-ADC2-65E9D02526F8}"/>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3" name="">
            <a:extLst xmlns:a="http://schemas.openxmlformats.org/drawingml/2006/main">
              <a:ext uri="{FF2B5EF4-FFF2-40B4-BE49-F238E27FC236}">
                <a16:creationId xmlns:a16="http://schemas.microsoft.com/office/drawing/2014/main" id="{6C729997-5BE8-4E93-9E87-4EE2FB9C44F4}"/>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E40067-6F0B-43D1-9521-E766DDED6E8F}"/>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5" name="">
            <a:extLst xmlns:a="http://schemas.openxmlformats.org/drawingml/2006/main">
              <a:ext uri="{FF2B5EF4-FFF2-40B4-BE49-F238E27FC236}">
                <a16:creationId xmlns:a16="http://schemas.microsoft.com/office/drawing/2014/main" id="{A1BF79F2-27E6-4E4B-A4F3-8F08F3ECB6EF}"/>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6" name="">
            <a:extLst xmlns:a="http://schemas.openxmlformats.org/drawingml/2006/main">
              <a:ext uri="{FF2B5EF4-FFF2-40B4-BE49-F238E27FC236}">
                <a16:creationId xmlns:a16="http://schemas.microsoft.com/office/drawing/2014/main" id="{BFCF0E22-3672-4C62-B63D-2E2EB874455C}"/>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2F32CE3-A4BF-4E0B-969B-D2967456D7D5}"/>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8" name="">
            <a:extLst xmlns:a="http://schemas.openxmlformats.org/drawingml/2006/main">
              <a:ext uri="{FF2B5EF4-FFF2-40B4-BE49-F238E27FC236}">
                <a16:creationId xmlns:a16="http://schemas.microsoft.com/office/drawing/2014/main" id="{CE3AE861-2D9F-4D03-B6B4-BF25F8FCD3E0}"/>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7C92F247-A16B-4405-A88A-2DD19D747471}"/>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20" name="">
            <a:extLst xmlns:a="http://schemas.openxmlformats.org/drawingml/2006/main">
              <a:ext uri="{FF2B5EF4-FFF2-40B4-BE49-F238E27FC236}">
                <a16:creationId xmlns:a16="http://schemas.microsoft.com/office/drawing/2014/main" id="{40574C25-5831-4FF8-A96B-84C33DAAB85E}"/>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1" name="">
            <a:extLst xmlns:a="http://schemas.openxmlformats.org/drawingml/2006/main">
              <a:ext uri="{FF2B5EF4-FFF2-40B4-BE49-F238E27FC236}">
                <a16:creationId xmlns:a16="http://schemas.microsoft.com/office/drawing/2014/main" id="{3AA5B670-FA1F-44AC-BEC6-2C4F302B857F}"/>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2" name="">
            <a:extLst xmlns:a="http://schemas.openxmlformats.org/drawingml/2006/main">
              <a:ext uri="{FF2B5EF4-FFF2-40B4-BE49-F238E27FC236}">
                <a16:creationId xmlns:a16="http://schemas.microsoft.com/office/drawing/2014/main" id="{F785895F-056E-45CE-B923-2000A0DBD895}"/>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3" name="">
            <a:extLst xmlns:a="http://schemas.openxmlformats.org/drawingml/2006/main">
              <a:ext uri="{FF2B5EF4-FFF2-40B4-BE49-F238E27FC236}">
                <a16:creationId xmlns:a16="http://schemas.microsoft.com/office/drawing/2014/main" id="{900C8E2F-2F10-46CF-A07E-FD06DB925B0D}"/>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340315458"/>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EE3364C-CBBA-4EE4-AF09-E330F5C8FFE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B73BD6FC-067C-47EA-BC99-052CAE066B5B}"/>
              </a:ext>
            </a:extLst>
          </p:cNvPr>
          <p:cNvPicPr>
            <a:picLocks xmlns:a="http://schemas.openxmlformats.org/drawingml/2006/main" noChangeAspect="1"/>
          </p:cNvPicPr>
          <p:nvPr/>
        </p:nvPicPr>
        <p:blipFill>
          <a:blip xmlns:r="http://schemas.openxmlformats.org/officeDocument/2006/relationships" xmlns:a="http://schemas.openxmlformats.org/drawingml/2006/main" r:embed="R82db8449c60746ad"/>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6556D0-6470-40DF-A961-983FAFE4B33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4" name="">
            <a:extLst xmlns:a="http://schemas.openxmlformats.org/drawingml/2006/main">
              <a:ext uri="{FF2B5EF4-FFF2-40B4-BE49-F238E27FC236}">
                <a16:creationId xmlns:a16="http://schemas.microsoft.com/office/drawing/2014/main" id="{4324D9A0-AD8F-4A88-8733-8DC4320B57F1}"/>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0C32B1-CE84-43E2-86B3-4F18A061D3D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6" name="">
            <a:extLst xmlns:a="http://schemas.openxmlformats.org/drawingml/2006/main">
              <a:ext uri="{FF2B5EF4-FFF2-40B4-BE49-F238E27FC236}">
                <a16:creationId xmlns:a16="http://schemas.microsoft.com/office/drawing/2014/main" id="{502D881F-8D78-44C1-9695-026C1ED0AF82}"/>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3500D2FA-E64B-4C91-8CA2-DF85F6919E6A}"/>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8" name="">
            <a:extLst xmlns:a="http://schemas.openxmlformats.org/drawingml/2006/main">
              <a:ext uri="{FF2B5EF4-FFF2-40B4-BE49-F238E27FC236}">
                <a16:creationId xmlns:a16="http://schemas.microsoft.com/office/drawing/2014/main" id="{DCC94F8C-940E-4C9C-AE61-A3AD41CFF1F0}"/>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9" name="">
            <a:extLst xmlns:a="http://schemas.openxmlformats.org/drawingml/2006/main">
              <a:ext uri="{FF2B5EF4-FFF2-40B4-BE49-F238E27FC236}">
                <a16:creationId xmlns:a16="http://schemas.microsoft.com/office/drawing/2014/main" id="{4BDF82C0-9C79-4FA2-A82E-AAE0240715A8}"/>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F6E16A4-35F6-4E7A-94B6-D73AAC68507B}"/>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1" name="">
            <a:extLst xmlns:a="http://schemas.openxmlformats.org/drawingml/2006/main">
              <a:ext uri="{FF2B5EF4-FFF2-40B4-BE49-F238E27FC236}">
                <a16:creationId xmlns:a16="http://schemas.microsoft.com/office/drawing/2014/main" id="{43BB113E-038A-431E-8646-B345AEFDE2E5}"/>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22D9DF6-AB79-4251-94F6-F3469498CB6A}"/>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3" name="">
            <a:extLst xmlns:a="http://schemas.openxmlformats.org/drawingml/2006/main">
              <a:ext uri="{FF2B5EF4-FFF2-40B4-BE49-F238E27FC236}">
                <a16:creationId xmlns:a16="http://schemas.microsoft.com/office/drawing/2014/main" id="{F2F2A1BA-99E5-4AB9-9CDD-9530466D53DB}"/>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6DDD09-4B67-46AC-842A-FDBADE3EC591}"/>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5" name="">
            <a:extLst xmlns:a="http://schemas.openxmlformats.org/drawingml/2006/main">
              <a:ext uri="{FF2B5EF4-FFF2-40B4-BE49-F238E27FC236}">
                <a16:creationId xmlns:a16="http://schemas.microsoft.com/office/drawing/2014/main" id="{79C3EC63-FE18-4346-B227-232F3FC7CF94}"/>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6" name="">
            <a:extLst xmlns:a="http://schemas.openxmlformats.org/drawingml/2006/main">
              <a:ext uri="{FF2B5EF4-FFF2-40B4-BE49-F238E27FC236}">
                <a16:creationId xmlns:a16="http://schemas.microsoft.com/office/drawing/2014/main" id="{B4023942-7809-4C55-8B5E-EF832FAF2820}"/>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7FFD61AA-9258-4FF3-937E-5147DD0F1B59}"/>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8" name="">
            <a:extLst xmlns:a="http://schemas.openxmlformats.org/drawingml/2006/main">
              <a:ext uri="{FF2B5EF4-FFF2-40B4-BE49-F238E27FC236}">
                <a16:creationId xmlns:a16="http://schemas.microsoft.com/office/drawing/2014/main" id="{64743FD0-72B3-4EC5-8AEA-B531F3B29003}"/>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9" name="">
            <a:extLst xmlns:a="http://schemas.openxmlformats.org/drawingml/2006/main">
              <a:ext uri="{FF2B5EF4-FFF2-40B4-BE49-F238E27FC236}">
                <a16:creationId xmlns:a16="http://schemas.microsoft.com/office/drawing/2014/main" id="{DC46FCAA-F61F-4D86-A379-A732D81641FB}"/>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20" name="">
            <a:extLst xmlns:a="http://schemas.openxmlformats.org/drawingml/2006/main">
              <a:ext uri="{FF2B5EF4-FFF2-40B4-BE49-F238E27FC236}">
                <a16:creationId xmlns:a16="http://schemas.microsoft.com/office/drawing/2014/main" id="{41767DD0-4B78-41C4-A6E8-3C070646E189}"/>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7BE36E8D-EAA5-494C-BB8C-9FEB5CE634AA}"/>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2" name="">
            <a:extLst xmlns:a="http://schemas.openxmlformats.org/drawingml/2006/main">
              <a:ext uri="{FF2B5EF4-FFF2-40B4-BE49-F238E27FC236}">
                <a16:creationId xmlns:a16="http://schemas.microsoft.com/office/drawing/2014/main" id="{E3C57994-1A56-42F0-8AD3-FBBBAAF28E44}"/>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931915754"/>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005425-C4D8-4BF8-89CD-DF8F26C8D9E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6712191E-418C-4512-BAC0-E89909906FD0}"/>
              </a:ext>
            </a:extLst>
          </p:cNvPr>
          <p:cNvPicPr>
            <a:picLocks xmlns:a="http://schemas.openxmlformats.org/drawingml/2006/main" noChangeAspect="1"/>
          </p:cNvPicPr>
          <p:nvPr/>
        </p:nvPicPr>
        <p:blipFill>
          <a:blip xmlns:r="http://schemas.openxmlformats.org/officeDocument/2006/relationships" xmlns:a="http://schemas.openxmlformats.org/drawingml/2006/main" r:embed="Rd35bd398abec4e0e"/>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FD3BE0-A571-4903-8518-D90C58F9508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Can multiple prompts improve localization reliably?</a:t>
            </a:r>
          </a:p>
        </p:txBody>
      </p:sp>
      <p:sp>
        <p:nvSpPr>
          <p:cNvPr id="4" name="">
            <a:extLst xmlns:a="http://schemas.openxmlformats.org/drawingml/2006/main">
              <a:ext uri="{FF2B5EF4-FFF2-40B4-BE49-F238E27FC236}">
                <a16:creationId xmlns:a16="http://schemas.microsoft.com/office/drawing/2014/main" id="{1AF57081-A6AA-43FC-B0A8-AAB657D33F5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C8540E-62C5-4C55-B9DA-362CF694E4E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6" name="">
            <a:extLst xmlns:a="http://schemas.openxmlformats.org/drawingml/2006/main">
              <a:ext uri="{FF2B5EF4-FFF2-40B4-BE49-F238E27FC236}">
                <a16:creationId xmlns:a16="http://schemas.microsoft.com/office/drawing/2014/main" id="{F029C68C-199B-4DC6-B7EC-1B82749FD8D9}"/>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A1DE0C5B-0B8F-43B8-9132-BF0FA4B4ED54}"/>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8" name="">
            <a:extLst xmlns:a="http://schemas.openxmlformats.org/drawingml/2006/main">
              <a:ext uri="{FF2B5EF4-FFF2-40B4-BE49-F238E27FC236}">
                <a16:creationId xmlns:a16="http://schemas.microsoft.com/office/drawing/2014/main" id="{385EB8DD-BCB4-4A94-87EB-0CD17C8E24F3}"/>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950" b="1">
                <a:solidFill>
                  <a:srgbClr val="FFFFFF"/>
                </a:solidFill>
                <a:latin typeface="Avenir"/>
                <a:ea typeface="Avenir"/>
                <a:cs typeface="Avenir"/>
              </a:defRPr>
            </a:defPPr>
          </a:lstStyle>
          <a:p xmlns:a="http://schemas.openxmlformats.org/drawingml/2006/main">
            <a:pPr algn="l">
              <a:defRPr sz="1950" b="1">
                <a:solidFill>
                  <a:srgbClr val="FFFFFF"/>
                </a:solidFill>
                <a:latin typeface="Avenir"/>
                <a:ea typeface="Avenir"/>
                <a:cs typeface="Avenir"/>
              </a:defRPr>
            </a:pPr>
            <a:r>
              <a:rPr sz="1950" b="1">
                <a:solidFill>
                  <a:srgbClr val="FFFFFF"/>
                </a:solidFill>
                <a:latin typeface="Avenir"/>
                <a:ea typeface="Avenir"/>
                <a:cs typeface="Avenir"/>
              </a:rPr>
              <a:t>Across 18 actions on partial point clouds, do one or three fixed paraphrases improve OpenAD localization over canonical action words without increasing false alarms?</a:t>
            </a:r>
          </a:p>
        </p:txBody>
      </p:sp>
      <p:sp>
        <p:nvSpPr>
          <p:cNvPr id="9" name="">
            <a:extLst xmlns:a="http://schemas.openxmlformats.org/drawingml/2006/main">
              <a:ext uri="{FF2B5EF4-FFF2-40B4-BE49-F238E27FC236}">
                <a16:creationId xmlns:a16="http://schemas.microsoft.com/office/drawing/2014/main" id="{CB32F749-893D-4CC7-95A6-C5E0C3CFF9BB}"/>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998BF683-89C0-4137-92B6-7CF859878FC0}"/>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5C27EC8A-36E8-4D6A-B156-482AE4AC49B7}"/>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2" name="">
            <a:extLst xmlns:a="http://schemas.openxmlformats.org/drawingml/2006/main">
              <a:ext uri="{FF2B5EF4-FFF2-40B4-BE49-F238E27FC236}">
                <a16:creationId xmlns:a16="http://schemas.microsoft.com/office/drawing/2014/main" id="{CFA294C1-0F04-484A-A5E6-A9182ADBE23B}"/>
              </a:ext>
            </a:extLst>
          </p:cNvPr>
          <p:cNvSpPr>
            <a:spLocks xmlns:a="http://schemas.openxmlformats.org/drawingml/2006/main" noGrp="1"/>
          </p:cNvSpPr>
          <p:nvPr/>
        </p:nvSpPr>
        <p:spPr>
          <a:xfrm xmlns:a="http://schemas.openxmlformats.org/drawingml/2006/main">
            <a:off x="876300" y="4514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Averaging three fixed paraphrase scores will improve mean IoU over canonical queries and help more consistently across actions.</a:t>
            </a:r>
          </a:p>
        </p:txBody>
      </p:sp>
      <p:sp>
        <p:nvSpPr>
          <p:cNvPr id="13" name="">
            <a:extLst xmlns:a="http://schemas.openxmlformats.org/drawingml/2006/main">
              <a:ext uri="{FF2B5EF4-FFF2-40B4-BE49-F238E27FC236}">
                <a16:creationId xmlns:a16="http://schemas.microsoft.com/office/drawing/2014/main" id="{515442D8-6076-42E3-BD6E-8C624CA6A70A}"/>
              </a:ext>
            </a:extLst>
          </p:cNvPr>
          <p:cNvSpPr>
            <a:spLocks xmlns:a="http://schemas.openxmlformats.org/drawingml/2006/main" noGrp="1"/>
          </p:cNvSpPr>
          <p:nvPr/>
        </p:nvSpPr>
        <p:spPr>
          <a:xfrm xmlns:a="http://schemas.openxmlformats.org/drawingml/2006/main">
            <a:off x="876300" y="4953000"/>
            <a:ext cx="10144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Primary test: three-prompt average vs canonical; support requires a positive paired gain with 95% CI above zero.</a:t>
            </a:r>
          </a:p>
        </p:txBody>
      </p:sp>
    </p:spTree>
    <p:extLst>
      <p:ext uri="{BB962C8B-B14F-4D97-AF65-F5344CB8AC3E}">
        <p14:creationId xmlns:p14="http://schemas.microsoft.com/office/powerpoint/2010/main" val="1162275570"/>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7A042D9-ED36-43A3-B04E-F0AEDA8FD86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3AA04B36-004D-493E-BF9B-D218AB7E3F3B}"/>
              </a:ext>
            </a:extLst>
          </p:cNvPr>
          <p:cNvPicPr>
            <a:picLocks xmlns:a="http://schemas.openxmlformats.org/drawingml/2006/main" noChangeAspect="1"/>
          </p:cNvPicPr>
          <p:nvPr/>
        </p:nvPicPr>
        <p:blipFill>
          <a:blip xmlns:r="http://schemas.openxmlformats.org/officeDocument/2006/relationships" xmlns:a="http://schemas.openxmlformats.org/drawingml/2006/main" r:embed="R6314e1517eca4225"/>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F6326-4F7E-4294-9947-A87C1E2EAFA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Three query conditions; everything else stays fixed</a:t>
            </a:r>
          </a:p>
        </p:txBody>
      </p:sp>
      <p:sp>
        <p:nvSpPr>
          <p:cNvPr id="4" name="">
            <a:extLst xmlns:a="http://schemas.openxmlformats.org/drawingml/2006/main">
              <a:ext uri="{FF2B5EF4-FFF2-40B4-BE49-F238E27FC236}">
                <a16:creationId xmlns:a16="http://schemas.microsoft.com/office/drawing/2014/main" id="{B69C2795-FAB4-4CA5-94AB-3607AEE5614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3C76BB7-01EF-4AC6-A208-E38BAD311B6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6" name="">
            <a:extLst xmlns:a="http://schemas.openxmlformats.org/drawingml/2006/main">
              <a:ext uri="{FF2B5EF4-FFF2-40B4-BE49-F238E27FC236}">
                <a16:creationId xmlns:a16="http://schemas.microsoft.com/office/drawing/2014/main" id="{6525A5C2-1BF6-4B39-A1C8-9C2293108DF7}"/>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70C0B076-6B64-4A7F-A50A-A231069233B0}"/>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8" name="">
            <a:extLst xmlns:a="http://schemas.openxmlformats.org/drawingml/2006/main">
              <a:ext uri="{FF2B5EF4-FFF2-40B4-BE49-F238E27FC236}">
                <a16:creationId xmlns:a16="http://schemas.microsoft.com/office/drawing/2014/main" id="{2903929A-4E11-4F1B-B17A-1272C58F3D47}"/>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E140E15-6EED-459D-958D-E29A2A05C626}"/>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Same frozen OpenAD model and point samples</a:t>
            </a:r>
          </a:p>
        </p:txBody>
      </p:sp>
      <p:sp>
        <p:nvSpPr>
          <p:cNvPr id="10" name="">
            <a:extLst xmlns:a="http://schemas.openxmlformats.org/drawingml/2006/main">
              <a:ext uri="{FF2B5EF4-FFF2-40B4-BE49-F238E27FC236}">
                <a16:creationId xmlns:a16="http://schemas.microsoft.com/office/drawing/2014/main" id="{908D9BCA-5753-477B-81F8-37D9CA1D0E9E}"/>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A2C54DB-E7F2-49BB-89BB-99F3A0BE1EBD}"/>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 canonical action word</a:t>
            </a:r>
          </a:p>
        </p:txBody>
      </p:sp>
      <p:sp>
        <p:nvSpPr>
          <p:cNvPr id="12" name="">
            <a:extLst xmlns:a="http://schemas.openxmlformats.org/drawingml/2006/main">
              <a:ext uri="{FF2B5EF4-FFF2-40B4-BE49-F238E27FC236}">
                <a16:creationId xmlns:a16="http://schemas.microsoft.com/office/drawing/2014/main" id="{18C3DBA1-D708-44C9-B617-AC7D247A9D40}"/>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02BBF1-8F0F-4448-A9CB-BB5B4D6038D9}"/>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B: one fixed paraphrase</a:t>
            </a:r>
          </a:p>
        </p:txBody>
      </p:sp>
      <p:sp>
        <p:nvSpPr>
          <p:cNvPr id="14" name="">
            <a:extLst xmlns:a="http://schemas.openxmlformats.org/drawingml/2006/main">
              <a:ext uri="{FF2B5EF4-FFF2-40B4-BE49-F238E27FC236}">
                <a16:creationId xmlns:a16="http://schemas.microsoft.com/office/drawing/2014/main" id="{FD4AF1F0-142A-48F2-B2DC-1709931689F1}"/>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D5FAAE4-7EA8-476F-9E81-D4F2DF68FFDE}"/>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C: average of three fixed paraphrase score maps</a:t>
            </a:r>
          </a:p>
        </p:txBody>
      </p:sp>
      <p:sp>
        <p:nvSpPr>
          <p:cNvPr id="16" name="">
            <a:extLst xmlns:a="http://schemas.openxmlformats.org/drawingml/2006/main">
              <a:ext uri="{FF2B5EF4-FFF2-40B4-BE49-F238E27FC236}">
                <a16:creationId xmlns:a16="http://schemas.microsoft.com/office/drawing/2014/main" id="{3B7402CC-B750-453B-BDC4-CC82DEFDFBA1}"/>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57B7CCF-F321-48AE-AD76-EAA35F8EE8EF}"/>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Partial views primary; full shapes control</a:t>
            </a:r>
          </a:p>
        </p:txBody>
      </p:sp>
      <p:sp>
        <p:nvSpPr>
          <p:cNvPr id="18" name="">
            <a:extLst xmlns:a="http://schemas.openxmlformats.org/drawingml/2006/main">
              <a:ext uri="{FF2B5EF4-FFF2-40B4-BE49-F238E27FC236}">
                <a16:creationId xmlns:a16="http://schemas.microsoft.com/office/drawing/2014/main" id="{F5A63B95-7A75-4A90-B59F-25090D3C0D19}"/>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20A85DD9-330A-449F-B14E-2C3E7FB04F3C}"/>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20" name="">
            <a:extLst xmlns:a="http://schemas.openxmlformats.org/drawingml/2006/main">
              <a:ext uri="{FF2B5EF4-FFF2-40B4-BE49-F238E27FC236}">
                <a16:creationId xmlns:a16="http://schemas.microsoft.com/office/drawing/2014/main" id="{EE2AFB41-F1A9-49D7-9D98-8379B7ECE4FB}"/>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965B103-7437-4F6E-B271-E8168263D006}"/>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Primary: 18-action mean IoU, C vs A</a:t>
            </a:r>
          </a:p>
        </p:txBody>
      </p:sp>
      <p:sp>
        <p:nvSpPr>
          <p:cNvPr id="22" name="">
            <a:extLst xmlns:a="http://schemas.openxmlformats.org/drawingml/2006/main">
              <a:ext uri="{FF2B5EF4-FFF2-40B4-BE49-F238E27FC236}">
                <a16:creationId xmlns:a16="http://schemas.microsoft.com/office/drawing/2014/main" id="{D232B36E-1F8A-4D02-B96A-D0EC65D3BD2C}"/>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E76C21E-A9C8-461C-BF2E-FC71D03A7F0C}"/>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Secondary: B vs A; per-action IoU</a:t>
            </a:r>
          </a:p>
        </p:txBody>
      </p:sp>
      <p:sp>
        <p:nvSpPr>
          <p:cNvPr id="24" name="">
            <a:extLst xmlns:a="http://schemas.openxmlformats.org/drawingml/2006/main">
              <a:ext uri="{FF2B5EF4-FFF2-40B4-BE49-F238E27FC236}">
                <a16:creationId xmlns:a16="http://schemas.microsoft.com/office/drawing/2014/main" id="{10318A69-DB67-4577-BA02-7A5F91AAF7EF}"/>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3B38F9-571B-4F2D-8354-E495106072F3}"/>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19-class IoU and AUC</a:t>
            </a:r>
          </a:p>
        </p:txBody>
      </p:sp>
      <p:sp>
        <p:nvSpPr>
          <p:cNvPr id="26" name="">
            <a:extLst xmlns:a="http://schemas.openxmlformats.org/drawingml/2006/main">
              <a:ext uri="{FF2B5EF4-FFF2-40B4-BE49-F238E27FC236}">
                <a16:creationId xmlns:a16="http://schemas.microsoft.com/office/drawing/2014/main" id="{35620622-BA8F-4036-ACFA-13EAB7F91318}"/>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B5AEBAB-C1F8-4A2B-9A61-1E2B31BE804B}"/>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False alarms on negative objects</a:t>
            </a:r>
          </a:p>
        </p:txBody>
      </p:sp>
      <p:sp>
        <p:nvSpPr>
          <p:cNvPr id="28" name="">
            <a:extLst xmlns:a="http://schemas.openxmlformats.org/drawingml/2006/main">
              <a:ext uri="{FF2B5EF4-FFF2-40B4-BE49-F238E27FC236}">
                <a16:creationId xmlns:a16="http://schemas.microsoft.com/office/drawing/2014/main" id="{E161B3F5-301D-4918-9D33-3EBC4289A40B}"/>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3EECBDB-B9BA-4599-BCCC-249008F6B23B}"/>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Paired 95% CI, resampling by object</a:t>
            </a:r>
          </a:p>
        </p:txBody>
      </p:sp>
    </p:spTree>
    <p:extLst>
      <p:ext uri="{BB962C8B-B14F-4D97-AF65-F5344CB8AC3E}">
        <p14:creationId xmlns:p14="http://schemas.microsoft.com/office/powerpoint/2010/main" val="205230964"/>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F6CE6DC-177C-4035-B4FF-B90C9D3D81D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76974344-7E63-4754-A0CD-F4CEA42093F9}"/>
              </a:ext>
            </a:extLst>
          </p:cNvPr>
          <p:cNvPicPr>
            <a:picLocks xmlns:a="http://schemas.openxmlformats.org/drawingml/2006/main" noChangeAspect="1"/>
          </p:cNvPicPr>
          <p:nvPr/>
        </p:nvPicPr>
        <p:blipFill>
          <a:blip xmlns:r="http://schemas.openxmlformats.org/officeDocument/2006/relationships" xmlns:a="http://schemas.openxmlformats.org/drawingml/2006/main" r:embed="R1256dbcd9cd44a72"/>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D1D66A7-4703-4224-849E-1A5657E64C7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compare three prompt strategies</a:t>
            </a:r>
          </a:p>
        </p:txBody>
      </p:sp>
      <p:sp>
        <p:nvSpPr>
          <p:cNvPr id="4" name="">
            <a:extLst xmlns:a="http://schemas.openxmlformats.org/drawingml/2006/main">
              <a:ext uri="{FF2B5EF4-FFF2-40B4-BE49-F238E27FC236}">
                <a16:creationId xmlns:a16="http://schemas.microsoft.com/office/drawing/2014/main" id="{5587D0BD-E123-4E64-B2B1-CE2EE56B787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8487DB-7726-4FB4-A55A-CEE706A3BE8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6" name="">
            <a:extLst xmlns:a="http://schemas.openxmlformats.org/drawingml/2006/main">
              <a:ext uri="{FF2B5EF4-FFF2-40B4-BE49-F238E27FC236}">
                <a16:creationId xmlns:a16="http://schemas.microsoft.com/office/drawing/2014/main" id="{BB527E3B-E9D8-49B6-A8E0-BFD2462F181A}"/>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F1CB9545-8BB0-47ED-ACD2-D693AE68291C}"/>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0DD79CC4-5FE3-4A93-AAFB-B93A65F766B6}"/>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WRITE</a:t>
            </a:r>
          </a:p>
        </p:txBody>
      </p:sp>
      <p:sp>
        <p:nvSpPr>
          <p:cNvPr id="9" name="">
            <a:extLst xmlns:a="http://schemas.openxmlformats.org/drawingml/2006/main">
              <a:ext uri="{FF2B5EF4-FFF2-40B4-BE49-F238E27FC236}">
                <a16:creationId xmlns:a16="http://schemas.microsoft.com/office/drawing/2014/main" id="{D5E0AC47-34D6-4EC7-B251-161D4647D451}"/>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For each of 18 actions, prepare three meaning-equivalent paraphrases. Freeze them before evaluation.</a:t>
            </a:r>
          </a:p>
        </p:txBody>
      </p:sp>
      <p:sp>
        <p:nvSpPr>
          <p:cNvPr id="10" name="">
            <a:extLst xmlns:a="http://schemas.openxmlformats.org/drawingml/2006/main">
              <a:ext uri="{FF2B5EF4-FFF2-40B4-BE49-F238E27FC236}">
                <a16:creationId xmlns:a16="http://schemas.microsoft.com/office/drawing/2014/main" id="{708F18E1-31F5-46F8-B965-8273BA7FAADC}"/>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1" name="">
            <a:extLst xmlns:a="http://schemas.openxmlformats.org/drawingml/2006/main">
              <a:ext uri="{FF2B5EF4-FFF2-40B4-BE49-F238E27FC236}">
                <a16:creationId xmlns:a16="http://schemas.microsoft.com/office/drawing/2014/main" id="{E2D4EF8D-8640-4CBC-A801-5A8C15699BD9}"/>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E229B874-781B-44C2-B63F-F76D51432682}"/>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a:t>
            </a:r>
          </a:p>
        </p:txBody>
      </p:sp>
      <p:sp>
        <p:nvSpPr>
          <p:cNvPr id="13" name="">
            <a:extLst xmlns:a="http://schemas.openxmlformats.org/drawingml/2006/main">
              <a:ext uri="{FF2B5EF4-FFF2-40B4-BE49-F238E27FC236}">
                <a16:creationId xmlns:a16="http://schemas.microsoft.com/office/drawing/2014/main" id="{1101AED9-E9E4-47D5-B5DD-A8998B71DCC8}"/>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Score canonical, one fixed paraphrase, and the average of three paraphrase maps on identical partial views.</a:t>
            </a:r>
          </a:p>
        </p:txBody>
      </p:sp>
      <p:sp>
        <p:nvSpPr>
          <p:cNvPr id="14" name="">
            <a:extLst xmlns:a="http://schemas.openxmlformats.org/drawingml/2006/main">
              <a:ext uri="{FF2B5EF4-FFF2-40B4-BE49-F238E27FC236}">
                <a16:creationId xmlns:a16="http://schemas.microsoft.com/office/drawing/2014/main" id="{269E39D0-0C65-46A7-A52B-DABD993DD1EC}"/>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5" name="">
            <a:extLst xmlns:a="http://schemas.openxmlformats.org/drawingml/2006/main">
              <a:ext uri="{FF2B5EF4-FFF2-40B4-BE49-F238E27FC236}">
                <a16:creationId xmlns:a16="http://schemas.microsoft.com/office/drawing/2014/main" id="{93D51C69-C601-4649-B280-51F63D79874B}"/>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A18E93EB-5527-4008-985E-B16EC658F729}"/>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MEASURE</a:t>
            </a:r>
          </a:p>
        </p:txBody>
      </p:sp>
      <p:sp>
        <p:nvSpPr>
          <p:cNvPr id="17" name="">
            <a:extLst xmlns:a="http://schemas.openxmlformats.org/drawingml/2006/main">
              <a:ext uri="{FF2B5EF4-FFF2-40B4-BE49-F238E27FC236}">
                <a16:creationId xmlns:a16="http://schemas.microsoft.com/office/drawing/2014/main" id="{0975E15D-E248-4F87-8568-46F03DCAAF66}"/>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three-prompt average vs canonical. Also track false alarms and action-level results.</a:t>
            </a:r>
          </a:p>
        </p:txBody>
      </p:sp>
      <p:sp>
        <p:nvSpPr>
          <p:cNvPr id="18" name="">
            <a:extLst xmlns:a="http://schemas.openxmlformats.org/drawingml/2006/main">
              <a:ext uri="{FF2B5EF4-FFF2-40B4-BE49-F238E27FC236}">
                <a16:creationId xmlns:a16="http://schemas.microsoft.com/office/drawing/2014/main" id="{5F6C9CDB-86EA-485E-ADBC-C7CB8952BD8A}"/>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2C1885C0-9577-4AF1-A0EC-123FCDB94267}"/>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0952BEF5-759F-4856-8911-C5FC9D6E9DAF}"/>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CHECK</a:t>
            </a:r>
          </a:p>
        </p:txBody>
      </p:sp>
      <p:sp>
        <p:nvSpPr>
          <p:cNvPr id="21" name="">
            <a:extLst xmlns:a="http://schemas.openxmlformats.org/drawingml/2006/main">
              <a:ext uri="{FF2B5EF4-FFF2-40B4-BE49-F238E27FC236}">
                <a16:creationId xmlns:a16="http://schemas.microsoft.com/office/drawing/2014/main" id="{B9427012-6916-459D-98ED-1304DD188507}"/>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 full shapes as a control; bootstrap paired differences by object and inspect failure cases.</a:t>
            </a:r>
          </a:p>
        </p:txBody>
      </p:sp>
      <p:sp>
        <p:nvSpPr>
          <p:cNvPr id="22" name="">
            <a:extLst xmlns:a="http://schemas.openxmlformats.org/drawingml/2006/main">
              <a:ext uri="{FF2B5EF4-FFF2-40B4-BE49-F238E27FC236}">
                <a16:creationId xmlns:a16="http://schemas.microsoft.com/office/drawing/2014/main" id="{24EE9051-162A-4C08-A85A-D3CEDF12D747}"/>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Use a fresh object-disjoint test set if possible; otherwise call the study exploratory.</a:t>
            </a:r>
          </a:p>
        </p:txBody>
      </p:sp>
    </p:spTree>
    <p:extLst>
      <p:ext uri="{BB962C8B-B14F-4D97-AF65-F5344CB8AC3E}">
        <p14:creationId xmlns:p14="http://schemas.microsoft.com/office/powerpoint/2010/main" val="359342264"/>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2A52EDE-5EE3-43B9-AB01-7A8C806EB20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A944E8E8-38AE-4244-9306-FFA859622B10}"/>
              </a:ext>
            </a:extLst>
          </p:cNvPr>
          <p:cNvPicPr>
            <a:picLocks xmlns:a="http://schemas.openxmlformats.org/drawingml/2006/main" noChangeAspect="1"/>
          </p:cNvPicPr>
          <p:nvPr/>
        </p:nvPicPr>
        <p:blipFill>
          <a:blip xmlns:r="http://schemas.openxmlformats.org/officeDocument/2006/relationships" xmlns:a="http://schemas.openxmlformats.org/drawingml/2006/main" r:embed="Rb74bf7c217d645fe"/>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1BEB9A-F540-4D14-A45F-D930EA08B22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Week 9–15: a staged plan for the prompt comparison</a:t>
            </a:r>
          </a:p>
        </p:txBody>
      </p:sp>
      <p:sp>
        <p:nvSpPr>
          <p:cNvPr id="4" name="">
            <a:extLst xmlns:a="http://schemas.openxmlformats.org/drawingml/2006/main">
              <a:ext uri="{FF2B5EF4-FFF2-40B4-BE49-F238E27FC236}">
                <a16:creationId xmlns:a16="http://schemas.microsoft.com/office/drawing/2014/main" id="{DB3AB887-1475-4FFA-8219-258D985F4EC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12A91A-7DC3-4E32-9C9D-C16BE18D6E9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6" name="">
            <a:extLst xmlns:a="http://schemas.openxmlformats.org/drawingml/2006/main">
              <a:ext uri="{FF2B5EF4-FFF2-40B4-BE49-F238E27FC236}">
                <a16:creationId xmlns:a16="http://schemas.microsoft.com/office/drawing/2014/main" id="{4CC8F7E6-822A-4AEC-A5A9-766459A2AD52}"/>
              </a:ext>
            </a:extLst>
          </p:cNvPr>
          <p:cNvSpPr>
            <a:spLocks xmlns:a="http://schemas.openxmlformats.org/drawingml/2006/main" noGrp="1"/>
          </p:cNvSpPr>
          <p:nvPr/>
        </p:nvSpPr>
        <p:spPr>
          <a:xfrm xmlns:a="http://schemas.openxmlformats.org/drawingml/2006/main">
            <a:off x="609600" y="14954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E802AAC4-8603-4C04-B38B-C915C554745A}"/>
              </a:ext>
            </a:extLst>
          </p:cNvPr>
          <p:cNvSpPr>
            <a:spLocks xmlns:a="http://schemas.openxmlformats.org/drawingml/2006/main" noGrp="1"/>
          </p:cNvSpPr>
          <p:nvPr/>
        </p:nvSpPr>
        <p:spPr>
          <a:xfrm xmlns:a="http://schemas.openxmlformats.org/drawingml/2006/main">
            <a:off x="723900" y="15811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BA8476BC-0101-4ED0-A545-9F8CA3DEFB29}"/>
              </a:ext>
            </a:extLst>
          </p:cNvPr>
          <p:cNvSpPr>
            <a:spLocks xmlns:a="http://schemas.openxmlformats.org/drawingml/2006/main" noGrp="1"/>
          </p:cNvSpPr>
          <p:nvPr/>
        </p:nvSpPr>
        <p:spPr>
          <a:xfrm xmlns:a="http://schemas.openxmlformats.org/drawingml/2006/main">
            <a:off x="790575" y="15811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9</a:t>
            </a:r>
          </a:p>
        </p:txBody>
      </p:sp>
      <p:sp>
        <p:nvSpPr>
          <p:cNvPr id="9" name="">
            <a:extLst xmlns:a="http://schemas.openxmlformats.org/drawingml/2006/main">
              <a:ext uri="{FF2B5EF4-FFF2-40B4-BE49-F238E27FC236}">
                <a16:creationId xmlns:a16="http://schemas.microsoft.com/office/drawing/2014/main" id="{8F90B607-BB17-4BE1-A987-6373FC024F9E}"/>
              </a:ext>
            </a:extLst>
          </p:cNvPr>
          <p:cNvSpPr>
            <a:spLocks xmlns:a="http://schemas.openxmlformats.org/drawingml/2006/main" noGrp="1"/>
          </p:cNvSpPr>
          <p:nvPr/>
        </p:nvSpPr>
        <p:spPr>
          <a:xfrm xmlns:a="http://schemas.openxmlformats.org/drawingml/2006/main">
            <a:off x="1924050" y="15430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Freeze the research question, primary comparison, and test split.</a:t>
            </a:r>
          </a:p>
        </p:txBody>
      </p:sp>
      <p:sp>
        <p:nvSpPr>
          <p:cNvPr id="10" name="">
            <a:extLst xmlns:a="http://schemas.openxmlformats.org/drawingml/2006/main">
              <a:ext uri="{FF2B5EF4-FFF2-40B4-BE49-F238E27FC236}">
                <a16:creationId xmlns:a16="http://schemas.microsoft.com/office/drawing/2014/main" id="{76EAE1D9-0BBB-4147-B9FD-21189332D605}"/>
              </a:ext>
            </a:extLst>
          </p:cNvPr>
          <p:cNvSpPr>
            <a:spLocks xmlns:a="http://schemas.openxmlformats.org/drawingml/2006/main" noGrp="1"/>
          </p:cNvSpPr>
          <p:nvPr/>
        </p:nvSpPr>
        <p:spPr>
          <a:xfrm xmlns:a="http://schemas.openxmlformats.org/drawingml/2006/main">
            <a:off x="723900" y="21336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479BA85B-C91A-40D6-A2DB-525F6BA0248C}"/>
              </a:ext>
            </a:extLst>
          </p:cNvPr>
          <p:cNvSpPr>
            <a:spLocks xmlns:a="http://schemas.openxmlformats.org/drawingml/2006/main" noGrp="1"/>
          </p:cNvSpPr>
          <p:nvPr/>
        </p:nvSpPr>
        <p:spPr>
          <a:xfrm xmlns:a="http://schemas.openxmlformats.org/drawingml/2006/main">
            <a:off x="790575" y="21336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10</a:t>
            </a:r>
          </a:p>
        </p:txBody>
      </p:sp>
      <p:sp>
        <p:nvSpPr>
          <p:cNvPr id="12" name="">
            <a:extLst xmlns:a="http://schemas.openxmlformats.org/drawingml/2006/main">
              <a:ext uri="{FF2B5EF4-FFF2-40B4-BE49-F238E27FC236}">
                <a16:creationId xmlns:a16="http://schemas.microsoft.com/office/drawing/2014/main" id="{597A6CDC-F726-42EF-AFA3-5314A92AD4C6}"/>
              </a:ext>
            </a:extLst>
          </p:cNvPr>
          <p:cNvSpPr>
            <a:spLocks xmlns:a="http://schemas.openxmlformats.org/drawingml/2006/main" noGrp="1"/>
          </p:cNvSpPr>
          <p:nvPr/>
        </p:nvSpPr>
        <p:spPr>
          <a:xfrm xmlns:a="http://schemas.openxmlformats.org/drawingml/2006/main">
            <a:off x="1924050" y="20955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Write three paraphrases per action; freeze prompts before scoring.</a:t>
            </a:r>
          </a:p>
        </p:txBody>
      </p:sp>
      <p:sp>
        <p:nvSpPr>
          <p:cNvPr id="13" name="">
            <a:extLst xmlns:a="http://schemas.openxmlformats.org/drawingml/2006/main">
              <a:ext uri="{FF2B5EF4-FFF2-40B4-BE49-F238E27FC236}">
                <a16:creationId xmlns:a16="http://schemas.microsoft.com/office/drawing/2014/main" id="{C7245989-9E17-4AD8-948C-ECF390D6DABF}"/>
              </a:ext>
            </a:extLst>
          </p:cNvPr>
          <p:cNvSpPr>
            <a:spLocks xmlns:a="http://schemas.openxmlformats.org/drawingml/2006/main" noGrp="1"/>
          </p:cNvSpPr>
          <p:nvPr/>
        </p:nvSpPr>
        <p:spPr>
          <a:xfrm xmlns:a="http://schemas.openxmlformats.org/drawingml/2006/main">
            <a:off x="609600" y="26003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CA2AA2D5-BC3A-4194-BF10-177F2A74931E}"/>
              </a:ext>
            </a:extLst>
          </p:cNvPr>
          <p:cNvSpPr>
            <a:spLocks xmlns:a="http://schemas.openxmlformats.org/drawingml/2006/main" noGrp="1"/>
          </p:cNvSpPr>
          <p:nvPr/>
        </p:nvSpPr>
        <p:spPr>
          <a:xfrm xmlns:a="http://schemas.openxmlformats.org/drawingml/2006/main">
            <a:off x="723900" y="26860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8F976500-A3FA-4260-A802-D4BF966EF05C}"/>
              </a:ext>
            </a:extLst>
          </p:cNvPr>
          <p:cNvSpPr>
            <a:spLocks xmlns:a="http://schemas.openxmlformats.org/drawingml/2006/main" noGrp="1"/>
          </p:cNvSpPr>
          <p:nvPr/>
        </p:nvSpPr>
        <p:spPr>
          <a:xfrm xmlns:a="http://schemas.openxmlformats.org/drawingml/2006/main">
            <a:off x="790575" y="26860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11</a:t>
            </a:r>
          </a:p>
        </p:txBody>
      </p:sp>
      <p:sp>
        <p:nvSpPr>
          <p:cNvPr id="16" name="">
            <a:extLst xmlns:a="http://schemas.openxmlformats.org/drawingml/2006/main">
              <a:ext uri="{FF2B5EF4-FFF2-40B4-BE49-F238E27FC236}">
                <a16:creationId xmlns:a16="http://schemas.microsoft.com/office/drawing/2014/main" id="{57BC508D-C1A5-45BF-A2E6-50797C2941B8}"/>
              </a:ext>
            </a:extLst>
          </p:cNvPr>
          <p:cNvSpPr>
            <a:spLocks xmlns:a="http://schemas.openxmlformats.org/drawingml/2006/main" noGrp="1"/>
          </p:cNvSpPr>
          <p:nvPr/>
        </p:nvSpPr>
        <p:spPr>
          <a:xfrm xmlns:a="http://schemas.openxmlformats.org/drawingml/2006/main">
            <a:off x="1924050" y="26479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Test the three scoring conditions and averaging script on a small sample.</a:t>
            </a:r>
          </a:p>
        </p:txBody>
      </p:sp>
      <p:sp>
        <p:nvSpPr>
          <p:cNvPr id="17" name="">
            <a:extLst xmlns:a="http://schemas.openxmlformats.org/drawingml/2006/main">
              <a:ext uri="{FF2B5EF4-FFF2-40B4-BE49-F238E27FC236}">
                <a16:creationId xmlns:a16="http://schemas.microsoft.com/office/drawing/2014/main" id="{375C5BEB-9BD7-46F3-A9A5-D643F0080721}"/>
              </a:ext>
            </a:extLst>
          </p:cNvPr>
          <p:cNvSpPr>
            <a:spLocks xmlns:a="http://schemas.openxmlformats.org/drawingml/2006/main" noGrp="1"/>
          </p:cNvSpPr>
          <p:nvPr/>
        </p:nvSpPr>
        <p:spPr>
          <a:xfrm xmlns:a="http://schemas.openxmlformats.org/drawingml/2006/main">
            <a:off x="723900" y="32385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D3F0E44-2CD2-45FC-8104-D75A2833C778}"/>
              </a:ext>
            </a:extLst>
          </p:cNvPr>
          <p:cNvSpPr>
            <a:spLocks xmlns:a="http://schemas.openxmlformats.org/drawingml/2006/main" noGrp="1"/>
          </p:cNvSpPr>
          <p:nvPr/>
        </p:nvSpPr>
        <p:spPr>
          <a:xfrm xmlns:a="http://schemas.openxmlformats.org/drawingml/2006/main">
            <a:off x="790575" y="32385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12</a:t>
            </a:r>
          </a:p>
        </p:txBody>
      </p:sp>
      <p:sp>
        <p:nvSpPr>
          <p:cNvPr id="19" name="">
            <a:extLst xmlns:a="http://schemas.openxmlformats.org/drawingml/2006/main">
              <a:ext uri="{FF2B5EF4-FFF2-40B4-BE49-F238E27FC236}">
                <a16:creationId xmlns:a16="http://schemas.microsoft.com/office/drawing/2014/main" id="{297994C6-9A74-4F3B-AE39-F3C8EDC01D8E}"/>
              </a:ext>
            </a:extLst>
          </p:cNvPr>
          <p:cNvSpPr>
            <a:spLocks xmlns:a="http://schemas.openxmlformats.org/drawingml/2006/main" noGrp="1"/>
          </p:cNvSpPr>
          <p:nvPr/>
        </p:nvSpPr>
        <p:spPr>
          <a:xfrm xmlns:a="http://schemas.openxmlformats.org/drawingml/2006/main">
            <a:off x="1924050" y="32004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all three query conditions on the partial-view test set.</a:t>
            </a:r>
          </a:p>
        </p:txBody>
      </p:sp>
      <p:sp>
        <p:nvSpPr>
          <p:cNvPr id="20" name="">
            <a:extLst xmlns:a="http://schemas.openxmlformats.org/drawingml/2006/main">
              <a:ext uri="{FF2B5EF4-FFF2-40B4-BE49-F238E27FC236}">
                <a16:creationId xmlns:a16="http://schemas.microsoft.com/office/drawing/2014/main" id="{651C38AC-BDC5-415C-B7E9-71F7AEA58374}"/>
              </a:ext>
            </a:extLst>
          </p:cNvPr>
          <p:cNvSpPr>
            <a:spLocks xmlns:a="http://schemas.openxmlformats.org/drawingml/2006/main" noGrp="1"/>
          </p:cNvSpPr>
          <p:nvPr/>
        </p:nvSpPr>
        <p:spPr>
          <a:xfrm xmlns:a="http://schemas.openxmlformats.org/drawingml/2006/main">
            <a:off x="609600" y="37052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1" name="">
            <a:extLst xmlns:a="http://schemas.openxmlformats.org/drawingml/2006/main">
              <a:ext uri="{FF2B5EF4-FFF2-40B4-BE49-F238E27FC236}">
                <a16:creationId xmlns:a16="http://schemas.microsoft.com/office/drawing/2014/main" id="{1C782F80-6770-4D08-99F5-D152CEBCAA57}"/>
              </a:ext>
            </a:extLst>
          </p:cNvPr>
          <p:cNvSpPr>
            <a:spLocks xmlns:a="http://schemas.openxmlformats.org/drawingml/2006/main" noGrp="1"/>
          </p:cNvSpPr>
          <p:nvPr/>
        </p:nvSpPr>
        <p:spPr>
          <a:xfrm xmlns:a="http://schemas.openxmlformats.org/drawingml/2006/main">
            <a:off x="723900" y="37909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384A8B3A-B22F-471D-9B92-D594A2F821CD}"/>
              </a:ext>
            </a:extLst>
          </p:cNvPr>
          <p:cNvSpPr>
            <a:spLocks xmlns:a="http://schemas.openxmlformats.org/drawingml/2006/main" noGrp="1"/>
          </p:cNvSpPr>
          <p:nvPr/>
        </p:nvSpPr>
        <p:spPr>
          <a:xfrm xmlns:a="http://schemas.openxmlformats.org/drawingml/2006/main">
            <a:off x="790575" y="37909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13</a:t>
            </a:r>
          </a:p>
        </p:txBody>
      </p:sp>
      <p:sp>
        <p:nvSpPr>
          <p:cNvPr id="23" name="">
            <a:extLst xmlns:a="http://schemas.openxmlformats.org/drawingml/2006/main">
              <a:ext uri="{FF2B5EF4-FFF2-40B4-BE49-F238E27FC236}">
                <a16:creationId xmlns:a16="http://schemas.microsoft.com/office/drawing/2014/main" id="{DF676ECB-0CB2-450D-A519-30570D850065}"/>
              </a:ext>
            </a:extLst>
          </p:cNvPr>
          <p:cNvSpPr>
            <a:spLocks xmlns:a="http://schemas.openxmlformats.org/drawingml/2006/main" noGrp="1"/>
          </p:cNvSpPr>
          <p:nvPr/>
        </p:nvSpPr>
        <p:spPr>
          <a:xfrm xmlns:a="http://schemas.openxmlformats.org/drawingml/2006/main">
            <a:off x="1924050" y="37528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the full-shape control; calculate per-action IoU and false alarms.</a:t>
            </a:r>
          </a:p>
        </p:txBody>
      </p:sp>
      <p:sp>
        <p:nvSpPr>
          <p:cNvPr id="24" name="">
            <a:extLst xmlns:a="http://schemas.openxmlformats.org/drawingml/2006/main">
              <a:ext uri="{FF2B5EF4-FFF2-40B4-BE49-F238E27FC236}">
                <a16:creationId xmlns:a16="http://schemas.microsoft.com/office/drawing/2014/main" id="{55D65167-6111-484E-87B3-3FF88C8642D3}"/>
              </a:ext>
            </a:extLst>
          </p:cNvPr>
          <p:cNvSpPr>
            <a:spLocks xmlns:a="http://schemas.openxmlformats.org/drawingml/2006/main" noGrp="1"/>
          </p:cNvSpPr>
          <p:nvPr/>
        </p:nvSpPr>
        <p:spPr>
          <a:xfrm xmlns:a="http://schemas.openxmlformats.org/drawingml/2006/main">
            <a:off x="723900" y="43434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5" name="">
            <a:extLst xmlns:a="http://schemas.openxmlformats.org/drawingml/2006/main">
              <a:ext uri="{FF2B5EF4-FFF2-40B4-BE49-F238E27FC236}">
                <a16:creationId xmlns:a16="http://schemas.microsoft.com/office/drawing/2014/main" id="{A2C601CD-3F0F-48DA-ADC0-7F868DE67CE9}"/>
              </a:ext>
            </a:extLst>
          </p:cNvPr>
          <p:cNvSpPr>
            <a:spLocks xmlns:a="http://schemas.openxmlformats.org/drawingml/2006/main" noGrp="1"/>
          </p:cNvSpPr>
          <p:nvPr/>
        </p:nvSpPr>
        <p:spPr>
          <a:xfrm xmlns:a="http://schemas.openxmlformats.org/drawingml/2006/main">
            <a:off x="790575" y="43434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14</a:t>
            </a:r>
          </a:p>
        </p:txBody>
      </p:sp>
      <p:sp>
        <p:nvSpPr>
          <p:cNvPr id="26" name="">
            <a:extLst xmlns:a="http://schemas.openxmlformats.org/drawingml/2006/main">
              <a:ext uri="{FF2B5EF4-FFF2-40B4-BE49-F238E27FC236}">
                <a16:creationId xmlns:a16="http://schemas.microsoft.com/office/drawing/2014/main" id="{1F160B00-6C74-4A4D-928E-CA9B3FBA280F}"/>
              </a:ext>
            </a:extLst>
          </p:cNvPr>
          <p:cNvSpPr>
            <a:spLocks xmlns:a="http://schemas.openxmlformats.org/drawingml/2006/main" noGrp="1"/>
          </p:cNvSpPr>
          <p:nvPr/>
        </p:nvSpPr>
        <p:spPr>
          <a:xfrm xmlns:a="http://schemas.openxmlformats.org/drawingml/2006/main">
            <a:off x="1924050" y="43053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Bootstrap paired differences by object; inspect gains and failure cases.</a:t>
            </a:r>
          </a:p>
        </p:txBody>
      </p:sp>
      <p:sp>
        <p:nvSpPr>
          <p:cNvPr id="27" name="">
            <a:extLst xmlns:a="http://schemas.openxmlformats.org/drawingml/2006/main">
              <a:ext uri="{FF2B5EF4-FFF2-40B4-BE49-F238E27FC236}">
                <a16:creationId xmlns:a16="http://schemas.microsoft.com/office/drawing/2014/main" id="{467FC25E-359A-4F9E-BAC7-AD6C5142D36F}"/>
              </a:ext>
            </a:extLst>
          </p:cNvPr>
          <p:cNvSpPr>
            <a:spLocks xmlns:a="http://schemas.openxmlformats.org/drawingml/2006/main" noGrp="1"/>
          </p:cNvSpPr>
          <p:nvPr/>
        </p:nvSpPr>
        <p:spPr>
          <a:xfrm xmlns:a="http://schemas.openxmlformats.org/drawingml/2006/main">
            <a:off x="609600" y="48101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8" name="">
            <a:extLst xmlns:a="http://schemas.openxmlformats.org/drawingml/2006/main">
              <a:ext uri="{FF2B5EF4-FFF2-40B4-BE49-F238E27FC236}">
                <a16:creationId xmlns:a16="http://schemas.microsoft.com/office/drawing/2014/main" id="{92F80256-AE9F-4EF5-8C65-D8A259D55660}"/>
              </a:ext>
            </a:extLst>
          </p:cNvPr>
          <p:cNvSpPr>
            <a:spLocks xmlns:a="http://schemas.openxmlformats.org/drawingml/2006/main" noGrp="1"/>
          </p:cNvSpPr>
          <p:nvPr/>
        </p:nvSpPr>
        <p:spPr>
          <a:xfrm xmlns:a="http://schemas.openxmlformats.org/drawingml/2006/main">
            <a:off x="723900" y="4895850"/>
            <a:ext cx="10668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9" name="">
            <a:extLst xmlns:a="http://schemas.openxmlformats.org/drawingml/2006/main">
              <a:ext uri="{FF2B5EF4-FFF2-40B4-BE49-F238E27FC236}">
                <a16:creationId xmlns:a16="http://schemas.microsoft.com/office/drawing/2014/main" id="{8FB8B0FD-0FB9-44F6-9B9B-5B63A4DB78A5}"/>
              </a:ext>
            </a:extLst>
          </p:cNvPr>
          <p:cNvSpPr>
            <a:spLocks xmlns:a="http://schemas.openxmlformats.org/drawingml/2006/main" noGrp="1"/>
          </p:cNvSpPr>
          <p:nvPr/>
        </p:nvSpPr>
        <p:spPr>
          <a:xfrm xmlns:a="http://schemas.openxmlformats.org/drawingml/2006/main">
            <a:off x="790575" y="48958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 15</a:t>
            </a:r>
          </a:p>
        </p:txBody>
      </p:sp>
      <p:sp>
        <p:nvSpPr>
          <p:cNvPr id="30" name="">
            <a:extLst xmlns:a="http://schemas.openxmlformats.org/drawingml/2006/main">
              <a:ext uri="{FF2B5EF4-FFF2-40B4-BE49-F238E27FC236}">
                <a16:creationId xmlns:a16="http://schemas.microsoft.com/office/drawing/2014/main" id="{1596B8CF-2BB7-40CD-AE32-FC77A553367E}"/>
              </a:ext>
            </a:extLst>
          </p:cNvPr>
          <p:cNvSpPr>
            <a:spLocks xmlns:a="http://schemas.openxmlformats.org/drawingml/2006/main" noGrp="1"/>
          </p:cNvSpPr>
          <p:nvPr/>
        </p:nvSpPr>
        <p:spPr>
          <a:xfrm xmlns:a="http://schemas.openxmlformats.org/drawingml/2006/main">
            <a:off x="1924050" y="48577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Summarize findings, limitations, and figures; finish the proposal presentation.</a:t>
            </a:r>
          </a:p>
        </p:txBody>
      </p:sp>
      <p:sp>
        <p:nvSpPr>
          <p:cNvPr id="31" name="">
            <a:extLst xmlns:a="http://schemas.openxmlformats.org/drawingml/2006/main">
              <a:ext uri="{FF2B5EF4-FFF2-40B4-BE49-F238E27FC236}">
                <a16:creationId xmlns:a16="http://schemas.microsoft.com/office/drawing/2014/main" id="{2DD69368-B1A8-4DB0-A772-7A02B49C9307}"/>
              </a:ext>
            </a:extLst>
          </p:cNvPr>
          <p:cNvSpPr>
            <a:spLocks xmlns:a="http://schemas.openxmlformats.org/drawingml/2006/main" noGrp="1"/>
          </p:cNvSpPr>
          <p:nvPr/>
        </p:nvSpPr>
        <p:spPr>
          <a:xfrm xmlns:a="http://schemas.openxmlformats.org/drawingml/2006/main">
            <a:off x="8153400" y="1495425"/>
            <a:ext cx="3429000" cy="3790950"/>
          </a:xfrm>
          <a:prstGeom xmlns:a="http://schemas.openxmlformats.org/drawingml/2006/main" prst="roundRect">
            <a:avLst>
              <a:gd name="adj" fmla="val 2222"/>
            </a:avLst>
          </a:prstGeom>
          <a:solidFill xmlns:a="http://schemas.openxmlformats.org/drawingml/2006/main">
            <a:srgbClr val="102A43"/>
          </a:solidFill>
          <a:ln xmlns:a="http://schemas.openxmlformats.org/drawingml/2006/main" w="9525">
            <a:noFill/>
            <a:prstDash val="solid"/>
          </a:ln>
        </p:spPr>
      </p:sp>
      <p:sp>
        <p:nvSpPr>
          <p:cNvPr id="32" name="">
            <a:extLst xmlns:a="http://schemas.openxmlformats.org/drawingml/2006/main">
              <a:ext uri="{FF2B5EF4-FFF2-40B4-BE49-F238E27FC236}">
                <a16:creationId xmlns:a16="http://schemas.microsoft.com/office/drawing/2014/main" id="{F1C508CC-DB1A-407F-AE30-63A9D13ABD1D}"/>
              </a:ext>
            </a:extLst>
          </p:cNvPr>
          <p:cNvSpPr>
            <a:spLocks xmlns:a="http://schemas.openxmlformats.org/drawingml/2006/main" noGrp="1"/>
          </p:cNvSpPr>
          <p:nvPr/>
        </p:nvSpPr>
        <p:spPr>
          <a:xfrm xmlns:a="http://schemas.openxmlformats.org/drawingml/2006/main">
            <a:off x="840105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CHECKPOINTS</a:t>
            </a:r>
          </a:p>
        </p:txBody>
      </p:sp>
      <p:sp>
        <p:nvSpPr>
          <p:cNvPr id="33" name="">
            <a:extLst xmlns:a="http://schemas.openxmlformats.org/drawingml/2006/main">
              <a:ext uri="{FF2B5EF4-FFF2-40B4-BE49-F238E27FC236}">
                <a16:creationId xmlns:a16="http://schemas.microsoft.com/office/drawing/2014/main" id="{07613089-0388-4B4F-8220-04C6889B496B}"/>
              </a:ext>
            </a:extLst>
          </p:cNvPr>
          <p:cNvSpPr>
            <a:spLocks xmlns:a="http://schemas.openxmlformats.org/drawingml/2006/main" noGrp="1"/>
          </p:cNvSpPr>
          <p:nvPr/>
        </p:nvSpPr>
        <p:spPr>
          <a:xfrm xmlns:a="http://schemas.openxmlformats.org/drawingml/2006/main">
            <a:off x="8401050" y="213360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latin typeface="Avenir"/>
                <a:ea typeface="Avenir"/>
                <a:cs typeface="Avenir"/>
              </a:defRPr>
            </a:defPPr>
          </a:lstStyle>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frozen model</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objects and point samples</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Prompt wording fixed before evaluation</a:t>
            </a:r>
          </a:p>
        </p:txBody>
      </p:sp>
      <p:sp>
        <p:nvSpPr>
          <p:cNvPr id="34" name="">
            <a:extLst xmlns:a="http://schemas.openxmlformats.org/drawingml/2006/main">
              <a:ext uri="{FF2B5EF4-FFF2-40B4-BE49-F238E27FC236}">
                <a16:creationId xmlns:a16="http://schemas.microsoft.com/office/drawing/2014/main" id="{E177C83A-3861-4AFE-9893-BCCFD352D17B}"/>
              </a:ext>
            </a:extLst>
          </p:cNvPr>
          <p:cNvSpPr>
            <a:spLocks xmlns:a="http://schemas.openxmlformats.org/drawingml/2006/main" noGrp="1"/>
          </p:cNvSpPr>
          <p:nvPr/>
        </p:nvSpPr>
        <p:spPr>
          <a:xfrm xmlns:a="http://schemas.openxmlformats.org/drawingml/2006/main">
            <a:off x="8401050" y="3714750"/>
            <a:ext cx="2857500" cy="9525"/>
          </a:xfrm>
          <a:prstGeom xmlns:a="http://schemas.openxmlformats.org/drawingml/2006/main" prst="rect">
            <a:avLst/>
          </a:prstGeom>
          <a:solidFill xmlns:a="http://schemas.openxmlformats.org/drawingml/2006/main">
            <a:srgbClr val="52677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D9E7A85-33F5-41CB-8670-DAD295581094}"/>
              </a:ext>
            </a:extLst>
          </p:cNvPr>
          <p:cNvSpPr>
            <a:spLocks xmlns:a="http://schemas.openxmlformats.org/drawingml/2006/main" noGrp="1"/>
          </p:cNvSpPr>
          <p:nvPr/>
        </p:nvSpPr>
        <p:spPr>
          <a:xfrm xmlns:a="http://schemas.openxmlformats.org/drawingml/2006/main">
            <a:off x="8401050" y="39433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6EF"/>
                </a:solidFill>
                <a:latin typeface="Avenir"/>
                <a:ea typeface="Avenir"/>
                <a:cs typeface="Avenir"/>
              </a:defRPr>
            </a:defPPr>
          </a:lstStyle>
          <a:p xmlns:a="http://schemas.openxmlformats.org/drawingml/2006/main">
            <a:pPr algn="l">
              <a:defRPr sz="1275" b="0">
                <a:solidFill>
                  <a:srgbClr val="D8E6EF"/>
                </a:solidFill>
                <a:latin typeface="Avenir"/>
                <a:ea typeface="Avenir"/>
                <a:cs typeface="Avenir"/>
              </a:defRPr>
            </a:pPr>
            <a:r>
              <a:rPr sz="1275" b="0">
                <a:solidFill>
                  <a:srgbClr val="D8E6EF"/>
                </a:solidFill>
                <a:latin typeface="Avenir"/>
                <a:ea typeface="Avenir"/>
                <a:cs typeface="Avenir"/>
              </a:rPr>
              <a:t>If the validation set is reused, report the result as exploratory. A fresh object-disjoint test set is stronger.</a:t>
            </a:r>
          </a:p>
        </p:txBody>
      </p:sp>
    </p:spTree>
    <p:extLst>
      <p:ext uri="{BB962C8B-B14F-4D97-AF65-F5344CB8AC3E}">
        <p14:creationId xmlns:p14="http://schemas.microsoft.com/office/powerpoint/2010/main" val="1983868381"/>
      </p:ext>
    </p:extLst>
  </p:cSld>
</p:sld>
</file>

<file path=ppt/slides/slide1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DEDD558-025E-4645-A5C3-6B125ED0CD5A}"/>
              </a:ext>
            </a:extLst>
          </p:cNvPr>
          <p:cNvPicPr>
            <a:picLocks xmlns:a="http://schemas.openxmlformats.org/drawingml/2006/main" noChangeAspect="1"/>
          </p:cNvPicPr>
          <p:nvPr/>
        </p:nvPicPr>
        <p:blipFill>
          <a:blip xmlns:r="http://schemas.openxmlformats.org/officeDocument/2006/relationships" xmlns:a="http://schemas.openxmlformats.org/drawingml/2006/main" r:embed="R45ae4ad8a187442a"/>
          <a:srcRect xmlns:a="http://schemas.openxmlformats.org/drawingml/2006/main" l="25976" t="0" r="2597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F0876D-169B-476E-8FF2-C4271BBCD76B}"/>
              </a:ext>
            </a:extLst>
          </p:cNvPr>
          <p:cNvSpPr>
            <a:spLocks xmlns:a="http://schemas.openxmlformats.org/drawingml/2006/main" noGrp="1"/>
          </p:cNvSpPr>
          <p:nvPr/>
        </p:nvSpPr>
        <p:spPr>
          <a:xfrm xmlns:a="http://schemas.openxmlformats.org/drawingml/2006/main">
            <a:off x="0" y="4953000"/>
            <a:ext cx="12192000" cy="19050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5344E6-5857-46B8-AF99-635CBE4A400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FF42CB-BB81-498D-B453-2A40705AE0D3}"/>
              </a:ext>
            </a:extLst>
          </p:cNvPr>
          <p:cNvSpPr>
            <a:spLocks xmlns:a="http://schemas.openxmlformats.org/drawingml/2006/main" noGrp="1"/>
          </p:cNvSpPr>
          <p:nvPr/>
        </p:nvSpPr>
        <p:spPr>
          <a:xfrm xmlns:a="http://schemas.openxmlformats.org/drawingml/2006/main">
            <a:off x="723900" y="5219700"/>
            <a:ext cx="742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T14 · 3D AFFORDANCE PREDICTION</a:t>
            </a:r>
          </a:p>
        </p:txBody>
      </p:sp>
      <p:sp>
        <p:nvSpPr>
          <p:cNvPr id="5" name="">
            <a:extLst xmlns:a="http://schemas.openxmlformats.org/drawingml/2006/main">
              <a:ext uri="{FF2B5EF4-FFF2-40B4-BE49-F238E27FC236}">
                <a16:creationId xmlns:a16="http://schemas.microsoft.com/office/drawing/2014/main" id="{6A33209C-6191-4ABC-A107-8DFC63F8CF99}"/>
              </a:ext>
            </a:extLst>
          </p:cNvPr>
          <p:cNvSpPr>
            <a:spLocks xmlns:a="http://schemas.openxmlformats.org/drawingml/2006/main" noGrp="1"/>
          </p:cNvSpPr>
          <p:nvPr/>
        </p:nvSpPr>
        <p:spPr>
          <a:xfrm xmlns:a="http://schemas.openxmlformats.org/drawingml/2006/main">
            <a:off x="723900" y="556260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200" b="1">
                <a:solidFill>
                  <a:srgbClr val="FFFFFF"/>
                </a:solidFill>
                <a:latin typeface="Avenir"/>
                <a:ea typeface="Avenir"/>
                <a:cs typeface="Avenir"/>
              </a:defRPr>
            </a:defPPr>
          </a:lstStyle>
          <a:p xmlns:a="http://schemas.openxmlformats.org/drawingml/2006/main">
            <a:pPr algn="l">
              <a:defRPr sz="4200" b="1">
                <a:solidFill>
                  <a:srgbClr val="FFFFFF"/>
                </a:solidFill>
                <a:latin typeface="Avenir"/>
                <a:ea typeface="Avenir"/>
                <a:cs typeface="Avenir"/>
              </a:defRPr>
            </a:pPr>
            <a:r>
              <a:rPr sz="4200" b="1">
                <a:solidFill>
                  <a:srgbClr val="FFFFFF"/>
                </a:solidFill>
                <a:latin typeface="Avenir"/>
                <a:ea typeface="Avenir"/>
                <a:cs typeface="Avenir"/>
              </a:rPr>
              <a:t>Q &amp; A</a:t>
            </a:r>
          </a:p>
        </p:txBody>
      </p:sp>
      <p:sp>
        <p:nvSpPr>
          <p:cNvPr id="6" name="">
            <a:extLst xmlns:a="http://schemas.openxmlformats.org/drawingml/2006/main">
              <a:ext uri="{FF2B5EF4-FFF2-40B4-BE49-F238E27FC236}">
                <a16:creationId xmlns:a16="http://schemas.microsoft.com/office/drawing/2014/main" id="{5E10EB56-A0A7-4923-9BC9-897CDBEC6001}"/>
              </a:ext>
            </a:extLst>
          </p:cNvPr>
          <p:cNvSpPr>
            <a:spLocks xmlns:a="http://schemas.openxmlformats.org/drawingml/2006/main" noGrp="1"/>
          </p:cNvSpPr>
          <p:nvPr/>
        </p:nvSpPr>
        <p:spPr>
          <a:xfrm xmlns:a="http://schemas.openxmlformats.org/drawingml/2006/main">
            <a:off x="762000" y="62007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D8E6EF"/>
                </a:solidFill>
                <a:latin typeface="Avenir"/>
                <a:ea typeface="Avenir"/>
                <a:cs typeface="Avenir"/>
              </a:defRPr>
            </a:defPPr>
          </a:lstStyle>
          <a:p xmlns:a="http://schemas.openxmlformats.org/drawingml/2006/main">
            <a:pPr algn="l">
              <a:defRPr sz="1575" b="0">
                <a:solidFill>
                  <a:srgbClr val="D8E6EF"/>
                </a:solidFill>
                <a:latin typeface="Avenir"/>
                <a:ea typeface="Avenir"/>
                <a:cs typeface="Avenir"/>
              </a:defRPr>
            </a:pPr>
            <a:r>
              <a:rPr sz="1575" b="0">
                <a:solidFill>
                  <a:srgbClr val="D8E6EF"/>
                </a:solidFill>
                <a:latin typeface="Avenir"/>
                <a:ea typeface="Avenir"/>
                <a:cs typeface="Avenir"/>
              </a:rPr>
              <a:t>Thank you</a:t>
            </a:r>
          </a:p>
        </p:txBody>
      </p:sp>
      <p:sp>
        <p:nvSpPr>
          <p:cNvPr id="7" name="">
            <a:extLst xmlns:a="http://schemas.openxmlformats.org/drawingml/2006/main">
              <a:ext uri="{FF2B5EF4-FFF2-40B4-BE49-F238E27FC236}">
                <a16:creationId xmlns:a16="http://schemas.microsoft.com/office/drawing/2014/main" id="{09098EC7-4B79-4E85-A94C-4ECCF45606A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12 / 12</a:t>
            </a:r>
          </a:p>
        </p:txBody>
      </p:sp>
    </p:spTree>
    <p:extLst>
      <p:ext uri="{BB962C8B-B14F-4D97-AF65-F5344CB8AC3E}">
        <p14:creationId xmlns:p14="http://schemas.microsoft.com/office/powerpoint/2010/main" val="16271139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2026-10-13T04:51:13.5330000Z</dcterms:created>
  <dcterms:modified xsi:type="dcterms:W3CDTF">2026-10-13T04:51:13.5330000Z</dcterms:modified>
</coreProperties>
</file>