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fb656dd985c4fcb" /><Relationship Type="http://schemas.openxmlformats.org/officeDocument/2006/relationships/extended-properties" Target="/docProps/app.xml" Id="R289441ca09a846ce" /><Relationship Type="http://schemas.openxmlformats.org/officeDocument/2006/relationships/officeDocument" Target="/ppt/presentation.xml" Id="R53ba413894154f34" /></Relationships>
</file>

<file path=ppt/presentation.xml><?xml version="1.0" encoding="utf-8"?>
<p:presentation xmlns:p="http://schemas.openxmlformats.org/presentationml/2006/main">
  <p:sldMasterIdLst>
    <p:sldMasterId xmlns:r="http://schemas.openxmlformats.org/officeDocument/2006/relationships" id="2147483648" r:id="R49f4c5a86d0c4daf"/>
  </p:sldMasterIdLst>
  <p:notesMasterIdLst>
    <p:notesMasterId xmlns:r="http://schemas.openxmlformats.org/officeDocument/2006/relationships" r:id="R4076dd17df474add"/>
  </p:notesMasterIdLst>
  <p:sldIdLst>
    <p:sldId xmlns:r="http://schemas.openxmlformats.org/officeDocument/2006/relationships" id="256" r:id="R8bee7896c15b4015"/>
    <p:sldId xmlns:r="http://schemas.openxmlformats.org/officeDocument/2006/relationships" id="257" r:id="R51ce192c5d874e48"/>
    <p:sldId xmlns:r="http://schemas.openxmlformats.org/officeDocument/2006/relationships" id="258" r:id="Ref94f0e132de427e"/>
    <p:sldId xmlns:r="http://schemas.openxmlformats.org/officeDocument/2006/relationships" id="259" r:id="R4b82fd78e43d4bcc"/>
    <p:sldId xmlns:r="http://schemas.openxmlformats.org/officeDocument/2006/relationships" id="260" r:id="R8627e3b0358943b2"/>
    <p:sldId xmlns:r="http://schemas.openxmlformats.org/officeDocument/2006/relationships" id="261" r:id="R5f72f7167e644d12"/>
    <p:sldId xmlns:r="http://schemas.openxmlformats.org/officeDocument/2006/relationships" id="262" r:id="R5755f006ee2e4ef3"/>
    <p:sldId xmlns:r="http://schemas.openxmlformats.org/officeDocument/2006/relationships" id="263" r:id="Ra870fe9dda3f46fd"/>
    <p:sldId xmlns:r="http://schemas.openxmlformats.org/officeDocument/2006/relationships" id="264" r:id="R064f684430f445ed"/>
    <p:sldId xmlns:r="http://schemas.openxmlformats.org/officeDocument/2006/relationships" id="265" r:id="Rc094e5d0069b4db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72b8d411fdc426d" /><Relationship Type="http://schemas.openxmlformats.org/officeDocument/2006/relationships/slideMaster" Target="/ppt/slideMasters/slideMaster1.xml" Id="R49f4c5a86d0c4daf" /><Relationship Type="http://schemas.openxmlformats.org/officeDocument/2006/relationships/notesMaster" Target="/ppt/notesMasters/notesMaster1.xml" Id="R4076dd17df474add" /><Relationship Type="http://schemas.openxmlformats.org/officeDocument/2006/relationships/presProps" Target="/ppt/presProps.xml" Id="Rd88fd2594e414eb5" /><Relationship Type="http://schemas.openxmlformats.org/officeDocument/2006/relationships/tableStyles" Target="/ppt/tableStyles.xml" Id="R01b38136d92342fe" /><Relationship Type="http://schemas.openxmlformats.org/officeDocument/2006/relationships/slide" Target="/ppt/slides/slide1.xml" Id="R8bee7896c15b4015" /><Relationship Type="http://schemas.openxmlformats.org/officeDocument/2006/relationships/slide" Target="/ppt/slides/slide2.xml" Id="R51ce192c5d874e48" /><Relationship Type="http://schemas.openxmlformats.org/officeDocument/2006/relationships/slide" Target="/ppt/slides/slide3.xml" Id="Ref94f0e132de427e" /><Relationship Type="http://schemas.openxmlformats.org/officeDocument/2006/relationships/slide" Target="/ppt/slides/slide4.xml" Id="R4b82fd78e43d4bcc" /><Relationship Type="http://schemas.openxmlformats.org/officeDocument/2006/relationships/slide" Target="/ppt/slides/slide5.xml" Id="R8627e3b0358943b2" /><Relationship Type="http://schemas.openxmlformats.org/officeDocument/2006/relationships/slide" Target="/ppt/slides/slide6.xml" Id="R5f72f7167e644d12" /><Relationship Type="http://schemas.openxmlformats.org/officeDocument/2006/relationships/slide" Target="/ppt/slides/slide7.xml" Id="R5755f006ee2e4ef3" /><Relationship Type="http://schemas.openxmlformats.org/officeDocument/2006/relationships/slide" Target="/ppt/slides/slide8.xml" Id="Ra870fe9dda3f46fd" /><Relationship Type="http://schemas.openxmlformats.org/officeDocument/2006/relationships/slide" Target="/ppt/slides/slide9.xml" Id="R064f684430f445ed" /><Relationship Type="http://schemas.openxmlformats.org/officeDocument/2006/relationships/slide" Target="/ppt/slides/slide10.xml" Id="Rc094e5d0069b4db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1bdb8f97e0c4e3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8bf2f6e0b324b9d" /><Relationship Type="http://schemas.openxmlformats.org/officeDocument/2006/relationships/notesMaster" Target="/ppt/notesMasters/notesMaster1.xml" Id="R4f180782c7a5426d" /></Relationships>
</file>

<file path=ppt/notesSlides/_rels/notesSlide2.xml.rels>&#65279;<?xml version="1.0" encoding="utf-8"?><Relationships xmlns="http://schemas.openxmlformats.org/package/2006/relationships"><Relationship Type="http://schemas.openxmlformats.org/officeDocument/2006/relationships/slide" Target="/ppt/slides/slide2.xml" Id="R9ce68e916ad6482d" /><Relationship Type="http://schemas.openxmlformats.org/officeDocument/2006/relationships/notesMaster" Target="/ppt/notesMasters/notesMaster1.xml" Id="R028bc6537cfd495a" /></Relationships>
</file>

<file path=ppt/notesSlides/_rels/notesSlide3.xml.rels>&#65279;<?xml version="1.0" encoding="utf-8"?><Relationships xmlns="http://schemas.openxmlformats.org/package/2006/relationships"><Relationship Type="http://schemas.openxmlformats.org/officeDocument/2006/relationships/slide" Target="/ppt/slides/slide3.xml" Id="R538f17ebd51d4d26" /><Relationship Type="http://schemas.openxmlformats.org/officeDocument/2006/relationships/notesMaster" Target="/ppt/notesMasters/notesMaster1.xml" Id="Rcda4e0f17e604ffc" /></Relationships>
</file>

<file path=ppt/notesSlides/_rels/notesSlide4.xml.rels>&#65279;<?xml version="1.0" encoding="utf-8"?><Relationships xmlns="http://schemas.openxmlformats.org/package/2006/relationships"><Relationship Type="http://schemas.openxmlformats.org/officeDocument/2006/relationships/slide" Target="/ppt/slides/slide4.xml" Id="R9caae25a07724b81" /><Relationship Type="http://schemas.openxmlformats.org/officeDocument/2006/relationships/notesMaster" Target="/ppt/notesMasters/notesMaster1.xml" Id="R575bbdbba9b44857" /></Relationships>
</file>

<file path=ppt/notesSlides/_rels/notesSlide5.xml.rels>&#65279;<?xml version="1.0" encoding="utf-8"?><Relationships xmlns="http://schemas.openxmlformats.org/package/2006/relationships"><Relationship Type="http://schemas.openxmlformats.org/officeDocument/2006/relationships/slide" Target="/ppt/slides/slide5.xml" Id="R3c6548819edf4d0f" /><Relationship Type="http://schemas.openxmlformats.org/officeDocument/2006/relationships/notesMaster" Target="/ppt/notesMasters/notesMaster1.xml" Id="R230b491c53434618" /></Relationships>
</file>

<file path=ppt/notesSlides/_rels/notesSlide6.xml.rels>&#65279;<?xml version="1.0" encoding="utf-8"?><Relationships xmlns="http://schemas.openxmlformats.org/package/2006/relationships"><Relationship Type="http://schemas.openxmlformats.org/officeDocument/2006/relationships/slide" Target="/ppt/slides/slide6.xml" Id="Rb3d8ad6bcd8c4afb" /><Relationship Type="http://schemas.openxmlformats.org/officeDocument/2006/relationships/notesMaster" Target="/ppt/notesMasters/notesMaster1.xml" Id="R65a3bdbabb7646a0" /></Relationships>
</file>

<file path=ppt/notesSlides/_rels/notesSlide7.xml.rels>&#65279;<?xml version="1.0" encoding="utf-8"?><Relationships xmlns="http://schemas.openxmlformats.org/package/2006/relationships"><Relationship Type="http://schemas.openxmlformats.org/officeDocument/2006/relationships/slide" Target="/ppt/slides/slide7.xml" Id="R93bf61a275ba45ae" /><Relationship Type="http://schemas.openxmlformats.org/officeDocument/2006/relationships/notesMaster" Target="/ppt/notesMasters/notesMaster1.xml" Id="Ra41bbd2b98254862" /></Relationships>
</file>

<file path=ppt/notesSlides/_rels/notesSlide8.xml.rels>&#65279;<?xml version="1.0" encoding="utf-8"?><Relationships xmlns="http://schemas.openxmlformats.org/package/2006/relationships"><Relationship Type="http://schemas.openxmlformats.org/officeDocument/2006/relationships/slide" Target="/ppt/slides/slide8.xml" Id="R88e85b07c1ab49f1" /><Relationship Type="http://schemas.openxmlformats.org/officeDocument/2006/relationships/notesMaster" Target="/ppt/notesMasters/notesMaster1.xml" Id="R8385785559a74ceb" /></Relationships>
</file>

<file path=ppt/notesSlides/_rels/notesSlide9.xml.rels>&#65279;<?xml version="1.0" encoding="utf-8"?><Relationships xmlns="http://schemas.openxmlformats.org/package/2006/relationships"><Relationship Type="http://schemas.openxmlformats.org/officeDocument/2006/relationships/slide" Target="/ppt/slides/slide9.xml" Id="Rd96b1bd05dd64a51" /><Relationship Type="http://schemas.openxmlformats.org/officeDocument/2006/relationships/notesMaster" Target="/ppt/notesMasters/notesMaster1.xml" Id="Rb992310c746446a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435ac08fea641b6" /><Relationship Type="http://schemas.openxmlformats.org/officeDocument/2006/relationships/notesMaster" Target="/ppt/notesMasters/notesMaster1.xml" Id="R00210c79fd7a418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team number and names. This presentation separates completed baseline and prompt-transfer experiments from the experiment proposed for the next stage.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T14 task described in the instructor guideline: input an object point cloud and affordance query; predict a score/label per point. OpenAD is the baseline. Source paper: https://arxiv.org/abs/2303.02401.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released OpenAD PN2 checkpoint (SHA-256 cbcfe9ff70448d97a7047f1ade817645a9be29dd2782fba57776792a8210f2ae) was evaluated on official AffordanceNet validation data. Partial 9,140 views / 2,285 shapes; full 2,285 shapes. Geometry features are shared within each paired query condition. CPU and MPS headline results agree within 0.0054 percentage points. One synchronized cold forward on 2,048 points took 0.5456s, after setup and without warmup. 1.295 GiB is the 5ms-sampled high-water Metal driver allocation estimate on unified memory, not physical peak VRAM. Source: archived E17 and profile 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IoU means intersection over union: overlap between predicted points and ground-truth part points. The table reports global point-wise macro IoU. 18-action rows exclude none; 19-class rows include none. Partial scores: 40.39 vs 10.77 and including none 41.45 vs 12.53. Full scores: 35.18 vs 7.87 and including none 36.18 vs 9.76. These results show sensitivity to query wording, not proof of generalization to entirely new concepts; many aligned labels are related synonyms. Sources: archived E17 results and CPU/MPS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one saved failure. All 563 ground-truth pour points were predicted as none, giving IoU 0.000 for this sample. Mean scores over those target points: pour 0.0584 and none 0.6440. Do not imply this is typical of the full dataset. Source: archived E02 failure visualization and score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E18 transferred five prompts selected in earlier Espresso-3D/Affogato-weight experiments to frozen OpenAD. The 1,941 shapes / 7,764 views were disjoint from those earlier prompt-study IDs, but the validation split is not an official independent test set. On MPS, for unlock: original sentence IoU 0.0927%, canonical word 3.6878%, selected paraphrase 12.3621%. Positive-object paired gain over original sentence +8.406 percentage points, 95% CI [+5.691,+11.418]. Negative-object any-alarm rate increased 0.34% to 1.61%. Other four selected paraphrases did not show comparable localization gains. Five tested total; wording “four of five” is accurate. Sources: archived E18 CPU/MPS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teammate’s preview came from the unofficial espresso-3d-reimplementation repository and Affogato-pretrained weights. Treat this as exploratory candidate-prompt work, not an official Affogato reproduction. Affostruction was not run on the user’s Mac; its paper results are related-work context only. Papers: Affogato https://arxiv.org/abs/2506.12009; Affostruction https://arxiv.org/abs/2601.09211.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updates the proposal to match the completed pilot: test one fixed, meaning-equivalent paraphrase per held-out action, not average five prompts. Primary hypothesis: higher 18-action macro IoU on partial views. Predeclare the prompt strings before evaluation. Falsify if paired object-level mean change is non-positive or its 95% interval includes zero. The prompt wording must be fixed without tuning on evaluation labels or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follows the instructor’s required baseline comparison: OpenAD as released versus one proposed prompt change. Use same object/view IDs and point samples, class slots, checkpoint, and argmax. Primary metric is point-wise IoU macro averaged over 18 affordances. Report the 19-class score including none separately. Secondary metrics: per-class IoU, AUC, false-positive fraction and any-alarm rate on negative objects. Analyze paired object-level differences, not individual points as independent. If no fresh split is available, label the follow-up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the proposal is submitted: replace team placeholders, confirm the seen/held-out vocabulary definition, and prepare an untouched object-disjoint test set if one is available. Otherwise present the planned work as exploratory validation. The guideline requires 8-minute English talk plus 2-minute Q&amp;A, 8–12 slides, and the PDF named teamNN_T14_proposal.pdf by Oct 15 at 10:59 AM KST. This deck has 10 slides.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966006b3f1a43f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ad8a85c66bd4af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10b6d8188a04b5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097424f409b405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2a3acac06e1462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3575be7225b4d6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E7CF00-A94E-4ECF-815D-4CF49225779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F2CAD16-3893-4D73-BC7C-B0728CC668E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6F12017-1342-4784-A1F3-9A80C796E1A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A004911-B34C-4468-9425-4D812E51D56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8135F81-CF12-4DCE-8304-3543A8ED055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F085BA4-C003-406C-954B-0A5CB66DC2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3C6D8D-965B-468D-9212-684CE13EF80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7B6AA4E-3EA5-48F8-8281-E5869B2FB34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545D46A-1613-40E0-895C-0A2683CE094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5AEC5BF-C33F-4DA3-81D1-6D6E683A907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f6e25accda449d8" /><Relationship Type="http://schemas.openxmlformats.org/officeDocument/2006/relationships/slideLayout" Target="/ppt/slideLayouts/slideLayout1.xml" Id="Rc8d0c3fb2c9140cc" /><Relationship Type="http://schemas.openxmlformats.org/officeDocument/2006/relationships/slideLayout" Target="/ppt/slideLayouts/slideLayout2.xml" Id="Rb4e7f17a57664f14" /><Relationship Type="http://schemas.openxmlformats.org/officeDocument/2006/relationships/slideLayout" Target="/ppt/slideLayouts/slideLayout3.xml" Id="R372abbaf28fb471a" /><Relationship Type="http://schemas.openxmlformats.org/officeDocument/2006/relationships/slideLayout" Target="/ppt/slideLayouts/slideLayout4.xml" Id="R1442597d7f694735" /><Relationship Type="http://schemas.openxmlformats.org/officeDocument/2006/relationships/slideLayout" Target="/ppt/slideLayouts/slideLayout5.xml" Id="R4c90961520fe4cd9" /><Relationship Type="http://schemas.openxmlformats.org/officeDocument/2006/relationships/slideLayout" Target="/ppt/slideLayouts/slideLayout6.xml" Id="Ra2ae53cc04204e3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8d0c3fb2c9140cc"/>
    <p:sldLayoutId xmlns:r="http://schemas.openxmlformats.org/officeDocument/2006/relationships" id="2147483650" r:id="Rb4e7f17a57664f14"/>
    <p:sldLayoutId xmlns:r="http://schemas.openxmlformats.org/officeDocument/2006/relationships" id="2147483651" r:id="R372abbaf28fb471a"/>
    <p:sldLayoutId xmlns:r="http://schemas.openxmlformats.org/officeDocument/2006/relationships" id="2147483652" r:id="R1442597d7f694735"/>
    <p:sldLayoutId xmlns:r="http://schemas.openxmlformats.org/officeDocument/2006/relationships" id="2147483653" r:id="R4c90961520fe4cd9"/>
    <p:sldLayoutId xmlns:r="http://schemas.openxmlformats.org/officeDocument/2006/relationships" id="2147483654" r:id="Ra2ae53cc04204e3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14faa1651eb41ba" /><Relationship Type="http://schemas.openxmlformats.org/officeDocument/2006/relationships/notesSlide" Target="/ppt/notesSlides/notesSlide1.xml" Id="Ra7cf8185d3aa414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c1050db9b534b23" /><Relationship Type="http://schemas.openxmlformats.org/officeDocument/2006/relationships/notesSlide" Target="/ppt/notesSlides/notesSlide2.xml" Id="Rfbdc1669e8054d7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b18af80acdf40cb" /><Relationship Type="http://schemas.openxmlformats.org/officeDocument/2006/relationships/notesSlide" Target="/ppt/notesSlides/notesSlide3.xml" Id="R4b6a40cbb6334df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071ae86af1e4ff2" /><Relationship Type="http://schemas.openxmlformats.org/officeDocument/2006/relationships/notesSlide" Target="/ppt/notesSlides/notesSlide4.xml" Id="Rcf90325f60c54fd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cebf77c0ac94faf" /><Relationship Type="http://schemas.openxmlformats.org/officeDocument/2006/relationships/image" Target="/ppt/media/image.png" Id="R8e610027affb4b97" /><Relationship Type="http://schemas.openxmlformats.org/officeDocument/2006/relationships/notesSlide" Target="/ppt/notesSlides/notesSlide5.xml" Id="R393698a17a44433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2a6ccc90dc94041" /><Relationship Type="http://schemas.openxmlformats.org/officeDocument/2006/relationships/notesSlide" Target="/ppt/notesSlides/notesSlide6.xml" Id="Rd4bc09f267654c0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e1abb1d19144767" /><Relationship Type="http://schemas.openxmlformats.org/officeDocument/2006/relationships/notesSlide" Target="/ppt/notesSlides/notesSlide7.xml" Id="Rda7c7430ce9340e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17b1e28c0094b50" /><Relationship Type="http://schemas.openxmlformats.org/officeDocument/2006/relationships/notesSlide" Target="/ppt/notesSlides/notesSlide8.xml" Id="Rf63dc7b409524d3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67923fc50af4891" /><Relationship Type="http://schemas.openxmlformats.org/officeDocument/2006/relationships/notesSlide" Target="/ppt/notesSlides/notesSlide9.xml" Id="R289caaaa4d48483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1f3ae758ac94299" /><Relationship Type="http://schemas.openxmlformats.org/officeDocument/2006/relationships/notesSlide" Target="/ppt/notesSlides/notesSlide10.xml" Id="R7bd27361d19f4ef6"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772D5A3-715E-43AA-9FCC-CD2BCCF5A0DD}"/>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EFCDADB-CD86-457C-9ACC-85FA8B9BEAC2}"/>
              </a:ext>
            </a:extLst>
          </p:cNvPr>
          <p:cNvSpPr>
            <a:spLocks xmlns:a="http://schemas.openxmlformats.org/drawingml/2006/main" noGrp="1"/>
          </p:cNvSpPr>
          <p:nvPr/>
        </p:nvSpPr>
        <p:spPr>
          <a:xfrm xmlns:a="http://schemas.openxmlformats.org/drawingml/2006/main">
            <a:off x="723900" y="628650"/>
            <a:ext cx="7429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8C4D6"/>
                </a:solidFill>
                <a:latin typeface="Avenir"/>
                <a:ea typeface="Avenir"/>
                <a:cs typeface="Avenir"/>
              </a:defRPr>
            </a:defPPr>
          </a:lstStyle>
          <a:p xmlns:a="http://schemas.openxmlformats.org/drawingml/2006/main">
            <a:pPr algn="l">
              <a:defRPr sz="1275" b="1">
                <a:solidFill>
                  <a:srgbClr val="58C4D6"/>
                </a:solidFill>
                <a:latin typeface="Avenir"/>
                <a:ea typeface="Avenir"/>
                <a:cs typeface="Avenir"/>
              </a:defRPr>
            </a:pPr>
            <a:r>
              <a:rPr sz="1275" b="1">
                <a:solidFill>
                  <a:srgbClr val="58C4D6"/>
                </a:solidFill>
                <a:latin typeface="Avenir"/>
                <a:ea typeface="Avenir"/>
                <a:cs typeface="Avenir"/>
              </a:rPr>
              <a:t>RESEARCH PROPOSAL · T14</a:t>
            </a:r>
          </a:p>
        </p:txBody>
      </p:sp>
      <p:sp>
        <p:nvSpPr>
          <p:cNvPr id="3" name="">
            <a:extLst xmlns:a="http://schemas.openxmlformats.org/drawingml/2006/main">
              <a:ext uri="{FF2B5EF4-FFF2-40B4-BE49-F238E27FC236}">
                <a16:creationId xmlns:a16="http://schemas.microsoft.com/office/drawing/2014/main" id="{08283BEB-5234-45FB-B8A4-3CD63B25D593}"/>
              </a:ext>
            </a:extLst>
          </p:cNvPr>
          <p:cNvSpPr>
            <a:spLocks xmlns:a="http://schemas.openxmlformats.org/drawingml/2006/main" noGrp="1"/>
          </p:cNvSpPr>
          <p:nvPr/>
        </p:nvSpPr>
        <p:spPr>
          <a:xfrm xmlns:a="http://schemas.openxmlformats.org/drawingml/2006/main">
            <a:off x="723900" y="1428750"/>
            <a:ext cx="8953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3600" b="1">
                <a:solidFill>
                  <a:srgbClr val="FFFFFF"/>
                </a:solidFill>
                <a:latin typeface="Avenir"/>
                <a:ea typeface="Avenir"/>
                <a:cs typeface="Avenir"/>
              </a:defRPr>
            </a:defPPr>
          </a:lstStyle>
          <a:p xmlns:a="http://schemas.openxmlformats.org/drawingml/2006/main">
            <a:pPr algn="l">
              <a:defRPr sz="3600" b="1">
                <a:solidFill>
                  <a:srgbClr val="FFFFFF"/>
                </a:solidFill>
                <a:latin typeface="Avenir"/>
                <a:ea typeface="Avenir"/>
                <a:cs typeface="Avenir"/>
              </a:defRPr>
            </a:pPr>
            <a:r>
              <a:rPr sz="3600" b="1">
                <a:solidFill>
                  <a:srgbClr val="FFFFFF"/>
                </a:solidFill>
                <a:latin typeface="Avenir"/>
                <a:ea typeface="Avenir"/>
                <a:cs typeface="Avenir"/>
              </a:rPr>
              <a:t>What I learned from my</a:t>
            </a:r>
          </a:p>
          <a:p xmlns:a="http://schemas.openxmlformats.org/drawingml/2006/main">
            <a:pPr algn="l">
              <a:defRPr sz="3600" b="1">
                <a:solidFill>
                  <a:srgbClr val="FFFFFF"/>
                </a:solidFill>
                <a:latin typeface="Avenir"/>
                <a:ea typeface="Avenir"/>
                <a:cs typeface="Avenir"/>
              </a:defRPr>
            </a:pPr>
            <a:r>
              <a:rPr sz="3600" b="1">
                <a:solidFill>
                  <a:srgbClr val="FFFFFF"/>
                </a:solidFill>
                <a:latin typeface="Avenir"/>
                <a:ea typeface="Avenir"/>
                <a:cs typeface="Avenir"/>
              </a:rPr>
              <a:t>3D affordance experiments</a:t>
            </a:r>
          </a:p>
        </p:txBody>
      </p:sp>
      <p:sp>
        <p:nvSpPr>
          <p:cNvPr id="4" name="">
            <a:extLst xmlns:a="http://schemas.openxmlformats.org/drawingml/2006/main">
              <a:ext uri="{FF2B5EF4-FFF2-40B4-BE49-F238E27FC236}">
                <a16:creationId xmlns:a16="http://schemas.microsoft.com/office/drawing/2014/main" id="{ABA54B75-8105-4818-8102-3495D5771302}"/>
              </a:ext>
            </a:extLst>
          </p:cNvPr>
          <p:cNvSpPr>
            <a:spLocks xmlns:a="http://schemas.openxmlformats.org/drawingml/2006/main" noGrp="1"/>
          </p:cNvSpPr>
          <p:nvPr/>
        </p:nvSpPr>
        <p:spPr>
          <a:xfrm xmlns:a="http://schemas.openxmlformats.org/drawingml/2006/main">
            <a:off x="762000" y="3333750"/>
            <a:ext cx="781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D8E6EF"/>
                </a:solidFill>
                <a:latin typeface="Avenir"/>
                <a:ea typeface="Avenir"/>
                <a:cs typeface="Avenir"/>
              </a:defRPr>
            </a:defPPr>
          </a:lstStyle>
          <a:p xmlns:a="http://schemas.openxmlformats.org/drawingml/2006/main">
            <a:pPr algn="l">
              <a:defRPr sz="1875" b="0">
                <a:solidFill>
                  <a:srgbClr val="D8E6EF"/>
                </a:solidFill>
                <a:latin typeface="Avenir"/>
                <a:ea typeface="Avenir"/>
                <a:cs typeface="Avenir"/>
              </a:defRPr>
            </a:pPr>
            <a:r>
              <a:rPr sz="1875" b="0">
                <a:solidFill>
                  <a:srgbClr val="D8E6EF"/>
                </a:solidFill>
                <a:latin typeface="Avenir"/>
                <a:ea typeface="Avenir"/>
                <a:cs typeface="Avenir"/>
              </a:rPr>
              <a:t>And the next question I plan to test</a:t>
            </a:r>
          </a:p>
        </p:txBody>
      </p:sp>
      <p:sp>
        <p:nvSpPr>
          <p:cNvPr id="5" name="">
            <a:extLst xmlns:a="http://schemas.openxmlformats.org/drawingml/2006/main">
              <a:ext uri="{FF2B5EF4-FFF2-40B4-BE49-F238E27FC236}">
                <a16:creationId xmlns:a16="http://schemas.microsoft.com/office/drawing/2014/main" id="{1407CCF3-8ACD-4F0C-9FD2-0DD4AA304149}"/>
              </a:ext>
            </a:extLst>
          </p:cNvPr>
          <p:cNvSpPr>
            <a:spLocks xmlns:a="http://schemas.openxmlformats.org/drawingml/2006/main" noGrp="1"/>
          </p:cNvSpPr>
          <p:nvPr/>
        </p:nvSpPr>
        <p:spPr>
          <a:xfrm xmlns:a="http://schemas.openxmlformats.org/drawingml/2006/main">
            <a:off x="762000" y="4591050"/>
            <a:ext cx="4953000" cy="857250"/>
          </a:xfrm>
          <a:prstGeom xmlns:a="http://schemas.openxmlformats.org/drawingml/2006/main" prst="roundRect">
            <a:avLst>
              <a:gd name="adj" fmla="val 8889"/>
            </a:avLst>
          </a:prstGeom>
          <a:solidFill xmlns:a="http://schemas.openxmlformats.org/drawingml/2006/main">
            <a:srgbClr val="193B55"/>
          </a:solidFill>
          <a:ln xmlns:a="http://schemas.openxmlformats.org/drawingml/2006/main" w="9525">
            <a:noFill/>
            <a:prstDash val="solid"/>
          </a:ln>
        </p:spPr>
      </p:sp>
      <p:sp>
        <p:nvSpPr>
          <p:cNvPr id="6" name="">
            <a:extLst xmlns:a="http://schemas.openxmlformats.org/drawingml/2006/main">
              <a:ext uri="{FF2B5EF4-FFF2-40B4-BE49-F238E27FC236}">
                <a16:creationId xmlns:a16="http://schemas.microsoft.com/office/drawing/2014/main" id="{83A053A3-322B-4F4C-A1E7-26A24AA4738B}"/>
              </a:ext>
            </a:extLst>
          </p:cNvPr>
          <p:cNvSpPr>
            <a:spLocks xmlns:a="http://schemas.openxmlformats.org/drawingml/2006/main" noGrp="1"/>
          </p:cNvSpPr>
          <p:nvPr/>
        </p:nvSpPr>
        <p:spPr>
          <a:xfrm xmlns:a="http://schemas.openxmlformats.org/drawingml/2006/main">
            <a:off x="990600" y="4714875"/>
            <a:ext cx="4476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FFFFFF"/>
                </a:solidFill>
                <a:latin typeface="Avenir"/>
                <a:ea typeface="Avenir"/>
                <a:cs typeface="Avenir"/>
              </a:defRPr>
            </a:defPPr>
          </a:lstStyle>
          <a:p xmlns:a="http://schemas.openxmlformats.org/drawingml/2006/main">
            <a:pPr algn="l">
              <a:defRPr sz="1500" b="0">
                <a:solidFill>
                  <a:srgbClr val="FFFFFF"/>
                </a:solidFill>
                <a:latin typeface="Avenir"/>
                <a:ea typeface="Avenir"/>
                <a:cs typeface="Avenir"/>
              </a:defRPr>
            </a:pPr>
            <a:r>
              <a:rPr sz="1500" b="0">
                <a:solidFill>
                  <a:srgbClr val="FFFFFF"/>
                </a:solidFill>
                <a:latin typeface="Avenir"/>
                <a:ea typeface="Avenir"/>
                <a:cs typeface="Avenir"/>
              </a:rPr>
              <a:t>Team [NN] · [Names]</a:t>
            </a:r>
          </a:p>
          <a:p xmlns:a="http://schemas.openxmlformats.org/drawingml/2006/main">
            <a:pPr algn="l">
              <a:defRPr sz="1500" b="0">
                <a:solidFill>
                  <a:srgbClr val="FFFFFF"/>
                </a:solidFill>
                <a:latin typeface="Avenir"/>
                <a:ea typeface="Avenir"/>
                <a:cs typeface="Avenir"/>
              </a:defRPr>
            </a:pPr>
            <a:r>
              <a:rPr sz="1500" b="0">
                <a:solidFill>
                  <a:srgbClr val="FFFFFF"/>
                </a:solidFill>
                <a:latin typeface="Avenir"/>
                <a:ea typeface="Avenir"/>
                <a:cs typeface="Avenir"/>
              </a:rPr>
              <a:t>CSE 59358-01</a:t>
            </a:r>
          </a:p>
        </p:txBody>
      </p:sp>
      <p:sp>
        <p:nvSpPr>
          <p:cNvPr id="7" name="">
            <a:extLst xmlns:a="http://schemas.openxmlformats.org/drawingml/2006/main">
              <a:ext uri="{FF2B5EF4-FFF2-40B4-BE49-F238E27FC236}">
                <a16:creationId xmlns:a16="http://schemas.microsoft.com/office/drawing/2014/main" id="{C6A813FB-D8F8-4BB3-A0D1-6D2534855417}"/>
              </a:ext>
            </a:extLst>
          </p:cNvPr>
          <p:cNvSpPr>
            <a:spLocks xmlns:a="http://schemas.openxmlformats.org/drawingml/2006/main" noGrp="1"/>
          </p:cNvSpPr>
          <p:nvPr/>
        </p:nvSpPr>
        <p:spPr>
          <a:xfrm xmlns:a="http://schemas.openxmlformats.org/drawingml/2006/main">
            <a:off x="762000" y="611505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0">
                <a:solidFill>
                  <a:srgbClr val="AFC5D3"/>
                </a:solidFill>
                <a:latin typeface="Avenir"/>
                <a:ea typeface="Avenir"/>
                <a:cs typeface="Avenir"/>
              </a:defRPr>
            </a:defPPr>
          </a:lstStyle>
          <a:p xmlns:a="http://schemas.openxmlformats.org/drawingml/2006/main">
            <a:pPr algn="l">
              <a:defRPr sz="1125" b="0">
                <a:solidFill>
                  <a:srgbClr val="AFC5D3"/>
                </a:solidFill>
                <a:latin typeface="Avenir"/>
                <a:ea typeface="Avenir"/>
                <a:cs typeface="Avenir"/>
              </a:defRPr>
            </a:pPr>
            <a:r>
              <a:rPr sz="1125" b="0">
                <a:solidFill>
                  <a:srgbClr val="AFC5D3"/>
                </a:solidFill>
                <a:latin typeface="Avenir"/>
                <a:ea typeface="Avenir"/>
                <a:cs typeface="Avenir"/>
              </a:rPr>
              <a:t>8-minute proposal · 13 October 2026</a:t>
            </a:r>
          </a:p>
        </p:txBody>
      </p:sp>
      <p:sp>
        <p:nvSpPr>
          <p:cNvPr id="8" name="">
            <a:extLst xmlns:a="http://schemas.openxmlformats.org/drawingml/2006/main">
              <a:ext uri="{FF2B5EF4-FFF2-40B4-BE49-F238E27FC236}">
                <a16:creationId xmlns:a16="http://schemas.microsoft.com/office/drawing/2014/main" id="{1DDE20FC-9E0C-4312-82BC-A9297834DD76}"/>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AFC5D3"/>
                </a:solidFill>
                <a:latin typeface="Avenir"/>
                <a:ea typeface="Avenir"/>
                <a:cs typeface="Avenir"/>
              </a:defRPr>
            </a:defPPr>
          </a:lstStyle>
          <a:p xmlns:a="http://schemas.openxmlformats.org/drawingml/2006/main">
            <a:pPr algn="r">
              <a:defRPr sz="1050" b="1">
                <a:solidFill>
                  <a:srgbClr val="AFC5D3"/>
                </a:solidFill>
                <a:latin typeface="Avenir"/>
                <a:ea typeface="Avenir"/>
                <a:cs typeface="Avenir"/>
              </a:defRPr>
            </a:pPr>
            <a:r>
              <a:rPr sz="1050" b="1">
                <a:solidFill>
                  <a:srgbClr val="AFC5D3"/>
                </a:solidFill>
                <a:latin typeface="Avenir"/>
                <a:ea typeface="Avenir"/>
                <a:cs typeface="Avenir"/>
              </a:rPr>
              <a:t>01 / 10</a:t>
            </a:r>
          </a:p>
        </p:txBody>
      </p:sp>
    </p:spTree>
    <p:extLst>
      <p:ext uri="{BB962C8B-B14F-4D97-AF65-F5344CB8AC3E}">
        <p14:creationId xmlns:p14="http://schemas.microsoft.com/office/powerpoint/2010/main" val="10719427"/>
      </p:ext>
    </p:extLst>
  </p:cSld>
</p:sld>
</file>

<file path=ppt/slides/slide2.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D12E8C7-9275-4DAE-A21B-4902D0467C70}"/>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2E2A39AC-0348-461C-950F-48DFC4779372}"/>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The task is to find which points support an action</a:t>
            </a:r>
          </a:p>
        </p:txBody>
      </p:sp>
      <p:sp>
        <p:nvSpPr>
          <p:cNvPr id="3" name="">
            <a:extLst xmlns:a="http://schemas.openxmlformats.org/drawingml/2006/main">
              <a:ext uri="{FF2B5EF4-FFF2-40B4-BE49-F238E27FC236}">
                <a16:creationId xmlns:a16="http://schemas.microsoft.com/office/drawing/2014/main" id="{ED49C150-AF13-488A-BF06-BA91335E4AAF}"/>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2F6EBC2-FF61-43C9-B38C-460CEEAA291B}"/>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02 / 10</a:t>
            </a:r>
          </a:p>
        </p:txBody>
      </p:sp>
      <p:sp>
        <p:nvSpPr>
          <p:cNvPr id="5" name="">
            <a:extLst xmlns:a="http://schemas.openxmlformats.org/drawingml/2006/main">
              <a:ext uri="{FF2B5EF4-FFF2-40B4-BE49-F238E27FC236}">
                <a16:creationId xmlns:a16="http://schemas.microsoft.com/office/drawing/2014/main" id="{EA2A4113-2C32-43E7-AD2F-683B40E3E033}"/>
              </a:ext>
            </a:extLst>
          </p:cNvPr>
          <p:cNvSpPr>
            <a:spLocks xmlns:a="http://schemas.openxmlformats.org/drawingml/2006/main" noGrp="1"/>
          </p:cNvSpPr>
          <p:nvPr/>
        </p:nvSpPr>
        <p:spPr>
          <a:xfrm xmlns:a="http://schemas.openxmlformats.org/drawingml/2006/main">
            <a:off x="609600" y="1619250"/>
            <a:ext cx="10972800" cy="3810000"/>
          </a:xfrm>
          <a:prstGeom xmlns:a="http://schemas.openxmlformats.org/drawingml/2006/main" prst="roundRect">
            <a:avLst>
              <a:gd name="adj" fmla="val 2000"/>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881AD108-AE0E-4EE6-903C-3748159148A1}"/>
              </a:ext>
            </a:extLst>
          </p:cNvPr>
          <p:cNvSpPr>
            <a:spLocks xmlns:a="http://schemas.openxmlformats.org/drawingml/2006/main" noGrp="1"/>
          </p:cNvSpPr>
          <p:nvPr/>
        </p:nvSpPr>
        <p:spPr>
          <a:xfrm xmlns:a="http://schemas.openxmlformats.org/drawingml/2006/main">
            <a:off x="914400" y="1847850"/>
            <a:ext cx="10477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7" name="">
            <a:extLst xmlns:a="http://schemas.openxmlformats.org/drawingml/2006/main">
              <a:ext uri="{FF2B5EF4-FFF2-40B4-BE49-F238E27FC236}">
                <a16:creationId xmlns:a16="http://schemas.microsoft.com/office/drawing/2014/main" id="{ED8BB07F-B02E-4B66-86BE-6B0CDA8D3794}"/>
              </a:ext>
            </a:extLst>
          </p:cNvPr>
          <p:cNvSpPr>
            <a:spLocks xmlns:a="http://schemas.openxmlformats.org/drawingml/2006/main" noGrp="1"/>
          </p:cNvSpPr>
          <p:nvPr/>
        </p:nvSpPr>
        <p:spPr>
          <a:xfrm xmlns:a="http://schemas.openxmlformats.org/drawingml/2006/main">
            <a:off x="981075" y="1847850"/>
            <a:ext cx="914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INPUT</a:t>
            </a:r>
          </a:p>
        </p:txBody>
      </p:sp>
      <p:sp>
        <p:nvSpPr>
          <p:cNvPr id="8" name="">
            <a:extLst xmlns:a="http://schemas.openxmlformats.org/drawingml/2006/main">
              <a:ext uri="{FF2B5EF4-FFF2-40B4-BE49-F238E27FC236}">
                <a16:creationId xmlns:a16="http://schemas.microsoft.com/office/drawing/2014/main" id="{0525D736-7E51-4990-A439-B8D4064BE857}"/>
              </a:ext>
            </a:extLst>
          </p:cNvPr>
          <p:cNvSpPr>
            <a:spLocks xmlns:a="http://schemas.openxmlformats.org/drawingml/2006/main" noGrp="1"/>
          </p:cNvSpPr>
          <p:nvPr/>
        </p:nvSpPr>
        <p:spPr>
          <a:xfrm xmlns:a="http://schemas.openxmlformats.org/drawingml/2006/main">
            <a:off x="914400" y="24193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 3D object point cloud</a:t>
            </a:r>
          </a:p>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about 1,000–2,000 XYZ points</a:t>
            </a:r>
          </a:p>
        </p:txBody>
      </p:sp>
      <p:sp>
        <p:nvSpPr>
          <p:cNvPr id="9" name="">
            <a:extLst xmlns:a="http://schemas.openxmlformats.org/drawingml/2006/main">
              <a:ext uri="{FF2B5EF4-FFF2-40B4-BE49-F238E27FC236}">
                <a16:creationId xmlns:a16="http://schemas.microsoft.com/office/drawing/2014/main" id="{0D60E484-8EEA-4788-9305-FC2BB54420D3}"/>
              </a:ext>
            </a:extLst>
          </p:cNvPr>
          <p:cNvSpPr>
            <a:spLocks xmlns:a="http://schemas.openxmlformats.org/drawingml/2006/main" noGrp="1"/>
          </p:cNvSpPr>
          <p:nvPr/>
        </p:nvSpPr>
        <p:spPr>
          <a:xfrm xmlns:a="http://schemas.openxmlformats.org/drawingml/2006/main">
            <a:off x="5095875" y="2590800"/>
            <a:ext cx="38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850" b="1">
                <a:solidFill>
                  <a:srgbClr val="F2B84B"/>
                </a:solidFill>
                <a:latin typeface="Avenir"/>
                <a:ea typeface="Avenir"/>
                <a:cs typeface="Avenir"/>
              </a:defRPr>
            </a:defPPr>
          </a:lstStyle>
          <a:p xmlns:a="http://schemas.openxmlformats.org/drawingml/2006/main">
            <a:pPr algn="ctr">
              <a:defRPr sz="2850" b="1">
                <a:solidFill>
                  <a:srgbClr val="F2B84B"/>
                </a:solidFill>
                <a:latin typeface="Avenir"/>
                <a:ea typeface="Avenir"/>
                <a:cs typeface="Avenir"/>
              </a:defRPr>
            </a:pPr>
            <a:r>
              <a:rPr sz="2850" b="1">
                <a:solidFill>
                  <a:srgbClr val="F2B84B"/>
                </a:solidFill>
                <a:latin typeface="Avenir"/>
                <a:ea typeface="Avenir"/>
                <a:cs typeface="Avenir"/>
              </a:rPr>
              <a:t>+</a:t>
            </a:r>
          </a:p>
        </p:txBody>
      </p:sp>
      <p:sp>
        <p:nvSpPr>
          <p:cNvPr id="10" name="">
            <a:extLst xmlns:a="http://schemas.openxmlformats.org/drawingml/2006/main">
              <a:ext uri="{FF2B5EF4-FFF2-40B4-BE49-F238E27FC236}">
                <a16:creationId xmlns:a16="http://schemas.microsoft.com/office/drawing/2014/main" id="{CBF34FC4-3BF1-4CF4-8F6C-C08336DBFCCA}"/>
              </a:ext>
            </a:extLst>
          </p:cNvPr>
          <p:cNvSpPr>
            <a:spLocks xmlns:a="http://schemas.openxmlformats.org/drawingml/2006/main" noGrp="1"/>
          </p:cNvSpPr>
          <p:nvPr/>
        </p:nvSpPr>
        <p:spPr>
          <a:xfrm xmlns:a="http://schemas.openxmlformats.org/drawingml/2006/main">
            <a:off x="5657850" y="2419350"/>
            <a:ext cx="5048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An action in words</a:t>
            </a:r>
          </a:p>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“grasp”, “press”, or “sit on”</a:t>
            </a:r>
          </a:p>
        </p:txBody>
      </p:sp>
      <p:sp>
        <p:nvSpPr>
          <p:cNvPr id="11" name="">
            <a:extLst xmlns:a="http://schemas.openxmlformats.org/drawingml/2006/main">
              <a:ext uri="{FF2B5EF4-FFF2-40B4-BE49-F238E27FC236}">
                <a16:creationId xmlns:a16="http://schemas.microsoft.com/office/drawing/2014/main" id="{A9402248-80AE-4853-81E0-3AED608D8BDA}"/>
              </a:ext>
            </a:extLst>
          </p:cNvPr>
          <p:cNvSpPr>
            <a:spLocks xmlns:a="http://schemas.openxmlformats.org/drawingml/2006/main" noGrp="1"/>
          </p:cNvSpPr>
          <p:nvPr/>
        </p:nvSpPr>
        <p:spPr>
          <a:xfrm xmlns:a="http://schemas.openxmlformats.org/drawingml/2006/main">
            <a:off x="914400" y="3619500"/>
            <a:ext cx="10363200" cy="9525"/>
          </a:xfrm>
          <a:prstGeom xmlns:a="http://schemas.openxmlformats.org/drawingml/2006/main" prst="rect">
            <a:avLst/>
          </a:prstGeom>
          <a:solidFill xmlns:a="http://schemas.openxmlformats.org/drawingml/2006/main">
            <a:srgbClr val="D7E1E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9C58A18-64DA-4A8B-9E52-48E4665D7D14}"/>
              </a:ext>
            </a:extLst>
          </p:cNvPr>
          <p:cNvSpPr>
            <a:spLocks xmlns:a="http://schemas.openxmlformats.org/drawingml/2006/main" noGrp="1"/>
          </p:cNvSpPr>
          <p:nvPr/>
        </p:nvSpPr>
        <p:spPr>
          <a:xfrm xmlns:a="http://schemas.openxmlformats.org/drawingml/2006/main">
            <a:off x="914400" y="3905250"/>
            <a:ext cx="11430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3" name="">
            <a:extLst xmlns:a="http://schemas.openxmlformats.org/drawingml/2006/main">
              <a:ext uri="{FF2B5EF4-FFF2-40B4-BE49-F238E27FC236}">
                <a16:creationId xmlns:a16="http://schemas.microsoft.com/office/drawing/2014/main" id="{A09E7C7F-3976-495E-BE63-F1682903D738}"/>
              </a:ext>
            </a:extLst>
          </p:cNvPr>
          <p:cNvSpPr>
            <a:spLocks xmlns:a="http://schemas.openxmlformats.org/drawingml/2006/main" noGrp="1"/>
          </p:cNvSpPr>
          <p:nvPr/>
        </p:nvSpPr>
        <p:spPr>
          <a:xfrm xmlns:a="http://schemas.openxmlformats.org/drawingml/2006/main">
            <a:off x="981075" y="39052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OUTPUT</a:t>
            </a:r>
          </a:p>
        </p:txBody>
      </p:sp>
      <p:sp>
        <p:nvSpPr>
          <p:cNvPr id="14" name="">
            <a:extLst xmlns:a="http://schemas.openxmlformats.org/drawingml/2006/main">
              <a:ext uri="{FF2B5EF4-FFF2-40B4-BE49-F238E27FC236}">
                <a16:creationId xmlns:a16="http://schemas.microsoft.com/office/drawing/2014/main" id="{542F546A-3DC7-43B0-9CAA-5B8FCBC68E61}"/>
              </a:ext>
            </a:extLst>
          </p:cNvPr>
          <p:cNvSpPr>
            <a:spLocks xmlns:a="http://schemas.openxmlformats.org/drawingml/2006/main" noGrp="1"/>
          </p:cNvSpPr>
          <p:nvPr/>
        </p:nvSpPr>
        <p:spPr>
          <a:xfrm xmlns:a="http://schemas.openxmlformats.org/drawingml/2006/main">
            <a:off x="914400" y="4400550"/>
            <a:ext cx="571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 score or label for every point</a:t>
            </a:r>
          </a:p>
        </p:txBody>
      </p:sp>
      <p:sp>
        <p:nvSpPr>
          <p:cNvPr id="15" name="">
            <a:extLst xmlns:a="http://schemas.openxmlformats.org/drawingml/2006/main">
              <a:ext uri="{FF2B5EF4-FFF2-40B4-BE49-F238E27FC236}">
                <a16:creationId xmlns:a16="http://schemas.microsoft.com/office/drawing/2014/main" id="{6393AD24-A880-451B-89CD-B7063A620CEC}"/>
              </a:ext>
            </a:extLst>
          </p:cNvPr>
          <p:cNvSpPr>
            <a:spLocks xmlns:a="http://schemas.openxmlformats.org/drawingml/2006/main" noGrp="1"/>
          </p:cNvSpPr>
          <p:nvPr/>
        </p:nvSpPr>
        <p:spPr>
          <a:xfrm xmlns:a="http://schemas.openxmlformats.org/drawingml/2006/main">
            <a:off x="914400" y="501015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26777"/>
                </a:solidFill>
                <a:latin typeface="Avenir"/>
                <a:ea typeface="Avenir"/>
                <a:cs typeface="Avenir"/>
              </a:defRPr>
            </a:defPPr>
          </a:lstStyle>
          <a:p xmlns:a="http://schemas.openxmlformats.org/drawingml/2006/main">
            <a:pPr algn="l">
              <a:defRPr sz="1500" b="0">
                <a:solidFill>
                  <a:srgbClr val="526777"/>
                </a:solidFill>
                <a:latin typeface="Avenir"/>
                <a:ea typeface="Avenir"/>
                <a:cs typeface="Avenir"/>
              </a:defRPr>
            </a:pPr>
            <a:r>
              <a:rPr sz="1500" b="0">
                <a:solidFill>
                  <a:srgbClr val="526777"/>
                </a:solidFill>
                <a:latin typeface="Avenir"/>
                <a:ea typeface="Avenir"/>
                <a:cs typeface="Avenir"/>
              </a:rPr>
              <a:t>The same object can have different parts highlighted for different actions.</a:t>
            </a:r>
          </a:p>
        </p:txBody>
      </p:sp>
      <p:sp>
        <p:nvSpPr>
          <p:cNvPr id="16" name="">
            <a:extLst xmlns:a="http://schemas.openxmlformats.org/drawingml/2006/main">
              <a:ext uri="{FF2B5EF4-FFF2-40B4-BE49-F238E27FC236}">
                <a16:creationId xmlns:a16="http://schemas.microsoft.com/office/drawing/2014/main" id="{46576813-CE89-4E5D-A4E4-EAE8711921FB}"/>
              </a:ext>
            </a:extLst>
          </p:cNvPr>
          <p:cNvSpPr>
            <a:spLocks xmlns:a="http://schemas.openxmlformats.org/drawingml/2006/main" noGrp="1"/>
          </p:cNvSpPr>
          <p:nvPr/>
        </p:nvSpPr>
        <p:spPr>
          <a:xfrm xmlns:a="http://schemas.openxmlformats.org/drawingml/2006/main">
            <a:off x="609600" y="5676900"/>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72B3A"/>
                </a:solidFill>
                <a:latin typeface="Avenir"/>
                <a:ea typeface="Avenir"/>
                <a:cs typeface="Avenir"/>
              </a:defRPr>
            </a:defPPr>
          </a:lstStyle>
          <a:p xmlns:a="http://schemas.openxmlformats.org/drawingml/2006/main">
            <a:pPr algn="l">
              <a:defRPr sz="1575" b="1">
                <a:solidFill>
                  <a:srgbClr val="172B3A"/>
                </a:solidFill>
                <a:latin typeface="Avenir"/>
                <a:ea typeface="Avenir"/>
                <a:cs typeface="Avenir"/>
              </a:defRPr>
            </a:pPr>
            <a:r>
              <a:rPr sz="1575" b="1">
                <a:solidFill>
                  <a:srgbClr val="172B3A"/>
                </a:solidFill>
                <a:latin typeface="Avenir"/>
                <a:ea typeface="Avenir"/>
                <a:cs typeface="Avenir"/>
              </a:rPr>
              <a:t>Why it is difficult: a partial view may hide the part that matters.</a:t>
            </a:r>
          </a:p>
        </p:txBody>
      </p:sp>
    </p:spTree>
    <p:extLst>
      <p:ext uri="{BB962C8B-B14F-4D97-AF65-F5344CB8AC3E}">
        <p14:creationId xmlns:p14="http://schemas.microsoft.com/office/powerpoint/2010/main" val="1028411898"/>
      </p:ext>
    </p:extLst>
  </p:cSld>
</p:sld>
</file>

<file path=ppt/slides/slide3.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085FF7B-477E-4FE3-8C18-6E0CB19AD31A}"/>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4CE3BA5C-CB70-4BFB-A933-A6413A497311}"/>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What I ran: the same OpenAD model on the same data</a:t>
            </a:r>
          </a:p>
        </p:txBody>
      </p:sp>
      <p:sp>
        <p:nvSpPr>
          <p:cNvPr id="3" name="">
            <a:extLst xmlns:a="http://schemas.openxmlformats.org/drawingml/2006/main">
              <a:ext uri="{FF2B5EF4-FFF2-40B4-BE49-F238E27FC236}">
                <a16:creationId xmlns:a16="http://schemas.microsoft.com/office/drawing/2014/main" id="{AB9F65F7-F6D8-4639-A922-2488A762BBAB}"/>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B7CFAD2-D8E2-4CB2-B71B-DFAC5110FA3B}"/>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03 / 10</a:t>
            </a:r>
          </a:p>
        </p:txBody>
      </p:sp>
      <p:sp>
        <p:nvSpPr>
          <p:cNvPr id="5" name="">
            <a:extLst xmlns:a="http://schemas.openxmlformats.org/drawingml/2006/main">
              <a:ext uri="{FF2B5EF4-FFF2-40B4-BE49-F238E27FC236}">
                <a16:creationId xmlns:a16="http://schemas.microsoft.com/office/drawing/2014/main" id="{5B1A061C-CCAE-498C-B583-199A14DF7291}"/>
              </a:ext>
            </a:extLst>
          </p:cNvPr>
          <p:cNvSpPr>
            <a:spLocks xmlns:a="http://schemas.openxmlformats.org/drawingml/2006/main" noGrp="1"/>
          </p:cNvSpPr>
          <p:nvPr/>
        </p:nvSpPr>
        <p:spPr>
          <a:xfrm xmlns:a="http://schemas.openxmlformats.org/drawingml/2006/main">
            <a:off x="609600" y="1619250"/>
            <a:ext cx="5181600" cy="3790950"/>
          </a:xfrm>
          <a:prstGeom xmlns:a="http://schemas.openxmlformats.org/drawingml/2006/main" prst="roundRect">
            <a:avLst>
              <a:gd name="adj" fmla="val 2010"/>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57E78634-51B5-4C67-B415-DD60BD042182}"/>
              </a:ext>
            </a:extLst>
          </p:cNvPr>
          <p:cNvSpPr>
            <a:spLocks xmlns:a="http://schemas.openxmlformats.org/drawingml/2006/main" noGrp="1"/>
          </p:cNvSpPr>
          <p:nvPr/>
        </p:nvSpPr>
        <p:spPr>
          <a:xfrm xmlns:a="http://schemas.openxmlformats.org/drawingml/2006/main">
            <a:off x="857250" y="18288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MY BASELINE</a:t>
            </a:r>
          </a:p>
        </p:txBody>
      </p:sp>
      <p:sp>
        <p:nvSpPr>
          <p:cNvPr id="7" name="">
            <a:extLst xmlns:a="http://schemas.openxmlformats.org/drawingml/2006/main">
              <a:ext uri="{FF2B5EF4-FFF2-40B4-BE49-F238E27FC236}">
                <a16:creationId xmlns:a16="http://schemas.microsoft.com/office/drawing/2014/main" id="{936CE13A-05BF-4778-BC32-29291F9B6478}"/>
              </a:ext>
            </a:extLst>
          </p:cNvPr>
          <p:cNvSpPr>
            <a:spLocks xmlns:a="http://schemas.openxmlformats.org/drawingml/2006/main" noGrp="1"/>
          </p:cNvSpPr>
          <p:nvPr/>
        </p:nvSpPr>
        <p:spPr>
          <a:xfrm xmlns:a="http://schemas.openxmlformats.org/drawingml/2006/main">
            <a:off x="857250" y="2200275"/>
            <a:ext cx="3905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75" b="1">
                <a:solidFill>
                  <a:srgbClr val="102A43"/>
                </a:solidFill>
                <a:latin typeface="Avenir"/>
                <a:ea typeface="Avenir"/>
                <a:cs typeface="Avenir"/>
              </a:defRPr>
            </a:defPPr>
          </a:lstStyle>
          <a:p xmlns:a="http://schemas.openxmlformats.org/drawingml/2006/main">
            <a:pPr algn="l">
              <a:defRPr sz="2175" b="1">
                <a:solidFill>
                  <a:srgbClr val="102A43"/>
                </a:solidFill>
                <a:latin typeface="Avenir"/>
                <a:ea typeface="Avenir"/>
                <a:cs typeface="Avenir"/>
              </a:defRPr>
            </a:pPr>
            <a:r>
              <a:rPr sz="2175" b="1">
                <a:solidFill>
                  <a:srgbClr val="102A43"/>
                </a:solidFill>
                <a:latin typeface="Avenir"/>
                <a:ea typeface="Avenir"/>
                <a:cs typeface="Avenir"/>
              </a:rPr>
              <a:t>OpenAD PN2</a:t>
            </a:r>
          </a:p>
        </p:txBody>
      </p:sp>
      <p:sp>
        <p:nvSpPr>
          <p:cNvPr id="8" name="">
            <a:extLst xmlns:a="http://schemas.openxmlformats.org/drawingml/2006/main">
              <a:ext uri="{FF2B5EF4-FFF2-40B4-BE49-F238E27FC236}">
                <a16:creationId xmlns:a16="http://schemas.microsoft.com/office/drawing/2014/main" id="{F47A600E-76B5-468C-9101-2BB76B226CB0}"/>
              </a:ext>
            </a:extLst>
          </p:cNvPr>
          <p:cNvSpPr>
            <a:spLocks xmlns:a="http://schemas.openxmlformats.org/drawingml/2006/main" noGrp="1"/>
          </p:cNvSpPr>
          <p:nvPr/>
        </p:nvSpPr>
        <p:spPr>
          <a:xfrm xmlns:a="http://schemas.openxmlformats.org/drawingml/2006/main">
            <a:off x="857250" y="280035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2DAE9B7-AA64-4905-89B3-E4462166656E}"/>
              </a:ext>
            </a:extLst>
          </p:cNvPr>
          <p:cNvSpPr>
            <a:spLocks xmlns:a="http://schemas.openxmlformats.org/drawingml/2006/main" noGrp="1"/>
          </p:cNvSpPr>
          <p:nvPr/>
        </p:nvSpPr>
        <p:spPr>
          <a:xfrm xmlns:a="http://schemas.openxmlformats.org/drawingml/2006/main">
            <a:off x="1085850" y="271462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Used the released pretrained checkpoint</a:t>
            </a:r>
          </a:p>
        </p:txBody>
      </p:sp>
      <p:sp>
        <p:nvSpPr>
          <p:cNvPr id="10" name="">
            <a:extLst xmlns:a="http://schemas.openxmlformats.org/drawingml/2006/main">
              <a:ext uri="{FF2B5EF4-FFF2-40B4-BE49-F238E27FC236}">
                <a16:creationId xmlns:a16="http://schemas.microsoft.com/office/drawing/2014/main" id="{122AA33A-6D3A-487C-927B-7D52D4D28A58}"/>
              </a:ext>
            </a:extLst>
          </p:cNvPr>
          <p:cNvSpPr>
            <a:spLocks xmlns:a="http://schemas.openxmlformats.org/drawingml/2006/main" noGrp="1"/>
          </p:cNvSpPr>
          <p:nvPr/>
        </p:nvSpPr>
        <p:spPr>
          <a:xfrm xmlns:a="http://schemas.openxmlformats.org/drawingml/2006/main">
            <a:off x="857250" y="335280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B8835B4-D0A2-4385-8899-ED4D7B583C58}"/>
              </a:ext>
            </a:extLst>
          </p:cNvPr>
          <p:cNvSpPr>
            <a:spLocks xmlns:a="http://schemas.openxmlformats.org/drawingml/2006/main" noGrp="1"/>
          </p:cNvSpPr>
          <p:nvPr/>
        </p:nvSpPr>
        <p:spPr>
          <a:xfrm xmlns:a="http://schemas.openxmlformats.org/drawingml/2006/main">
            <a:off x="1085850" y="326707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Kept the model weights fixed; no retraining</a:t>
            </a:r>
          </a:p>
        </p:txBody>
      </p:sp>
      <p:sp>
        <p:nvSpPr>
          <p:cNvPr id="12" name="">
            <a:extLst xmlns:a="http://schemas.openxmlformats.org/drawingml/2006/main">
              <a:ext uri="{FF2B5EF4-FFF2-40B4-BE49-F238E27FC236}">
                <a16:creationId xmlns:a16="http://schemas.microsoft.com/office/drawing/2014/main" id="{FEC5C357-7252-4819-A598-49B933A70EAC}"/>
              </a:ext>
            </a:extLst>
          </p:cNvPr>
          <p:cNvSpPr>
            <a:spLocks xmlns:a="http://schemas.openxmlformats.org/drawingml/2006/main" noGrp="1"/>
          </p:cNvSpPr>
          <p:nvPr/>
        </p:nvSpPr>
        <p:spPr>
          <a:xfrm xmlns:a="http://schemas.openxmlformats.org/drawingml/2006/main">
            <a:off x="857250" y="390525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BC2F5E6-0E92-4E6A-92D9-FA8F07B52E10}"/>
              </a:ext>
            </a:extLst>
          </p:cNvPr>
          <p:cNvSpPr>
            <a:spLocks xmlns:a="http://schemas.openxmlformats.org/drawingml/2006/main" noGrp="1"/>
          </p:cNvSpPr>
          <p:nvPr/>
        </p:nvSpPr>
        <p:spPr>
          <a:xfrm xmlns:a="http://schemas.openxmlformats.org/drawingml/2006/main">
            <a:off x="1085850" y="381952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Compared training-name and held-out query words</a:t>
            </a:r>
          </a:p>
        </p:txBody>
      </p:sp>
      <p:sp>
        <p:nvSpPr>
          <p:cNvPr id="14" name="">
            <a:extLst xmlns:a="http://schemas.openxmlformats.org/drawingml/2006/main">
              <a:ext uri="{FF2B5EF4-FFF2-40B4-BE49-F238E27FC236}">
                <a16:creationId xmlns:a16="http://schemas.microsoft.com/office/drawing/2014/main" id="{55462C1F-EF86-4D00-89AA-8658FAD740C9}"/>
              </a:ext>
            </a:extLst>
          </p:cNvPr>
          <p:cNvSpPr>
            <a:spLocks xmlns:a="http://schemas.openxmlformats.org/drawingml/2006/main" noGrp="1"/>
          </p:cNvSpPr>
          <p:nvPr/>
        </p:nvSpPr>
        <p:spPr>
          <a:xfrm xmlns:a="http://schemas.openxmlformats.org/drawingml/2006/main">
            <a:off x="857250" y="445770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CD655F9-AC38-4C22-AB83-8C018FFA3077}"/>
              </a:ext>
            </a:extLst>
          </p:cNvPr>
          <p:cNvSpPr>
            <a:spLocks xmlns:a="http://schemas.openxmlformats.org/drawingml/2006/main" noGrp="1"/>
          </p:cNvSpPr>
          <p:nvPr/>
        </p:nvSpPr>
        <p:spPr>
          <a:xfrm xmlns:a="http://schemas.openxmlformats.org/drawingml/2006/main">
            <a:off x="1085850" y="437197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Adapted evaluation for MPS; weights stayed fixed</a:t>
            </a:r>
          </a:p>
        </p:txBody>
      </p:sp>
      <p:sp>
        <p:nvSpPr>
          <p:cNvPr id="16" name="">
            <a:extLst xmlns:a="http://schemas.openxmlformats.org/drawingml/2006/main">
              <a:ext uri="{FF2B5EF4-FFF2-40B4-BE49-F238E27FC236}">
                <a16:creationId xmlns:a16="http://schemas.microsoft.com/office/drawing/2014/main" id="{53B29B08-4523-4CFD-935E-FED5D6BAFFFD}"/>
              </a:ext>
            </a:extLst>
          </p:cNvPr>
          <p:cNvSpPr>
            <a:spLocks xmlns:a="http://schemas.openxmlformats.org/drawingml/2006/main" noGrp="1"/>
          </p:cNvSpPr>
          <p:nvPr/>
        </p:nvSpPr>
        <p:spPr>
          <a:xfrm xmlns:a="http://schemas.openxmlformats.org/drawingml/2006/main">
            <a:off x="6057900" y="1619250"/>
            <a:ext cx="5524500" cy="3790950"/>
          </a:xfrm>
          <a:prstGeom xmlns:a="http://schemas.openxmlformats.org/drawingml/2006/main" prst="roundRect">
            <a:avLst>
              <a:gd name="adj" fmla="val 2010"/>
            </a:avLst>
          </a:prstGeom>
          <a:solidFill xmlns:a="http://schemas.openxmlformats.org/drawingml/2006/main">
            <a:srgbClr val="FFFFFF"/>
          </a:solidFill>
          <a:ln xmlns:a="http://schemas.openxmlformats.org/drawingml/2006/main" w="9525">
            <a:solidFill>
              <a:srgbClr val="D7E1E8"/>
            </a:solidFill>
            <a:prstDash val="solid"/>
          </a:ln>
        </p:spPr>
      </p:sp>
      <p:sp>
        <p:nvSpPr>
          <p:cNvPr id="17" name="">
            <a:extLst xmlns:a="http://schemas.openxmlformats.org/drawingml/2006/main">
              <a:ext uri="{FF2B5EF4-FFF2-40B4-BE49-F238E27FC236}">
                <a16:creationId xmlns:a16="http://schemas.microsoft.com/office/drawing/2014/main" id="{A70DA751-DDB4-44CB-B0D0-3B0E9B46BD92}"/>
              </a:ext>
            </a:extLst>
          </p:cNvPr>
          <p:cNvSpPr>
            <a:spLocks xmlns:a="http://schemas.openxmlformats.org/drawingml/2006/main" noGrp="1"/>
          </p:cNvSpPr>
          <p:nvPr/>
        </p:nvSpPr>
        <p:spPr>
          <a:xfrm xmlns:a="http://schemas.openxmlformats.org/drawingml/2006/main">
            <a:off x="6305550" y="18288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3D-AFFORDANCENET VALIDATION</a:t>
            </a:r>
          </a:p>
        </p:txBody>
      </p:sp>
      <p:sp>
        <p:nvSpPr>
          <p:cNvPr id="18" name="">
            <a:extLst xmlns:a="http://schemas.openxmlformats.org/drawingml/2006/main">
              <a:ext uri="{FF2B5EF4-FFF2-40B4-BE49-F238E27FC236}">
                <a16:creationId xmlns:a16="http://schemas.microsoft.com/office/drawing/2014/main" id="{4E4C3CC2-1E9D-499C-AB2C-FC339F967770}"/>
              </a:ext>
            </a:extLst>
          </p:cNvPr>
          <p:cNvSpPr>
            <a:spLocks xmlns:a="http://schemas.openxmlformats.org/drawingml/2006/main" noGrp="1"/>
          </p:cNvSpPr>
          <p:nvPr/>
        </p:nvSpPr>
        <p:spPr>
          <a:xfrm xmlns:a="http://schemas.openxmlformats.org/drawingml/2006/main">
            <a:off x="6305550" y="2238375"/>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Partial views</a:t>
            </a:r>
          </a:p>
        </p:txBody>
      </p:sp>
      <p:sp>
        <p:nvSpPr>
          <p:cNvPr id="19" name="">
            <a:extLst xmlns:a="http://schemas.openxmlformats.org/drawingml/2006/main">
              <a:ext uri="{FF2B5EF4-FFF2-40B4-BE49-F238E27FC236}">
                <a16:creationId xmlns:a16="http://schemas.microsoft.com/office/drawing/2014/main" id="{BD1919C6-64D3-442A-B23D-A54E25B9FA42}"/>
              </a:ext>
            </a:extLst>
          </p:cNvPr>
          <p:cNvSpPr>
            <a:spLocks xmlns:a="http://schemas.openxmlformats.org/drawingml/2006/main" noGrp="1"/>
          </p:cNvSpPr>
          <p:nvPr/>
        </p:nvSpPr>
        <p:spPr>
          <a:xfrm xmlns:a="http://schemas.openxmlformats.org/drawingml/2006/main">
            <a:off x="6305550" y="25527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9,140 views from 2,285 objects</a:t>
            </a:r>
          </a:p>
        </p:txBody>
      </p:sp>
      <p:sp>
        <p:nvSpPr>
          <p:cNvPr id="20" name="">
            <a:extLst xmlns:a="http://schemas.openxmlformats.org/drawingml/2006/main">
              <a:ext uri="{FF2B5EF4-FFF2-40B4-BE49-F238E27FC236}">
                <a16:creationId xmlns:a16="http://schemas.microsoft.com/office/drawing/2014/main" id="{9985BC57-7A7C-4622-BB0E-EE008D51FF92}"/>
              </a:ext>
            </a:extLst>
          </p:cNvPr>
          <p:cNvSpPr>
            <a:spLocks xmlns:a="http://schemas.openxmlformats.org/drawingml/2006/main" noGrp="1"/>
          </p:cNvSpPr>
          <p:nvPr/>
        </p:nvSpPr>
        <p:spPr>
          <a:xfrm xmlns:a="http://schemas.openxmlformats.org/drawingml/2006/main">
            <a:off x="6305550" y="3038475"/>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Full shapes</a:t>
            </a:r>
          </a:p>
        </p:txBody>
      </p:sp>
      <p:sp>
        <p:nvSpPr>
          <p:cNvPr id="21" name="">
            <a:extLst xmlns:a="http://schemas.openxmlformats.org/drawingml/2006/main">
              <a:ext uri="{FF2B5EF4-FFF2-40B4-BE49-F238E27FC236}">
                <a16:creationId xmlns:a16="http://schemas.microsoft.com/office/drawing/2014/main" id="{9C658ED4-DB3A-464B-B9C7-48762C917624}"/>
              </a:ext>
            </a:extLst>
          </p:cNvPr>
          <p:cNvSpPr>
            <a:spLocks xmlns:a="http://schemas.openxmlformats.org/drawingml/2006/main" noGrp="1"/>
          </p:cNvSpPr>
          <p:nvPr/>
        </p:nvSpPr>
        <p:spPr>
          <a:xfrm xmlns:a="http://schemas.openxmlformats.org/drawingml/2006/main">
            <a:off x="6305550" y="33528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2,285 complete objects</a:t>
            </a:r>
          </a:p>
        </p:txBody>
      </p:sp>
      <p:sp>
        <p:nvSpPr>
          <p:cNvPr id="22" name="">
            <a:extLst xmlns:a="http://schemas.openxmlformats.org/drawingml/2006/main">
              <a:ext uri="{FF2B5EF4-FFF2-40B4-BE49-F238E27FC236}">
                <a16:creationId xmlns:a16="http://schemas.microsoft.com/office/drawing/2014/main" id="{E8ED4AB4-0F4E-46DA-8E1B-27B2EAB1890B}"/>
              </a:ext>
            </a:extLst>
          </p:cNvPr>
          <p:cNvSpPr>
            <a:spLocks xmlns:a="http://schemas.openxmlformats.org/drawingml/2006/main" noGrp="1"/>
          </p:cNvSpPr>
          <p:nvPr/>
        </p:nvSpPr>
        <p:spPr>
          <a:xfrm xmlns:a="http://schemas.openxmlformats.org/drawingml/2006/main">
            <a:off x="6305550" y="38671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02A43"/>
                </a:solidFill>
                <a:latin typeface="Avenir"/>
                <a:ea typeface="Avenir"/>
                <a:cs typeface="Avenir"/>
              </a:defRPr>
            </a:defPPr>
          </a:lstStyle>
          <a:p xmlns:a="http://schemas.openxmlformats.org/drawingml/2006/main">
            <a:pPr algn="l">
              <a:defRPr sz="1350" b="1">
                <a:solidFill>
                  <a:srgbClr val="102A43"/>
                </a:solidFill>
                <a:latin typeface="Avenir"/>
                <a:ea typeface="Avenir"/>
                <a:cs typeface="Avenir"/>
              </a:defRPr>
            </a:pPr>
            <a:r>
              <a:rPr sz="1350" b="1">
                <a:solidFill>
                  <a:srgbClr val="102A43"/>
                </a:solidFill>
                <a:latin typeface="Avenir"/>
                <a:ea typeface="Avenir"/>
                <a:cs typeface="Avenir"/>
              </a:rPr>
              <a:t>One 2,048-point forward pass: 0.546 s</a:t>
            </a:r>
          </a:p>
        </p:txBody>
      </p:sp>
      <p:sp>
        <p:nvSpPr>
          <p:cNvPr id="23" name="">
            <a:extLst xmlns:a="http://schemas.openxmlformats.org/drawingml/2006/main">
              <a:ext uri="{FF2B5EF4-FFF2-40B4-BE49-F238E27FC236}">
                <a16:creationId xmlns:a16="http://schemas.microsoft.com/office/drawing/2014/main" id="{9F92E512-45B9-4F1D-A876-CB1A410DED27}"/>
              </a:ext>
            </a:extLst>
          </p:cNvPr>
          <p:cNvSpPr>
            <a:spLocks xmlns:a="http://schemas.openxmlformats.org/drawingml/2006/main" noGrp="1"/>
          </p:cNvSpPr>
          <p:nvPr/>
        </p:nvSpPr>
        <p:spPr>
          <a:xfrm xmlns:a="http://schemas.openxmlformats.org/drawingml/2006/main">
            <a:off x="6305550" y="41910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~1.295 GiB sampled Metal allocation¹</a:t>
            </a:r>
          </a:p>
        </p:txBody>
      </p:sp>
      <p:sp>
        <p:nvSpPr>
          <p:cNvPr id="24" name="">
            <a:extLst xmlns:a="http://schemas.openxmlformats.org/drawingml/2006/main">
              <a:ext uri="{FF2B5EF4-FFF2-40B4-BE49-F238E27FC236}">
                <a16:creationId xmlns:a16="http://schemas.microsoft.com/office/drawing/2014/main" id="{9B1D555F-EBA4-4A26-8CE6-EFAA2EA21620}"/>
              </a:ext>
            </a:extLst>
          </p:cNvPr>
          <p:cNvSpPr>
            <a:spLocks xmlns:a="http://schemas.openxmlformats.org/drawingml/2006/main" noGrp="1"/>
          </p:cNvSpPr>
          <p:nvPr/>
        </p:nvSpPr>
        <p:spPr>
          <a:xfrm xmlns:a="http://schemas.openxmlformats.org/drawingml/2006/main">
            <a:off x="6305550" y="4591050"/>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526777"/>
                </a:solidFill>
                <a:latin typeface="Avenir"/>
                <a:ea typeface="Avenir"/>
                <a:cs typeface="Avenir"/>
              </a:defRPr>
            </a:defPPr>
          </a:lstStyle>
          <a:p xmlns:a="http://schemas.openxmlformats.org/drawingml/2006/main">
            <a:pPr algn="l">
              <a:defRPr sz="1125" b="0">
                <a:solidFill>
                  <a:srgbClr val="526777"/>
                </a:solidFill>
                <a:latin typeface="Avenir"/>
                <a:ea typeface="Avenir"/>
                <a:cs typeface="Avenir"/>
              </a:defRPr>
            </a:pPr>
            <a:r>
              <a:rPr sz="1125" b="0">
                <a:solidFill>
                  <a:srgbClr val="526777"/>
                </a:solidFill>
                <a:latin typeface="Avenir"/>
                <a:ea typeface="Avenir"/>
                <a:cs typeface="Avenir"/>
              </a:rPr>
              <a:t>¹5 ms sampling on unified memory; not a separate VRAM peak.</a:t>
            </a:r>
          </a:p>
        </p:txBody>
      </p:sp>
      <p:sp>
        <p:nvSpPr>
          <p:cNvPr id="25" name="">
            <a:extLst xmlns:a="http://schemas.openxmlformats.org/drawingml/2006/main">
              <a:ext uri="{FF2B5EF4-FFF2-40B4-BE49-F238E27FC236}">
                <a16:creationId xmlns:a16="http://schemas.microsoft.com/office/drawing/2014/main" id="{DED0E33D-5591-475E-8644-272C893D9B20}"/>
              </a:ext>
            </a:extLst>
          </p:cNvPr>
          <p:cNvSpPr>
            <a:spLocks xmlns:a="http://schemas.openxmlformats.org/drawingml/2006/main" noGrp="1"/>
          </p:cNvSpPr>
          <p:nvPr/>
        </p:nvSpPr>
        <p:spPr>
          <a:xfrm xmlns:a="http://schemas.openxmlformats.org/drawingml/2006/main">
            <a:off x="609600" y="5667375"/>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526777"/>
                </a:solidFill>
                <a:latin typeface="Avenir"/>
                <a:ea typeface="Avenir"/>
                <a:cs typeface="Avenir"/>
              </a:defRPr>
            </a:defPPr>
          </a:lstStyle>
          <a:p xmlns:a="http://schemas.openxmlformats.org/drawingml/2006/main">
            <a:pPr algn="l">
              <a:defRPr sz="1200" b="0">
                <a:solidFill>
                  <a:srgbClr val="526777"/>
                </a:solidFill>
                <a:latin typeface="Avenir"/>
                <a:ea typeface="Avenir"/>
                <a:cs typeface="Avenir"/>
              </a:defRPr>
            </a:pPr>
            <a:r>
              <a:rPr sz="1200" b="0">
                <a:solidFill>
                  <a:srgbClr val="526777"/>
                </a:solidFill>
                <a:latin typeface="Avenir"/>
                <a:ea typeface="Avenir"/>
                <a:cs typeface="Avenir"/>
              </a:rPr>
              <a:t>OpenAD PN2 checkpoint SHA-256: cbcfe9ff…8210f2ae · MPS-compatible evaluation</a:t>
            </a:r>
          </a:p>
        </p:txBody>
      </p:sp>
    </p:spTree>
    <p:extLst>
      <p:ext uri="{BB962C8B-B14F-4D97-AF65-F5344CB8AC3E}">
        <p14:creationId xmlns:p14="http://schemas.microsoft.com/office/powerpoint/2010/main" val="1655978429"/>
      </p:ext>
    </p:extLst>
  </p:cSld>
</p:sld>
</file>

<file path=ppt/slides/slide4.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4F75B69-B83D-4553-961D-3ED8CD2BF6AB}"/>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F0BA69D1-A6A7-4322-9883-21E5F510E6D4}"/>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Changing the query words changed the baseline scores</a:t>
            </a:r>
          </a:p>
        </p:txBody>
      </p:sp>
      <p:sp>
        <p:nvSpPr>
          <p:cNvPr id="3" name="">
            <a:extLst xmlns:a="http://schemas.openxmlformats.org/drawingml/2006/main">
              <a:ext uri="{FF2B5EF4-FFF2-40B4-BE49-F238E27FC236}">
                <a16:creationId xmlns:a16="http://schemas.microsoft.com/office/drawing/2014/main" id="{3D4A1E20-7122-46DB-90BF-8A4712CDEFC3}"/>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7FA571B-D6E6-4C6B-BFC9-C11C974B6C10}"/>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04 / 10</a:t>
            </a:r>
          </a:p>
        </p:txBody>
      </p:sp>
      <p:sp>
        <p:nvSpPr>
          <p:cNvPr id="5" name="">
            <a:extLst xmlns:a="http://schemas.openxmlformats.org/drawingml/2006/main">
              <a:ext uri="{FF2B5EF4-FFF2-40B4-BE49-F238E27FC236}">
                <a16:creationId xmlns:a16="http://schemas.microsoft.com/office/drawing/2014/main" id="{940FDBF7-EB18-43BF-BD26-C46BE150BBC4}"/>
              </a:ext>
            </a:extLst>
          </p:cNvPr>
          <p:cNvSpPr>
            <a:spLocks xmlns:a="http://schemas.openxmlformats.org/drawingml/2006/main" noGrp="1"/>
          </p:cNvSpPr>
          <p:nvPr/>
        </p:nvSpPr>
        <p:spPr>
          <a:xfrm xmlns:a="http://schemas.openxmlformats.org/drawingml/2006/main">
            <a:off x="609600" y="147637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26777"/>
                </a:solidFill>
                <a:latin typeface="Avenir"/>
                <a:ea typeface="Avenir"/>
                <a:cs typeface="Avenir"/>
              </a:defRPr>
            </a:defPPr>
          </a:lstStyle>
          <a:p xmlns:a="http://schemas.openxmlformats.org/drawingml/2006/main">
            <a:pPr algn="l">
              <a:defRPr sz="1425" b="0">
                <a:solidFill>
                  <a:srgbClr val="526777"/>
                </a:solidFill>
                <a:latin typeface="Avenir"/>
                <a:ea typeface="Avenir"/>
                <a:cs typeface="Avenir"/>
              </a:defRPr>
            </a:pPr>
            <a:r>
              <a:rPr sz="1425" b="0">
                <a:solidFill>
                  <a:srgbClr val="526777"/>
                </a:solidFill>
                <a:latin typeface="Avenir"/>
                <a:ea typeface="Avenir"/>
                <a:cs typeface="Avenir"/>
              </a:rPr>
              <a:t>Same checkpoint and point clouds; only the query vocabulary changed.</a:t>
            </a:r>
          </a:p>
        </p:txBody>
      </p:sp>
      <p:sp>
        <p:nvSpPr>
          <p:cNvPr id="6" name="">
            <a:extLst xmlns:a="http://schemas.openxmlformats.org/drawingml/2006/main">
              <a:ext uri="{FF2B5EF4-FFF2-40B4-BE49-F238E27FC236}">
                <a16:creationId xmlns:a16="http://schemas.microsoft.com/office/drawing/2014/main" id="{0E70548A-CF4A-4617-B25B-6EFFB60B59AB}"/>
              </a:ext>
            </a:extLst>
          </p:cNvPr>
          <p:cNvSpPr>
            <a:spLocks xmlns:a="http://schemas.openxmlformats.org/drawingml/2006/main" noGrp="1"/>
          </p:cNvSpPr>
          <p:nvPr/>
        </p:nvSpPr>
        <p:spPr>
          <a:xfrm xmlns:a="http://schemas.openxmlformats.org/drawingml/2006/main">
            <a:off x="609600" y="1914525"/>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MEAN POINT-WISE IoU¹</a:t>
            </a:r>
          </a:p>
        </p:txBody>
      </p:sp>
      <p:sp>
        <p:nvSpPr>
          <p:cNvPr id="7" name="">
            <a:extLst xmlns:a="http://schemas.openxmlformats.org/drawingml/2006/main">
              <a:ext uri="{FF2B5EF4-FFF2-40B4-BE49-F238E27FC236}">
                <a16:creationId xmlns:a16="http://schemas.microsoft.com/office/drawing/2014/main" id="{B1B87708-19AC-4294-87D2-71C87FD4ECB3}"/>
              </a:ext>
            </a:extLst>
          </p:cNvPr>
          <p:cNvSpPr>
            <a:spLocks xmlns:a="http://schemas.openxmlformats.org/drawingml/2006/main" noGrp="1"/>
          </p:cNvSpPr>
          <p:nvPr/>
        </p:nvSpPr>
        <p:spPr>
          <a:xfrm xmlns:a="http://schemas.openxmlformats.org/drawingml/2006/main">
            <a:off x="3924300" y="1885950"/>
            <a:ext cx="28575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8" name="">
            <a:extLst xmlns:a="http://schemas.openxmlformats.org/drawingml/2006/main">
              <a:ext uri="{FF2B5EF4-FFF2-40B4-BE49-F238E27FC236}">
                <a16:creationId xmlns:a16="http://schemas.microsoft.com/office/drawing/2014/main" id="{EA92557E-D321-44D5-963D-FEA6ED328449}"/>
              </a:ext>
            </a:extLst>
          </p:cNvPr>
          <p:cNvSpPr>
            <a:spLocks xmlns:a="http://schemas.openxmlformats.org/drawingml/2006/main" noGrp="1"/>
          </p:cNvSpPr>
          <p:nvPr/>
        </p:nvSpPr>
        <p:spPr>
          <a:xfrm xmlns:a="http://schemas.openxmlformats.org/drawingml/2006/main">
            <a:off x="3990975" y="1885950"/>
            <a:ext cx="2724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TRAINING-NAME QUERIES</a:t>
            </a:r>
          </a:p>
        </p:txBody>
      </p:sp>
      <p:sp>
        <p:nvSpPr>
          <p:cNvPr id="9" name="">
            <a:extLst xmlns:a="http://schemas.openxmlformats.org/drawingml/2006/main">
              <a:ext uri="{FF2B5EF4-FFF2-40B4-BE49-F238E27FC236}">
                <a16:creationId xmlns:a16="http://schemas.microsoft.com/office/drawing/2014/main" id="{054DFE2D-EE7D-4BB3-BBE7-6E71B6D47075}"/>
              </a:ext>
            </a:extLst>
          </p:cNvPr>
          <p:cNvSpPr>
            <a:spLocks xmlns:a="http://schemas.openxmlformats.org/drawingml/2006/main" noGrp="1"/>
          </p:cNvSpPr>
          <p:nvPr/>
        </p:nvSpPr>
        <p:spPr>
          <a:xfrm xmlns:a="http://schemas.openxmlformats.org/drawingml/2006/main">
            <a:off x="7734300" y="1885950"/>
            <a:ext cx="30480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0" name="">
            <a:extLst xmlns:a="http://schemas.openxmlformats.org/drawingml/2006/main">
              <a:ext uri="{FF2B5EF4-FFF2-40B4-BE49-F238E27FC236}">
                <a16:creationId xmlns:a16="http://schemas.microsoft.com/office/drawing/2014/main" id="{6FF2CE82-0BF3-466D-A5D8-652C62AF824B}"/>
              </a:ext>
            </a:extLst>
          </p:cNvPr>
          <p:cNvSpPr>
            <a:spLocks xmlns:a="http://schemas.openxmlformats.org/drawingml/2006/main" noGrp="1"/>
          </p:cNvSpPr>
          <p:nvPr/>
        </p:nvSpPr>
        <p:spPr>
          <a:xfrm xmlns:a="http://schemas.openxmlformats.org/drawingml/2006/main">
            <a:off x="7800975" y="1885950"/>
            <a:ext cx="2914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HELD-OUT QUERY NAMES</a:t>
            </a:r>
          </a:p>
        </p:txBody>
      </p:sp>
      <p:sp>
        <p:nvSpPr>
          <p:cNvPr id="11" name="">
            <a:extLst xmlns:a="http://schemas.openxmlformats.org/drawingml/2006/main">
              <a:ext uri="{FF2B5EF4-FFF2-40B4-BE49-F238E27FC236}">
                <a16:creationId xmlns:a16="http://schemas.microsoft.com/office/drawing/2014/main" id="{63820508-E166-45E3-80B8-461D8F29DBAD}"/>
              </a:ext>
            </a:extLst>
          </p:cNvPr>
          <p:cNvSpPr>
            <a:spLocks xmlns:a="http://schemas.openxmlformats.org/drawingml/2006/main" noGrp="1"/>
          </p:cNvSpPr>
          <p:nvPr/>
        </p:nvSpPr>
        <p:spPr>
          <a:xfrm xmlns:a="http://schemas.openxmlformats.org/drawingml/2006/main">
            <a:off x="609600" y="2352675"/>
            <a:ext cx="109728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7E1E8"/>
            </a:solidFill>
            <a:prstDash val="solid"/>
          </a:ln>
        </p:spPr>
      </p:sp>
      <p:sp>
        <p:nvSpPr>
          <p:cNvPr id="12" name="">
            <a:extLst xmlns:a="http://schemas.openxmlformats.org/drawingml/2006/main">
              <a:ext uri="{FF2B5EF4-FFF2-40B4-BE49-F238E27FC236}">
                <a16:creationId xmlns:a16="http://schemas.microsoft.com/office/drawing/2014/main" id="{8651AD5D-5D88-4CFA-B206-A7D176160EB5}"/>
              </a:ext>
            </a:extLst>
          </p:cNvPr>
          <p:cNvSpPr>
            <a:spLocks xmlns:a="http://schemas.openxmlformats.org/drawingml/2006/main" noGrp="1"/>
          </p:cNvSpPr>
          <p:nvPr/>
        </p:nvSpPr>
        <p:spPr>
          <a:xfrm xmlns:a="http://schemas.openxmlformats.org/drawingml/2006/main">
            <a:off x="800100" y="235267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Partial views · 18 actions</a:t>
            </a:r>
          </a:p>
        </p:txBody>
      </p:sp>
      <p:sp>
        <p:nvSpPr>
          <p:cNvPr id="13" name="">
            <a:extLst xmlns:a="http://schemas.openxmlformats.org/drawingml/2006/main">
              <a:ext uri="{FF2B5EF4-FFF2-40B4-BE49-F238E27FC236}">
                <a16:creationId xmlns:a16="http://schemas.microsoft.com/office/drawing/2014/main" id="{130022ED-7B82-49E8-86FB-0B705701BFFF}"/>
              </a:ext>
            </a:extLst>
          </p:cNvPr>
          <p:cNvSpPr>
            <a:spLocks xmlns:a="http://schemas.openxmlformats.org/drawingml/2006/main" noGrp="1"/>
          </p:cNvSpPr>
          <p:nvPr/>
        </p:nvSpPr>
        <p:spPr>
          <a:xfrm xmlns:a="http://schemas.openxmlformats.org/drawingml/2006/main">
            <a:off x="3924300" y="235267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40.39%</a:t>
            </a:r>
          </a:p>
        </p:txBody>
      </p:sp>
      <p:sp>
        <p:nvSpPr>
          <p:cNvPr id="14" name="">
            <a:extLst xmlns:a="http://schemas.openxmlformats.org/drawingml/2006/main">
              <a:ext uri="{FF2B5EF4-FFF2-40B4-BE49-F238E27FC236}">
                <a16:creationId xmlns:a16="http://schemas.microsoft.com/office/drawing/2014/main" id="{BADE7ED7-2245-45C5-A1F1-85E8D775CFE1}"/>
              </a:ext>
            </a:extLst>
          </p:cNvPr>
          <p:cNvSpPr>
            <a:spLocks xmlns:a="http://schemas.openxmlformats.org/drawingml/2006/main" noGrp="1"/>
          </p:cNvSpPr>
          <p:nvPr/>
        </p:nvSpPr>
        <p:spPr>
          <a:xfrm xmlns:a="http://schemas.openxmlformats.org/drawingml/2006/main">
            <a:off x="7734300" y="235267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10.77%</a:t>
            </a:r>
          </a:p>
        </p:txBody>
      </p:sp>
      <p:sp>
        <p:nvSpPr>
          <p:cNvPr id="15" name="">
            <a:extLst xmlns:a="http://schemas.openxmlformats.org/drawingml/2006/main">
              <a:ext uri="{FF2B5EF4-FFF2-40B4-BE49-F238E27FC236}">
                <a16:creationId xmlns:a16="http://schemas.microsoft.com/office/drawing/2014/main" id="{3FB5B712-2229-4DDD-BBF4-754D1AD655D8}"/>
              </a:ext>
            </a:extLst>
          </p:cNvPr>
          <p:cNvSpPr>
            <a:spLocks xmlns:a="http://schemas.openxmlformats.org/drawingml/2006/main" noGrp="1"/>
          </p:cNvSpPr>
          <p:nvPr/>
        </p:nvSpPr>
        <p:spPr>
          <a:xfrm xmlns:a="http://schemas.openxmlformats.org/drawingml/2006/main">
            <a:off x="800100" y="302895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Partial views · incl. “none”</a:t>
            </a:r>
          </a:p>
        </p:txBody>
      </p:sp>
      <p:sp>
        <p:nvSpPr>
          <p:cNvPr id="16" name="">
            <a:extLst xmlns:a="http://schemas.openxmlformats.org/drawingml/2006/main">
              <a:ext uri="{FF2B5EF4-FFF2-40B4-BE49-F238E27FC236}">
                <a16:creationId xmlns:a16="http://schemas.microsoft.com/office/drawing/2014/main" id="{D862C070-5552-4235-8AEF-AFAF2294EAAF}"/>
              </a:ext>
            </a:extLst>
          </p:cNvPr>
          <p:cNvSpPr>
            <a:spLocks xmlns:a="http://schemas.openxmlformats.org/drawingml/2006/main" noGrp="1"/>
          </p:cNvSpPr>
          <p:nvPr/>
        </p:nvSpPr>
        <p:spPr>
          <a:xfrm xmlns:a="http://schemas.openxmlformats.org/drawingml/2006/main">
            <a:off x="3924300" y="3028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41.45%</a:t>
            </a:r>
          </a:p>
        </p:txBody>
      </p:sp>
      <p:sp>
        <p:nvSpPr>
          <p:cNvPr id="17" name="">
            <a:extLst xmlns:a="http://schemas.openxmlformats.org/drawingml/2006/main">
              <a:ext uri="{FF2B5EF4-FFF2-40B4-BE49-F238E27FC236}">
                <a16:creationId xmlns:a16="http://schemas.microsoft.com/office/drawing/2014/main" id="{0813D1D3-0F66-45E5-8C0A-30318E42AA11}"/>
              </a:ext>
            </a:extLst>
          </p:cNvPr>
          <p:cNvSpPr>
            <a:spLocks xmlns:a="http://schemas.openxmlformats.org/drawingml/2006/main" noGrp="1"/>
          </p:cNvSpPr>
          <p:nvPr/>
        </p:nvSpPr>
        <p:spPr>
          <a:xfrm xmlns:a="http://schemas.openxmlformats.org/drawingml/2006/main">
            <a:off x="7734300" y="302895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12.53%</a:t>
            </a:r>
          </a:p>
        </p:txBody>
      </p:sp>
      <p:sp>
        <p:nvSpPr>
          <p:cNvPr id="18" name="">
            <a:extLst xmlns:a="http://schemas.openxmlformats.org/drawingml/2006/main">
              <a:ext uri="{FF2B5EF4-FFF2-40B4-BE49-F238E27FC236}">
                <a16:creationId xmlns:a16="http://schemas.microsoft.com/office/drawing/2014/main" id="{A83137AB-E699-4E31-8019-FB6EB06401E0}"/>
              </a:ext>
            </a:extLst>
          </p:cNvPr>
          <p:cNvSpPr>
            <a:spLocks xmlns:a="http://schemas.openxmlformats.org/drawingml/2006/main" noGrp="1"/>
          </p:cNvSpPr>
          <p:nvPr/>
        </p:nvSpPr>
        <p:spPr>
          <a:xfrm xmlns:a="http://schemas.openxmlformats.org/drawingml/2006/main">
            <a:off x="609600" y="3705225"/>
            <a:ext cx="109728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7E1E8"/>
            </a:solidFill>
            <a:prstDash val="solid"/>
          </a:ln>
        </p:spPr>
      </p:sp>
      <p:sp>
        <p:nvSpPr>
          <p:cNvPr id="19" name="">
            <a:extLst xmlns:a="http://schemas.openxmlformats.org/drawingml/2006/main">
              <a:ext uri="{FF2B5EF4-FFF2-40B4-BE49-F238E27FC236}">
                <a16:creationId xmlns:a16="http://schemas.microsoft.com/office/drawing/2014/main" id="{45A61317-09A3-47E7-951E-6419E886F4C9}"/>
              </a:ext>
            </a:extLst>
          </p:cNvPr>
          <p:cNvSpPr>
            <a:spLocks xmlns:a="http://schemas.openxmlformats.org/drawingml/2006/main" noGrp="1"/>
          </p:cNvSpPr>
          <p:nvPr/>
        </p:nvSpPr>
        <p:spPr>
          <a:xfrm xmlns:a="http://schemas.openxmlformats.org/drawingml/2006/main">
            <a:off x="800100" y="370522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Full shapes · 18 actions</a:t>
            </a:r>
          </a:p>
        </p:txBody>
      </p:sp>
      <p:sp>
        <p:nvSpPr>
          <p:cNvPr id="20" name="">
            <a:extLst xmlns:a="http://schemas.openxmlformats.org/drawingml/2006/main">
              <a:ext uri="{FF2B5EF4-FFF2-40B4-BE49-F238E27FC236}">
                <a16:creationId xmlns:a16="http://schemas.microsoft.com/office/drawing/2014/main" id="{A4AD56CC-05A8-4EAE-83AB-B5BA25273EF1}"/>
              </a:ext>
            </a:extLst>
          </p:cNvPr>
          <p:cNvSpPr>
            <a:spLocks xmlns:a="http://schemas.openxmlformats.org/drawingml/2006/main" noGrp="1"/>
          </p:cNvSpPr>
          <p:nvPr/>
        </p:nvSpPr>
        <p:spPr>
          <a:xfrm xmlns:a="http://schemas.openxmlformats.org/drawingml/2006/main">
            <a:off x="3924300" y="370522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35.18%</a:t>
            </a:r>
          </a:p>
        </p:txBody>
      </p:sp>
      <p:sp>
        <p:nvSpPr>
          <p:cNvPr id="21" name="">
            <a:extLst xmlns:a="http://schemas.openxmlformats.org/drawingml/2006/main">
              <a:ext uri="{FF2B5EF4-FFF2-40B4-BE49-F238E27FC236}">
                <a16:creationId xmlns:a16="http://schemas.microsoft.com/office/drawing/2014/main" id="{A60354AD-8E80-482D-81E3-EA11AF388826}"/>
              </a:ext>
            </a:extLst>
          </p:cNvPr>
          <p:cNvSpPr>
            <a:spLocks xmlns:a="http://schemas.openxmlformats.org/drawingml/2006/main" noGrp="1"/>
          </p:cNvSpPr>
          <p:nvPr/>
        </p:nvSpPr>
        <p:spPr>
          <a:xfrm xmlns:a="http://schemas.openxmlformats.org/drawingml/2006/main">
            <a:off x="7734300" y="370522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7.87%</a:t>
            </a:r>
          </a:p>
        </p:txBody>
      </p:sp>
      <p:sp>
        <p:nvSpPr>
          <p:cNvPr id="22" name="">
            <a:extLst xmlns:a="http://schemas.openxmlformats.org/drawingml/2006/main">
              <a:ext uri="{FF2B5EF4-FFF2-40B4-BE49-F238E27FC236}">
                <a16:creationId xmlns:a16="http://schemas.microsoft.com/office/drawing/2014/main" id="{CB9B5BE3-21C3-43FA-BA9C-6EAA0439C643}"/>
              </a:ext>
            </a:extLst>
          </p:cNvPr>
          <p:cNvSpPr>
            <a:spLocks xmlns:a="http://schemas.openxmlformats.org/drawingml/2006/main" noGrp="1"/>
          </p:cNvSpPr>
          <p:nvPr/>
        </p:nvSpPr>
        <p:spPr>
          <a:xfrm xmlns:a="http://schemas.openxmlformats.org/drawingml/2006/main">
            <a:off x="800100" y="438150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Full shapes · incl. “none”</a:t>
            </a:r>
          </a:p>
        </p:txBody>
      </p:sp>
      <p:sp>
        <p:nvSpPr>
          <p:cNvPr id="23" name="">
            <a:extLst xmlns:a="http://schemas.openxmlformats.org/drawingml/2006/main">
              <a:ext uri="{FF2B5EF4-FFF2-40B4-BE49-F238E27FC236}">
                <a16:creationId xmlns:a16="http://schemas.microsoft.com/office/drawing/2014/main" id="{FC364702-024A-468A-8B61-6600B51AFC5B}"/>
              </a:ext>
            </a:extLst>
          </p:cNvPr>
          <p:cNvSpPr>
            <a:spLocks xmlns:a="http://schemas.openxmlformats.org/drawingml/2006/main" noGrp="1"/>
          </p:cNvSpPr>
          <p:nvPr/>
        </p:nvSpPr>
        <p:spPr>
          <a:xfrm xmlns:a="http://schemas.openxmlformats.org/drawingml/2006/main">
            <a:off x="3924300" y="438150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36.18%</a:t>
            </a:r>
          </a:p>
        </p:txBody>
      </p:sp>
      <p:sp>
        <p:nvSpPr>
          <p:cNvPr id="24" name="">
            <a:extLst xmlns:a="http://schemas.openxmlformats.org/drawingml/2006/main">
              <a:ext uri="{FF2B5EF4-FFF2-40B4-BE49-F238E27FC236}">
                <a16:creationId xmlns:a16="http://schemas.microsoft.com/office/drawing/2014/main" id="{10849C85-A0CF-4E02-8CA8-3446C8187E0C}"/>
              </a:ext>
            </a:extLst>
          </p:cNvPr>
          <p:cNvSpPr>
            <a:spLocks xmlns:a="http://schemas.openxmlformats.org/drawingml/2006/main" noGrp="1"/>
          </p:cNvSpPr>
          <p:nvPr/>
        </p:nvSpPr>
        <p:spPr>
          <a:xfrm xmlns:a="http://schemas.openxmlformats.org/drawingml/2006/main">
            <a:off x="7734300" y="438150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9.76%</a:t>
            </a:r>
          </a:p>
        </p:txBody>
      </p:sp>
      <p:sp>
        <p:nvSpPr>
          <p:cNvPr id="25" name="">
            <a:extLst xmlns:a="http://schemas.openxmlformats.org/drawingml/2006/main">
              <a:ext uri="{FF2B5EF4-FFF2-40B4-BE49-F238E27FC236}">
                <a16:creationId xmlns:a16="http://schemas.microsoft.com/office/drawing/2014/main" id="{6619ACB1-5598-4723-95F5-274E5069B051}"/>
              </a:ext>
            </a:extLst>
          </p:cNvPr>
          <p:cNvSpPr>
            <a:spLocks xmlns:a="http://schemas.openxmlformats.org/drawingml/2006/main" noGrp="1"/>
          </p:cNvSpPr>
          <p:nvPr/>
        </p:nvSpPr>
        <p:spPr>
          <a:xfrm xmlns:a="http://schemas.openxmlformats.org/drawingml/2006/main">
            <a:off x="609600" y="527685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¹ IoU measures overlap between predicted points and the labeled part. Higher is better.</a:t>
            </a:r>
          </a:p>
        </p:txBody>
      </p:sp>
      <p:sp>
        <p:nvSpPr>
          <p:cNvPr id="26" name="">
            <a:extLst xmlns:a="http://schemas.openxmlformats.org/drawingml/2006/main">
              <a:ext uri="{FF2B5EF4-FFF2-40B4-BE49-F238E27FC236}">
                <a16:creationId xmlns:a16="http://schemas.microsoft.com/office/drawing/2014/main" id="{91FD1DC7-82A5-43AE-AF72-A8A3830CCECA}"/>
              </a:ext>
            </a:extLst>
          </p:cNvPr>
          <p:cNvSpPr>
            <a:spLocks xmlns:a="http://schemas.openxmlformats.org/drawingml/2006/main" noGrp="1"/>
          </p:cNvSpPr>
          <p:nvPr/>
        </p:nvSpPr>
        <p:spPr>
          <a:xfrm xmlns:a="http://schemas.openxmlformats.org/drawingml/2006/main">
            <a:off x="609600" y="56769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72B3A"/>
                </a:solidFill>
                <a:latin typeface="Avenir"/>
                <a:ea typeface="Avenir"/>
                <a:cs typeface="Avenir"/>
              </a:defRPr>
            </a:defPPr>
          </a:lstStyle>
          <a:p xmlns:a="http://schemas.openxmlformats.org/drawingml/2006/main">
            <a:pPr algn="l">
              <a:defRPr sz="1350" b="1">
                <a:solidFill>
                  <a:srgbClr val="172B3A"/>
                </a:solidFill>
                <a:latin typeface="Avenir"/>
                <a:ea typeface="Avenir"/>
                <a:cs typeface="Avenir"/>
              </a:defRPr>
            </a:pPr>
            <a:r>
              <a:rPr sz="1350" b="1">
                <a:solidFill>
                  <a:srgbClr val="172B3A"/>
                </a:solidFill>
                <a:latin typeface="Avenir"/>
                <a:ea typeface="Avenir"/>
                <a:cs typeface="Avenir"/>
              </a:rPr>
              <a:t>The model scored lower with held-out query names. This shows wording sensitivity, not new-concept generalization.</a:t>
            </a:r>
          </a:p>
        </p:txBody>
      </p:sp>
    </p:spTree>
    <p:extLst>
      <p:ext uri="{BB962C8B-B14F-4D97-AF65-F5344CB8AC3E}">
        <p14:creationId xmlns:p14="http://schemas.microsoft.com/office/powerpoint/2010/main" val="109212850"/>
      </p:ext>
    </p:extLst>
  </p:cSld>
</p:sld>
</file>

<file path=ppt/slides/slide5.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050CBBB-0F59-4173-80CA-73F659F4AE93}"/>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66042CBF-2875-4288-8058-BAB9BD85A72C}"/>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I found a clear failure on one partial vase</a:t>
            </a:r>
          </a:p>
        </p:txBody>
      </p:sp>
      <p:sp>
        <p:nvSpPr>
          <p:cNvPr id="3" name="">
            <a:extLst xmlns:a="http://schemas.openxmlformats.org/drawingml/2006/main">
              <a:ext uri="{FF2B5EF4-FFF2-40B4-BE49-F238E27FC236}">
                <a16:creationId xmlns:a16="http://schemas.microsoft.com/office/drawing/2014/main" id="{AAB59AC3-0649-47FC-8751-BF68C7D53BBE}"/>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20178DB-73DE-46E4-B99F-98A961B8657D}"/>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05 / 10</a:t>
            </a:r>
          </a:p>
        </p:txBody>
      </p:sp>
      <p:pic>
        <p:nvPicPr>
          <p:cNvPr id="5" name="">
            <a:extLst xmlns:a="http://schemas.openxmlformats.org/drawingml/2006/main">
              <a:ext uri="{FF2B5EF4-FFF2-40B4-BE49-F238E27FC236}">
                <a16:creationId xmlns:a16="http://schemas.microsoft.com/office/drawing/2014/main" id="{CE8A39E7-FFEE-4BA3-9D5E-DBE49392696C}"/>
              </a:ext>
            </a:extLst>
          </p:cNvPr>
          <p:cNvPicPr>
            <a:picLocks xmlns:a="http://schemas.openxmlformats.org/drawingml/2006/main" noChangeAspect="1"/>
          </p:cNvPicPr>
          <p:nvPr/>
        </p:nvPicPr>
        <p:blipFill>
          <a:blip xmlns:r="http://schemas.openxmlformats.org/officeDocument/2006/relationships" xmlns:a="http://schemas.openxmlformats.org/drawingml/2006/main" r:embed="R8e610027affb4b97"/>
          <a:stretch xmlns:a="http://schemas.openxmlformats.org/drawingml/2006/main"/>
        </p:blipFill>
        <p:spPr>
          <a:xfrm xmlns:a="http://schemas.openxmlformats.org/drawingml/2006/main">
            <a:off x="609600" y="1802000"/>
            <a:ext cx="7239000" cy="24729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B4ADA53-7B7B-4384-AE7D-742B02A40C10}"/>
              </a:ext>
            </a:extLst>
          </p:cNvPr>
          <p:cNvSpPr>
            <a:spLocks xmlns:a="http://schemas.openxmlformats.org/drawingml/2006/main" noGrp="1"/>
          </p:cNvSpPr>
          <p:nvPr/>
        </p:nvSpPr>
        <p:spPr>
          <a:xfrm xmlns:a="http://schemas.openxmlformats.org/drawingml/2006/main">
            <a:off x="8172450" y="1676400"/>
            <a:ext cx="3409950" cy="2914650"/>
          </a:xfrm>
          <a:prstGeom xmlns:a="http://schemas.openxmlformats.org/drawingml/2006/main" prst="roundRect">
            <a:avLst>
              <a:gd name="adj" fmla="val 2614"/>
            </a:avLst>
          </a:prstGeom>
          <a:solidFill xmlns:a="http://schemas.openxmlformats.org/drawingml/2006/main">
            <a:srgbClr val="FFFFFF"/>
          </a:solidFill>
          <a:ln xmlns:a="http://schemas.openxmlformats.org/drawingml/2006/main" w="9525">
            <a:solidFill>
              <a:srgbClr val="D7E1E8"/>
            </a:solidFill>
            <a:prstDash val="solid"/>
          </a:ln>
        </p:spPr>
      </p:sp>
      <p:sp>
        <p:nvSpPr>
          <p:cNvPr id="7" name="">
            <a:extLst xmlns:a="http://schemas.openxmlformats.org/drawingml/2006/main">
              <a:ext uri="{FF2B5EF4-FFF2-40B4-BE49-F238E27FC236}">
                <a16:creationId xmlns:a16="http://schemas.microsoft.com/office/drawing/2014/main" id="{0D68AD05-0FF1-4ECA-844E-5EC8F150EEB9}"/>
              </a:ext>
            </a:extLst>
          </p:cNvPr>
          <p:cNvSpPr>
            <a:spLocks xmlns:a="http://schemas.openxmlformats.org/drawingml/2006/main" noGrp="1"/>
          </p:cNvSpPr>
          <p:nvPr/>
        </p:nvSpPr>
        <p:spPr>
          <a:xfrm xmlns:a="http://schemas.openxmlformats.org/drawingml/2006/main">
            <a:off x="8420100" y="18669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Object: vase · Query: “pour”</a:t>
            </a:r>
          </a:p>
        </p:txBody>
      </p:sp>
      <p:sp>
        <p:nvSpPr>
          <p:cNvPr id="8" name="">
            <a:extLst xmlns:a="http://schemas.openxmlformats.org/drawingml/2006/main">
              <a:ext uri="{FF2B5EF4-FFF2-40B4-BE49-F238E27FC236}">
                <a16:creationId xmlns:a16="http://schemas.microsoft.com/office/drawing/2014/main" id="{C18248E8-FCD9-4220-A4E5-4E7E2CA7A626}"/>
              </a:ext>
            </a:extLst>
          </p:cNvPr>
          <p:cNvSpPr>
            <a:spLocks xmlns:a="http://schemas.openxmlformats.org/drawingml/2006/main" noGrp="1"/>
          </p:cNvSpPr>
          <p:nvPr/>
        </p:nvSpPr>
        <p:spPr>
          <a:xfrm xmlns:a="http://schemas.openxmlformats.org/drawingml/2006/main">
            <a:off x="8420100" y="2400300"/>
            <a:ext cx="1333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225" b="1">
                <a:solidFill>
                  <a:srgbClr val="C94747"/>
                </a:solidFill>
                <a:latin typeface="Avenir"/>
                <a:ea typeface="Avenir"/>
                <a:cs typeface="Avenir"/>
              </a:defRPr>
            </a:defPPr>
          </a:lstStyle>
          <a:p xmlns:a="http://schemas.openxmlformats.org/drawingml/2006/main">
            <a:pPr algn="l">
              <a:defRPr sz="3225" b="1">
                <a:solidFill>
                  <a:srgbClr val="C94747"/>
                </a:solidFill>
                <a:latin typeface="Avenir"/>
                <a:ea typeface="Avenir"/>
                <a:cs typeface="Avenir"/>
              </a:defRPr>
            </a:pPr>
            <a:r>
              <a:rPr sz="3225" b="1">
                <a:solidFill>
                  <a:srgbClr val="C94747"/>
                </a:solidFill>
                <a:latin typeface="Avenir"/>
                <a:ea typeface="Avenir"/>
                <a:cs typeface="Avenir"/>
              </a:rPr>
              <a:t>563</a:t>
            </a:r>
          </a:p>
        </p:txBody>
      </p:sp>
      <p:sp>
        <p:nvSpPr>
          <p:cNvPr id="9" name="">
            <a:extLst xmlns:a="http://schemas.openxmlformats.org/drawingml/2006/main">
              <a:ext uri="{FF2B5EF4-FFF2-40B4-BE49-F238E27FC236}">
                <a16:creationId xmlns:a16="http://schemas.microsoft.com/office/drawing/2014/main" id="{9EFEB25C-2CCB-497D-B612-44E8E6A9358B}"/>
              </a:ext>
            </a:extLst>
          </p:cNvPr>
          <p:cNvSpPr>
            <a:spLocks xmlns:a="http://schemas.openxmlformats.org/drawingml/2006/main" noGrp="1"/>
          </p:cNvSpPr>
          <p:nvPr/>
        </p:nvSpPr>
        <p:spPr>
          <a:xfrm xmlns:a="http://schemas.openxmlformats.org/drawingml/2006/main">
            <a:off x="8420100" y="2952750"/>
            <a:ext cx="2714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points marked “pour” in the labels</a:t>
            </a:r>
          </a:p>
        </p:txBody>
      </p:sp>
      <p:sp>
        <p:nvSpPr>
          <p:cNvPr id="10" name="">
            <a:extLst xmlns:a="http://schemas.openxmlformats.org/drawingml/2006/main">
              <a:ext uri="{FF2B5EF4-FFF2-40B4-BE49-F238E27FC236}">
                <a16:creationId xmlns:a16="http://schemas.microsoft.com/office/drawing/2014/main" id="{F45F2E52-6FCF-46D2-8246-936A784E1B5D}"/>
              </a:ext>
            </a:extLst>
          </p:cNvPr>
          <p:cNvSpPr>
            <a:spLocks xmlns:a="http://schemas.openxmlformats.org/drawingml/2006/main" noGrp="1"/>
          </p:cNvSpPr>
          <p:nvPr/>
        </p:nvSpPr>
        <p:spPr>
          <a:xfrm xmlns:a="http://schemas.openxmlformats.org/drawingml/2006/main">
            <a:off x="8420100" y="3476625"/>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102A43"/>
                </a:solidFill>
                <a:latin typeface="Avenir"/>
                <a:ea typeface="Avenir"/>
                <a:cs typeface="Avenir"/>
              </a:defRPr>
            </a:defPPr>
          </a:lstStyle>
          <a:p xmlns:a="http://schemas.openxmlformats.org/drawingml/2006/main">
            <a:pPr algn="l">
              <a:defRPr sz="2100" b="1">
                <a:solidFill>
                  <a:srgbClr val="102A43"/>
                </a:solidFill>
                <a:latin typeface="Avenir"/>
                <a:ea typeface="Avenir"/>
                <a:cs typeface="Avenir"/>
              </a:defRPr>
            </a:pPr>
            <a:r>
              <a:rPr sz="2100" b="1">
                <a:solidFill>
                  <a:srgbClr val="102A43"/>
                </a:solidFill>
                <a:latin typeface="Avenir"/>
                <a:ea typeface="Avenir"/>
                <a:cs typeface="Avenir"/>
              </a:rPr>
              <a:t>0 of 563</a:t>
            </a:r>
          </a:p>
        </p:txBody>
      </p:sp>
      <p:sp>
        <p:nvSpPr>
          <p:cNvPr id="11" name="">
            <a:extLst xmlns:a="http://schemas.openxmlformats.org/drawingml/2006/main">
              <a:ext uri="{FF2B5EF4-FFF2-40B4-BE49-F238E27FC236}">
                <a16:creationId xmlns:a16="http://schemas.microsoft.com/office/drawing/2014/main" id="{746196BF-0B23-4F54-905D-AA60253804BC}"/>
              </a:ext>
            </a:extLst>
          </p:cNvPr>
          <p:cNvSpPr>
            <a:spLocks xmlns:a="http://schemas.openxmlformats.org/drawingml/2006/main" noGrp="1"/>
          </p:cNvSpPr>
          <p:nvPr/>
        </p:nvSpPr>
        <p:spPr>
          <a:xfrm xmlns:a="http://schemas.openxmlformats.org/drawingml/2006/main">
            <a:off x="8420100" y="3886200"/>
            <a:ext cx="2809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target points predicted correctly</a:t>
            </a:r>
          </a:p>
        </p:txBody>
      </p:sp>
      <p:sp>
        <p:nvSpPr>
          <p:cNvPr id="12" name="">
            <a:extLst xmlns:a="http://schemas.openxmlformats.org/drawingml/2006/main">
              <a:ext uri="{FF2B5EF4-FFF2-40B4-BE49-F238E27FC236}">
                <a16:creationId xmlns:a16="http://schemas.microsoft.com/office/drawing/2014/main" id="{66418A56-C280-409C-B30A-BDF238F5233E}"/>
              </a:ext>
            </a:extLst>
          </p:cNvPr>
          <p:cNvSpPr>
            <a:spLocks xmlns:a="http://schemas.openxmlformats.org/drawingml/2006/main" noGrp="1"/>
          </p:cNvSpPr>
          <p:nvPr/>
        </p:nvSpPr>
        <p:spPr>
          <a:xfrm xmlns:a="http://schemas.openxmlformats.org/drawingml/2006/main">
            <a:off x="609600" y="48768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72B3A"/>
                </a:solidFill>
                <a:latin typeface="Avenir"/>
                <a:ea typeface="Avenir"/>
                <a:cs typeface="Avenir"/>
              </a:defRPr>
            </a:defPPr>
          </a:lstStyle>
          <a:p xmlns:a="http://schemas.openxmlformats.org/drawingml/2006/main">
            <a:pPr algn="l">
              <a:defRPr sz="1500" b="1">
                <a:solidFill>
                  <a:srgbClr val="172B3A"/>
                </a:solidFill>
                <a:latin typeface="Avenir"/>
                <a:ea typeface="Avenir"/>
                <a:cs typeface="Avenir"/>
              </a:defRPr>
            </a:pPr>
            <a:r>
              <a:rPr sz="1500" b="1">
                <a:solidFill>
                  <a:srgbClr val="172B3A"/>
                </a:solidFill>
                <a:latin typeface="Avenir"/>
                <a:ea typeface="Avenir"/>
                <a:cs typeface="Avenir"/>
              </a:rPr>
              <a:t>On those target points: pour score 0.058; none score 0.644.</a:t>
            </a:r>
          </a:p>
        </p:txBody>
      </p:sp>
      <p:sp>
        <p:nvSpPr>
          <p:cNvPr id="13" name="">
            <a:extLst xmlns:a="http://schemas.openxmlformats.org/drawingml/2006/main">
              <a:ext uri="{FF2B5EF4-FFF2-40B4-BE49-F238E27FC236}">
                <a16:creationId xmlns:a16="http://schemas.microsoft.com/office/drawing/2014/main" id="{4BE424BC-1224-49F4-8481-CD5ED10BD19B}"/>
              </a:ext>
            </a:extLst>
          </p:cNvPr>
          <p:cNvSpPr>
            <a:spLocks xmlns:a="http://schemas.openxmlformats.org/drawingml/2006/main" noGrp="1"/>
          </p:cNvSpPr>
          <p:nvPr/>
        </p:nvSpPr>
        <p:spPr>
          <a:xfrm xmlns:a="http://schemas.openxmlformats.org/drawingml/2006/main">
            <a:off x="609600" y="5391150"/>
            <a:ext cx="314325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4" name="">
            <a:extLst xmlns:a="http://schemas.openxmlformats.org/drawingml/2006/main">
              <a:ext uri="{FF2B5EF4-FFF2-40B4-BE49-F238E27FC236}">
                <a16:creationId xmlns:a16="http://schemas.microsoft.com/office/drawing/2014/main" id="{A7FB447B-8760-4959-9965-C9AACB1080C5}"/>
              </a:ext>
            </a:extLst>
          </p:cNvPr>
          <p:cNvSpPr>
            <a:spLocks xmlns:a="http://schemas.openxmlformats.org/drawingml/2006/main" noGrp="1"/>
          </p:cNvSpPr>
          <p:nvPr/>
        </p:nvSpPr>
        <p:spPr>
          <a:xfrm xmlns:a="http://schemas.openxmlformats.org/drawingml/2006/main">
            <a:off x="676275" y="5391150"/>
            <a:ext cx="3009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ONE EXAMPLE — NOT AN AVERAGE</a:t>
            </a:r>
          </a:p>
        </p:txBody>
      </p:sp>
    </p:spTree>
    <p:extLst>
      <p:ext uri="{BB962C8B-B14F-4D97-AF65-F5344CB8AC3E}">
        <p14:creationId xmlns:p14="http://schemas.microsoft.com/office/powerpoint/2010/main" val="1226350937"/>
      </p:ext>
    </p:extLst>
  </p:cSld>
</p:sld>
</file>

<file path=ppt/slides/slide6.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5C7D543-0FB6-4FB3-B4B3-E636AF306EFF}"/>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F4BBB556-A3A8-4BC1-B5A3-537B32C70E1B}"/>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One paraphrase helped “unlock”; it did not help every query</a:t>
            </a:r>
          </a:p>
        </p:txBody>
      </p:sp>
      <p:sp>
        <p:nvSpPr>
          <p:cNvPr id="3" name="">
            <a:extLst xmlns:a="http://schemas.openxmlformats.org/drawingml/2006/main">
              <a:ext uri="{FF2B5EF4-FFF2-40B4-BE49-F238E27FC236}">
                <a16:creationId xmlns:a16="http://schemas.microsoft.com/office/drawing/2014/main" id="{3C5A9894-E288-4744-9209-11D1B763DD7E}"/>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81D07B8-7706-442F-B9F1-702D7D7AEB5A}"/>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06 / 10</a:t>
            </a:r>
          </a:p>
        </p:txBody>
      </p:sp>
      <p:sp>
        <p:nvSpPr>
          <p:cNvPr id="5" name="">
            <a:extLst xmlns:a="http://schemas.openxmlformats.org/drawingml/2006/main">
              <a:ext uri="{FF2B5EF4-FFF2-40B4-BE49-F238E27FC236}">
                <a16:creationId xmlns:a16="http://schemas.microsoft.com/office/drawing/2014/main" id="{D1C8EECC-5DE6-44F7-957E-B739D4731446}"/>
              </a:ext>
            </a:extLst>
          </p:cNvPr>
          <p:cNvSpPr>
            <a:spLocks xmlns:a="http://schemas.openxmlformats.org/drawingml/2006/main" noGrp="1"/>
          </p:cNvSpPr>
          <p:nvPr/>
        </p:nvSpPr>
        <p:spPr>
          <a:xfrm xmlns:a="http://schemas.openxmlformats.org/drawingml/2006/main">
            <a:off x="609600" y="1657350"/>
            <a:ext cx="5238750" cy="3371850"/>
          </a:xfrm>
          <a:prstGeom xmlns:a="http://schemas.openxmlformats.org/drawingml/2006/main" prst="roundRect">
            <a:avLst>
              <a:gd name="adj" fmla="val 2260"/>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DB710D15-CDC7-41D1-A9F8-2348F63DCFD5}"/>
              </a:ext>
            </a:extLst>
          </p:cNvPr>
          <p:cNvSpPr>
            <a:spLocks xmlns:a="http://schemas.openxmlformats.org/drawingml/2006/main" noGrp="1"/>
          </p:cNvSpPr>
          <p:nvPr/>
        </p:nvSpPr>
        <p:spPr>
          <a:xfrm xmlns:a="http://schemas.openxmlformats.org/drawingml/2006/main">
            <a:off x="857250" y="1866900"/>
            <a:ext cx="476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167DAD"/>
                </a:solidFill>
                <a:latin typeface="Avenir"/>
                <a:ea typeface="Avenir"/>
                <a:cs typeface="Avenir"/>
              </a:defRPr>
            </a:defPPr>
          </a:lstStyle>
          <a:p xmlns:a="http://schemas.openxmlformats.org/drawingml/2006/main">
            <a:pPr algn="l">
              <a:defRPr sz="1125" b="1">
                <a:solidFill>
                  <a:srgbClr val="167DAD"/>
                </a:solidFill>
                <a:latin typeface="Avenir"/>
                <a:ea typeface="Avenir"/>
                <a:cs typeface="Avenir"/>
              </a:defRPr>
            </a:pPr>
            <a:r>
              <a:rPr sz="1125" b="1">
                <a:solidFill>
                  <a:srgbClr val="167DAD"/>
                </a:solidFill>
                <a:latin typeface="Avenir"/>
                <a:ea typeface="Avenir"/>
                <a:cs typeface="Avenir"/>
              </a:rPr>
              <a:t>OPENAD PROMPT-TRANSFER PILOT · 1,941 OBJECTS</a:t>
            </a:r>
          </a:p>
        </p:txBody>
      </p:sp>
      <p:sp>
        <p:nvSpPr>
          <p:cNvPr id="7" name="">
            <a:extLst xmlns:a="http://schemas.openxmlformats.org/drawingml/2006/main">
              <a:ext uri="{FF2B5EF4-FFF2-40B4-BE49-F238E27FC236}">
                <a16:creationId xmlns:a16="http://schemas.microsoft.com/office/drawing/2014/main" id="{ADB9BBD1-1292-4CAD-BABC-68F7A9AE7FF4}"/>
              </a:ext>
            </a:extLst>
          </p:cNvPr>
          <p:cNvSpPr>
            <a:spLocks xmlns:a="http://schemas.openxmlformats.org/drawingml/2006/main" noGrp="1"/>
          </p:cNvSpPr>
          <p:nvPr/>
        </p:nvSpPr>
        <p:spPr>
          <a:xfrm xmlns:a="http://schemas.openxmlformats.org/drawingml/2006/main">
            <a:off x="857250" y="22860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“unlock” point-wise IoU</a:t>
            </a:r>
          </a:p>
        </p:txBody>
      </p:sp>
      <p:sp>
        <p:nvSpPr>
          <p:cNvPr id="8" name="">
            <a:extLst xmlns:a="http://schemas.openxmlformats.org/drawingml/2006/main">
              <a:ext uri="{FF2B5EF4-FFF2-40B4-BE49-F238E27FC236}">
                <a16:creationId xmlns:a16="http://schemas.microsoft.com/office/drawing/2014/main" id="{567F080B-E99A-41EC-9EF2-B4F25CC84EE5}"/>
              </a:ext>
            </a:extLst>
          </p:cNvPr>
          <p:cNvSpPr>
            <a:spLocks xmlns:a="http://schemas.openxmlformats.org/drawingml/2006/main" noGrp="1"/>
          </p:cNvSpPr>
          <p:nvPr/>
        </p:nvSpPr>
        <p:spPr>
          <a:xfrm xmlns:a="http://schemas.openxmlformats.org/drawingml/2006/main">
            <a:off x="857250" y="2857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Original sentence</a:t>
            </a:r>
          </a:p>
        </p:txBody>
      </p:sp>
      <p:sp>
        <p:nvSpPr>
          <p:cNvPr id="9" name="">
            <a:extLst xmlns:a="http://schemas.openxmlformats.org/drawingml/2006/main">
              <a:ext uri="{FF2B5EF4-FFF2-40B4-BE49-F238E27FC236}">
                <a16:creationId xmlns:a16="http://schemas.microsoft.com/office/drawing/2014/main" id="{9D14D526-C1E4-4502-9300-81BE5146E41F}"/>
              </a:ext>
            </a:extLst>
          </p:cNvPr>
          <p:cNvSpPr>
            <a:spLocks xmlns:a="http://schemas.openxmlformats.org/drawingml/2006/main" noGrp="1"/>
          </p:cNvSpPr>
          <p:nvPr/>
        </p:nvSpPr>
        <p:spPr>
          <a:xfrm xmlns:a="http://schemas.openxmlformats.org/drawingml/2006/main">
            <a:off x="2762250" y="2867025"/>
            <a:ext cx="11487" cy="209550"/>
          </a:xfrm>
          <a:prstGeom xmlns:a="http://schemas.openxmlformats.org/drawingml/2006/main" prst="roundRect">
            <a:avLst>
              <a:gd name="adj" fmla="val 50000"/>
            </a:avLst>
          </a:prstGeom>
          <a:solidFill xmlns:a="http://schemas.openxmlformats.org/drawingml/2006/main">
            <a:srgbClr val="52677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F0EB8B6-534B-444C-90CD-2C712E66BFEA}"/>
              </a:ext>
            </a:extLst>
          </p:cNvPr>
          <p:cNvSpPr>
            <a:spLocks xmlns:a="http://schemas.openxmlformats.org/drawingml/2006/main" noGrp="1"/>
          </p:cNvSpPr>
          <p:nvPr/>
        </p:nvSpPr>
        <p:spPr>
          <a:xfrm xmlns:a="http://schemas.openxmlformats.org/drawingml/2006/main">
            <a:off x="4476750" y="28479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0.09%</a:t>
            </a:r>
          </a:p>
        </p:txBody>
      </p:sp>
      <p:sp>
        <p:nvSpPr>
          <p:cNvPr id="11" name="">
            <a:extLst xmlns:a="http://schemas.openxmlformats.org/drawingml/2006/main">
              <a:ext uri="{FF2B5EF4-FFF2-40B4-BE49-F238E27FC236}">
                <a16:creationId xmlns:a16="http://schemas.microsoft.com/office/drawing/2014/main" id="{E05AF4F0-8D36-4070-B438-9A38E705A531}"/>
              </a:ext>
            </a:extLst>
          </p:cNvPr>
          <p:cNvSpPr>
            <a:spLocks xmlns:a="http://schemas.openxmlformats.org/drawingml/2006/main" noGrp="1"/>
          </p:cNvSpPr>
          <p:nvPr/>
        </p:nvSpPr>
        <p:spPr>
          <a:xfrm xmlns:a="http://schemas.openxmlformats.org/drawingml/2006/main">
            <a:off x="857250" y="344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Canonical word</a:t>
            </a:r>
          </a:p>
        </p:txBody>
      </p:sp>
      <p:sp>
        <p:nvSpPr>
          <p:cNvPr id="12" name="">
            <a:extLst xmlns:a="http://schemas.openxmlformats.org/drawingml/2006/main">
              <a:ext uri="{FF2B5EF4-FFF2-40B4-BE49-F238E27FC236}">
                <a16:creationId xmlns:a16="http://schemas.microsoft.com/office/drawing/2014/main" id="{BE5E19D0-654A-4901-9F74-106D18B1EFD3}"/>
              </a:ext>
            </a:extLst>
          </p:cNvPr>
          <p:cNvSpPr>
            <a:spLocks xmlns:a="http://schemas.openxmlformats.org/drawingml/2006/main" noGrp="1"/>
          </p:cNvSpPr>
          <p:nvPr/>
        </p:nvSpPr>
        <p:spPr>
          <a:xfrm xmlns:a="http://schemas.openxmlformats.org/drawingml/2006/main">
            <a:off x="2762250" y="3457575"/>
            <a:ext cx="470973" cy="209550"/>
          </a:xfrm>
          <a:prstGeom xmlns:a="http://schemas.openxmlformats.org/drawingml/2006/main" prst="roundRect">
            <a:avLst>
              <a:gd name="adj" fmla="val 36364"/>
            </a:avLst>
          </a:prstGeom>
          <a:solidFill xmlns:a="http://schemas.openxmlformats.org/drawingml/2006/main">
            <a:srgbClr val="F2B84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811D404-EB23-4120-935D-835B1FC1BBD1}"/>
              </a:ext>
            </a:extLst>
          </p:cNvPr>
          <p:cNvSpPr>
            <a:spLocks xmlns:a="http://schemas.openxmlformats.org/drawingml/2006/main" noGrp="1"/>
          </p:cNvSpPr>
          <p:nvPr/>
        </p:nvSpPr>
        <p:spPr>
          <a:xfrm xmlns:a="http://schemas.openxmlformats.org/drawingml/2006/main">
            <a:off x="4476750" y="343852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3.69%</a:t>
            </a:r>
          </a:p>
        </p:txBody>
      </p:sp>
      <p:sp>
        <p:nvSpPr>
          <p:cNvPr id="14" name="">
            <a:extLst xmlns:a="http://schemas.openxmlformats.org/drawingml/2006/main">
              <a:ext uri="{FF2B5EF4-FFF2-40B4-BE49-F238E27FC236}">
                <a16:creationId xmlns:a16="http://schemas.microsoft.com/office/drawing/2014/main" id="{E5CAC4E3-F1BC-4F35-ADFB-B7600EC07C8B}"/>
              </a:ext>
            </a:extLst>
          </p:cNvPr>
          <p:cNvSpPr>
            <a:spLocks xmlns:a="http://schemas.openxmlformats.org/drawingml/2006/main" noGrp="1"/>
          </p:cNvSpPr>
          <p:nvPr/>
        </p:nvSpPr>
        <p:spPr>
          <a:xfrm xmlns:a="http://schemas.openxmlformats.org/drawingml/2006/main">
            <a:off x="857250" y="40386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Preselected paraphrase</a:t>
            </a:r>
          </a:p>
        </p:txBody>
      </p:sp>
      <p:sp>
        <p:nvSpPr>
          <p:cNvPr id="15" name="">
            <a:extLst xmlns:a="http://schemas.openxmlformats.org/drawingml/2006/main">
              <a:ext uri="{FF2B5EF4-FFF2-40B4-BE49-F238E27FC236}">
                <a16:creationId xmlns:a16="http://schemas.microsoft.com/office/drawing/2014/main" id="{2B812864-959D-40B9-8747-0822784A8D98}"/>
              </a:ext>
            </a:extLst>
          </p:cNvPr>
          <p:cNvSpPr>
            <a:spLocks xmlns:a="http://schemas.openxmlformats.org/drawingml/2006/main" noGrp="1"/>
          </p:cNvSpPr>
          <p:nvPr/>
        </p:nvSpPr>
        <p:spPr>
          <a:xfrm xmlns:a="http://schemas.openxmlformats.org/drawingml/2006/main">
            <a:off x="2762250" y="4048125"/>
            <a:ext cx="1577569" cy="209550"/>
          </a:xfrm>
          <a:prstGeom xmlns:a="http://schemas.openxmlformats.org/drawingml/2006/main" prst="roundRect">
            <a:avLst>
              <a:gd name="adj" fmla="val 36364"/>
            </a:avLst>
          </a:prstGeom>
          <a:solidFill xmlns:a="http://schemas.openxmlformats.org/drawingml/2006/main">
            <a:srgbClr val="167DA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8268094-97CB-47A3-9080-1D6F82E8A3E5}"/>
              </a:ext>
            </a:extLst>
          </p:cNvPr>
          <p:cNvSpPr>
            <a:spLocks xmlns:a="http://schemas.openxmlformats.org/drawingml/2006/main" noGrp="1"/>
          </p:cNvSpPr>
          <p:nvPr/>
        </p:nvSpPr>
        <p:spPr>
          <a:xfrm xmlns:a="http://schemas.openxmlformats.org/drawingml/2006/main">
            <a:off x="4476750" y="40290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12.36%</a:t>
            </a:r>
          </a:p>
        </p:txBody>
      </p:sp>
      <p:sp>
        <p:nvSpPr>
          <p:cNvPr id="17" name="">
            <a:extLst xmlns:a="http://schemas.openxmlformats.org/drawingml/2006/main">
              <a:ext uri="{FF2B5EF4-FFF2-40B4-BE49-F238E27FC236}">
                <a16:creationId xmlns:a16="http://schemas.microsoft.com/office/drawing/2014/main" id="{D945ABF0-0BA8-400E-B72E-C584D111F79F}"/>
              </a:ext>
            </a:extLst>
          </p:cNvPr>
          <p:cNvSpPr>
            <a:spLocks xmlns:a="http://schemas.openxmlformats.org/drawingml/2006/main" noGrp="1"/>
          </p:cNvSpPr>
          <p:nvPr/>
        </p:nvSpPr>
        <p:spPr>
          <a:xfrm xmlns:a="http://schemas.openxmlformats.org/drawingml/2006/main">
            <a:off x="6134100" y="1657350"/>
            <a:ext cx="5448300" cy="3371850"/>
          </a:xfrm>
          <a:prstGeom xmlns:a="http://schemas.openxmlformats.org/drawingml/2006/main" prst="roundRect">
            <a:avLst>
              <a:gd name="adj" fmla="val 2260"/>
            </a:avLst>
          </a:prstGeom>
          <a:solidFill xmlns:a="http://schemas.openxmlformats.org/drawingml/2006/main">
            <a:srgbClr val="FFF4D9"/>
          </a:solidFill>
          <a:ln xmlns:a="http://schemas.openxmlformats.org/drawingml/2006/main" w="9525">
            <a:noFill/>
            <a:prstDash val="solid"/>
          </a:ln>
        </p:spPr>
      </p:sp>
      <p:sp>
        <p:nvSpPr>
          <p:cNvPr id="18" name="">
            <a:extLst xmlns:a="http://schemas.openxmlformats.org/drawingml/2006/main">
              <a:ext uri="{FF2B5EF4-FFF2-40B4-BE49-F238E27FC236}">
                <a16:creationId xmlns:a16="http://schemas.microsoft.com/office/drawing/2014/main" id="{F541B12E-635E-4F73-9E9B-640E579EDF0C}"/>
              </a:ext>
            </a:extLst>
          </p:cNvPr>
          <p:cNvSpPr>
            <a:spLocks xmlns:a="http://schemas.openxmlformats.org/drawingml/2006/main" noGrp="1"/>
          </p:cNvSpPr>
          <p:nvPr/>
        </p:nvSpPr>
        <p:spPr>
          <a:xfrm xmlns:a="http://schemas.openxmlformats.org/drawingml/2006/main">
            <a:off x="6419850" y="188595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02A43"/>
                </a:solidFill>
                <a:latin typeface="Avenir"/>
                <a:ea typeface="Avenir"/>
                <a:cs typeface="Avenir"/>
              </a:defRPr>
            </a:defPPr>
          </a:lstStyle>
          <a:p xmlns:a="http://schemas.openxmlformats.org/drawingml/2006/main">
            <a:pPr algn="l">
              <a:defRPr sz="1200" b="1">
                <a:solidFill>
                  <a:srgbClr val="102A43"/>
                </a:solidFill>
                <a:latin typeface="Avenir"/>
                <a:ea typeface="Avenir"/>
                <a:cs typeface="Avenir"/>
              </a:defRPr>
            </a:pPr>
            <a:r>
              <a:rPr sz="1200" b="1">
                <a:solidFill>
                  <a:srgbClr val="102A43"/>
                </a:solidFill>
                <a:latin typeface="Avenir"/>
                <a:ea typeface="Avenir"/>
                <a:cs typeface="Avenir"/>
              </a:rPr>
              <a:t>THE TRADE-OFF</a:t>
            </a:r>
          </a:p>
        </p:txBody>
      </p:sp>
      <p:sp>
        <p:nvSpPr>
          <p:cNvPr id="19" name="">
            <a:extLst xmlns:a="http://schemas.openxmlformats.org/drawingml/2006/main">
              <a:ext uri="{FF2B5EF4-FFF2-40B4-BE49-F238E27FC236}">
                <a16:creationId xmlns:a16="http://schemas.microsoft.com/office/drawing/2014/main" id="{6FA04A11-8368-45B6-A5C8-C9265C7D1FF1}"/>
              </a:ext>
            </a:extLst>
          </p:cNvPr>
          <p:cNvSpPr>
            <a:spLocks xmlns:a="http://schemas.openxmlformats.org/drawingml/2006/main" noGrp="1"/>
          </p:cNvSpPr>
          <p:nvPr/>
        </p:nvSpPr>
        <p:spPr>
          <a:xfrm xmlns:a="http://schemas.openxmlformats.org/drawingml/2006/main">
            <a:off x="6419850" y="24003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Negative objects with any false alarm</a:t>
            </a:r>
          </a:p>
        </p:txBody>
      </p:sp>
      <p:sp>
        <p:nvSpPr>
          <p:cNvPr id="20" name="">
            <a:extLst xmlns:a="http://schemas.openxmlformats.org/drawingml/2006/main">
              <a:ext uri="{FF2B5EF4-FFF2-40B4-BE49-F238E27FC236}">
                <a16:creationId xmlns:a16="http://schemas.microsoft.com/office/drawing/2014/main" id="{34154C26-5BF3-4280-9C14-560EA708F9DC}"/>
              </a:ext>
            </a:extLst>
          </p:cNvPr>
          <p:cNvSpPr>
            <a:spLocks xmlns:a="http://schemas.openxmlformats.org/drawingml/2006/main" noGrp="1"/>
          </p:cNvSpPr>
          <p:nvPr/>
        </p:nvSpPr>
        <p:spPr>
          <a:xfrm xmlns:a="http://schemas.openxmlformats.org/drawingml/2006/main">
            <a:off x="6419850" y="27622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250" b="1">
                <a:solidFill>
                  <a:srgbClr val="C94747"/>
                </a:solidFill>
                <a:latin typeface="Avenir"/>
                <a:ea typeface="Avenir"/>
                <a:cs typeface="Avenir"/>
              </a:defRPr>
            </a:defPPr>
          </a:lstStyle>
          <a:p xmlns:a="http://schemas.openxmlformats.org/drawingml/2006/main">
            <a:pPr algn="l">
              <a:defRPr sz="2250" b="1">
                <a:solidFill>
                  <a:srgbClr val="C94747"/>
                </a:solidFill>
                <a:latin typeface="Avenir"/>
                <a:ea typeface="Avenir"/>
                <a:cs typeface="Avenir"/>
              </a:defRPr>
            </a:pPr>
            <a:r>
              <a:rPr sz="2250" b="1">
                <a:solidFill>
                  <a:srgbClr val="C94747"/>
                </a:solidFill>
                <a:latin typeface="Avenir"/>
                <a:ea typeface="Avenir"/>
                <a:cs typeface="Avenir"/>
              </a:rPr>
              <a:t>0.34% → 1.61%</a:t>
            </a:r>
          </a:p>
        </p:txBody>
      </p:sp>
      <p:sp>
        <p:nvSpPr>
          <p:cNvPr id="21" name="">
            <a:extLst xmlns:a="http://schemas.openxmlformats.org/drawingml/2006/main">
              <a:ext uri="{FF2B5EF4-FFF2-40B4-BE49-F238E27FC236}">
                <a16:creationId xmlns:a16="http://schemas.microsoft.com/office/drawing/2014/main" id="{0CA78FB1-EC5C-4D46-8A9F-F6B9036E70DE}"/>
              </a:ext>
            </a:extLst>
          </p:cNvPr>
          <p:cNvSpPr>
            <a:spLocks xmlns:a="http://schemas.openxmlformats.org/drawingml/2006/main" noGrp="1"/>
          </p:cNvSpPr>
          <p:nvPr/>
        </p:nvSpPr>
        <p:spPr>
          <a:xfrm xmlns:a="http://schemas.openxmlformats.org/drawingml/2006/main">
            <a:off x="6419850" y="3476625"/>
            <a:ext cx="471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The other four tested prompts did not show a similar gain.</a:t>
            </a:r>
          </a:p>
        </p:txBody>
      </p:sp>
      <p:sp>
        <p:nvSpPr>
          <p:cNvPr id="22" name="">
            <a:extLst xmlns:a="http://schemas.openxmlformats.org/drawingml/2006/main">
              <a:ext uri="{FF2B5EF4-FFF2-40B4-BE49-F238E27FC236}">
                <a16:creationId xmlns:a16="http://schemas.microsoft.com/office/drawing/2014/main" id="{5D93BA32-4C05-4A73-BC36-2742FFEE41C1}"/>
              </a:ext>
            </a:extLst>
          </p:cNvPr>
          <p:cNvSpPr>
            <a:spLocks xmlns:a="http://schemas.openxmlformats.org/drawingml/2006/main" noGrp="1"/>
          </p:cNvSpPr>
          <p:nvPr/>
        </p:nvSpPr>
        <p:spPr>
          <a:xfrm xmlns:a="http://schemas.openxmlformats.org/drawingml/2006/main">
            <a:off x="609600" y="5429250"/>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26777"/>
                </a:solidFill>
                <a:latin typeface="Avenir"/>
                <a:ea typeface="Avenir"/>
                <a:cs typeface="Avenir"/>
              </a:defRPr>
            </a:defPPr>
          </a:lstStyle>
          <a:p xmlns:a="http://schemas.openxmlformats.org/drawingml/2006/main">
            <a:pPr algn="l">
              <a:defRPr sz="1275" b="1">
                <a:solidFill>
                  <a:srgbClr val="526777"/>
                </a:solidFill>
                <a:latin typeface="Avenir"/>
                <a:ea typeface="Avenir"/>
                <a:cs typeface="Avenir"/>
              </a:defRPr>
            </a:pPr>
            <a:r>
              <a:rPr sz="1275" b="1">
                <a:solidFill>
                  <a:srgbClr val="526777"/>
                </a:solidFill>
                <a:latin typeface="Avenir"/>
                <a:ea typeface="Avenir"/>
                <a:cs typeface="Avenir"/>
              </a:rPr>
              <a:t>7,764 partial views · exploratory validation, not an official test set</a:t>
            </a:r>
          </a:p>
        </p:txBody>
      </p:sp>
    </p:spTree>
    <p:extLst>
      <p:ext uri="{BB962C8B-B14F-4D97-AF65-F5344CB8AC3E}">
        <p14:creationId xmlns:p14="http://schemas.microsoft.com/office/powerpoint/2010/main" val="477333159"/>
      </p:ext>
    </p:extLst>
  </p:cSld>
</p:sld>
</file>

<file path=ppt/slides/slide7.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E412FFE-198A-4688-A586-607F94605FEA}"/>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FD7AE367-AF30-4F62-A49A-C7C1574E7AFE}"/>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Affogato helped generate ideas; Affostruction is still untested</a:t>
            </a:r>
          </a:p>
        </p:txBody>
      </p:sp>
      <p:sp>
        <p:nvSpPr>
          <p:cNvPr id="3" name="">
            <a:extLst xmlns:a="http://schemas.openxmlformats.org/drawingml/2006/main">
              <a:ext uri="{FF2B5EF4-FFF2-40B4-BE49-F238E27FC236}">
                <a16:creationId xmlns:a16="http://schemas.microsoft.com/office/drawing/2014/main" id="{9DE6887A-6CB6-4569-BF10-AE0264CC57D0}"/>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0410690-A7FF-4CF7-8A8E-49CC1B5FBDEE}"/>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07 / 10</a:t>
            </a:r>
          </a:p>
        </p:txBody>
      </p:sp>
      <p:sp>
        <p:nvSpPr>
          <p:cNvPr id="5" name="">
            <a:extLst xmlns:a="http://schemas.openxmlformats.org/drawingml/2006/main">
              <a:ext uri="{FF2B5EF4-FFF2-40B4-BE49-F238E27FC236}">
                <a16:creationId xmlns:a16="http://schemas.microsoft.com/office/drawing/2014/main" id="{057D9C4D-94C1-444E-B183-E6AAD3C58E48}"/>
              </a:ext>
            </a:extLst>
          </p:cNvPr>
          <p:cNvSpPr>
            <a:spLocks xmlns:a="http://schemas.openxmlformats.org/drawingml/2006/main" noGrp="1"/>
          </p:cNvSpPr>
          <p:nvPr/>
        </p:nvSpPr>
        <p:spPr>
          <a:xfrm xmlns:a="http://schemas.openxmlformats.org/drawingml/2006/main">
            <a:off x="609600" y="1638300"/>
            <a:ext cx="5191125"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461E8CA0-4C64-4FBA-899F-C2AC676006F2}"/>
              </a:ext>
            </a:extLst>
          </p:cNvPr>
          <p:cNvSpPr>
            <a:spLocks xmlns:a="http://schemas.openxmlformats.org/drawingml/2006/main" noGrp="1"/>
          </p:cNvSpPr>
          <p:nvPr/>
        </p:nvSpPr>
        <p:spPr>
          <a:xfrm xmlns:a="http://schemas.openxmlformats.org/drawingml/2006/main">
            <a:off x="857250" y="184785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AFFOGATO + ESPRESSO</a:t>
            </a:r>
          </a:p>
        </p:txBody>
      </p:sp>
      <p:sp>
        <p:nvSpPr>
          <p:cNvPr id="7" name="">
            <a:extLst xmlns:a="http://schemas.openxmlformats.org/drawingml/2006/main">
              <a:ext uri="{FF2B5EF4-FFF2-40B4-BE49-F238E27FC236}">
                <a16:creationId xmlns:a16="http://schemas.microsoft.com/office/drawing/2014/main" id="{206A02F3-4A7C-4920-9C77-7FCD8265410E}"/>
              </a:ext>
            </a:extLst>
          </p:cNvPr>
          <p:cNvSpPr>
            <a:spLocks xmlns:a="http://schemas.openxmlformats.org/drawingml/2006/main" noGrp="1"/>
          </p:cNvSpPr>
          <p:nvPr/>
        </p:nvSpPr>
        <p:spPr>
          <a:xfrm xmlns:a="http://schemas.openxmlformats.org/drawingml/2006/main">
            <a:off x="857250" y="226695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02A43"/>
                </a:solidFill>
                <a:latin typeface="Avenir"/>
                <a:ea typeface="Avenir"/>
                <a:cs typeface="Avenir"/>
              </a:defRPr>
            </a:defPPr>
          </a:lstStyle>
          <a:p xmlns:a="http://schemas.openxmlformats.org/drawingml/2006/main">
            <a:pPr algn="l">
              <a:defRPr sz="1800" b="1">
                <a:solidFill>
                  <a:srgbClr val="102A43"/>
                </a:solidFill>
                <a:latin typeface="Avenir"/>
                <a:ea typeface="Avenir"/>
                <a:cs typeface="Avenir"/>
              </a:defRPr>
            </a:pPr>
            <a:r>
              <a:rPr sz="1800" b="1">
                <a:solidFill>
                  <a:srgbClr val="102A43"/>
                </a:solidFill>
                <a:latin typeface="Avenir"/>
                <a:ea typeface="Avenir"/>
                <a:cs typeface="Avenir"/>
              </a:rPr>
              <a:t>What the teammate explored</a:t>
            </a:r>
          </a:p>
        </p:txBody>
      </p:sp>
      <p:sp>
        <p:nvSpPr>
          <p:cNvPr id="8" name="">
            <a:extLst xmlns:a="http://schemas.openxmlformats.org/drawingml/2006/main">
              <a:ext uri="{FF2B5EF4-FFF2-40B4-BE49-F238E27FC236}">
                <a16:creationId xmlns:a16="http://schemas.microsoft.com/office/drawing/2014/main" id="{0C223295-4515-48B7-9B95-2798458B4F0C}"/>
              </a:ext>
            </a:extLst>
          </p:cNvPr>
          <p:cNvSpPr>
            <a:spLocks xmlns:a="http://schemas.openxmlformats.org/drawingml/2006/main" noGrp="1"/>
          </p:cNvSpPr>
          <p:nvPr/>
        </p:nvSpPr>
        <p:spPr>
          <a:xfrm xmlns:a="http://schemas.openxmlformats.org/drawingml/2006/main">
            <a:off x="857250" y="290512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94AB6F9-6233-42EC-B845-20B31C2501AE}"/>
              </a:ext>
            </a:extLst>
          </p:cNvPr>
          <p:cNvSpPr>
            <a:spLocks xmlns:a="http://schemas.openxmlformats.org/drawingml/2006/main" noGrp="1"/>
          </p:cNvSpPr>
          <p:nvPr/>
        </p:nvSpPr>
        <p:spPr>
          <a:xfrm xmlns:a="http://schemas.openxmlformats.org/drawingml/2006/main">
            <a:off x="1085850" y="281940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Unofficial Espresso-3D reimplementation</a:t>
            </a:r>
          </a:p>
        </p:txBody>
      </p:sp>
      <p:sp>
        <p:nvSpPr>
          <p:cNvPr id="10" name="">
            <a:extLst xmlns:a="http://schemas.openxmlformats.org/drawingml/2006/main">
              <a:ext uri="{FF2B5EF4-FFF2-40B4-BE49-F238E27FC236}">
                <a16:creationId xmlns:a16="http://schemas.microsoft.com/office/drawing/2014/main" id="{D234E80E-8DA6-465B-9ECB-4B2F69E5346F}"/>
              </a:ext>
            </a:extLst>
          </p:cNvPr>
          <p:cNvSpPr>
            <a:spLocks xmlns:a="http://schemas.openxmlformats.org/drawingml/2006/main" noGrp="1"/>
          </p:cNvSpPr>
          <p:nvPr/>
        </p:nvSpPr>
        <p:spPr>
          <a:xfrm xmlns:a="http://schemas.openxmlformats.org/drawingml/2006/main">
            <a:off x="85725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D6123B9-DF05-4858-9A4B-FC61B433DA94}"/>
              </a:ext>
            </a:extLst>
          </p:cNvPr>
          <p:cNvSpPr>
            <a:spLocks xmlns:a="http://schemas.openxmlformats.org/drawingml/2006/main" noGrp="1"/>
          </p:cNvSpPr>
          <p:nvPr/>
        </p:nvSpPr>
        <p:spPr>
          <a:xfrm xmlns:a="http://schemas.openxmlformats.org/drawingml/2006/main">
            <a:off x="1085850" y="3409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Used Affogato-pretrained weights</a:t>
            </a:r>
          </a:p>
        </p:txBody>
      </p:sp>
      <p:sp>
        <p:nvSpPr>
          <p:cNvPr id="12" name="">
            <a:extLst xmlns:a="http://schemas.openxmlformats.org/drawingml/2006/main">
              <a:ext uri="{FF2B5EF4-FFF2-40B4-BE49-F238E27FC236}">
                <a16:creationId xmlns:a16="http://schemas.microsoft.com/office/drawing/2014/main" id="{BDE5A8DA-712F-4980-85CF-05AB404CA3A1}"/>
              </a:ext>
            </a:extLst>
          </p:cNvPr>
          <p:cNvSpPr>
            <a:spLocks xmlns:a="http://schemas.openxmlformats.org/drawingml/2006/main" noGrp="1"/>
          </p:cNvSpPr>
          <p:nvPr/>
        </p:nvSpPr>
        <p:spPr>
          <a:xfrm xmlns:a="http://schemas.openxmlformats.org/drawingml/2006/main">
            <a:off x="857250" y="408622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DE17A27-A1BB-47A1-8BB0-C8F5775024DC}"/>
              </a:ext>
            </a:extLst>
          </p:cNvPr>
          <p:cNvSpPr>
            <a:spLocks xmlns:a="http://schemas.openxmlformats.org/drawingml/2006/main" noGrp="1"/>
          </p:cNvSpPr>
          <p:nvPr/>
        </p:nvSpPr>
        <p:spPr>
          <a:xfrm xmlns:a="http://schemas.openxmlformats.org/drawingml/2006/main">
            <a:off x="1085850" y="400050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Generated candidate query prompts and previews</a:t>
            </a:r>
          </a:p>
        </p:txBody>
      </p:sp>
      <p:sp>
        <p:nvSpPr>
          <p:cNvPr id="14" name="">
            <a:extLst xmlns:a="http://schemas.openxmlformats.org/drawingml/2006/main">
              <a:ext uri="{FF2B5EF4-FFF2-40B4-BE49-F238E27FC236}">
                <a16:creationId xmlns:a16="http://schemas.microsoft.com/office/drawing/2014/main" id="{BAB27CB5-E77E-44D7-86C2-8EA5AAB38DE6}"/>
              </a:ext>
            </a:extLst>
          </p:cNvPr>
          <p:cNvSpPr>
            <a:spLocks xmlns:a="http://schemas.openxmlformats.org/drawingml/2006/main" noGrp="1"/>
          </p:cNvSpPr>
          <p:nvPr/>
        </p:nvSpPr>
        <p:spPr>
          <a:xfrm xmlns:a="http://schemas.openxmlformats.org/drawingml/2006/main">
            <a:off x="857250" y="4619625"/>
            <a:ext cx="423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26777"/>
                </a:solidFill>
                <a:latin typeface="Avenir"/>
                <a:ea typeface="Avenir"/>
                <a:cs typeface="Avenir"/>
              </a:defRPr>
            </a:defPPr>
          </a:lstStyle>
          <a:p xmlns:a="http://schemas.openxmlformats.org/drawingml/2006/main">
            <a:pPr algn="l">
              <a:defRPr sz="1275" b="1">
                <a:solidFill>
                  <a:srgbClr val="526777"/>
                </a:solidFill>
                <a:latin typeface="Avenir"/>
                <a:ea typeface="Avenir"/>
                <a:cs typeface="Avenir"/>
              </a:defRPr>
            </a:pPr>
            <a:r>
              <a:rPr sz="1275" b="1">
                <a:solidFill>
                  <a:srgbClr val="526777"/>
                </a:solidFill>
                <a:latin typeface="Avenir"/>
                <a:ea typeface="Avenir"/>
                <a:cs typeface="Avenir"/>
              </a:rPr>
              <a:t>Useful pilot evidence, but not an official Affogato benchmark.</a:t>
            </a:r>
          </a:p>
        </p:txBody>
      </p:sp>
      <p:sp>
        <p:nvSpPr>
          <p:cNvPr id="15" name="">
            <a:extLst xmlns:a="http://schemas.openxmlformats.org/drawingml/2006/main">
              <a:ext uri="{FF2B5EF4-FFF2-40B4-BE49-F238E27FC236}">
                <a16:creationId xmlns:a16="http://schemas.microsoft.com/office/drawing/2014/main" id="{74D168FC-D0EB-45BC-BF6F-928E512FE42D}"/>
              </a:ext>
            </a:extLst>
          </p:cNvPr>
          <p:cNvSpPr>
            <a:spLocks xmlns:a="http://schemas.openxmlformats.org/drawingml/2006/main" noGrp="1"/>
          </p:cNvSpPr>
          <p:nvPr/>
        </p:nvSpPr>
        <p:spPr>
          <a:xfrm xmlns:a="http://schemas.openxmlformats.org/drawingml/2006/main">
            <a:off x="6057900" y="1638300"/>
            <a:ext cx="5524500"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D7E1E8"/>
            </a:solidFill>
            <a:prstDash val="solid"/>
          </a:ln>
        </p:spPr>
      </p:sp>
      <p:sp>
        <p:nvSpPr>
          <p:cNvPr id="16" name="">
            <a:extLst xmlns:a="http://schemas.openxmlformats.org/drawingml/2006/main">
              <a:ext uri="{FF2B5EF4-FFF2-40B4-BE49-F238E27FC236}">
                <a16:creationId xmlns:a16="http://schemas.microsoft.com/office/drawing/2014/main" id="{0BA9AD50-CE9C-44FB-9E25-4DBDF60F1E9C}"/>
              </a:ext>
            </a:extLst>
          </p:cNvPr>
          <p:cNvSpPr>
            <a:spLocks xmlns:a="http://schemas.openxmlformats.org/drawingml/2006/main" noGrp="1"/>
          </p:cNvSpPr>
          <p:nvPr/>
        </p:nvSpPr>
        <p:spPr>
          <a:xfrm xmlns:a="http://schemas.openxmlformats.org/drawingml/2006/main">
            <a:off x="6305550" y="1847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AFFOSTRUCTION</a:t>
            </a:r>
          </a:p>
        </p:txBody>
      </p:sp>
      <p:sp>
        <p:nvSpPr>
          <p:cNvPr id="17" name="">
            <a:extLst xmlns:a="http://schemas.openxmlformats.org/drawingml/2006/main">
              <a:ext uri="{FF2B5EF4-FFF2-40B4-BE49-F238E27FC236}">
                <a16:creationId xmlns:a16="http://schemas.microsoft.com/office/drawing/2014/main" id="{3936CE1D-F97C-4C3A-9B13-29764ADE9F25}"/>
              </a:ext>
            </a:extLst>
          </p:cNvPr>
          <p:cNvSpPr>
            <a:spLocks xmlns:a="http://schemas.openxmlformats.org/drawingml/2006/main" noGrp="1"/>
          </p:cNvSpPr>
          <p:nvPr/>
        </p:nvSpPr>
        <p:spPr>
          <a:xfrm xmlns:a="http://schemas.openxmlformats.org/drawingml/2006/main">
            <a:off x="6305550" y="22669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02A43"/>
                </a:solidFill>
                <a:latin typeface="Avenir"/>
                <a:ea typeface="Avenir"/>
                <a:cs typeface="Avenir"/>
              </a:defRPr>
            </a:defPPr>
          </a:lstStyle>
          <a:p xmlns:a="http://schemas.openxmlformats.org/drawingml/2006/main">
            <a:pPr algn="l">
              <a:defRPr sz="1800" b="1">
                <a:solidFill>
                  <a:srgbClr val="102A43"/>
                </a:solidFill>
                <a:latin typeface="Avenir"/>
                <a:ea typeface="Avenir"/>
                <a:cs typeface="Avenir"/>
              </a:defRPr>
            </a:pPr>
            <a:r>
              <a:rPr sz="1800" b="1">
                <a:solidFill>
                  <a:srgbClr val="102A43"/>
                </a:solidFill>
                <a:latin typeface="Avenir"/>
                <a:ea typeface="Avenir"/>
                <a:cs typeface="Avenir"/>
              </a:rPr>
              <a:t>Not run in my experiments</a:t>
            </a:r>
          </a:p>
        </p:txBody>
      </p:sp>
      <p:sp>
        <p:nvSpPr>
          <p:cNvPr id="18" name="">
            <a:extLst xmlns:a="http://schemas.openxmlformats.org/drawingml/2006/main">
              <a:ext uri="{FF2B5EF4-FFF2-40B4-BE49-F238E27FC236}">
                <a16:creationId xmlns:a16="http://schemas.microsoft.com/office/drawing/2014/main" id="{F161E414-7453-4369-BF15-A74C781D0282}"/>
              </a:ext>
            </a:extLst>
          </p:cNvPr>
          <p:cNvSpPr>
            <a:spLocks xmlns:a="http://schemas.openxmlformats.org/drawingml/2006/main" noGrp="1"/>
          </p:cNvSpPr>
          <p:nvPr/>
        </p:nvSpPr>
        <p:spPr>
          <a:xfrm xmlns:a="http://schemas.openxmlformats.org/drawingml/2006/main">
            <a:off x="6305550" y="2781300"/>
            <a:ext cx="4762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0">
                <a:solidFill>
                  <a:srgbClr val="172B3A"/>
                </a:solidFill>
                <a:latin typeface="Avenir"/>
                <a:ea typeface="Avenir"/>
                <a:cs typeface="Avenir"/>
              </a:defRPr>
            </a:defPPr>
          </a:lstStyle>
          <a:p xmlns:a="http://schemas.openxmlformats.org/drawingml/2006/main">
            <a:pPr algn="l">
              <a:defRPr sz="1500" b="0">
                <a:solidFill>
                  <a:srgbClr val="172B3A"/>
                </a:solidFill>
                <a:latin typeface="Avenir"/>
                <a:ea typeface="Avenir"/>
                <a:cs typeface="Avenir"/>
              </a:defRPr>
            </a:pPr>
            <a:r>
              <a:rPr sz="1500" b="0">
                <a:solidFill>
                  <a:srgbClr val="172B3A"/>
                </a:solidFill>
                <a:latin typeface="Avenir"/>
                <a:ea typeface="Avenir"/>
                <a:cs typeface="Avenir"/>
              </a:rPr>
              <a:t>I cite it as related work only. Its reported results are from the paper, not from my Mac.</a:t>
            </a:r>
          </a:p>
        </p:txBody>
      </p:sp>
      <p:sp>
        <p:nvSpPr>
          <p:cNvPr id="19" name="">
            <a:extLst xmlns:a="http://schemas.openxmlformats.org/drawingml/2006/main">
              <a:ext uri="{FF2B5EF4-FFF2-40B4-BE49-F238E27FC236}">
                <a16:creationId xmlns:a16="http://schemas.microsoft.com/office/drawing/2014/main" id="{CD1318F7-7F28-437C-A9CD-3E2B83AA5DCE}"/>
              </a:ext>
            </a:extLst>
          </p:cNvPr>
          <p:cNvSpPr>
            <a:spLocks xmlns:a="http://schemas.openxmlformats.org/drawingml/2006/main" noGrp="1"/>
          </p:cNvSpPr>
          <p:nvPr/>
        </p:nvSpPr>
        <p:spPr>
          <a:xfrm xmlns:a="http://schemas.openxmlformats.org/drawingml/2006/main">
            <a:off x="6305550" y="4067175"/>
            <a:ext cx="34290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20" name="">
            <a:extLst xmlns:a="http://schemas.openxmlformats.org/drawingml/2006/main">
              <a:ext uri="{FF2B5EF4-FFF2-40B4-BE49-F238E27FC236}">
                <a16:creationId xmlns:a16="http://schemas.microsoft.com/office/drawing/2014/main" id="{11829A40-6E5F-416B-B4A4-AD2EB80DE055}"/>
              </a:ext>
            </a:extLst>
          </p:cNvPr>
          <p:cNvSpPr>
            <a:spLocks xmlns:a="http://schemas.openxmlformats.org/drawingml/2006/main" noGrp="1"/>
          </p:cNvSpPr>
          <p:nvPr/>
        </p:nvSpPr>
        <p:spPr>
          <a:xfrm xmlns:a="http://schemas.openxmlformats.org/drawingml/2006/main">
            <a:off x="6372225" y="4067175"/>
            <a:ext cx="3295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DO NOT MIX THESE WITH OPENAD SCORES</a:t>
            </a:r>
          </a:p>
        </p:txBody>
      </p:sp>
      <p:sp>
        <p:nvSpPr>
          <p:cNvPr id="21" name="">
            <a:extLst xmlns:a="http://schemas.openxmlformats.org/drawingml/2006/main">
              <a:ext uri="{FF2B5EF4-FFF2-40B4-BE49-F238E27FC236}">
                <a16:creationId xmlns:a16="http://schemas.microsoft.com/office/drawing/2014/main" id="{54732533-3854-4800-B398-5EA17D918680}"/>
              </a:ext>
            </a:extLst>
          </p:cNvPr>
          <p:cNvSpPr>
            <a:spLocks xmlns:a="http://schemas.openxmlformats.org/drawingml/2006/main" noGrp="1"/>
          </p:cNvSpPr>
          <p:nvPr/>
        </p:nvSpPr>
        <p:spPr>
          <a:xfrm xmlns:a="http://schemas.openxmlformats.org/drawingml/2006/main">
            <a:off x="609600" y="5448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72B3A"/>
                </a:solidFill>
                <a:latin typeface="Avenir"/>
                <a:ea typeface="Avenir"/>
                <a:cs typeface="Avenir"/>
              </a:defRPr>
            </a:defPPr>
          </a:lstStyle>
          <a:p xmlns:a="http://schemas.openxmlformats.org/drawingml/2006/main">
            <a:pPr algn="l">
              <a:defRPr sz="1500" b="1">
                <a:solidFill>
                  <a:srgbClr val="172B3A"/>
                </a:solidFill>
                <a:latin typeface="Avenir"/>
                <a:ea typeface="Avenir"/>
                <a:cs typeface="Avenir"/>
              </a:defRPr>
            </a:pPr>
            <a:r>
              <a:rPr sz="1500" b="1">
                <a:solidFill>
                  <a:srgbClr val="172B3A"/>
                </a:solidFill>
                <a:latin typeface="Avenir"/>
                <a:ea typeface="Avenir"/>
                <a:cs typeface="Avenir"/>
              </a:rPr>
              <a:t>My measured results in this proposal are OpenAD results.</a:t>
            </a:r>
          </a:p>
        </p:txBody>
      </p:sp>
    </p:spTree>
    <p:extLst>
      <p:ext uri="{BB962C8B-B14F-4D97-AF65-F5344CB8AC3E}">
        <p14:creationId xmlns:p14="http://schemas.microsoft.com/office/powerpoint/2010/main" val="341591170"/>
      </p:ext>
    </p:extLst>
  </p:cSld>
</p:sld>
</file>

<file path=ppt/slides/slide8.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3342ADB-99D3-440D-A0D5-F041E4760D5D}"/>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9D2C6277-73ED-4582-AF04-A2EAEC221BED}"/>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My next question is whether one fixed paraphrase helps</a:t>
            </a:r>
          </a:p>
        </p:txBody>
      </p:sp>
      <p:sp>
        <p:nvSpPr>
          <p:cNvPr id="3" name="">
            <a:extLst xmlns:a="http://schemas.openxmlformats.org/drawingml/2006/main">
              <a:ext uri="{FF2B5EF4-FFF2-40B4-BE49-F238E27FC236}">
                <a16:creationId xmlns:a16="http://schemas.microsoft.com/office/drawing/2014/main" id="{879F2567-C1DD-46D0-8DE5-F1F4459C0339}"/>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7456749-9445-4752-89E2-9C9C42095219}"/>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08 / 10</a:t>
            </a:r>
          </a:p>
        </p:txBody>
      </p:sp>
      <p:sp>
        <p:nvSpPr>
          <p:cNvPr id="5" name="">
            <a:extLst xmlns:a="http://schemas.openxmlformats.org/drawingml/2006/main">
              <a:ext uri="{FF2B5EF4-FFF2-40B4-BE49-F238E27FC236}">
                <a16:creationId xmlns:a16="http://schemas.microsoft.com/office/drawing/2014/main" id="{F069A5A9-8D36-440F-85C7-7456FE038883}"/>
              </a:ext>
            </a:extLst>
          </p:cNvPr>
          <p:cNvSpPr>
            <a:spLocks xmlns:a="http://schemas.openxmlformats.org/drawingml/2006/main" noGrp="1"/>
          </p:cNvSpPr>
          <p:nvPr/>
        </p:nvSpPr>
        <p:spPr>
          <a:xfrm xmlns:a="http://schemas.openxmlformats.org/drawingml/2006/main">
            <a:off x="609600" y="1638300"/>
            <a:ext cx="10972800" cy="1943100"/>
          </a:xfrm>
          <a:prstGeom xmlns:a="http://schemas.openxmlformats.org/drawingml/2006/main" prst="roundRect">
            <a:avLst>
              <a:gd name="adj" fmla="val 3922"/>
            </a:avLst>
          </a:prstGeom>
          <a:solidFill xmlns:a="http://schemas.openxmlformats.org/drawingml/2006/main">
            <a:srgbClr val="102A43"/>
          </a:solidFill>
          <a:ln xmlns:a="http://schemas.openxmlformats.org/drawingml/2006/main" w="9525">
            <a:noFill/>
            <a:prstDash val="solid"/>
          </a:ln>
        </p:spPr>
      </p:sp>
      <p:sp>
        <p:nvSpPr>
          <p:cNvPr id="6" name="">
            <a:extLst xmlns:a="http://schemas.openxmlformats.org/drawingml/2006/main">
              <a:ext uri="{FF2B5EF4-FFF2-40B4-BE49-F238E27FC236}">
                <a16:creationId xmlns:a16="http://schemas.microsoft.com/office/drawing/2014/main" id="{BEDAE25E-FBF4-419F-B59E-027791DAA91D}"/>
              </a:ext>
            </a:extLst>
          </p:cNvPr>
          <p:cNvSpPr>
            <a:spLocks xmlns:a="http://schemas.openxmlformats.org/drawingml/2006/main" noGrp="1"/>
          </p:cNvSpPr>
          <p:nvPr/>
        </p:nvSpPr>
        <p:spPr>
          <a:xfrm xmlns:a="http://schemas.openxmlformats.org/drawingml/2006/main">
            <a:off x="914400" y="18478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58C4D6"/>
                </a:solidFill>
                <a:latin typeface="Avenir"/>
                <a:ea typeface="Avenir"/>
                <a:cs typeface="Avenir"/>
              </a:defRPr>
            </a:defPPr>
          </a:lstStyle>
          <a:p xmlns:a="http://schemas.openxmlformats.org/drawingml/2006/main">
            <a:pPr algn="l">
              <a:defRPr sz="1200" b="1">
                <a:solidFill>
                  <a:srgbClr val="58C4D6"/>
                </a:solidFill>
                <a:latin typeface="Avenir"/>
                <a:ea typeface="Avenir"/>
                <a:cs typeface="Avenir"/>
              </a:defRPr>
            </a:pPr>
            <a:r>
              <a:rPr sz="1200" b="1">
                <a:solidFill>
                  <a:srgbClr val="58C4D6"/>
                </a:solidFill>
                <a:latin typeface="Avenir"/>
                <a:ea typeface="Avenir"/>
                <a:cs typeface="Avenir"/>
              </a:rPr>
              <a:t>RESEARCH QUESTION</a:t>
            </a:r>
          </a:p>
        </p:txBody>
      </p:sp>
      <p:sp>
        <p:nvSpPr>
          <p:cNvPr id="7" name="">
            <a:extLst xmlns:a="http://schemas.openxmlformats.org/drawingml/2006/main">
              <a:ext uri="{FF2B5EF4-FFF2-40B4-BE49-F238E27FC236}">
                <a16:creationId xmlns:a16="http://schemas.microsoft.com/office/drawing/2014/main" id="{752B52A0-62F2-418D-ADAB-152C0883249D}"/>
              </a:ext>
            </a:extLst>
          </p:cNvPr>
          <p:cNvSpPr>
            <a:spLocks xmlns:a="http://schemas.openxmlformats.org/drawingml/2006/main" noGrp="1"/>
          </p:cNvSpPr>
          <p:nvPr/>
        </p:nvSpPr>
        <p:spPr>
          <a:xfrm xmlns:a="http://schemas.openxmlformats.org/drawingml/2006/main">
            <a:off x="914400" y="2247900"/>
            <a:ext cx="10096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025" b="1">
                <a:solidFill>
                  <a:srgbClr val="FFFFFF"/>
                </a:solidFill>
                <a:latin typeface="Avenir"/>
                <a:ea typeface="Avenir"/>
                <a:cs typeface="Avenir"/>
              </a:defRPr>
            </a:defPPr>
          </a:lstStyle>
          <a:p xmlns:a="http://schemas.openxmlformats.org/drawingml/2006/main">
            <a:pPr algn="l">
              <a:defRPr sz="2025" b="1">
                <a:solidFill>
                  <a:srgbClr val="FFFFFF"/>
                </a:solidFill>
                <a:latin typeface="Avenir"/>
                <a:ea typeface="Avenir"/>
                <a:cs typeface="Avenir"/>
              </a:defRPr>
            </a:pPr>
            <a:r>
              <a:rPr sz="2025" b="1">
                <a:solidFill>
                  <a:srgbClr val="FFFFFF"/>
                </a:solidFill>
                <a:latin typeface="Avenir"/>
                <a:ea typeface="Avenir"/>
                <a:cs typeface="Avenir"/>
              </a:rPr>
              <a:t>On partial point clouds, does one prewritten paraphrase per action improve OpenAD localization over the original query—and does it cause more false alarms?</a:t>
            </a:r>
          </a:p>
        </p:txBody>
      </p:sp>
      <p:sp>
        <p:nvSpPr>
          <p:cNvPr id="8" name="">
            <a:extLst xmlns:a="http://schemas.openxmlformats.org/drawingml/2006/main">
              <a:ext uri="{FF2B5EF4-FFF2-40B4-BE49-F238E27FC236}">
                <a16:creationId xmlns:a16="http://schemas.microsoft.com/office/drawing/2014/main" id="{3CEF6E5E-147B-467C-A5FC-3E683102ED12}"/>
              </a:ext>
            </a:extLst>
          </p:cNvPr>
          <p:cNvSpPr>
            <a:spLocks xmlns:a="http://schemas.openxmlformats.org/drawingml/2006/main" noGrp="1"/>
          </p:cNvSpPr>
          <p:nvPr/>
        </p:nvSpPr>
        <p:spPr>
          <a:xfrm xmlns:a="http://schemas.openxmlformats.org/drawingml/2006/main">
            <a:off x="609600" y="3857625"/>
            <a:ext cx="10972800" cy="1581150"/>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9525">
            <a:solidFill>
              <a:srgbClr val="D7E1E8"/>
            </a:solidFill>
            <a:prstDash val="solid"/>
          </a:ln>
        </p:spPr>
      </p:sp>
      <p:sp>
        <p:nvSpPr>
          <p:cNvPr id="9" name="">
            <a:extLst xmlns:a="http://schemas.openxmlformats.org/drawingml/2006/main">
              <a:ext uri="{FF2B5EF4-FFF2-40B4-BE49-F238E27FC236}">
                <a16:creationId xmlns:a16="http://schemas.microsoft.com/office/drawing/2014/main" id="{A5DBA1D9-1584-4682-849B-D67C6DEDACAE}"/>
              </a:ext>
            </a:extLst>
          </p:cNvPr>
          <p:cNvSpPr>
            <a:spLocks xmlns:a="http://schemas.openxmlformats.org/drawingml/2006/main" noGrp="1"/>
          </p:cNvSpPr>
          <p:nvPr/>
        </p:nvSpPr>
        <p:spPr>
          <a:xfrm xmlns:a="http://schemas.openxmlformats.org/drawingml/2006/main">
            <a:off x="876300" y="4057650"/>
            <a:ext cx="2238375"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0" name="">
            <a:extLst xmlns:a="http://schemas.openxmlformats.org/drawingml/2006/main">
              <a:ext uri="{FF2B5EF4-FFF2-40B4-BE49-F238E27FC236}">
                <a16:creationId xmlns:a16="http://schemas.microsoft.com/office/drawing/2014/main" id="{02C452FC-C11A-4D81-ABCC-A14354A304F8}"/>
              </a:ext>
            </a:extLst>
          </p:cNvPr>
          <p:cNvSpPr>
            <a:spLocks xmlns:a="http://schemas.openxmlformats.org/drawingml/2006/main" noGrp="1"/>
          </p:cNvSpPr>
          <p:nvPr/>
        </p:nvSpPr>
        <p:spPr>
          <a:xfrm xmlns:a="http://schemas.openxmlformats.org/drawingml/2006/main">
            <a:off x="942975" y="4057650"/>
            <a:ext cx="21050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TESTABLE HYPOTHESIS</a:t>
            </a:r>
          </a:p>
        </p:txBody>
      </p:sp>
      <p:sp>
        <p:nvSpPr>
          <p:cNvPr id="11" name="">
            <a:extLst xmlns:a="http://schemas.openxmlformats.org/drawingml/2006/main">
              <a:ext uri="{FF2B5EF4-FFF2-40B4-BE49-F238E27FC236}">
                <a16:creationId xmlns:a16="http://schemas.microsoft.com/office/drawing/2014/main" id="{E340AFD3-0691-426A-A064-361E2AD7FBD3}"/>
              </a:ext>
            </a:extLst>
          </p:cNvPr>
          <p:cNvSpPr>
            <a:spLocks xmlns:a="http://schemas.openxmlformats.org/drawingml/2006/main" noGrp="1"/>
          </p:cNvSpPr>
          <p:nvPr/>
        </p:nvSpPr>
        <p:spPr>
          <a:xfrm xmlns:a="http://schemas.openxmlformats.org/drawingml/2006/main">
            <a:off x="876300" y="4514850"/>
            <a:ext cx="1009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The paraphrase will raise average IoU across 18 actions; some actions may improve more than others.</a:t>
            </a:r>
          </a:p>
        </p:txBody>
      </p:sp>
      <p:sp>
        <p:nvSpPr>
          <p:cNvPr id="12" name="">
            <a:extLst xmlns:a="http://schemas.openxmlformats.org/drawingml/2006/main">
              <a:ext uri="{FF2B5EF4-FFF2-40B4-BE49-F238E27FC236}">
                <a16:creationId xmlns:a16="http://schemas.microsoft.com/office/drawing/2014/main" id="{6E0CC269-EFBE-488D-B050-8FAE83D34ED0}"/>
              </a:ext>
            </a:extLst>
          </p:cNvPr>
          <p:cNvSpPr>
            <a:spLocks xmlns:a="http://schemas.openxmlformats.org/drawingml/2006/main" noGrp="1"/>
          </p:cNvSpPr>
          <p:nvPr/>
        </p:nvSpPr>
        <p:spPr>
          <a:xfrm xmlns:a="http://schemas.openxmlformats.org/drawingml/2006/main">
            <a:off x="876300" y="4953000"/>
            <a:ext cx="10144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26777"/>
                </a:solidFill>
                <a:latin typeface="Avenir"/>
                <a:ea typeface="Avenir"/>
                <a:cs typeface="Avenir"/>
              </a:defRPr>
            </a:defPPr>
          </a:lstStyle>
          <a:p xmlns:a="http://schemas.openxmlformats.org/drawingml/2006/main">
            <a:pPr algn="l">
              <a:defRPr sz="1350" b="0">
                <a:solidFill>
                  <a:srgbClr val="526777"/>
                </a:solidFill>
                <a:latin typeface="Avenir"/>
                <a:ea typeface="Avenir"/>
                <a:cs typeface="Avenir"/>
              </a:defRPr>
            </a:pPr>
            <a:r>
              <a:rPr sz="1350" b="0">
                <a:solidFill>
                  <a:srgbClr val="526777"/>
                </a:solidFill>
                <a:latin typeface="Avenir"/>
                <a:ea typeface="Avenir"/>
                <a:cs typeface="Avenir"/>
              </a:rPr>
              <a:t>It is not supported if the paired object-level gain is zero or negative.</a:t>
            </a:r>
          </a:p>
        </p:txBody>
      </p:sp>
    </p:spTree>
    <p:extLst>
      <p:ext uri="{BB962C8B-B14F-4D97-AF65-F5344CB8AC3E}">
        <p14:creationId xmlns:p14="http://schemas.microsoft.com/office/powerpoint/2010/main" val="473751079"/>
      </p:ext>
    </p:extLst>
  </p:cSld>
</p:sld>
</file>

<file path=ppt/slides/slide9.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21D73B0B-A521-4A7D-A40B-9AF96D8FEE3B}"/>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F64C121D-5812-4D4B-8E4F-14D8774668D4}"/>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I will change the words and hold the rest constant</a:t>
            </a:r>
          </a:p>
        </p:txBody>
      </p:sp>
      <p:sp>
        <p:nvSpPr>
          <p:cNvPr id="3" name="">
            <a:extLst xmlns:a="http://schemas.openxmlformats.org/drawingml/2006/main">
              <a:ext uri="{FF2B5EF4-FFF2-40B4-BE49-F238E27FC236}">
                <a16:creationId xmlns:a16="http://schemas.microsoft.com/office/drawing/2014/main" id="{D7963615-A824-4602-ABA3-94227BAE82F2}"/>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992B346-C8C5-4543-BC7B-9DB96D943B66}"/>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09 / 10</a:t>
            </a:r>
          </a:p>
        </p:txBody>
      </p:sp>
      <p:sp>
        <p:nvSpPr>
          <p:cNvPr id="5" name="">
            <a:extLst xmlns:a="http://schemas.openxmlformats.org/drawingml/2006/main">
              <a:ext uri="{FF2B5EF4-FFF2-40B4-BE49-F238E27FC236}">
                <a16:creationId xmlns:a16="http://schemas.microsoft.com/office/drawing/2014/main" id="{ADD0D8FB-1BD8-44C2-80F5-0DADBF2FFC67}"/>
              </a:ext>
            </a:extLst>
          </p:cNvPr>
          <p:cNvSpPr>
            <a:spLocks xmlns:a="http://schemas.openxmlformats.org/drawingml/2006/main" noGrp="1"/>
          </p:cNvSpPr>
          <p:nvPr/>
        </p:nvSpPr>
        <p:spPr>
          <a:xfrm xmlns:a="http://schemas.openxmlformats.org/drawingml/2006/main">
            <a:off x="609600" y="1619250"/>
            <a:ext cx="5191125" cy="4000500"/>
          </a:xfrm>
          <a:prstGeom xmlns:a="http://schemas.openxmlformats.org/drawingml/2006/main" prst="roundRect">
            <a:avLst>
              <a:gd name="adj" fmla="val 1905"/>
            </a:avLst>
          </a:prstGeom>
          <a:solidFill xmlns:a="http://schemas.openxmlformats.org/drawingml/2006/main">
            <a:srgbClr val="FFFFFF"/>
          </a:solidFill>
          <a:ln xmlns:a="http://schemas.openxmlformats.org/drawingml/2006/main" w="9525">
            <a:solidFill>
              <a:srgbClr val="D7E1E8"/>
            </a:solidFill>
            <a:prstDash val="solid"/>
          </a:ln>
        </p:spPr>
      </p:sp>
      <p:sp>
        <p:nvSpPr>
          <p:cNvPr id="6" name="">
            <a:extLst xmlns:a="http://schemas.openxmlformats.org/drawingml/2006/main">
              <a:ext uri="{FF2B5EF4-FFF2-40B4-BE49-F238E27FC236}">
                <a16:creationId xmlns:a16="http://schemas.microsoft.com/office/drawing/2014/main" id="{18BA3E69-A172-45EF-AF16-3EA1A0DF64CC}"/>
              </a:ext>
            </a:extLst>
          </p:cNvPr>
          <p:cNvSpPr>
            <a:spLocks xmlns:a="http://schemas.openxmlformats.org/drawingml/2006/main" noGrp="1"/>
          </p:cNvSpPr>
          <p:nvPr/>
        </p:nvSpPr>
        <p:spPr>
          <a:xfrm xmlns:a="http://schemas.openxmlformats.org/drawingml/2006/main">
            <a:off x="857250" y="18288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FAIR COMPARISON</a:t>
            </a:r>
          </a:p>
        </p:txBody>
      </p:sp>
      <p:sp>
        <p:nvSpPr>
          <p:cNvPr id="7" name="">
            <a:extLst xmlns:a="http://schemas.openxmlformats.org/drawingml/2006/main">
              <a:ext uri="{FF2B5EF4-FFF2-40B4-BE49-F238E27FC236}">
                <a16:creationId xmlns:a16="http://schemas.microsoft.com/office/drawing/2014/main" id="{0128019E-B613-4592-9B63-A8964BB9B9B9}"/>
              </a:ext>
            </a:extLst>
          </p:cNvPr>
          <p:cNvSpPr>
            <a:spLocks xmlns:a="http://schemas.openxmlformats.org/drawingml/2006/main" noGrp="1"/>
          </p:cNvSpPr>
          <p:nvPr/>
        </p:nvSpPr>
        <p:spPr>
          <a:xfrm xmlns:a="http://schemas.openxmlformats.org/drawingml/2006/main">
            <a:off x="857250" y="2352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8A7D603-6637-4551-9E54-D87E938C13E3}"/>
              </a:ext>
            </a:extLst>
          </p:cNvPr>
          <p:cNvSpPr>
            <a:spLocks xmlns:a="http://schemas.openxmlformats.org/drawingml/2006/main" noGrp="1"/>
          </p:cNvSpPr>
          <p:nvPr/>
        </p:nvSpPr>
        <p:spPr>
          <a:xfrm xmlns:a="http://schemas.openxmlformats.org/drawingml/2006/main">
            <a:off x="1085850" y="2266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Released OpenAD model stays frozen</a:t>
            </a:r>
          </a:p>
        </p:txBody>
      </p:sp>
      <p:sp>
        <p:nvSpPr>
          <p:cNvPr id="9" name="">
            <a:extLst xmlns:a="http://schemas.openxmlformats.org/drawingml/2006/main">
              <a:ext uri="{FF2B5EF4-FFF2-40B4-BE49-F238E27FC236}">
                <a16:creationId xmlns:a16="http://schemas.microsoft.com/office/drawing/2014/main" id="{BB6FC8B0-59B6-4A74-BF9A-A3FAEBE93E14}"/>
              </a:ext>
            </a:extLst>
          </p:cNvPr>
          <p:cNvSpPr>
            <a:spLocks xmlns:a="http://schemas.openxmlformats.org/drawingml/2006/main" noGrp="1"/>
          </p:cNvSpPr>
          <p:nvPr/>
        </p:nvSpPr>
        <p:spPr>
          <a:xfrm xmlns:a="http://schemas.openxmlformats.org/drawingml/2006/main">
            <a:off x="857250" y="2924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4EBED8F-99F9-4212-9ABC-9CC879896787}"/>
              </a:ext>
            </a:extLst>
          </p:cNvPr>
          <p:cNvSpPr>
            <a:spLocks xmlns:a="http://schemas.openxmlformats.org/drawingml/2006/main" noGrp="1"/>
          </p:cNvSpPr>
          <p:nvPr/>
        </p:nvSpPr>
        <p:spPr>
          <a:xfrm xmlns:a="http://schemas.openxmlformats.org/drawingml/2006/main">
            <a:off x="1085850" y="28384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Same objects, views, points, and labels</a:t>
            </a:r>
          </a:p>
        </p:txBody>
      </p:sp>
      <p:sp>
        <p:nvSpPr>
          <p:cNvPr id="11" name="">
            <a:extLst xmlns:a="http://schemas.openxmlformats.org/drawingml/2006/main">
              <a:ext uri="{FF2B5EF4-FFF2-40B4-BE49-F238E27FC236}">
                <a16:creationId xmlns:a16="http://schemas.microsoft.com/office/drawing/2014/main" id="{4E5FAAF1-A836-429D-85D2-C8BEA068137D}"/>
              </a:ext>
            </a:extLst>
          </p:cNvPr>
          <p:cNvSpPr>
            <a:spLocks xmlns:a="http://schemas.openxmlformats.org/drawingml/2006/main" noGrp="1"/>
          </p:cNvSpPr>
          <p:nvPr/>
        </p:nvSpPr>
        <p:spPr>
          <a:xfrm xmlns:a="http://schemas.openxmlformats.org/drawingml/2006/main">
            <a:off x="85725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BFF4C27-A0D3-4E55-8F3F-C543538C85F6}"/>
              </a:ext>
            </a:extLst>
          </p:cNvPr>
          <p:cNvSpPr>
            <a:spLocks xmlns:a="http://schemas.openxmlformats.org/drawingml/2006/main" noGrp="1"/>
          </p:cNvSpPr>
          <p:nvPr/>
        </p:nvSpPr>
        <p:spPr>
          <a:xfrm xmlns:a="http://schemas.openxmlformats.org/drawingml/2006/main">
            <a:off x="1085850" y="3409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Compare original query vs one fixed paraphrase</a:t>
            </a:r>
          </a:p>
        </p:txBody>
      </p:sp>
      <p:sp>
        <p:nvSpPr>
          <p:cNvPr id="13" name="">
            <a:extLst xmlns:a="http://schemas.openxmlformats.org/drawingml/2006/main">
              <a:ext uri="{FF2B5EF4-FFF2-40B4-BE49-F238E27FC236}">
                <a16:creationId xmlns:a16="http://schemas.microsoft.com/office/drawing/2014/main" id="{9998FD52-D99A-4EDA-80EB-512D8EB169D0}"/>
              </a:ext>
            </a:extLst>
          </p:cNvPr>
          <p:cNvSpPr>
            <a:spLocks xmlns:a="http://schemas.openxmlformats.org/drawingml/2006/main" noGrp="1"/>
          </p:cNvSpPr>
          <p:nvPr/>
        </p:nvSpPr>
        <p:spPr>
          <a:xfrm xmlns:a="http://schemas.openxmlformats.org/drawingml/2006/main">
            <a:off x="857250" y="4067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37E95D9-A659-4E38-90BC-00D8AA192033}"/>
              </a:ext>
            </a:extLst>
          </p:cNvPr>
          <p:cNvSpPr>
            <a:spLocks xmlns:a="http://schemas.openxmlformats.org/drawingml/2006/main" noGrp="1"/>
          </p:cNvSpPr>
          <p:nvPr/>
        </p:nvSpPr>
        <p:spPr>
          <a:xfrm xmlns:a="http://schemas.openxmlformats.org/drawingml/2006/main">
            <a:off x="1085850" y="39814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Partial views are primary; full shapes are a control</a:t>
            </a:r>
          </a:p>
        </p:txBody>
      </p:sp>
      <p:sp>
        <p:nvSpPr>
          <p:cNvPr id="15" name="">
            <a:extLst xmlns:a="http://schemas.openxmlformats.org/drawingml/2006/main">
              <a:ext uri="{FF2B5EF4-FFF2-40B4-BE49-F238E27FC236}">
                <a16:creationId xmlns:a16="http://schemas.microsoft.com/office/drawing/2014/main" id="{33F246CD-D7AB-43F9-B424-24B0F4D54D3A}"/>
              </a:ext>
            </a:extLst>
          </p:cNvPr>
          <p:cNvSpPr>
            <a:spLocks xmlns:a="http://schemas.openxmlformats.org/drawingml/2006/main" noGrp="1"/>
          </p:cNvSpPr>
          <p:nvPr/>
        </p:nvSpPr>
        <p:spPr>
          <a:xfrm xmlns:a="http://schemas.openxmlformats.org/drawingml/2006/main">
            <a:off x="857250" y="4638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A176144-3811-4E68-8602-7EB481D7BF84}"/>
              </a:ext>
            </a:extLst>
          </p:cNvPr>
          <p:cNvSpPr>
            <a:spLocks xmlns:a="http://schemas.openxmlformats.org/drawingml/2006/main" noGrp="1"/>
          </p:cNvSpPr>
          <p:nvPr/>
        </p:nvSpPr>
        <p:spPr>
          <a:xfrm xmlns:a="http://schemas.openxmlformats.org/drawingml/2006/main">
            <a:off x="1085850" y="4552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Keep “none” and the prediction rule unchanged</a:t>
            </a:r>
          </a:p>
        </p:txBody>
      </p:sp>
      <p:sp>
        <p:nvSpPr>
          <p:cNvPr id="17" name="">
            <a:extLst xmlns:a="http://schemas.openxmlformats.org/drawingml/2006/main">
              <a:ext uri="{FF2B5EF4-FFF2-40B4-BE49-F238E27FC236}">
                <a16:creationId xmlns:a16="http://schemas.microsoft.com/office/drawing/2014/main" id="{66D3B68C-D003-4D4A-AB53-A82192E20887}"/>
              </a:ext>
            </a:extLst>
          </p:cNvPr>
          <p:cNvSpPr>
            <a:spLocks xmlns:a="http://schemas.openxmlformats.org/drawingml/2006/main" noGrp="1"/>
          </p:cNvSpPr>
          <p:nvPr/>
        </p:nvSpPr>
        <p:spPr>
          <a:xfrm xmlns:a="http://schemas.openxmlformats.org/drawingml/2006/main">
            <a:off x="6038850" y="1619250"/>
            <a:ext cx="5543550" cy="4000500"/>
          </a:xfrm>
          <a:prstGeom xmlns:a="http://schemas.openxmlformats.org/drawingml/2006/main" prst="roundRect">
            <a:avLst>
              <a:gd name="adj" fmla="val 1905"/>
            </a:avLst>
          </a:prstGeom>
          <a:solidFill xmlns:a="http://schemas.openxmlformats.org/drawingml/2006/main">
            <a:srgbClr val="FFFFFF"/>
          </a:solidFill>
          <a:ln xmlns:a="http://schemas.openxmlformats.org/drawingml/2006/main" w="9525">
            <a:solidFill>
              <a:srgbClr val="D7E1E8"/>
            </a:solidFill>
            <a:prstDash val="solid"/>
          </a:ln>
        </p:spPr>
      </p:sp>
      <p:sp>
        <p:nvSpPr>
          <p:cNvPr id="18" name="">
            <a:extLst xmlns:a="http://schemas.openxmlformats.org/drawingml/2006/main">
              <a:ext uri="{FF2B5EF4-FFF2-40B4-BE49-F238E27FC236}">
                <a16:creationId xmlns:a16="http://schemas.microsoft.com/office/drawing/2014/main" id="{9DD8622A-06EF-49D5-850E-4907879CF6B0}"/>
              </a:ext>
            </a:extLst>
          </p:cNvPr>
          <p:cNvSpPr>
            <a:spLocks xmlns:a="http://schemas.openxmlformats.org/drawingml/2006/main" noGrp="1"/>
          </p:cNvSpPr>
          <p:nvPr/>
        </p:nvSpPr>
        <p:spPr>
          <a:xfrm xmlns:a="http://schemas.openxmlformats.org/drawingml/2006/main">
            <a:off x="6286500" y="18288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WHAT I WILL REPORT</a:t>
            </a:r>
          </a:p>
        </p:txBody>
      </p:sp>
      <p:sp>
        <p:nvSpPr>
          <p:cNvPr id="19" name="">
            <a:extLst xmlns:a="http://schemas.openxmlformats.org/drawingml/2006/main">
              <a:ext uri="{FF2B5EF4-FFF2-40B4-BE49-F238E27FC236}">
                <a16:creationId xmlns:a16="http://schemas.microsoft.com/office/drawing/2014/main" id="{E88050F2-BD03-4628-A6F2-D59B0840942A}"/>
              </a:ext>
            </a:extLst>
          </p:cNvPr>
          <p:cNvSpPr>
            <a:spLocks xmlns:a="http://schemas.openxmlformats.org/drawingml/2006/main" noGrp="1"/>
          </p:cNvSpPr>
          <p:nvPr/>
        </p:nvSpPr>
        <p:spPr>
          <a:xfrm xmlns:a="http://schemas.openxmlformats.org/drawingml/2006/main">
            <a:off x="6286500" y="2352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D136E8A-41E3-4988-B934-96906622E212}"/>
              </a:ext>
            </a:extLst>
          </p:cNvPr>
          <p:cNvSpPr>
            <a:spLocks xmlns:a="http://schemas.openxmlformats.org/drawingml/2006/main" noGrp="1"/>
          </p:cNvSpPr>
          <p:nvPr/>
        </p:nvSpPr>
        <p:spPr>
          <a:xfrm xmlns:a="http://schemas.openxmlformats.org/drawingml/2006/main">
            <a:off x="6515100" y="2266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Primary: 18-action mean IoU (exclude none)</a:t>
            </a:r>
          </a:p>
        </p:txBody>
      </p:sp>
      <p:sp>
        <p:nvSpPr>
          <p:cNvPr id="21" name="">
            <a:extLst xmlns:a="http://schemas.openxmlformats.org/drawingml/2006/main">
              <a:ext uri="{FF2B5EF4-FFF2-40B4-BE49-F238E27FC236}">
                <a16:creationId xmlns:a16="http://schemas.microsoft.com/office/drawing/2014/main" id="{B21E9273-91B6-4A6D-B1B4-B3EC3F3D0233}"/>
              </a:ext>
            </a:extLst>
          </p:cNvPr>
          <p:cNvSpPr>
            <a:spLocks xmlns:a="http://schemas.openxmlformats.org/drawingml/2006/main" noGrp="1"/>
          </p:cNvSpPr>
          <p:nvPr/>
        </p:nvSpPr>
        <p:spPr>
          <a:xfrm xmlns:a="http://schemas.openxmlformats.org/drawingml/2006/main">
            <a:off x="6286500" y="2924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64A2C20-F781-4643-B034-0DADD0683B3B}"/>
              </a:ext>
            </a:extLst>
          </p:cNvPr>
          <p:cNvSpPr>
            <a:spLocks xmlns:a="http://schemas.openxmlformats.org/drawingml/2006/main" noGrp="1"/>
          </p:cNvSpPr>
          <p:nvPr/>
        </p:nvSpPr>
        <p:spPr>
          <a:xfrm xmlns:a="http://schemas.openxmlformats.org/drawingml/2006/main">
            <a:off x="6515100" y="28384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Also report 19-class mean IoU (include none)</a:t>
            </a:r>
          </a:p>
        </p:txBody>
      </p:sp>
      <p:sp>
        <p:nvSpPr>
          <p:cNvPr id="23" name="">
            <a:extLst xmlns:a="http://schemas.openxmlformats.org/drawingml/2006/main">
              <a:ext uri="{FF2B5EF4-FFF2-40B4-BE49-F238E27FC236}">
                <a16:creationId xmlns:a16="http://schemas.microsoft.com/office/drawing/2014/main" id="{9F1BAC4B-1D45-4A87-B41E-B151A2B1FD72}"/>
              </a:ext>
            </a:extLst>
          </p:cNvPr>
          <p:cNvSpPr>
            <a:spLocks xmlns:a="http://schemas.openxmlformats.org/drawingml/2006/main" noGrp="1"/>
          </p:cNvSpPr>
          <p:nvPr/>
        </p:nvSpPr>
        <p:spPr>
          <a:xfrm xmlns:a="http://schemas.openxmlformats.org/drawingml/2006/main">
            <a:off x="628650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49C2EBD-176F-4639-B6D1-33692C01ACFB}"/>
              </a:ext>
            </a:extLst>
          </p:cNvPr>
          <p:cNvSpPr>
            <a:spLocks xmlns:a="http://schemas.openxmlformats.org/drawingml/2006/main" noGrp="1"/>
          </p:cNvSpPr>
          <p:nvPr/>
        </p:nvSpPr>
        <p:spPr>
          <a:xfrm xmlns:a="http://schemas.openxmlformats.org/drawingml/2006/main">
            <a:off x="6515100" y="3409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Per-action IoU and AUC</a:t>
            </a:r>
          </a:p>
        </p:txBody>
      </p:sp>
      <p:sp>
        <p:nvSpPr>
          <p:cNvPr id="25" name="">
            <a:extLst xmlns:a="http://schemas.openxmlformats.org/drawingml/2006/main">
              <a:ext uri="{FF2B5EF4-FFF2-40B4-BE49-F238E27FC236}">
                <a16:creationId xmlns:a16="http://schemas.microsoft.com/office/drawing/2014/main" id="{DBA4474F-3378-4D70-87DA-E565BB900E8B}"/>
              </a:ext>
            </a:extLst>
          </p:cNvPr>
          <p:cNvSpPr>
            <a:spLocks xmlns:a="http://schemas.openxmlformats.org/drawingml/2006/main" noGrp="1"/>
          </p:cNvSpPr>
          <p:nvPr/>
        </p:nvSpPr>
        <p:spPr>
          <a:xfrm xmlns:a="http://schemas.openxmlformats.org/drawingml/2006/main">
            <a:off x="6286500" y="4067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88EAB27-85F2-49F6-83D1-DA9333C245FB}"/>
              </a:ext>
            </a:extLst>
          </p:cNvPr>
          <p:cNvSpPr>
            <a:spLocks xmlns:a="http://schemas.openxmlformats.org/drawingml/2006/main" noGrp="1"/>
          </p:cNvSpPr>
          <p:nvPr/>
        </p:nvSpPr>
        <p:spPr>
          <a:xfrm xmlns:a="http://schemas.openxmlformats.org/drawingml/2006/main">
            <a:off x="6515100" y="39814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False-positive rate on objects without the action</a:t>
            </a:r>
          </a:p>
        </p:txBody>
      </p:sp>
      <p:sp>
        <p:nvSpPr>
          <p:cNvPr id="27" name="">
            <a:extLst xmlns:a="http://schemas.openxmlformats.org/drawingml/2006/main">
              <a:ext uri="{FF2B5EF4-FFF2-40B4-BE49-F238E27FC236}">
                <a16:creationId xmlns:a16="http://schemas.microsoft.com/office/drawing/2014/main" id="{303F5CAA-6442-4B3B-A166-030035826F92}"/>
              </a:ext>
            </a:extLst>
          </p:cNvPr>
          <p:cNvSpPr>
            <a:spLocks xmlns:a="http://schemas.openxmlformats.org/drawingml/2006/main" noGrp="1"/>
          </p:cNvSpPr>
          <p:nvPr/>
        </p:nvSpPr>
        <p:spPr>
          <a:xfrm xmlns:a="http://schemas.openxmlformats.org/drawingml/2006/main">
            <a:off x="6286500" y="4638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B3C25E0-EB1E-49A0-B827-5844C86BFE91}"/>
              </a:ext>
            </a:extLst>
          </p:cNvPr>
          <p:cNvSpPr>
            <a:spLocks xmlns:a="http://schemas.openxmlformats.org/drawingml/2006/main" noGrp="1"/>
          </p:cNvSpPr>
          <p:nvPr/>
        </p:nvSpPr>
        <p:spPr>
          <a:xfrm xmlns:a="http://schemas.openxmlformats.org/drawingml/2006/main">
            <a:off x="6515100" y="4552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Paired confidence interval, resampling objects</a:t>
            </a:r>
          </a:p>
        </p:txBody>
      </p:sp>
    </p:spTree>
    <p:extLst>
      <p:ext uri="{BB962C8B-B14F-4D97-AF65-F5344CB8AC3E}">
        <p14:creationId xmlns:p14="http://schemas.microsoft.com/office/powerpoint/2010/main" val="1819751367"/>
      </p:ext>
    </p:extLst>
  </p:cSld>
</p:sld>
</file>

<file path=ppt/slides/slide10.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57046F0-D8E1-414B-9641-A3AFF3BDE95D}"/>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sp>
        <p:nvSpPr>
          <p:cNvPr id="2" name="">
            <a:extLst xmlns:a="http://schemas.openxmlformats.org/drawingml/2006/main">
              <a:ext uri="{FF2B5EF4-FFF2-40B4-BE49-F238E27FC236}">
                <a16:creationId xmlns:a16="http://schemas.microsoft.com/office/drawing/2014/main" id="{D7727EB0-BDF9-4489-842F-0CF95C340A75}"/>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Next steps: lock the test, run the comparison, report honestly</a:t>
            </a:r>
          </a:p>
        </p:txBody>
      </p:sp>
      <p:sp>
        <p:nvSpPr>
          <p:cNvPr id="3" name="">
            <a:extLst xmlns:a="http://schemas.openxmlformats.org/drawingml/2006/main">
              <a:ext uri="{FF2B5EF4-FFF2-40B4-BE49-F238E27FC236}">
                <a16:creationId xmlns:a16="http://schemas.microsoft.com/office/drawing/2014/main" id="{4F1A5A4C-B377-4628-AA95-566E03E01BEA}"/>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08A55A7-0AFB-4045-AFD7-15E81E56A896}"/>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10 / 10</a:t>
            </a:r>
          </a:p>
        </p:txBody>
      </p:sp>
      <p:sp>
        <p:nvSpPr>
          <p:cNvPr id="5" name="">
            <a:extLst xmlns:a="http://schemas.openxmlformats.org/drawingml/2006/main">
              <a:ext uri="{FF2B5EF4-FFF2-40B4-BE49-F238E27FC236}">
                <a16:creationId xmlns:a16="http://schemas.microsoft.com/office/drawing/2014/main" id="{7F45BA11-E368-4E1E-85A9-472585ECF55C}"/>
              </a:ext>
            </a:extLst>
          </p:cNvPr>
          <p:cNvSpPr>
            <a:spLocks xmlns:a="http://schemas.openxmlformats.org/drawingml/2006/main" noGrp="1"/>
          </p:cNvSpPr>
          <p:nvPr/>
        </p:nvSpPr>
        <p:spPr>
          <a:xfrm xmlns:a="http://schemas.openxmlformats.org/drawingml/2006/main">
            <a:off x="609600" y="1695450"/>
            <a:ext cx="12001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6" name="">
            <a:extLst xmlns:a="http://schemas.openxmlformats.org/drawingml/2006/main">
              <a:ext uri="{FF2B5EF4-FFF2-40B4-BE49-F238E27FC236}">
                <a16:creationId xmlns:a16="http://schemas.microsoft.com/office/drawing/2014/main" id="{ED0E8AAA-AE43-4FBE-861E-44B24C1A39C2}"/>
              </a:ext>
            </a:extLst>
          </p:cNvPr>
          <p:cNvSpPr>
            <a:spLocks xmlns:a="http://schemas.openxmlformats.org/drawingml/2006/main" noGrp="1"/>
          </p:cNvSpPr>
          <p:nvPr/>
        </p:nvSpPr>
        <p:spPr>
          <a:xfrm xmlns:a="http://schemas.openxmlformats.org/drawingml/2006/main">
            <a:off x="676275" y="16954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NOW</a:t>
            </a:r>
          </a:p>
        </p:txBody>
      </p:sp>
      <p:sp>
        <p:nvSpPr>
          <p:cNvPr id="7" name="">
            <a:extLst xmlns:a="http://schemas.openxmlformats.org/drawingml/2006/main">
              <a:ext uri="{FF2B5EF4-FFF2-40B4-BE49-F238E27FC236}">
                <a16:creationId xmlns:a16="http://schemas.microsoft.com/office/drawing/2014/main" id="{1C351526-C8AB-412B-9314-40F3EA266048}"/>
              </a:ext>
            </a:extLst>
          </p:cNvPr>
          <p:cNvSpPr>
            <a:spLocks xmlns:a="http://schemas.openxmlformats.org/drawingml/2006/main" noGrp="1"/>
          </p:cNvSpPr>
          <p:nvPr/>
        </p:nvSpPr>
        <p:spPr>
          <a:xfrm xmlns:a="http://schemas.openxmlformats.org/drawingml/2006/main">
            <a:off x="2019300" y="16954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Write and freeze all 18 paraphrases; confirm the split</a:t>
            </a:r>
          </a:p>
        </p:txBody>
      </p:sp>
      <p:sp>
        <p:nvSpPr>
          <p:cNvPr id="8" name="">
            <a:extLst xmlns:a="http://schemas.openxmlformats.org/drawingml/2006/main">
              <a:ext uri="{FF2B5EF4-FFF2-40B4-BE49-F238E27FC236}">
                <a16:creationId xmlns:a16="http://schemas.microsoft.com/office/drawing/2014/main" id="{C54D1927-9083-42DF-8A7A-A565D748A50B}"/>
              </a:ext>
            </a:extLst>
          </p:cNvPr>
          <p:cNvSpPr>
            <a:spLocks xmlns:a="http://schemas.openxmlformats.org/drawingml/2006/main" noGrp="1"/>
          </p:cNvSpPr>
          <p:nvPr/>
        </p:nvSpPr>
        <p:spPr>
          <a:xfrm xmlns:a="http://schemas.openxmlformats.org/drawingml/2006/main">
            <a:off x="609600" y="2343150"/>
            <a:ext cx="12001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9" name="">
            <a:extLst xmlns:a="http://schemas.openxmlformats.org/drawingml/2006/main">
              <a:ext uri="{FF2B5EF4-FFF2-40B4-BE49-F238E27FC236}">
                <a16:creationId xmlns:a16="http://schemas.microsoft.com/office/drawing/2014/main" id="{F3366DFE-C2A4-4582-B20E-FC1EFB7FE0B1}"/>
              </a:ext>
            </a:extLst>
          </p:cNvPr>
          <p:cNvSpPr>
            <a:spLocks xmlns:a="http://schemas.openxmlformats.org/drawingml/2006/main" noGrp="1"/>
          </p:cNvSpPr>
          <p:nvPr/>
        </p:nvSpPr>
        <p:spPr>
          <a:xfrm xmlns:a="http://schemas.openxmlformats.org/drawingml/2006/main">
            <a:off x="676275" y="23431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NEXT</a:t>
            </a:r>
          </a:p>
        </p:txBody>
      </p:sp>
      <p:sp>
        <p:nvSpPr>
          <p:cNvPr id="10" name="">
            <a:extLst xmlns:a="http://schemas.openxmlformats.org/drawingml/2006/main">
              <a:ext uri="{FF2B5EF4-FFF2-40B4-BE49-F238E27FC236}">
                <a16:creationId xmlns:a16="http://schemas.microsoft.com/office/drawing/2014/main" id="{05855520-F316-45D0-8C9B-72E83A0E5B01}"/>
              </a:ext>
            </a:extLst>
          </p:cNvPr>
          <p:cNvSpPr>
            <a:spLocks xmlns:a="http://schemas.openxmlformats.org/drawingml/2006/main" noGrp="1"/>
          </p:cNvSpPr>
          <p:nvPr/>
        </p:nvSpPr>
        <p:spPr>
          <a:xfrm xmlns:a="http://schemas.openxmlformats.org/drawingml/2006/main">
            <a:off x="2019300" y="23431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Run original and paraphrased queries on identical inputs</a:t>
            </a:r>
          </a:p>
        </p:txBody>
      </p:sp>
      <p:sp>
        <p:nvSpPr>
          <p:cNvPr id="11" name="">
            <a:extLst xmlns:a="http://schemas.openxmlformats.org/drawingml/2006/main">
              <a:ext uri="{FF2B5EF4-FFF2-40B4-BE49-F238E27FC236}">
                <a16:creationId xmlns:a16="http://schemas.microsoft.com/office/drawing/2014/main" id="{C8BF5105-83F7-4602-BB2B-A69F9EB9F4A7}"/>
              </a:ext>
            </a:extLst>
          </p:cNvPr>
          <p:cNvSpPr>
            <a:spLocks xmlns:a="http://schemas.openxmlformats.org/drawingml/2006/main" noGrp="1"/>
          </p:cNvSpPr>
          <p:nvPr/>
        </p:nvSpPr>
        <p:spPr>
          <a:xfrm xmlns:a="http://schemas.openxmlformats.org/drawingml/2006/main">
            <a:off x="609600" y="2990850"/>
            <a:ext cx="12001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2" name="">
            <a:extLst xmlns:a="http://schemas.openxmlformats.org/drawingml/2006/main">
              <a:ext uri="{FF2B5EF4-FFF2-40B4-BE49-F238E27FC236}">
                <a16:creationId xmlns:a16="http://schemas.microsoft.com/office/drawing/2014/main" id="{F2CC42FB-FEDA-46F3-9246-A99992C8B61C}"/>
              </a:ext>
            </a:extLst>
          </p:cNvPr>
          <p:cNvSpPr>
            <a:spLocks xmlns:a="http://schemas.openxmlformats.org/drawingml/2006/main" noGrp="1"/>
          </p:cNvSpPr>
          <p:nvPr/>
        </p:nvSpPr>
        <p:spPr>
          <a:xfrm xmlns:a="http://schemas.openxmlformats.org/drawingml/2006/main">
            <a:off x="676275" y="29908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THEN</a:t>
            </a:r>
          </a:p>
        </p:txBody>
      </p:sp>
      <p:sp>
        <p:nvSpPr>
          <p:cNvPr id="13" name="">
            <a:extLst xmlns:a="http://schemas.openxmlformats.org/drawingml/2006/main">
              <a:ext uri="{FF2B5EF4-FFF2-40B4-BE49-F238E27FC236}">
                <a16:creationId xmlns:a16="http://schemas.microsoft.com/office/drawing/2014/main" id="{76800A88-576D-4ED0-A720-7F42C013F2EB}"/>
              </a:ext>
            </a:extLst>
          </p:cNvPr>
          <p:cNvSpPr>
            <a:spLocks xmlns:a="http://schemas.openxmlformats.org/drawingml/2006/main" noGrp="1"/>
          </p:cNvSpPr>
          <p:nvPr/>
        </p:nvSpPr>
        <p:spPr>
          <a:xfrm xmlns:a="http://schemas.openxmlformats.org/drawingml/2006/main">
            <a:off x="2019300" y="29908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Compare IoU and false alarms by action; show failures</a:t>
            </a:r>
          </a:p>
        </p:txBody>
      </p:sp>
      <p:sp>
        <p:nvSpPr>
          <p:cNvPr id="14" name="">
            <a:extLst xmlns:a="http://schemas.openxmlformats.org/drawingml/2006/main">
              <a:ext uri="{FF2B5EF4-FFF2-40B4-BE49-F238E27FC236}">
                <a16:creationId xmlns:a16="http://schemas.microsoft.com/office/drawing/2014/main" id="{82595293-E145-400C-B1AB-F06BDCAA74CE}"/>
              </a:ext>
            </a:extLst>
          </p:cNvPr>
          <p:cNvSpPr>
            <a:spLocks xmlns:a="http://schemas.openxmlformats.org/drawingml/2006/main" noGrp="1"/>
          </p:cNvSpPr>
          <p:nvPr/>
        </p:nvSpPr>
        <p:spPr>
          <a:xfrm xmlns:a="http://schemas.openxmlformats.org/drawingml/2006/main">
            <a:off x="609600" y="3638550"/>
            <a:ext cx="120015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5" name="">
            <a:extLst xmlns:a="http://schemas.openxmlformats.org/drawingml/2006/main">
              <a:ext uri="{FF2B5EF4-FFF2-40B4-BE49-F238E27FC236}">
                <a16:creationId xmlns:a16="http://schemas.microsoft.com/office/drawing/2014/main" id="{F6080CA7-09C9-43E3-AA88-9C7E2BD342B0}"/>
              </a:ext>
            </a:extLst>
          </p:cNvPr>
          <p:cNvSpPr>
            <a:spLocks xmlns:a="http://schemas.openxmlformats.org/drawingml/2006/main" noGrp="1"/>
          </p:cNvSpPr>
          <p:nvPr/>
        </p:nvSpPr>
        <p:spPr>
          <a:xfrm xmlns:a="http://schemas.openxmlformats.org/drawingml/2006/main">
            <a:off x="676275" y="3638550"/>
            <a:ext cx="106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WEEKS 13–15</a:t>
            </a:r>
          </a:p>
        </p:txBody>
      </p:sp>
      <p:sp>
        <p:nvSpPr>
          <p:cNvPr id="16" name="">
            <a:extLst xmlns:a="http://schemas.openxmlformats.org/drawingml/2006/main">
              <a:ext uri="{FF2B5EF4-FFF2-40B4-BE49-F238E27FC236}">
                <a16:creationId xmlns:a16="http://schemas.microsoft.com/office/drawing/2014/main" id="{BAA8162D-E40D-4A88-84BE-C35CEE29B3D9}"/>
              </a:ext>
            </a:extLst>
          </p:cNvPr>
          <p:cNvSpPr>
            <a:spLocks xmlns:a="http://schemas.openxmlformats.org/drawingml/2006/main" noGrp="1"/>
          </p:cNvSpPr>
          <p:nvPr/>
        </p:nvSpPr>
        <p:spPr>
          <a:xfrm xmlns:a="http://schemas.openxmlformats.org/drawingml/2006/main">
            <a:off x="2019300" y="36385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Write results and prepare the final presentation</a:t>
            </a:r>
          </a:p>
        </p:txBody>
      </p:sp>
      <p:sp>
        <p:nvSpPr>
          <p:cNvPr id="17" name="">
            <a:extLst xmlns:a="http://schemas.openxmlformats.org/drawingml/2006/main">
              <a:ext uri="{FF2B5EF4-FFF2-40B4-BE49-F238E27FC236}">
                <a16:creationId xmlns:a16="http://schemas.microsoft.com/office/drawing/2014/main" id="{85A0789B-60DA-4A1A-863E-2D26D3ADFF2F}"/>
              </a:ext>
            </a:extLst>
          </p:cNvPr>
          <p:cNvSpPr>
            <a:spLocks xmlns:a="http://schemas.openxmlformats.org/drawingml/2006/main" noGrp="1"/>
          </p:cNvSpPr>
          <p:nvPr/>
        </p:nvSpPr>
        <p:spPr>
          <a:xfrm xmlns:a="http://schemas.openxmlformats.org/drawingml/2006/main">
            <a:off x="8572500" y="1676400"/>
            <a:ext cx="3009900" cy="3105150"/>
          </a:xfrm>
          <a:prstGeom xmlns:a="http://schemas.openxmlformats.org/drawingml/2006/main" prst="roundRect">
            <a:avLst>
              <a:gd name="adj" fmla="val 2532"/>
            </a:avLst>
          </a:prstGeom>
          <a:solidFill xmlns:a="http://schemas.openxmlformats.org/drawingml/2006/main">
            <a:srgbClr val="102A43"/>
          </a:solidFill>
          <a:ln xmlns:a="http://schemas.openxmlformats.org/drawingml/2006/main" w="9525">
            <a:noFill/>
            <a:prstDash val="solid"/>
          </a:ln>
        </p:spPr>
      </p:sp>
      <p:sp>
        <p:nvSpPr>
          <p:cNvPr id="18" name="">
            <a:extLst xmlns:a="http://schemas.openxmlformats.org/drawingml/2006/main">
              <a:ext uri="{FF2B5EF4-FFF2-40B4-BE49-F238E27FC236}">
                <a16:creationId xmlns:a16="http://schemas.microsoft.com/office/drawing/2014/main" id="{DBCA4EF0-AD62-4B5E-99BC-1A41A4EADAE3}"/>
              </a:ext>
            </a:extLst>
          </p:cNvPr>
          <p:cNvSpPr>
            <a:spLocks xmlns:a="http://schemas.openxmlformats.org/drawingml/2006/main" noGrp="1"/>
          </p:cNvSpPr>
          <p:nvPr/>
        </p:nvSpPr>
        <p:spPr>
          <a:xfrm xmlns:a="http://schemas.openxmlformats.org/drawingml/2006/main">
            <a:off x="8820150" y="18859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58C4D6"/>
                </a:solidFill>
                <a:latin typeface="Avenir"/>
                <a:ea typeface="Avenir"/>
                <a:cs typeface="Avenir"/>
              </a:defRPr>
            </a:defPPr>
          </a:lstStyle>
          <a:p xmlns:a="http://schemas.openxmlformats.org/drawingml/2006/main">
            <a:pPr algn="l">
              <a:defRPr sz="1200" b="1">
                <a:solidFill>
                  <a:srgbClr val="58C4D6"/>
                </a:solidFill>
                <a:latin typeface="Avenir"/>
                <a:ea typeface="Avenir"/>
                <a:cs typeface="Avenir"/>
              </a:defRPr>
            </a:pPr>
            <a:r>
              <a:rPr sz="1200" b="1">
                <a:solidFill>
                  <a:srgbClr val="58C4D6"/>
                </a:solidFill>
                <a:latin typeface="Avenir"/>
                <a:ea typeface="Avenir"/>
                <a:cs typeface="Avenir"/>
              </a:rPr>
              <a:t>MAIN LIMIT</a:t>
            </a:r>
          </a:p>
        </p:txBody>
      </p:sp>
      <p:sp>
        <p:nvSpPr>
          <p:cNvPr id="19" name="">
            <a:extLst xmlns:a="http://schemas.openxmlformats.org/drawingml/2006/main">
              <a:ext uri="{FF2B5EF4-FFF2-40B4-BE49-F238E27FC236}">
                <a16:creationId xmlns:a16="http://schemas.microsoft.com/office/drawing/2014/main" id="{C3A69A96-AAB9-417D-A3E1-59B8439753F6}"/>
              </a:ext>
            </a:extLst>
          </p:cNvPr>
          <p:cNvSpPr>
            <a:spLocks xmlns:a="http://schemas.openxmlformats.org/drawingml/2006/main" noGrp="1"/>
          </p:cNvSpPr>
          <p:nvPr/>
        </p:nvSpPr>
        <p:spPr>
          <a:xfrm xmlns:a="http://schemas.openxmlformats.org/drawingml/2006/main">
            <a:off x="8820150" y="2324100"/>
            <a:ext cx="2524125"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75" b="1">
                <a:solidFill>
                  <a:srgbClr val="FFFFFF"/>
                </a:solidFill>
                <a:latin typeface="Avenir"/>
                <a:ea typeface="Avenir"/>
                <a:cs typeface="Avenir"/>
              </a:defRPr>
            </a:defPPr>
          </a:lstStyle>
          <a:p xmlns:a="http://schemas.openxmlformats.org/drawingml/2006/main">
            <a:pPr algn="l">
              <a:defRPr sz="1575" b="1">
                <a:solidFill>
                  <a:srgbClr val="FFFFFF"/>
                </a:solidFill>
                <a:latin typeface="Avenir"/>
                <a:ea typeface="Avenir"/>
                <a:cs typeface="Avenir"/>
              </a:defRPr>
            </a:pPr>
            <a:r>
              <a:rPr sz="1575" b="1">
                <a:solidFill>
                  <a:srgbClr val="FFFFFF"/>
                </a:solidFill>
                <a:latin typeface="Avenir"/>
                <a:ea typeface="Avenir"/>
                <a:cs typeface="Avenir"/>
              </a:rPr>
              <a:t>The current validation data has already been used. A new untouched test set is best; otherwise call the new run exploratory.</a:t>
            </a:r>
          </a:p>
        </p:txBody>
      </p:sp>
      <p:sp>
        <p:nvSpPr>
          <p:cNvPr id="20" name="">
            <a:extLst xmlns:a="http://schemas.openxmlformats.org/drawingml/2006/main">
              <a:ext uri="{FF2B5EF4-FFF2-40B4-BE49-F238E27FC236}">
                <a16:creationId xmlns:a16="http://schemas.microsoft.com/office/drawing/2014/main" id="{BDDE5C55-34D5-4BD0-AFCB-3EAD407E1976}"/>
              </a:ext>
            </a:extLst>
          </p:cNvPr>
          <p:cNvSpPr>
            <a:spLocks xmlns:a="http://schemas.openxmlformats.org/drawingml/2006/main" noGrp="1"/>
          </p:cNvSpPr>
          <p:nvPr/>
        </p:nvSpPr>
        <p:spPr>
          <a:xfrm xmlns:a="http://schemas.openxmlformats.org/drawingml/2006/main">
            <a:off x="609600" y="52197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C94747"/>
                </a:solidFill>
                <a:latin typeface="Avenir"/>
                <a:ea typeface="Avenir"/>
                <a:cs typeface="Avenir"/>
              </a:defRPr>
            </a:defPPr>
          </a:lstStyle>
          <a:p xmlns:a="http://schemas.openxmlformats.org/drawingml/2006/main">
            <a:pPr algn="l">
              <a:defRPr sz="1275" b="1">
                <a:solidFill>
                  <a:srgbClr val="C94747"/>
                </a:solidFill>
                <a:latin typeface="Avenir"/>
                <a:ea typeface="Avenir"/>
                <a:cs typeface="Avenir"/>
              </a:defRPr>
            </a:pPr>
            <a:r>
              <a:rPr sz="1275" b="1">
                <a:solidFill>
                  <a:srgbClr val="C94747"/>
                </a:solidFill>
                <a:latin typeface="Avenir"/>
                <a:ea typeface="Avenir"/>
                <a:cs typeface="Avenir"/>
              </a:rPr>
              <a:t>Guideline deadline: PDF to e-Class by 15 Oct 2026, 10:59 AM KST · teamNN_T14_proposal.pdf</a:t>
            </a:r>
          </a:p>
        </p:txBody>
      </p:sp>
    </p:spTree>
    <p:extLst>
      <p:ext uri="{BB962C8B-B14F-4D97-AF65-F5344CB8AC3E}">
        <p14:creationId xmlns:p14="http://schemas.microsoft.com/office/powerpoint/2010/main" val="14991895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2026-10-13T04:11:58.8020000Z</dcterms:created>
  <dcterms:modified xsi:type="dcterms:W3CDTF">2026-10-13T04:11:58.8020000Z</dcterms:modified>
</coreProperties>
</file>