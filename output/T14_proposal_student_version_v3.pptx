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30ca4ed4774db4" /><Relationship Type="http://schemas.openxmlformats.org/officeDocument/2006/relationships/extended-properties" Target="/docProps/app.xml" Id="R76cb09c303cb4b8f" /><Relationship Type="http://schemas.openxmlformats.org/officeDocument/2006/relationships/officeDocument" Target="/ppt/presentation.xml" Id="Re3f9c989a23841ea" /></Relationships>
</file>

<file path=ppt/presentation.xml><?xml version="1.0" encoding="utf-8"?>
<p:presentation xmlns:p="http://schemas.openxmlformats.org/presentationml/2006/main">
  <p:sldMasterIdLst>
    <p:sldMasterId xmlns:r="http://schemas.openxmlformats.org/officeDocument/2006/relationships" id="2147483648" r:id="R82ee1c6ddab84bef"/>
  </p:sldMasterIdLst>
  <p:notesMasterIdLst>
    <p:notesMasterId xmlns:r="http://schemas.openxmlformats.org/officeDocument/2006/relationships" r:id="R48ba9b757d2b4d8f"/>
  </p:notesMasterIdLst>
  <p:sldIdLst>
    <p:sldId xmlns:r="http://schemas.openxmlformats.org/officeDocument/2006/relationships" id="256" r:id="Re157b6d66c3e4537"/>
    <p:sldId xmlns:r="http://schemas.openxmlformats.org/officeDocument/2006/relationships" id="257" r:id="R247b35fcc3f04688"/>
    <p:sldId xmlns:r="http://schemas.openxmlformats.org/officeDocument/2006/relationships" id="258" r:id="Rb01cff6e1b9d4a9b"/>
    <p:sldId xmlns:r="http://schemas.openxmlformats.org/officeDocument/2006/relationships" id="259" r:id="R79452dddf7024ee4"/>
    <p:sldId xmlns:r="http://schemas.openxmlformats.org/officeDocument/2006/relationships" id="260" r:id="R4d25079bb01c4971"/>
    <p:sldId xmlns:r="http://schemas.openxmlformats.org/officeDocument/2006/relationships" id="261" r:id="Rc197f9a84c954f98"/>
    <p:sldId xmlns:r="http://schemas.openxmlformats.org/officeDocument/2006/relationships" id="262" r:id="Rc1e3ee2ec9a34d75"/>
    <p:sldId xmlns:r="http://schemas.openxmlformats.org/officeDocument/2006/relationships" id="263" r:id="R468b3a942d064d76"/>
    <p:sldId xmlns:r="http://schemas.openxmlformats.org/officeDocument/2006/relationships" id="264" r:id="R38616c86334342e5"/>
    <p:sldId xmlns:r="http://schemas.openxmlformats.org/officeDocument/2006/relationships" id="265" r:id="R8414e829c88c43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e060c1c11ee4d43" /><Relationship Type="http://schemas.openxmlformats.org/officeDocument/2006/relationships/slideMaster" Target="/ppt/slideMasters/slideMaster1.xml" Id="R82ee1c6ddab84bef" /><Relationship Type="http://schemas.openxmlformats.org/officeDocument/2006/relationships/notesMaster" Target="/ppt/notesMasters/notesMaster1.xml" Id="R48ba9b757d2b4d8f" /><Relationship Type="http://schemas.openxmlformats.org/officeDocument/2006/relationships/presProps" Target="/ppt/presProps.xml" Id="Rc3951854c48a4339" /><Relationship Type="http://schemas.openxmlformats.org/officeDocument/2006/relationships/tableStyles" Target="/ppt/tableStyles.xml" Id="Rce73a204a48e405b" /><Relationship Type="http://schemas.openxmlformats.org/officeDocument/2006/relationships/slide" Target="/ppt/slides/slide1.xml" Id="Re157b6d66c3e4537" /><Relationship Type="http://schemas.openxmlformats.org/officeDocument/2006/relationships/slide" Target="/ppt/slides/slide2.xml" Id="R247b35fcc3f04688" /><Relationship Type="http://schemas.openxmlformats.org/officeDocument/2006/relationships/slide" Target="/ppt/slides/slide3.xml" Id="Rb01cff6e1b9d4a9b" /><Relationship Type="http://schemas.openxmlformats.org/officeDocument/2006/relationships/slide" Target="/ppt/slides/slide4.xml" Id="R79452dddf7024ee4" /><Relationship Type="http://schemas.openxmlformats.org/officeDocument/2006/relationships/slide" Target="/ppt/slides/slide5.xml" Id="R4d25079bb01c4971" /><Relationship Type="http://schemas.openxmlformats.org/officeDocument/2006/relationships/slide" Target="/ppt/slides/slide6.xml" Id="Rc197f9a84c954f98" /><Relationship Type="http://schemas.openxmlformats.org/officeDocument/2006/relationships/slide" Target="/ppt/slides/slide7.xml" Id="Rc1e3ee2ec9a34d75" /><Relationship Type="http://schemas.openxmlformats.org/officeDocument/2006/relationships/slide" Target="/ppt/slides/slide8.xml" Id="R468b3a942d064d76" /><Relationship Type="http://schemas.openxmlformats.org/officeDocument/2006/relationships/slide" Target="/ppt/slides/slide9.xml" Id="R38616c86334342e5" /><Relationship Type="http://schemas.openxmlformats.org/officeDocument/2006/relationships/slide" Target="/ppt/slides/slide10.xml" Id="R8414e829c88c43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ef5021e6a14e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941732a1454b9c" /><Relationship Type="http://schemas.openxmlformats.org/officeDocument/2006/relationships/notesMaster" Target="/ppt/notesMasters/notesMaster1.xml" Id="R5da29c454b2543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11d82babec470b" /><Relationship Type="http://schemas.openxmlformats.org/officeDocument/2006/relationships/notesMaster" Target="/ppt/notesMasters/notesMaster1.xml" Id="R546ddcad61a64b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1885fc7df24d51" /><Relationship Type="http://schemas.openxmlformats.org/officeDocument/2006/relationships/notesMaster" Target="/ppt/notesMasters/notesMaster1.xml" Id="R38ad13b16ad243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f4dfd67b174c12" /><Relationship Type="http://schemas.openxmlformats.org/officeDocument/2006/relationships/notesMaster" Target="/ppt/notesMasters/notesMaster1.xml" Id="Rd8bc59a77a5140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a6a78fafe54c3c" /><Relationship Type="http://schemas.openxmlformats.org/officeDocument/2006/relationships/notesMaster" Target="/ppt/notesMasters/notesMaster1.xml" Id="Re66dabe6060241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ff70d8443e455d" /><Relationship Type="http://schemas.openxmlformats.org/officeDocument/2006/relationships/notesMaster" Target="/ppt/notesMasters/notesMaster1.xml" Id="Ra70ac728438a4a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2e0e1db7b54045" /><Relationship Type="http://schemas.openxmlformats.org/officeDocument/2006/relationships/notesMaster" Target="/ppt/notesMasters/notesMaster1.xml" Id="R62a4cb57a5bd47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df86163b434631" /><Relationship Type="http://schemas.openxmlformats.org/officeDocument/2006/relationships/notesMaster" Target="/ppt/notesMasters/notesMaster1.xml" Id="Rfc2b2aac31eb43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592438f86641ab" /><Relationship Type="http://schemas.openxmlformats.org/officeDocument/2006/relationships/notesMaster" Target="/ppt/notesMasters/notesMaster1.xml" Id="Rfcf3ddd3677646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b5a85a4e4a4105" /><Relationship Type="http://schemas.openxmlformats.org/officeDocument/2006/relationships/notesMaster" Target="/ppt/notesMasters/notesMaster1.xml" Id="R476736904f1149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team number and names. 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teammate’s preview came from the unofficial espresso-3d-reimplementation repository and Affogato-pretrained weights. Treat this as exploratory candidate-prompt work, not an official Affogato reproduction. Affostruction was not run on the user’s Mac;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updates the proposal to match the completed pilot: test one fixed, meaning-equivalent paraphrase per held-out action, not average five prompts. Primary hypothesis: higher 18-action macro IoU on partial views. Predeclare the prompt strings before evaluation. Falsify if paired object-level mean change is non-positive or its 95% interval includes zero. The prompt wording must be fixed without tuning on evaluation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instructor’s required baseline comparison: OpenAD as released versus one proposed prompt change. Use same object/view IDs and point samples, class slots, checkpoint, and argmax. Primary metric is point-wise IoU macro averaged over 18 affordances. Report the 19-class score including none separately. Secondary metrics: per-class IoU, AUC, false-positive fraction and any-alarm rate on negative objects. Analyze paired object-level differences, not individual points as independent. If no fresh split is available, label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proposal is submitted: replace team placeholders, confirm the seen/held-out vocabulary definition, and prepare an untouched object-disjoint test set if one is available. Otherwise present the planned work as exploratory validation. The guideline requires 8-minute English talk plus 2-minute Q&amp;A, 8–12 slides, and the PDF named teamNN_T14_proposal.pdf by Oct 15 at 10:59 AM KST. This deck has 10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c8e09544ed4c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68cf2e2e4a41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c650fe05a74c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9da7ff66544b0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ccfe203e7f4a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1e345a589345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440C81-179A-41C4-AF03-7E15C3C2842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4DFEB95-3D01-4B2C-A185-52EE30F1F47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5C9CF12-58C6-4E88-B3B5-FB2D0B5D65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43CDF-272E-4E4D-AADE-5BE08C40F6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F1D67D-3791-4D80-B515-B2746B15A8F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757C7EE-E590-4609-AD98-CB3D2A8235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527475-856D-456C-A516-273AE3364C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038B558-0717-42DB-9ED6-1A1EE37CAE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BD2F0B-B002-45EA-BBC7-58817F2070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3EE5B9-6FE8-4E0C-AFE6-EE75941AB2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54e1a4e7c547f2" /><Relationship Type="http://schemas.openxmlformats.org/officeDocument/2006/relationships/slideLayout" Target="/ppt/slideLayouts/slideLayout1.xml" Id="Rd0ed0fab93e14b06" /><Relationship Type="http://schemas.openxmlformats.org/officeDocument/2006/relationships/slideLayout" Target="/ppt/slideLayouts/slideLayout2.xml" Id="R246be8706d3b44db" /><Relationship Type="http://schemas.openxmlformats.org/officeDocument/2006/relationships/slideLayout" Target="/ppt/slideLayouts/slideLayout3.xml" Id="Ra1792650fd964d25" /><Relationship Type="http://schemas.openxmlformats.org/officeDocument/2006/relationships/slideLayout" Target="/ppt/slideLayouts/slideLayout4.xml" Id="R0d67eef582e64f01" /><Relationship Type="http://schemas.openxmlformats.org/officeDocument/2006/relationships/slideLayout" Target="/ppt/slideLayouts/slideLayout5.xml" Id="R73cece1965964a10" /><Relationship Type="http://schemas.openxmlformats.org/officeDocument/2006/relationships/slideLayout" Target="/ppt/slideLayouts/slideLayout6.xml" Id="R31bde2180c5f41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ed0fab93e14b06"/>
    <p:sldLayoutId xmlns:r="http://schemas.openxmlformats.org/officeDocument/2006/relationships" id="2147483650" r:id="R246be8706d3b44db"/>
    <p:sldLayoutId xmlns:r="http://schemas.openxmlformats.org/officeDocument/2006/relationships" id="2147483651" r:id="Ra1792650fd964d25"/>
    <p:sldLayoutId xmlns:r="http://schemas.openxmlformats.org/officeDocument/2006/relationships" id="2147483652" r:id="R0d67eef582e64f01"/>
    <p:sldLayoutId xmlns:r="http://schemas.openxmlformats.org/officeDocument/2006/relationships" id="2147483653" r:id="R73cece1965964a10"/>
    <p:sldLayoutId xmlns:r="http://schemas.openxmlformats.org/officeDocument/2006/relationships" id="2147483654" r:id="R31bde2180c5f41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af2c873ee9d4c42" /><Relationship Type="http://schemas.openxmlformats.org/officeDocument/2006/relationships/notesSlide" Target="/ppt/notesSlides/notesSlide1.xml" Id="R1d4ab68386e04f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c8669f70d74331" /><Relationship Type="http://schemas.openxmlformats.org/officeDocument/2006/relationships/notesSlide" Target="/ppt/notesSlides/notesSlide2.xml" Id="R91ceb335175848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b87acaa78b4620" /><Relationship Type="http://schemas.openxmlformats.org/officeDocument/2006/relationships/notesSlide" Target="/ppt/notesSlides/notesSlide3.xml" Id="Rb3a7cdac60d448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f2b7b85f1f74bc2" /><Relationship Type="http://schemas.openxmlformats.org/officeDocument/2006/relationships/notesSlide" Target="/ppt/notesSlides/notesSlide4.xml" Id="R9e0aae4a1bdd4e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99e45a74d774b48" /><Relationship Type="http://schemas.openxmlformats.org/officeDocument/2006/relationships/image" Target="/ppt/media/image.png" Id="R84dc6f7f0c294efc" /><Relationship Type="http://schemas.openxmlformats.org/officeDocument/2006/relationships/notesSlide" Target="/ppt/notesSlides/notesSlide5.xml" Id="R3b2a44e9bcb248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b6b3652cb1c40be" /><Relationship Type="http://schemas.openxmlformats.org/officeDocument/2006/relationships/notesSlide" Target="/ppt/notesSlides/notesSlide6.xml" Id="Re4d20e03fd4e44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d2268944f7c4a03" /><Relationship Type="http://schemas.openxmlformats.org/officeDocument/2006/relationships/notesSlide" Target="/ppt/notesSlides/notesSlide7.xml" Id="Rd9bb17ff568242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bf1f910252f4dad" /><Relationship Type="http://schemas.openxmlformats.org/officeDocument/2006/relationships/notesSlide" Target="/ppt/notesSlides/notesSlide8.xml" Id="R686017ff47964f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c034b6a72674b4e" /><Relationship Type="http://schemas.openxmlformats.org/officeDocument/2006/relationships/notesSlide" Target="/ppt/notesSlides/notesSlide9.xml" Id="R895c744593c747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41a5225a39d4806" /><Relationship Type="http://schemas.openxmlformats.org/officeDocument/2006/relationships/notesSlide" Target="/ppt/notesSlides/notesSlide10.xml" Id="Rba89b3dad5a749bd"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850F80-2885-4D8D-A737-1821DB86A62E}"/>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7A356A-27B7-4F83-9B52-D03215EDD654}"/>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3" name="">
            <a:extLst xmlns:a="http://schemas.openxmlformats.org/drawingml/2006/main">
              <a:ext uri="{FF2B5EF4-FFF2-40B4-BE49-F238E27FC236}">
                <a16:creationId xmlns:a16="http://schemas.microsoft.com/office/drawing/2014/main" id="{35C4337F-3C6D-4D7F-A46E-C7FA6DCD663C}"/>
              </a:ext>
            </a:extLst>
          </p:cNvPr>
          <p:cNvSpPr>
            <a:spLocks xmlns:a="http://schemas.openxmlformats.org/drawingml/2006/main" noGrp="1"/>
          </p:cNvSpPr>
          <p:nvPr/>
        </p:nvSpPr>
        <p:spPr>
          <a:xfrm xmlns:a="http://schemas.openxmlformats.org/drawingml/2006/main">
            <a:off x="723900" y="14287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FFFFF"/>
                </a:solidFill>
                <a:latin typeface="Avenir"/>
                <a:ea typeface="Avenir"/>
                <a:cs typeface="Avenir"/>
              </a:defRPr>
            </a:defPPr>
          </a:lstStyle>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What I learned from my</a:t>
            </a:r>
          </a:p>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3D affordance experiments</a:t>
            </a:r>
          </a:p>
        </p:txBody>
      </p:sp>
      <p:sp>
        <p:nvSpPr>
          <p:cNvPr id="4" name="">
            <a:extLst xmlns:a="http://schemas.openxmlformats.org/drawingml/2006/main">
              <a:ext uri="{FF2B5EF4-FFF2-40B4-BE49-F238E27FC236}">
                <a16:creationId xmlns:a16="http://schemas.microsoft.com/office/drawing/2014/main" id="{A6A295DF-A00C-48DE-AF5A-8880E1BB866B}"/>
              </a:ext>
            </a:extLst>
          </p:cNvPr>
          <p:cNvSpPr>
            <a:spLocks xmlns:a="http://schemas.openxmlformats.org/drawingml/2006/main" noGrp="1"/>
          </p:cNvSpPr>
          <p:nvPr/>
        </p:nvSpPr>
        <p:spPr>
          <a:xfrm xmlns:a="http://schemas.openxmlformats.org/drawingml/2006/main">
            <a:off x="762000" y="3333750"/>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And the next question I plan to test</a:t>
            </a:r>
          </a:p>
        </p:txBody>
      </p:sp>
      <p:sp>
        <p:nvSpPr>
          <p:cNvPr id="5" name="">
            <a:extLst xmlns:a="http://schemas.openxmlformats.org/drawingml/2006/main">
              <a:ext uri="{FF2B5EF4-FFF2-40B4-BE49-F238E27FC236}">
                <a16:creationId xmlns:a16="http://schemas.microsoft.com/office/drawing/2014/main" id="{783FCDA5-186D-4CB7-96B5-18814B0FD0BB}"/>
              </a:ext>
            </a:extLst>
          </p:cNvPr>
          <p:cNvSpPr>
            <a:spLocks xmlns:a="http://schemas.openxmlformats.org/drawingml/2006/main" noGrp="1"/>
          </p:cNvSpPr>
          <p:nvPr/>
        </p:nvSpPr>
        <p:spPr>
          <a:xfrm xmlns:a="http://schemas.openxmlformats.org/drawingml/2006/main">
            <a:off x="762000" y="4591050"/>
            <a:ext cx="4953000" cy="857250"/>
          </a:xfrm>
          <a:prstGeom xmlns:a="http://schemas.openxmlformats.org/drawingml/2006/main" prst="roundRect">
            <a:avLst>
              <a:gd name="adj" fmla="val 8889"/>
            </a:avLst>
          </a:prstGeom>
          <a:solidFill xmlns:a="http://schemas.openxmlformats.org/drawingml/2006/main">
            <a:srgbClr val="193B55"/>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DB50C037-698B-4065-8E53-18DD3564EF92}"/>
              </a:ext>
            </a:extLst>
          </p:cNvPr>
          <p:cNvSpPr>
            <a:spLocks xmlns:a="http://schemas.openxmlformats.org/drawingml/2006/main" noGrp="1"/>
          </p:cNvSpPr>
          <p:nvPr/>
        </p:nvSpPr>
        <p:spPr>
          <a:xfrm xmlns:a="http://schemas.openxmlformats.org/drawingml/2006/main">
            <a:off x="990600" y="4714875"/>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FFFFFF"/>
                </a:solidFill>
                <a:latin typeface="Avenir"/>
                <a:ea typeface="Avenir"/>
                <a:cs typeface="Avenir"/>
              </a:defRPr>
            </a:defPPr>
          </a:lstStyle>
          <a:p xmlns:a="http://schemas.openxmlformats.org/drawingml/2006/main">
            <a:pPr algn="l">
              <a:defRPr sz="1500" b="0">
                <a:solidFill>
                  <a:srgbClr val="FFFFFF"/>
                </a:solidFill>
                <a:latin typeface="Avenir"/>
                <a:ea typeface="Avenir"/>
                <a:cs typeface="Avenir"/>
              </a:defRPr>
            </a:pPr>
            <a:r>
              <a:rPr sz="1500" b="0">
                <a:solidFill>
                  <a:srgbClr val="FFFFFF"/>
                </a:solidFill>
                <a:latin typeface="Avenir"/>
                <a:ea typeface="Avenir"/>
                <a:cs typeface="Avenir"/>
              </a:rPr>
              <a:t>Team [NN] · [Names]</a:t>
            </a:r>
          </a:p>
          <a:p xmlns:a="http://schemas.openxmlformats.org/drawingml/2006/main">
            <a:pPr algn="l">
              <a:defRPr sz="1500" b="0">
                <a:solidFill>
                  <a:srgbClr val="FFFFFF"/>
                </a:solidFill>
                <a:latin typeface="Avenir"/>
                <a:ea typeface="Avenir"/>
                <a:cs typeface="Avenir"/>
              </a:defRPr>
            </a:pPr>
            <a:r>
              <a:rPr sz="1500" b="0">
                <a:solidFill>
                  <a:srgbClr val="FFFFFF"/>
                </a:solidFill>
                <a:latin typeface="Avenir"/>
                <a:ea typeface="Avenir"/>
                <a:cs typeface="Avenir"/>
              </a:rPr>
              <a:t>CSE 59358-01</a:t>
            </a:r>
          </a:p>
        </p:txBody>
      </p:sp>
      <p:sp>
        <p:nvSpPr>
          <p:cNvPr id="7" name="">
            <a:extLst xmlns:a="http://schemas.openxmlformats.org/drawingml/2006/main">
              <a:ext uri="{FF2B5EF4-FFF2-40B4-BE49-F238E27FC236}">
                <a16:creationId xmlns:a16="http://schemas.microsoft.com/office/drawing/2014/main" id="{0B263314-F3BA-4344-943B-E1A51FF535DE}"/>
              </a:ext>
            </a:extLst>
          </p:cNvPr>
          <p:cNvSpPr>
            <a:spLocks xmlns:a="http://schemas.openxmlformats.org/drawingml/2006/main" noGrp="1"/>
          </p:cNvSpPr>
          <p:nvPr/>
        </p:nvSpPr>
        <p:spPr>
          <a:xfrm xmlns:a="http://schemas.openxmlformats.org/drawingml/2006/main">
            <a:off x="762000" y="611505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AFC5D3"/>
                </a:solidFill>
                <a:latin typeface="Avenir"/>
                <a:ea typeface="Avenir"/>
                <a:cs typeface="Avenir"/>
              </a:defRPr>
            </a:defPPr>
          </a:lstStyle>
          <a:p xmlns:a="http://schemas.openxmlformats.org/drawingml/2006/main">
            <a:pPr algn="l">
              <a:defRPr sz="1125" b="0">
                <a:solidFill>
                  <a:srgbClr val="AFC5D3"/>
                </a:solidFill>
                <a:latin typeface="Avenir"/>
                <a:ea typeface="Avenir"/>
                <a:cs typeface="Avenir"/>
              </a:defRPr>
            </a:pPr>
            <a:r>
              <a:rPr sz="1125" b="0">
                <a:solidFill>
                  <a:srgbClr val="AFC5D3"/>
                </a:solidFill>
                <a:latin typeface="Avenir"/>
                <a:ea typeface="Avenir"/>
                <a:cs typeface="Avenir"/>
              </a:rPr>
              <a:t>8-minute proposal · 13 October 2026</a:t>
            </a:r>
          </a:p>
        </p:txBody>
      </p:sp>
      <p:sp>
        <p:nvSpPr>
          <p:cNvPr id="8" name="">
            <a:extLst xmlns:a="http://schemas.openxmlformats.org/drawingml/2006/main">
              <a:ext uri="{FF2B5EF4-FFF2-40B4-BE49-F238E27FC236}">
                <a16:creationId xmlns:a16="http://schemas.microsoft.com/office/drawing/2014/main" id="{51F91562-55BD-4DCF-BB72-EB6A8B3CE65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10</a:t>
            </a:r>
          </a:p>
        </p:txBody>
      </p:sp>
    </p:spTree>
    <p:extLst>
      <p:ext uri="{BB962C8B-B14F-4D97-AF65-F5344CB8AC3E}">
        <p14:creationId xmlns:p14="http://schemas.microsoft.com/office/powerpoint/2010/main" val="850448026"/>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C6446E0-F115-4810-AE69-5F2ECBAE699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B3757EDB-B111-46D0-9BFB-FD477827D970}"/>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3" name="">
            <a:extLst xmlns:a="http://schemas.openxmlformats.org/drawingml/2006/main">
              <a:ext uri="{FF2B5EF4-FFF2-40B4-BE49-F238E27FC236}">
                <a16:creationId xmlns:a16="http://schemas.microsoft.com/office/drawing/2014/main" id="{EAAAD115-6EF7-409F-AF15-4D5445EDCD15}"/>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16CA179-93FA-49BE-94E7-EA165D9B97C4}"/>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10</a:t>
            </a:r>
          </a:p>
        </p:txBody>
      </p:sp>
      <p:sp>
        <p:nvSpPr>
          <p:cNvPr id="5" name="">
            <a:extLst xmlns:a="http://schemas.openxmlformats.org/drawingml/2006/main">
              <a:ext uri="{FF2B5EF4-FFF2-40B4-BE49-F238E27FC236}">
                <a16:creationId xmlns:a16="http://schemas.microsoft.com/office/drawing/2014/main" id="{EEB50E22-941D-445A-83F5-B54F82A92DCD}"/>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56935E3F-D94C-4BD4-90D4-536EAEFE01C6}"/>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F159FC85-027B-4D1A-BD95-E0107AC10521}"/>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8" name="">
            <a:extLst xmlns:a="http://schemas.openxmlformats.org/drawingml/2006/main">
              <a:ext uri="{FF2B5EF4-FFF2-40B4-BE49-F238E27FC236}">
                <a16:creationId xmlns:a16="http://schemas.microsoft.com/office/drawing/2014/main" id="{FBA8C301-E308-42E7-ABE3-FB05F5BD530C}"/>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9" name="">
            <a:extLst xmlns:a="http://schemas.openxmlformats.org/drawingml/2006/main">
              <a:ext uri="{FF2B5EF4-FFF2-40B4-BE49-F238E27FC236}">
                <a16:creationId xmlns:a16="http://schemas.microsoft.com/office/drawing/2014/main" id="{027580FC-41E3-48AC-A4EB-C6107903B9B3}"/>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0" name="">
            <a:extLst xmlns:a="http://schemas.openxmlformats.org/drawingml/2006/main">
              <a:ext uri="{FF2B5EF4-FFF2-40B4-BE49-F238E27FC236}">
                <a16:creationId xmlns:a16="http://schemas.microsoft.com/office/drawing/2014/main" id="{15B73C6E-87BE-4680-80B4-B2C6169AB978}"/>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1" name="">
            <a:extLst xmlns:a="http://schemas.openxmlformats.org/drawingml/2006/main">
              <a:ext uri="{FF2B5EF4-FFF2-40B4-BE49-F238E27FC236}">
                <a16:creationId xmlns:a16="http://schemas.microsoft.com/office/drawing/2014/main" id="{2B7CDF7F-23C8-42C5-B20E-ECA792D7E8BB}"/>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7A8183F-23DE-4F8C-896A-62151BA1E600}"/>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8E04A525-4F1B-42D2-934E-3E0A2EFE4052}"/>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4" name="">
            <a:extLst xmlns:a="http://schemas.openxmlformats.org/drawingml/2006/main">
              <a:ext uri="{FF2B5EF4-FFF2-40B4-BE49-F238E27FC236}">
                <a16:creationId xmlns:a16="http://schemas.microsoft.com/office/drawing/2014/main" id="{C2C9FAA4-C831-4096-8DC5-3DCE8A2B0163}"/>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5" name="">
            <a:extLst xmlns:a="http://schemas.openxmlformats.org/drawingml/2006/main">
              <a:ext uri="{FF2B5EF4-FFF2-40B4-BE49-F238E27FC236}">
                <a16:creationId xmlns:a16="http://schemas.microsoft.com/office/drawing/2014/main" id="{B12A7C3B-C2DB-4E12-9BC4-CD9D159EC7D6}"/>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6" name="">
            <a:extLst xmlns:a="http://schemas.openxmlformats.org/drawingml/2006/main">
              <a:ext uri="{FF2B5EF4-FFF2-40B4-BE49-F238E27FC236}">
                <a16:creationId xmlns:a16="http://schemas.microsoft.com/office/drawing/2014/main" id="{20A40123-B303-409A-BE1C-F46BBBAA02DC}"/>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608801349"/>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82AE721-BEFE-4628-8009-1B4E0C534489}"/>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4A94BC93-9735-4215-9BFC-56BE2910A1EF}"/>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I ran: the same OpenAD model on the same data</a:t>
            </a:r>
          </a:p>
        </p:txBody>
      </p:sp>
      <p:sp>
        <p:nvSpPr>
          <p:cNvPr id="3" name="">
            <a:extLst xmlns:a="http://schemas.openxmlformats.org/drawingml/2006/main">
              <a:ext uri="{FF2B5EF4-FFF2-40B4-BE49-F238E27FC236}">
                <a16:creationId xmlns:a16="http://schemas.microsoft.com/office/drawing/2014/main" id="{4AE8E032-26EE-4D1F-9A4F-6756E0E7CD67}"/>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304360F-453F-4B91-A1D3-39CDD5374E5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10</a:t>
            </a:r>
          </a:p>
        </p:txBody>
      </p:sp>
      <p:sp>
        <p:nvSpPr>
          <p:cNvPr id="5" name="">
            <a:extLst xmlns:a="http://schemas.openxmlformats.org/drawingml/2006/main">
              <a:ext uri="{FF2B5EF4-FFF2-40B4-BE49-F238E27FC236}">
                <a16:creationId xmlns:a16="http://schemas.microsoft.com/office/drawing/2014/main" id="{5F693C7C-EC14-4FFB-920D-4ADC2C157357}"/>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93B84048-BE8D-4570-97CF-43F8A1C8049D}"/>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MY BASELINE</a:t>
            </a:r>
          </a:p>
        </p:txBody>
      </p:sp>
      <p:sp>
        <p:nvSpPr>
          <p:cNvPr id="7" name="">
            <a:extLst xmlns:a="http://schemas.openxmlformats.org/drawingml/2006/main">
              <a:ext uri="{FF2B5EF4-FFF2-40B4-BE49-F238E27FC236}">
                <a16:creationId xmlns:a16="http://schemas.microsoft.com/office/drawing/2014/main" id="{48CCA6CC-366C-4759-A224-C961CA619895}"/>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8" name="">
            <a:extLst xmlns:a="http://schemas.openxmlformats.org/drawingml/2006/main">
              <a:ext uri="{FF2B5EF4-FFF2-40B4-BE49-F238E27FC236}">
                <a16:creationId xmlns:a16="http://schemas.microsoft.com/office/drawing/2014/main" id="{86D1398E-F808-4F2A-8BD9-150FA0F14DC8}"/>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7EAF38B-D57E-4F9C-9D0E-BCCE786E5238}"/>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0" name="">
            <a:extLst xmlns:a="http://schemas.openxmlformats.org/drawingml/2006/main">
              <a:ext uri="{FF2B5EF4-FFF2-40B4-BE49-F238E27FC236}">
                <a16:creationId xmlns:a16="http://schemas.microsoft.com/office/drawing/2014/main" id="{2ABAC238-8410-4315-9894-AF1FA7889CDE}"/>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E68CE4C-60C2-4C62-9DF1-AB7016421E69}"/>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2" name="">
            <a:extLst xmlns:a="http://schemas.openxmlformats.org/drawingml/2006/main">
              <a:ext uri="{FF2B5EF4-FFF2-40B4-BE49-F238E27FC236}">
                <a16:creationId xmlns:a16="http://schemas.microsoft.com/office/drawing/2014/main" id="{9C4529D3-B3EE-48A7-B1A8-0575B6FA9627}"/>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4555E72-11C0-4D1F-BB01-23C081230C9F}"/>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4" name="">
            <a:extLst xmlns:a="http://schemas.openxmlformats.org/drawingml/2006/main">
              <a:ext uri="{FF2B5EF4-FFF2-40B4-BE49-F238E27FC236}">
                <a16:creationId xmlns:a16="http://schemas.microsoft.com/office/drawing/2014/main" id="{7D663285-717C-4A4F-BFA6-B716FD981A7B}"/>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AB4493D-09C1-482D-9D6A-930D75178426}"/>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6" name="">
            <a:extLst xmlns:a="http://schemas.openxmlformats.org/drawingml/2006/main">
              <a:ext uri="{FF2B5EF4-FFF2-40B4-BE49-F238E27FC236}">
                <a16:creationId xmlns:a16="http://schemas.microsoft.com/office/drawing/2014/main" id="{CB9E3496-0253-4212-A463-5E57C2E69BF1}"/>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8A6648E2-D294-47AF-B7E5-6B9EE9D50A08}"/>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8" name="">
            <a:extLst xmlns:a="http://schemas.openxmlformats.org/drawingml/2006/main">
              <a:ext uri="{FF2B5EF4-FFF2-40B4-BE49-F238E27FC236}">
                <a16:creationId xmlns:a16="http://schemas.microsoft.com/office/drawing/2014/main" id="{4AF8C541-AE24-4BEC-BC2A-FF211DBBE26A}"/>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19" name="">
            <a:extLst xmlns:a="http://schemas.openxmlformats.org/drawingml/2006/main">
              <a:ext uri="{FF2B5EF4-FFF2-40B4-BE49-F238E27FC236}">
                <a16:creationId xmlns:a16="http://schemas.microsoft.com/office/drawing/2014/main" id="{DBB52529-FA21-4A9F-A546-DEB5C108AA5F}"/>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0" name="">
            <a:extLst xmlns:a="http://schemas.openxmlformats.org/drawingml/2006/main">
              <a:ext uri="{FF2B5EF4-FFF2-40B4-BE49-F238E27FC236}">
                <a16:creationId xmlns:a16="http://schemas.microsoft.com/office/drawing/2014/main" id="{5B0D962D-DDC1-4C3A-AE21-3DCA9B6E12E0}"/>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1" name="">
            <a:extLst xmlns:a="http://schemas.openxmlformats.org/drawingml/2006/main">
              <a:ext uri="{FF2B5EF4-FFF2-40B4-BE49-F238E27FC236}">
                <a16:creationId xmlns:a16="http://schemas.microsoft.com/office/drawing/2014/main" id="{F5CB109D-F6AA-4082-B069-11B1C91BE96F}"/>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2" name="">
            <a:extLst xmlns:a="http://schemas.openxmlformats.org/drawingml/2006/main">
              <a:ext uri="{FF2B5EF4-FFF2-40B4-BE49-F238E27FC236}">
                <a16:creationId xmlns:a16="http://schemas.microsoft.com/office/drawing/2014/main" id="{BB1F410F-7931-418A-8A3F-A224F595F643}"/>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3" name="">
            <a:extLst xmlns:a="http://schemas.openxmlformats.org/drawingml/2006/main">
              <a:ext uri="{FF2B5EF4-FFF2-40B4-BE49-F238E27FC236}">
                <a16:creationId xmlns:a16="http://schemas.microsoft.com/office/drawing/2014/main" id="{3190D2DA-8580-440D-BC69-BB710F61E27D}"/>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4" name="">
            <a:extLst xmlns:a="http://schemas.openxmlformats.org/drawingml/2006/main">
              <a:ext uri="{FF2B5EF4-FFF2-40B4-BE49-F238E27FC236}">
                <a16:creationId xmlns:a16="http://schemas.microsoft.com/office/drawing/2014/main" id="{BF5974A6-ADD0-4A50-B130-D1C27D87FB1B}"/>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5" name="">
            <a:extLst xmlns:a="http://schemas.openxmlformats.org/drawingml/2006/main">
              <a:ext uri="{FF2B5EF4-FFF2-40B4-BE49-F238E27FC236}">
                <a16:creationId xmlns:a16="http://schemas.microsoft.com/office/drawing/2014/main" id="{13045B56-BAA7-4F0A-A3E0-DDB3F20687D6}"/>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2010776257"/>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C32F14E-1E29-4325-989B-BF6543A9B2B9}"/>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7C7E022B-8664-48B6-8B03-5E6DD0871A91}"/>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3" name="">
            <a:extLst xmlns:a="http://schemas.openxmlformats.org/drawingml/2006/main">
              <a:ext uri="{FF2B5EF4-FFF2-40B4-BE49-F238E27FC236}">
                <a16:creationId xmlns:a16="http://schemas.microsoft.com/office/drawing/2014/main" id="{ED2229DB-13C7-4175-9A3A-09DF79F65C20}"/>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AE26BAB-D141-4F01-BB4C-7A4DEB11F754}"/>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10</a:t>
            </a:r>
          </a:p>
        </p:txBody>
      </p:sp>
      <p:sp>
        <p:nvSpPr>
          <p:cNvPr id="5" name="">
            <a:extLst xmlns:a="http://schemas.openxmlformats.org/drawingml/2006/main">
              <a:ext uri="{FF2B5EF4-FFF2-40B4-BE49-F238E27FC236}">
                <a16:creationId xmlns:a16="http://schemas.microsoft.com/office/drawing/2014/main" id="{800DCC5E-2D95-4650-8D2C-952AFBABD825}"/>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6" name="">
            <a:extLst xmlns:a="http://schemas.openxmlformats.org/drawingml/2006/main">
              <a:ext uri="{FF2B5EF4-FFF2-40B4-BE49-F238E27FC236}">
                <a16:creationId xmlns:a16="http://schemas.microsoft.com/office/drawing/2014/main" id="{FED0012D-E01F-4ABA-A677-D0EDBB4F386B}"/>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7" name="">
            <a:extLst xmlns:a="http://schemas.openxmlformats.org/drawingml/2006/main">
              <a:ext uri="{FF2B5EF4-FFF2-40B4-BE49-F238E27FC236}">
                <a16:creationId xmlns:a16="http://schemas.microsoft.com/office/drawing/2014/main" id="{C094E0A9-E193-45CC-9A35-295A03A039CA}"/>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E4FE0942-5567-47BA-80D9-1E0B262598C6}"/>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9" name="">
            <a:extLst xmlns:a="http://schemas.openxmlformats.org/drawingml/2006/main">
              <a:ext uri="{FF2B5EF4-FFF2-40B4-BE49-F238E27FC236}">
                <a16:creationId xmlns:a16="http://schemas.microsoft.com/office/drawing/2014/main" id="{CA3A3CC5-AC49-4CDD-BE4A-906946AF1026}"/>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34909968-224F-448E-B090-C5D348EBFB2B}"/>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1" name="">
            <a:extLst xmlns:a="http://schemas.openxmlformats.org/drawingml/2006/main">
              <a:ext uri="{FF2B5EF4-FFF2-40B4-BE49-F238E27FC236}">
                <a16:creationId xmlns:a16="http://schemas.microsoft.com/office/drawing/2014/main" id="{3BE83CEB-0C78-4B1B-84E5-AFB6BF5E4B30}"/>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2" name="">
            <a:extLst xmlns:a="http://schemas.openxmlformats.org/drawingml/2006/main">
              <a:ext uri="{FF2B5EF4-FFF2-40B4-BE49-F238E27FC236}">
                <a16:creationId xmlns:a16="http://schemas.microsoft.com/office/drawing/2014/main" id="{B0544E0D-821E-4D53-8A03-B2969FE07C4C}"/>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3" name="">
            <a:extLst xmlns:a="http://schemas.openxmlformats.org/drawingml/2006/main">
              <a:ext uri="{FF2B5EF4-FFF2-40B4-BE49-F238E27FC236}">
                <a16:creationId xmlns:a16="http://schemas.microsoft.com/office/drawing/2014/main" id="{A0A15F05-BB67-4FDA-89E8-1AD728FB7211}"/>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4" name="">
            <a:extLst xmlns:a="http://schemas.openxmlformats.org/drawingml/2006/main">
              <a:ext uri="{FF2B5EF4-FFF2-40B4-BE49-F238E27FC236}">
                <a16:creationId xmlns:a16="http://schemas.microsoft.com/office/drawing/2014/main" id="{491760CD-6270-41B8-ACA5-CD97F9D12913}"/>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5" name="">
            <a:extLst xmlns:a="http://schemas.openxmlformats.org/drawingml/2006/main">
              <a:ext uri="{FF2B5EF4-FFF2-40B4-BE49-F238E27FC236}">
                <a16:creationId xmlns:a16="http://schemas.microsoft.com/office/drawing/2014/main" id="{C7DB533D-AD84-41DD-8053-1547917AF26A}"/>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6" name="">
            <a:extLst xmlns:a="http://schemas.openxmlformats.org/drawingml/2006/main">
              <a:ext uri="{FF2B5EF4-FFF2-40B4-BE49-F238E27FC236}">
                <a16:creationId xmlns:a16="http://schemas.microsoft.com/office/drawing/2014/main" id="{A9741E46-143F-4E5F-932F-818714F7B335}"/>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7" name="">
            <a:extLst xmlns:a="http://schemas.openxmlformats.org/drawingml/2006/main">
              <a:ext uri="{FF2B5EF4-FFF2-40B4-BE49-F238E27FC236}">
                <a16:creationId xmlns:a16="http://schemas.microsoft.com/office/drawing/2014/main" id="{66EE5469-EDAD-4754-8979-79C9E9E4C616}"/>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8" name="">
            <a:extLst xmlns:a="http://schemas.openxmlformats.org/drawingml/2006/main">
              <a:ext uri="{FF2B5EF4-FFF2-40B4-BE49-F238E27FC236}">
                <a16:creationId xmlns:a16="http://schemas.microsoft.com/office/drawing/2014/main" id="{0726CC44-E65B-44C2-AD8D-40B2637533AD}"/>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0DEF7A22-A097-40DE-8A99-8EA8A91CBD45}"/>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0" name="">
            <a:extLst xmlns:a="http://schemas.openxmlformats.org/drawingml/2006/main">
              <a:ext uri="{FF2B5EF4-FFF2-40B4-BE49-F238E27FC236}">
                <a16:creationId xmlns:a16="http://schemas.microsoft.com/office/drawing/2014/main" id="{4E797A69-FD39-478C-B013-85EB21189FCE}"/>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1" name="">
            <a:extLst xmlns:a="http://schemas.openxmlformats.org/drawingml/2006/main">
              <a:ext uri="{FF2B5EF4-FFF2-40B4-BE49-F238E27FC236}">
                <a16:creationId xmlns:a16="http://schemas.microsoft.com/office/drawing/2014/main" id="{133936EB-38FE-4034-A396-4B93AE6A0CEF}"/>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2" name="">
            <a:extLst xmlns:a="http://schemas.openxmlformats.org/drawingml/2006/main">
              <a:ext uri="{FF2B5EF4-FFF2-40B4-BE49-F238E27FC236}">
                <a16:creationId xmlns:a16="http://schemas.microsoft.com/office/drawing/2014/main" id="{ED9006F1-6A3E-435B-925B-7B9648DA9900}"/>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3" name="">
            <a:extLst xmlns:a="http://schemas.openxmlformats.org/drawingml/2006/main">
              <a:ext uri="{FF2B5EF4-FFF2-40B4-BE49-F238E27FC236}">
                <a16:creationId xmlns:a16="http://schemas.microsoft.com/office/drawing/2014/main" id="{2EDAA73A-8EE8-4D3C-B5ED-C32DA51DE68C}"/>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4" name="">
            <a:extLst xmlns:a="http://schemas.openxmlformats.org/drawingml/2006/main">
              <a:ext uri="{FF2B5EF4-FFF2-40B4-BE49-F238E27FC236}">
                <a16:creationId xmlns:a16="http://schemas.microsoft.com/office/drawing/2014/main" id="{75955A93-3C8E-4ECE-9D0E-E93899668012}"/>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5" name="">
            <a:extLst xmlns:a="http://schemas.openxmlformats.org/drawingml/2006/main">
              <a:ext uri="{FF2B5EF4-FFF2-40B4-BE49-F238E27FC236}">
                <a16:creationId xmlns:a16="http://schemas.microsoft.com/office/drawing/2014/main" id="{CCA7AC12-6ECC-4531-9964-5D837869DA48}"/>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6" name="">
            <a:extLst xmlns:a="http://schemas.openxmlformats.org/drawingml/2006/main">
              <a:ext uri="{FF2B5EF4-FFF2-40B4-BE49-F238E27FC236}">
                <a16:creationId xmlns:a16="http://schemas.microsoft.com/office/drawing/2014/main" id="{2336871B-D8ED-4B46-8422-EE72AEC709F3}"/>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424972181"/>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FF8D0A6-82E6-40D4-B0DA-EE37AD238924}"/>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B0D9403A-4860-4968-939C-064351C1AA2D}"/>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I found a clear failure on one partial vase</a:t>
            </a:r>
          </a:p>
        </p:txBody>
      </p:sp>
      <p:sp>
        <p:nvSpPr>
          <p:cNvPr id="3" name="">
            <a:extLst xmlns:a="http://schemas.openxmlformats.org/drawingml/2006/main">
              <a:ext uri="{FF2B5EF4-FFF2-40B4-BE49-F238E27FC236}">
                <a16:creationId xmlns:a16="http://schemas.microsoft.com/office/drawing/2014/main" id="{F7A3DB89-9F36-4169-B58C-C054FC714ED6}"/>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20BC08-681A-48A1-854D-8E62A83F860F}"/>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10</a:t>
            </a:r>
          </a:p>
        </p:txBody>
      </p:sp>
      <p:pic>
        <p:nvPicPr>
          <p:cNvPr id="5" name="">
            <a:extLst xmlns:a="http://schemas.openxmlformats.org/drawingml/2006/main">
              <a:ext uri="{FF2B5EF4-FFF2-40B4-BE49-F238E27FC236}">
                <a16:creationId xmlns:a16="http://schemas.microsoft.com/office/drawing/2014/main" id="{5AD5CDD9-E8FA-41D7-B1D9-3C99363C2A04}"/>
              </a:ext>
            </a:extLst>
          </p:cNvPr>
          <p:cNvPicPr>
            <a:picLocks xmlns:a="http://schemas.openxmlformats.org/drawingml/2006/main" noChangeAspect="1"/>
          </p:cNvPicPr>
          <p:nvPr/>
        </p:nvPicPr>
        <p:blipFill>
          <a:blip xmlns:r="http://schemas.openxmlformats.org/officeDocument/2006/relationships" xmlns:a="http://schemas.openxmlformats.org/drawingml/2006/main" r:embed="R84dc6f7f0c294efc"/>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62245AA-5014-4E44-91F0-0D025AE961A7}"/>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92BFD777-4B6A-46AE-811E-30486775BF9D}"/>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8" name="">
            <a:extLst xmlns:a="http://schemas.openxmlformats.org/drawingml/2006/main">
              <a:ext uri="{FF2B5EF4-FFF2-40B4-BE49-F238E27FC236}">
                <a16:creationId xmlns:a16="http://schemas.microsoft.com/office/drawing/2014/main" id="{708ABE47-EDBF-4394-BEEB-39478E424C62}"/>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9" name="">
            <a:extLst xmlns:a="http://schemas.openxmlformats.org/drawingml/2006/main">
              <a:ext uri="{FF2B5EF4-FFF2-40B4-BE49-F238E27FC236}">
                <a16:creationId xmlns:a16="http://schemas.microsoft.com/office/drawing/2014/main" id="{0DF6848A-B3D4-4E62-8BEA-8C87FFB4F03F}"/>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0" name="">
            <a:extLst xmlns:a="http://schemas.openxmlformats.org/drawingml/2006/main">
              <a:ext uri="{FF2B5EF4-FFF2-40B4-BE49-F238E27FC236}">
                <a16:creationId xmlns:a16="http://schemas.microsoft.com/office/drawing/2014/main" id="{54C2D1E8-7606-484A-8967-275374C0BB0E}"/>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1" name="">
            <a:extLst xmlns:a="http://schemas.openxmlformats.org/drawingml/2006/main">
              <a:ext uri="{FF2B5EF4-FFF2-40B4-BE49-F238E27FC236}">
                <a16:creationId xmlns:a16="http://schemas.microsoft.com/office/drawing/2014/main" id="{162E9CFB-723E-46DB-AA51-FE6235B43F6A}"/>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2" name="">
            <a:extLst xmlns:a="http://schemas.openxmlformats.org/drawingml/2006/main">
              <a:ext uri="{FF2B5EF4-FFF2-40B4-BE49-F238E27FC236}">
                <a16:creationId xmlns:a16="http://schemas.microsoft.com/office/drawing/2014/main" id="{06E710C8-926A-495C-9B71-2D3A3FC2811B}"/>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3" name="">
            <a:extLst xmlns:a="http://schemas.openxmlformats.org/drawingml/2006/main">
              <a:ext uri="{FF2B5EF4-FFF2-40B4-BE49-F238E27FC236}">
                <a16:creationId xmlns:a16="http://schemas.microsoft.com/office/drawing/2014/main" id="{C4685B40-FC5C-4245-A95A-6B287007FA6D}"/>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C1240389-214F-48F6-8F9C-4BF763898E3A}"/>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321490427"/>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9B9316D-6BAE-459F-A502-BFDED11EEE79}"/>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809C87CD-0B48-4C74-8CB1-DF9888D9AA6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3" name="">
            <a:extLst xmlns:a="http://schemas.openxmlformats.org/drawingml/2006/main">
              <a:ext uri="{FF2B5EF4-FFF2-40B4-BE49-F238E27FC236}">
                <a16:creationId xmlns:a16="http://schemas.microsoft.com/office/drawing/2014/main" id="{025E183D-DA55-41BE-8F74-7700B1057EAF}"/>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A1237F-B772-4F7D-8F64-1F9F68FF2496}"/>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10</a:t>
            </a:r>
          </a:p>
        </p:txBody>
      </p:sp>
      <p:sp>
        <p:nvSpPr>
          <p:cNvPr id="5" name="">
            <a:extLst xmlns:a="http://schemas.openxmlformats.org/drawingml/2006/main">
              <a:ext uri="{FF2B5EF4-FFF2-40B4-BE49-F238E27FC236}">
                <a16:creationId xmlns:a16="http://schemas.microsoft.com/office/drawing/2014/main" id="{895BEBC0-9BC2-44B7-9A4B-8B6EC3036028}"/>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79C1D0D7-3C68-4F98-BE6A-5EB7778FA8C6}"/>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7" name="">
            <a:extLst xmlns:a="http://schemas.openxmlformats.org/drawingml/2006/main">
              <a:ext uri="{FF2B5EF4-FFF2-40B4-BE49-F238E27FC236}">
                <a16:creationId xmlns:a16="http://schemas.microsoft.com/office/drawing/2014/main" id="{36C2ED07-4112-4F51-B92E-ECBC81575ADF}"/>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8" name="">
            <a:extLst xmlns:a="http://schemas.openxmlformats.org/drawingml/2006/main">
              <a:ext uri="{FF2B5EF4-FFF2-40B4-BE49-F238E27FC236}">
                <a16:creationId xmlns:a16="http://schemas.microsoft.com/office/drawing/2014/main" id="{F69D0114-50F7-4557-BA05-8CC456ED8270}"/>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9" name="">
            <a:extLst xmlns:a="http://schemas.openxmlformats.org/drawingml/2006/main">
              <a:ext uri="{FF2B5EF4-FFF2-40B4-BE49-F238E27FC236}">
                <a16:creationId xmlns:a16="http://schemas.microsoft.com/office/drawing/2014/main" id="{09A46B6A-8148-4F85-A7D9-3FB1AF001FC4}"/>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8DB07F9-F73E-477E-A13E-68195EF51F19}"/>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1" name="">
            <a:extLst xmlns:a="http://schemas.openxmlformats.org/drawingml/2006/main">
              <a:ext uri="{FF2B5EF4-FFF2-40B4-BE49-F238E27FC236}">
                <a16:creationId xmlns:a16="http://schemas.microsoft.com/office/drawing/2014/main" id="{2DB6727A-A44A-49CF-BE3D-94B30E0163A8}"/>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2" name="">
            <a:extLst xmlns:a="http://schemas.openxmlformats.org/drawingml/2006/main">
              <a:ext uri="{FF2B5EF4-FFF2-40B4-BE49-F238E27FC236}">
                <a16:creationId xmlns:a16="http://schemas.microsoft.com/office/drawing/2014/main" id="{150CEEC6-D56D-4614-96AA-8D708A558F4D}"/>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2395C2F-8F52-4CD5-BF4B-16DA187403E7}"/>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4" name="">
            <a:extLst xmlns:a="http://schemas.openxmlformats.org/drawingml/2006/main">
              <a:ext uri="{FF2B5EF4-FFF2-40B4-BE49-F238E27FC236}">
                <a16:creationId xmlns:a16="http://schemas.microsoft.com/office/drawing/2014/main" id="{7B525C49-84ED-48E6-B3CA-F1663D7C33FE}"/>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5" name="">
            <a:extLst xmlns:a="http://schemas.openxmlformats.org/drawingml/2006/main">
              <a:ext uri="{FF2B5EF4-FFF2-40B4-BE49-F238E27FC236}">
                <a16:creationId xmlns:a16="http://schemas.microsoft.com/office/drawing/2014/main" id="{02F5D6CF-C1B4-4960-ABAF-AECC30669A05}"/>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BE796BD-2AF3-49BD-AA66-E4450D65417F}"/>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7" name="">
            <a:extLst xmlns:a="http://schemas.openxmlformats.org/drawingml/2006/main">
              <a:ext uri="{FF2B5EF4-FFF2-40B4-BE49-F238E27FC236}">
                <a16:creationId xmlns:a16="http://schemas.microsoft.com/office/drawing/2014/main" id="{7C18DC20-4DF4-428A-9DC9-F415D17052FE}"/>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C45D589D-87DE-495F-BA7F-691C900C7B1B}"/>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19" name="">
            <a:extLst xmlns:a="http://schemas.openxmlformats.org/drawingml/2006/main">
              <a:ext uri="{FF2B5EF4-FFF2-40B4-BE49-F238E27FC236}">
                <a16:creationId xmlns:a16="http://schemas.microsoft.com/office/drawing/2014/main" id="{DF3CA46A-F13F-4CA8-917B-1CF0BEB3D72C}"/>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0" name="">
            <a:extLst xmlns:a="http://schemas.openxmlformats.org/drawingml/2006/main">
              <a:ext uri="{FF2B5EF4-FFF2-40B4-BE49-F238E27FC236}">
                <a16:creationId xmlns:a16="http://schemas.microsoft.com/office/drawing/2014/main" id="{E8C3EBEA-BC57-421C-8D77-3152B2901FE6}"/>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1" name="">
            <a:extLst xmlns:a="http://schemas.openxmlformats.org/drawingml/2006/main">
              <a:ext uri="{FF2B5EF4-FFF2-40B4-BE49-F238E27FC236}">
                <a16:creationId xmlns:a16="http://schemas.microsoft.com/office/drawing/2014/main" id="{3D7A5CAE-046F-4EDD-8F81-B443D7D8949F}"/>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2" name="">
            <a:extLst xmlns:a="http://schemas.openxmlformats.org/drawingml/2006/main">
              <a:ext uri="{FF2B5EF4-FFF2-40B4-BE49-F238E27FC236}">
                <a16:creationId xmlns:a16="http://schemas.microsoft.com/office/drawing/2014/main" id="{82562F76-F101-47AF-8DAF-5238EC716663}"/>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2056782560"/>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5D1906F-69AF-4C3C-9D5F-E3C7C4109B53}"/>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08EACE3A-48EE-4724-8727-0FB0E835AA77}"/>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3" name="">
            <a:extLst xmlns:a="http://schemas.openxmlformats.org/drawingml/2006/main">
              <a:ext uri="{FF2B5EF4-FFF2-40B4-BE49-F238E27FC236}">
                <a16:creationId xmlns:a16="http://schemas.microsoft.com/office/drawing/2014/main" id="{EA392408-383D-4923-9853-F2CD5711AA1D}"/>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82FA8B2-45C8-4CC8-9FF4-4CD37F0E570A}"/>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10</a:t>
            </a:r>
          </a:p>
        </p:txBody>
      </p:sp>
      <p:sp>
        <p:nvSpPr>
          <p:cNvPr id="5" name="">
            <a:extLst xmlns:a="http://schemas.openxmlformats.org/drawingml/2006/main">
              <a:ext uri="{FF2B5EF4-FFF2-40B4-BE49-F238E27FC236}">
                <a16:creationId xmlns:a16="http://schemas.microsoft.com/office/drawing/2014/main" id="{DD97CAA0-CDF2-45C0-A474-04F526FF930E}"/>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C065F066-002C-46FA-8713-D357D9F89D43}"/>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7" name="">
            <a:extLst xmlns:a="http://schemas.openxmlformats.org/drawingml/2006/main">
              <a:ext uri="{FF2B5EF4-FFF2-40B4-BE49-F238E27FC236}">
                <a16:creationId xmlns:a16="http://schemas.microsoft.com/office/drawing/2014/main" id="{81A06B2F-EEF2-4897-9E3B-87E65B826C0E}"/>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the teammate explored</a:t>
            </a:r>
          </a:p>
        </p:txBody>
      </p:sp>
      <p:sp>
        <p:nvSpPr>
          <p:cNvPr id="8" name="">
            <a:extLst xmlns:a="http://schemas.openxmlformats.org/drawingml/2006/main">
              <a:ext uri="{FF2B5EF4-FFF2-40B4-BE49-F238E27FC236}">
                <a16:creationId xmlns:a16="http://schemas.microsoft.com/office/drawing/2014/main" id="{26883E7A-2DD5-411B-A434-6EB4B0868059}"/>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80D27CF-11AD-495D-B167-B50828C0A5E7}"/>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0" name="">
            <a:extLst xmlns:a="http://schemas.openxmlformats.org/drawingml/2006/main">
              <a:ext uri="{FF2B5EF4-FFF2-40B4-BE49-F238E27FC236}">
                <a16:creationId xmlns:a16="http://schemas.microsoft.com/office/drawing/2014/main" id="{118FADD3-CACB-44D5-90F9-320629E04836}"/>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8B40DE9-D738-4836-B9E4-C716FA260119}"/>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2" name="">
            <a:extLst xmlns:a="http://schemas.openxmlformats.org/drawingml/2006/main">
              <a:ext uri="{FF2B5EF4-FFF2-40B4-BE49-F238E27FC236}">
                <a16:creationId xmlns:a16="http://schemas.microsoft.com/office/drawing/2014/main" id="{D3B8A780-25BA-4342-AAB3-408CF3E0C9BC}"/>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B3B849F-6C58-4175-8D38-A70C3AC5A10E}"/>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4" name="">
            <a:extLst xmlns:a="http://schemas.openxmlformats.org/drawingml/2006/main">
              <a:ext uri="{FF2B5EF4-FFF2-40B4-BE49-F238E27FC236}">
                <a16:creationId xmlns:a16="http://schemas.microsoft.com/office/drawing/2014/main" id="{5BA887D8-5C04-473F-9BBC-35E1837F8B9A}"/>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5" name="">
            <a:extLst xmlns:a="http://schemas.openxmlformats.org/drawingml/2006/main">
              <a:ext uri="{FF2B5EF4-FFF2-40B4-BE49-F238E27FC236}">
                <a16:creationId xmlns:a16="http://schemas.microsoft.com/office/drawing/2014/main" id="{492F7D86-B8EC-4E1F-ABAC-178AD76CEE73}"/>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6" name="">
            <a:extLst xmlns:a="http://schemas.openxmlformats.org/drawingml/2006/main">
              <a:ext uri="{FF2B5EF4-FFF2-40B4-BE49-F238E27FC236}">
                <a16:creationId xmlns:a16="http://schemas.microsoft.com/office/drawing/2014/main" id="{023DD6A9-140E-41AF-9348-D5C79A3B01B7}"/>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7" name="">
            <a:extLst xmlns:a="http://schemas.openxmlformats.org/drawingml/2006/main">
              <a:ext uri="{FF2B5EF4-FFF2-40B4-BE49-F238E27FC236}">
                <a16:creationId xmlns:a16="http://schemas.microsoft.com/office/drawing/2014/main" id="{F55C1F23-53F5-4BFF-8155-A27E56C59008}"/>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my experiments</a:t>
            </a:r>
          </a:p>
        </p:txBody>
      </p:sp>
      <p:sp>
        <p:nvSpPr>
          <p:cNvPr id="18" name="">
            <a:extLst xmlns:a="http://schemas.openxmlformats.org/drawingml/2006/main">
              <a:ext uri="{FF2B5EF4-FFF2-40B4-BE49-F238E27FC236}">
                <a16:creationId xmlns:a16="http://schemas.microsoft.com/office/drawing/2014/main" id="{481ADD82-E38F-47C8-9F77-A99FC605B546}"/>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I cite it as related work only. Its reported results are from the paper, not from my Mac.</a:t>
            </a:r>
          </a:p>
        </p:txBody>
      </p:sp>
      <p:sp>
        <p:nvSpPr>
          <p:cNvPr id="19" name="">
            <a:extLst xmlns:a="http://schemas.openxmlformats.org/drawingml/2006/main">
              <a:ext uri="{FF2B5EF4-FFF2-40B4-BE49-F238E27FC236}">
                <a16:creationId xmlns:a16="http://schemas.microsoft.com/office/drawing/2014/main" id="{E1ACE558-A5E1-476A-839E-1A0D138DE3A6}"/>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E721AF6D-88B1-4CC9-8E91-9AA078B7E3AA}"/>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1" name="">
            <a:extLst xmlns:a="http://schemas.openxmlformats.org/drawingml/2006/main">
              <a:ext uri="{FF2B5EF4-FFF2-40B4-BE49-F238E27FC236}">
                <a16:creationId xmlns:a16="http://schemas.microsoft.com/office/drawing/2014/main" id="{988127D1-EBC7-4E5F-A928-7763AC9054DA}"/>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My measured results in this proposal are OpenAD results.</a:t>
            </a:r>
          </a:p>
        </p:txBody>
      </p:sp>
    </p:spTree>
    <p:extLst>
      <p:ext uri="{BB962C8B-B14F-4D97-AF65-F5344CB8AC3E}">
        <p14:creationId xmlns:p14="http://schemas.microsoft.com/office/powerpoint/2010/main" val="440745703"/>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205EB4A-B507-403C-9E8A-4403FFFDFC79}"/>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52D215BD-FAEC-4D7F-A18A-3DB57CE32527}"/>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My next question is whether one fixed paraphrase helps</a:t>
            </a:r>
          </a:p>
        </p:txBody>
      </p:sp>
      <p:sp>
        <p:nvSpPr>
          <p:cNvPr id="3" name="">
            <a:extLst xmlns:a="http://schemas.openxmlformats.org/drawingml/2006/main">
              <a:ext uri="{FF2B5EF4-FFF2-40B4-BE49-F238E27FC236}">
                <a16:creationId xmlns:a16="http://schemas.microsoft.com/office/drawing/2014/main" id="{5F9AAE3A-042D-45E4-BD87-FF7791F83557}"/>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63FE0BB-C7BD-4DA8-90B0-276887D69DD6}"/>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10</a:t>
            </a:r>
          </a:p>
        </p:txBody>
      </p:sp>
      <p:sp>
        <p:nvSpPr>
          <p:cNvPr id="5" name="">
            <a:extLst xmlns:a="http://schemas.openxmlformats.org/drawingml/2006/main">
              <a:ext uri="{FF2B5EF4-FFF2-40B4-BE49-F238E27FC236}">
                <a16:creationId xmlns:a16="http://schemas.microsoft.com/office/drawing/2014/main" id="{BD8F6D97-6656-4F87-BC40-B29D2E878846}"/>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ED50B31F-9C40-47F5-8C85-3165BA84F256}"/>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7" name="">
            <a:extLst xmlns:a="http://schemas.openxmlformats.org/drawingml/2006/main">
              <a:ext uri="{FF2B5EF4-FFF2-40B4-BE49-F238E27FC236}">
                <a16:creationId xmlns:a16="http://schemas.microsoft.com/office/drawing/2014/main" id="{0DD7A184-8EF0-4ADC-91C3-385FDD68075C}"/>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025" b="1">
                <a:solidFill>
                  <a:srgbClr val="FFFFFF"/>
                </a:solidFill>
                <a:latin typeface="Avenir"/>
                <a:ea typeface="Avenir"/>
                <a:cs typeface="Avenir"/>
              </a:defRPr>
            </a:defPPr>
          </a:lstStyle>
          <a:p xmlns:a="http://schemas.openxmlformats.org/drawingml/2006/main">
            <a:pPr algn="l">
              <a:defRPr sz="2025" b="1">
                <a:solidFill>
                  <a:srgbClr val="FFFFFF"/>
                </a:solidFill>
                <a:latin typeface="Avenir"/>
                <a:ea typeface="Avenir"/>
                <a:cs typeface="Avenir"/>
              </a:defRPr>
            </a:pPr>
            <a:r>
              <a:rPr sz="2025" b="1">
                <a:solidFill>
                  <a:srgbClr val="FFFFFF"/>
                </a:solidFill>
                <a:latin typeface="Avenir"/>
                <a:ea typeface="Avenir"/>
                <a:cs typeface="Avenir"/>
              </a:rPr>
              <a:t>On partial point clouds, does one prewritten paraphrase per action improve OpenAD localization over the canonical query word—and does it cause more false alarms?</a:t>
            </a:r>
          </a:p>
        </p:txBody>
      </p:sp>
      <p:sp>
        <p:nvSpPr>
          <p:cNvPr id="8" name="">
            <a:extLst xmlns:a="http://schemas.openxmlformats.org/drawingml/2006/main">
              <a:ext uri="{FF2B5EF4-FFF2-40B4-BE49-F238E27FC236}">
                <a16:creationId xmlns:a16="http://schemas.microsoft.com/office/drawing/2014/main" id="{1AFBA2E0-8196-4AC4-AA78-DB71CDFA69E2}"/>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9" name="">
            <a:extLst xmlns:a="http://schemas.openxmlformats.org/drawingml/2006/main">
              <a:ext uri="{FF2B5EF4-FFF2-40B4-BE49-F238E27FC236}">
                <a16:creationId xmlns:a16="http://schemas.microsoft.com/office/drawing/2014/main" id="{9994B0E3-083B-4BEA-BDB2-ED88B6530D2B}"/>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00EF07B6-C07A-4F8E-957B-68BAD9B9A89A}"/>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1" name="">
            <a:extLst xmlns:a="http://schemas.openxmlformats.org/drawingml/2006/main">
              <a:ext uri="{FF2B5EF4-FFF2-40B4-BE49-F238E27FC236}">
                <a16:creationId xmlns:a16="http://schemas.microsoft.com/office/drawing/2014/main" id="{12C905FF-7F87-4DEA-9E6F-E33D1046A8E9}"/>
              </a:ext>
            </a:extLst>
          </p:cNvPr>
          <p:cNvSpPr>
            <a:spLocks xmlns:a="http://schemas.openxmlformats.org/drawingml/2006/main" noGrp="1"/>
          </p:cNvSpPr>
          <p:nvPr/>
        </p:nvSpPr>
        <p:spPr>
          <a:xfrm xmlns:a="http://schemas.openxmlformats.org/drawingml/2006/main">
            <a:off x="876300" y="45148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The paraphrase will raise average IoU across 18 actions; some actions may improve more than others.</a:t>
            </a:r>
          </a:p>
        </p:txBody>
      </p:sp>
      <p:sp>
        <p:nvSpPr>
          <p:cNvPr id="12" name="">
            <a:extLst xmlns:a="http://schemas.openxmlformats.org/drawingml/2006/main">
              <a:ext uri="{FF2B5EF4-FFF2-40B4-BE49-F238E27FC236}">
                <a16:creationId xmlns:a16="http://schemas.microsoft.com/office/drawing/2014/main" id="{0C09CEFD-51F6-4F4C-B126-9E1A7FEC42C3}"/>
              </a:ext>
            </a:extLst>
          </p:cNvPr>
          <p:cNvSpPr>
            <a:spLocks xmlns:a="http://schemas.openxmlformats.org/drawingml/2006/main" noGrp="1"/>
          </p:cNvSpPr>
          <p:nvPr/>
        </p:nvSpPr>
        <p:spPr>
          <a:xfrm xmlns:a="http://schemas.openxmlformats.org/drawingml/2006/main">
            <a:off x="876300" y="4953000"/>
            <a:ext cx="1014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26777"/>
                </a:solidFill>
                <a:latin typeface="Avenir"/>
                <a:ea typeface="Avenir"/>
                <a:cs typeface="Avenir"/>
              </a:defRPr>
            </a:defPPr>
          </a:lstStyle>
          <a:p xmlns:a="http://schemas.openxmlformats.org/drawingml/2006/main">
            <a:pPr algn="l">
              <a:defRPr sz="1350" b="0">
                <a:solidFill>
                  <a:srgbClr val="526777"/>
                </a:solidFill>
                <a:latin typeface="Avenir"/>
                <a:ea typeface="Avenir"/>
                <a:cs typeface="Avenir"/>
              </a:defRPr>
            </a:pPr>
            <a:r>
              <a:rPr sz="1350" b="0">
                <a:solidFill>
                  <a:srgbClr val="526777"/>
                </a:solidFill>
                <a:latin typeface="Avenir"/>
                <a:ea typeface="Avenir"/>
                <a:cs typeface="Avenir"/>
              </a:rPr>
              <a:t>It is not supported if the paired object-level gain is zero or negative.</a:t>
            </a:r>
          </a:p>
        </p:txBody>
      </p:sp>
    </p:spTree>
    <p:extLst>
      <p:ext uri="{BB962C8B-B14F-4D97-AF65-F5344CB8AC3E}">
        <p14:creationId xmlns:p14="http://schemas.microsoft.com/office/powerpoint/2010/main" val="941371569"/>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BE1B514-A900-4A3C-88ED-CC6682C4AD8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5E345508-EA0A-4214-A746-E85CF7B1DBC9}"/>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I will change the words and hold the rest constant</a:t>
            </a:r>
          </a:p>
        </p:txBody>
      </p:sp>
      <p:sp>
        <p:nvSpPr>
          <p:cNvPr id="3" name="">
            <a:extLst xmlns:a="http://schemas.openxmlformats.org/drawingml/2006/main">
              <a:ext uri="{FF2B5EF4-FFF2-40B4-BE49-F238E27FC236}">
                <a16:creationId xmlns:a16="http://schemas.microsoft.com/office/drawing/2014/main" id="{3510686A-D401-4FE5-8724-63715700702C}"/>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5637C90-73F9-4799-AB62-C6C40F212E5A}"/>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10</a:t>
            </a:r>
          </a:p>
        </p:txBody>
      </p:sp>
      <p:sp>
        <p:nvSpPr>
          <p:cNvPr id="5" name="">
            <a:extLst xmlns:a="http://schemas.openxmlformats.org/drawingml/2006/main">
              <a:ext uri="{FF2B5EF4-FFF2-40B4-BE49-F238E27FC236}">
                <a16:creationId xmlns:a16="http://schemas.microsoft.com/office/drawing/2014/main" id="{8F5CB698-B151-477C-A1FD-9C0B2F7127A5}"/>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048D5EFB-7B73-4F72-90B0-D159886688A9}"/>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7" name="">
            <a:extLst xmlns:a="http://schemas.openxmlformats.org/drawingml/2006/main">
              <a:ext uri="{FF2B5EF4-FFF2-40B4-BE49-F238E27FC236}">
                <a16:creationId xmlns:a16="http://schemas.microsoft.com/office/drawing/2014/main" id="{98EB5106-5F6B-4880-BE44-418E159C0C5A}"/>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C3AD0BB-CFE1-4D03-9A36-5ECAA9F091DD}"/>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Released OpenAD model stays frozen</a:t>
            </a:r>
          </a:p>
        </p:txBody>
      </p:sp>
      <p:sp>
        <p:nvSpPr>
          <p:cNvPr id="9" name="">
            <a:extLst xmlns:a="http://schemas.openxmlformats.org/drawingml/2006/main">
              <a:ext uri="{FF2B5EF4-FFF2-40B4-BE49-F238E27FC236}">
                <a16:creationId xmlns:a16="http://schemas.microsoft.com/office/drawing/2014/main" id="{B53C3600-D76C-4E7A-8285-988AD82E6AF0}"/>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4859A2-6203-485D-888A-FC89FB636421}"/>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Same objects, views, points, and labels</a:t>
            </a:r>
          </a:p>
        </p:txBody>
      </p:sp>
      <p:sp>
        <p:nvSpPr>
          <p:cNvPr id="11" name="">
            <a:extLst xmlns:a="http://schemas.openxmlformats.org/drawingml/2006/main">
              <a:ext uri="{FF2B5EF4-FFF2-40B4-BE49-F238E27FC236}">
                <a16:creationId xmlns:a16="http://schemas.microsoft.com/office/drawing/2014/main" id="{7542067A-D298-41B8-AD51-2355CC47444F}"/>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E77AADB-D6DF-4E5C-8A1B-1591F0D86812}"/>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canonical query word vs one fixed paraphrase</a:t>
            </a:r>
          </a:p>
        </p:txBody>
      </p:sp>
      <p:sp>
        <p:nvSpPr>
          <p:cNvPr id="13" name="">
            <a:extLst xmlns:a="http://schemas.openxmlformats.org/drawingml/2006/main">
              <a:ext uri="{FF2B5EF4-FFF2-40B4-BE49-F238E27FC236}">
                <a16:creationId xmlns:a16="http://schemas.microsoft.com/office/drawing/2014/main" id="{C8EB9C78-C0FB-4DDD-BDB1-A3EFEA45599E}"/>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86D74E3-EBAA-498E-BB08-0598FECDC850}"/>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Partial views are primary; full shapes are a control</a:t>
            </a:r>
          </a:p>
        </p:txBody>
      </p:sp>
      <p:sp>
        <p:nvSpPr>
          <p:cNvPr id="15" name="">
            <a:extLst xmlns:a="http://schemas.openxmlformats.org/drawingml/2006/main">
              <a:ext uri="{FF2B5EF4-FFF2-40B4-BE49-F238E27FC236}">
                <a16:creationId xmlns:a16="http://schemas.microsoft.com/office/drawing/2014/main" id="{73FAB7A5-220E-40E0-8693-E015C9517D63}"/>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1697CFB-0F99-40D9-A214-818E6FF4B8F4}"/>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Keep “none” and the prediction rule unchanged</a:t>
            </a:r>
          </a:p>
        </p:txBody>
      </p:sp>
      <p:sp>
        <p:nvSpPr>
          <p:cNvPr id="17" name="">
            <a:extLst xmlns:a="http://schemas.openxmlformats.org/drawingml/2006/main">
              <a:ext uri="{FF2B5EF4-FFF2-40B4-BE49-F238E27FC236}">
                <a16:creationId xmlns:a16="http://schemas.microsoft.com/office/drawing/2014/main" id="{D1A7D902-8248-43C3-8EFC-AC1B6CD2BA37}"/>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D8E9D81A-8921-431F-8665-3081441058ED}"/>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I WILL REPORT</a:t>
            </a:r>
          </a:p>
        </p:txBody>
      </p:sp>
      <p:sp>
        <p:nvSpPr>
          <p:cNvPr id="19" name="">
            <a:extLst xmlns:a="http://schemas.openxmlformats.org/drawingml/2006/main">
              <a:ext uri="{FF2B5EF4-FFF2-40B4-BE49-F238E27FC236}">
                <a16:creationId xmlns:a16="http://schemas.microsoft.com/office/drawing/2014/main" id="{B327ACB6-AA3E-4F88-9180-32E54A88D888}"/>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97B7903-D442-4605-A4DB-E3004E765975}"/>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(exclude none)</a:t>
            </a:r>
          </a:p>
        </p:txBody>
      </p:sp>
      <p:sp>
        <p:nvSpPr>
          <p:cNvPr id="21" name="">
            <a:extLst xmlns:a="http://schemas.openxmlformats.org/drawingml/2006/main">
              <a:ext uri="{FF2B5EF4-FFF2-40B4-BE49-F238E27FC236}">
                <a16:creationId xmlns:a16="http://schemas.microsoft.com/office/drawing/2014/main" id="{4833DEF0-5FD9-4D12-9F5F-C74950344526}"/>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907B6C2-6BC1-4379-9E38-BC952622D013}"/>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Also report 19-class mean IoU (include none)</a:t>
            </a:r>
          </a:p>
        </p:txBody>
      </p:sp>
      <p:sp>
        <p:nvSpPr>
          <p:cNvPr id="23" name="">
            <a:extLst xmlns:a="http://schemas.openxmlformats.org/drawingml/2006/main">
              <a:ext uri="{FF2B5EF4-FFF2-40B4-BE49-F238E27FC236}">
                <a16:creationId xmlns:a16="http://schemas.microsoft.com/office/drawing/2014/main" id="{00EDB276-4590-4E64-AC65-45778FCB72AD}"/>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E0748F6-B2A7-4DF0-ABE8-076D452F3987}"/>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Per-action IoU and AUC</a:t>
            </a:r>
          </a:p>
        </p:txBody>
      </p:sp>
      <p:sp>
        <p:nvSpPr>
          <p:cNvPr id="25" name="">
            <a:extLst xmlns:a="http://schemas.openxmlformats.org/drawingml/2006/main">
              <a:ext uri="{FF2B5EF4-FFF2-40B4-BE49-F238E27FC236}">
                <a16:creationId xmlns:a16="http://schemas.microsoft.com/office/drawing/2014/main" id="{146BC00A-8B90-4D9F-96C5-18125AD44533}"/>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A3A90B2-2F49-49FE-BE67-13788FF6BD42}"/>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False-positive rate on objects without the action</a:t>
            </a:r>
          </a:p>
        </p:txBody>
      </p:sp>
      <p:sp>
        <p:nvSpPr>
          <p:cNvPr id="27" name="">
            <a:extLst xmlns:a="http://schemas.openxmlformats.org/drawingml/2006/main">
              <a:ext uri="{FF2B5EF4-FFF2-40B4-BE49-F238E27FC236}">
                <a16:creationId xmlns:a16="http://schemas.microsoft.com/office/drawing/2014/main" id="{1D3E3F66-B365-4275-B03E-80A950FF8302}"/>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4C883EF-99FB-482A-A30B-BFCB814206F2}"/>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Paired confidence interval, resampling objects</a:t>
            </a:r>
          </a:p>
        </p:txBody>
      </p:sp>
    </p:spTree>
    <p:extLst>
      <p:ext uri="{BB962C8B-B14F-4D97-AF65-F5344CB8AC3E}">
        <p14:creationId xmlns:p14="http://schemas.microsoft.com/office/powerpoint/2010/main" val="2098740669"/>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A573F70-EDF5-49FE-8E0F-4985EF54B8DF}"/>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A584379B-3AD2-4877-A6D8-D93E8C3562AB}"/>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steps: lock the test, run the comparison, report honestly</a:t>
            </a:r>
          </a:p>
        </p:txBody>
      </p:sp>
      <p:sp>
        <p:nvSpPr>
          <p:cNvPr id="3" name="">
            <a:extLst xmlns:a="http://schemas.openxmlformats.org/drawingml/2006/main">
              <a:ext uri="{FF2B5EF4-FFF2-40B4-BE49-F238E27FC236}">
                <a16:creationId xmlns:a16="http://schemas.microsoft.com/office/drawing/2014/main" id="{4AEDF2F2-890F-4412-9C74-3CA56854A6E8}"/>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F8005A-B85D-440B-8EAE-5B69EB114D48}"/>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10</a:t>
            </a:r>
          </a:p>
        </p:txBody>
      </p:sp>
      <p:sp>
        <p:nvSpPr>
          <p:cNvPr id="5" name="">
            <a:extLst xmlns:a="http://schemas.openxmlformats.org/drawingml/2006/main">
              <a:ext uri="{FF2B5EF4-FFF2-40B4-BE49-F238E27FC236}">
                <a16:creationId xmlns:a16="http://schemas.microsoft.com/office/drawing/2014/main" id="{40E3BFF7-9B98-41B5-985A-9397A0F8157A}"/>
              </a:ext>
            </a:extLst>
          </p:cNvPr>
          <p:cNvSpPr>
            <a:spLocks xmlns:a="http://schemas.openxmlformats.org/drawingml/2006/main" noGrp="1"/>
          </p:cNvSpPr>
          <p:nvPr/>
        </p:nvSpPr>
        <p:spPr>
          <a:xfrm xmlns:a="http://schemas.openxmlformats.org/drawingml/2006/main">
            <a:off x="609600" y="16954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C3EE58DD-BC8C-4959-8E9E-743826CA347F}"/>
              </a:ext>
            </a:extLst>
          </p:cNvPr>
          <p:cNvSpPr>
            <a:spLocks xmlns:a="http://schemas.openxmlformats.org/drawingml/2006/main" noGrp="1"/>
          </p:cNvSpPr>
          <p:nvPr/>
        </p:nvSpPr>
        <p:spPr>
          <a:xfrm xmlns:a="http://schemas.openxmlformats.org/drawingml/2006/main">
            <a:off x="676275" y="16954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NOW</a:t>
            </a:r>
          </a:p>
        </p:txBody>
      </p:sp>
      <p:sp>
        <p:nvSpPr>
          <p:cNvPr id="7" name="">
            <a:extLst xmlns:a="http://schemas.openxmlformats.org/drawingml/2006/main">
              <a:ext uri="{FF2B5EF4-FFF2-40B4-BE49-F238E27FC236}">
                <a16:creationId xmlns:a16="http://schemas.microsoft.com/office/drawing/2014/main" id="{CEBB5B65-27A5-4C09-99F3-33E7215A3AB7}"/>
              </a:ext>
            </a:extLst>
          </p:cNvPr>
          <p:cNvSpPr>
            <a:spLocks xmlns:a="http://schemas.openxmlformats.org/drawingml/2006/main" noGrp="1"/>
          </p:cNvSpPr>
          <p:nvPr/>
        </p:nvSpPr>
        <p:spPr>
          <a:xfrm xmlns:a="http://schemas.openxmlformats.org/drawingml/2006/main">
            <a:off x="2019300" y="1695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and freeze all 18 paraphrases; confirm the split</a:t>
            </a:r>
          </a:p>
        </p:txBody>
      </p:sp>
      <p:sp>
        <p:nvSpPr>
          <p:cNvPr id="8" name="">
            <a:extLst xmlns:a="http://schemas.openxmlformats.org/drawingml/2006/main">
              <a:ext uri="{FF2B5EF4-FFF2-40B4-BE49-F238E27FC236}">
                <a16:creationId xmlns:a16="http://schemas.microsoft.com/office/drawing/2014/main" id="{17292228-A56C-4616-846F-3867B14973D2}"/>
              </a:ext>
            </a:extLst>
          </p:cNvPr>
          <p:cNvSpPr>
            <a:spLocks xmlns:a="http://schemas.openxmlformats.org/drawingml/2006/main" noGrp="1"/>
          </p:cNvSpPr>
          <p:nvPr/>
        </p:nvSpPr>
        <p:spPr>
          <a:xfrm xmlns:a="http://schemas.openxmlformats.org/drawingml/2006/main">
            <a:off x="609600" y="23431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460B5DA6-3572-4782-B729-F9E5C633A16F}"/>
              </a:ext>
            </a:extLst>
          </p:cNvPr>
          <p:cNvSpPr>
            <a:spLocks xmlns:a="http://schemas.openxmlformats.org/drawingml/2006/main" noGrp="1"/>
          </p:cNvSpPr>
          <p:nvPr/>
        </p:nvSpPr>
        <p:spPr>
          <a:xfrm xmlns:a="http://schemas.openxmlformats.org/drawingml/2006/main">
            <a:off x="676275" y="23431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NEXT</a:t>
            </a:r>
          </a:p>
        </p:txBody>
      </p:sp>
      <p:sp>
        <p:nvSpPr>
          <p:cNvPr id="10" name="">
            <a:extLst xmlns:a="http://schemas.openxmlformats.org/drawingml/2006/main">
              <a:ext uri="{FF2B5EF4-FFF2-40B4-BE49-F238E27FC236}">
                <a16:creationId xmlns:a16="http://schemas.microsoft.com/office/drawing/2014/main" id="{96466014-A505-44F3-AD02-C02CE99B3DDB}"/>
              </a:ext>
            </a:extLst>
          </p:cNvPr>
          <p:cNvSpPr>
            <a:spLocks xmlns:a="http://schemas.openxmlformats.org/drawingml/2006/main" noGrp="1"/>
          </p:cNvSpPr>
          <p:nvPr/>
        </p:nvSpPr>
        <p:spPr>
          <a:xfrm xmlns:a="http://schemas.openxmlformats.org/drawingml/2006/main">
            <a:off x="2019300" y="23431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Run original and paraphrased queries on identical inputs</a:t>
            </a:r>
          </a:p>
        </p:txBody>
      </p:sp>
      <p:sp>
        <p:nvSpPr>
          <p:cNvPr id="11" name="">
            <a:extLst xmlns:a="http://schemas.openxmlformats.org/drawingml/2006/main">
              <a:ext uri="{FF2B5EF4-FFF2-40B4-BE49-F238E27FC236}">
                <a16:creationId xmlns:a16="http://schemas.microsoft.com/office/drawing/2014/main" id="{1598BC3B-8B32-41BB-8084-9AD39CF0AEA8}"/>
              </a:ext>
            </a:extLst>
          </p:cNvPr>
          <p:cNvSpPr>
            <a:spLocks xmlns:a="http://schemas.openxmlformats.org/drawingml/2006/main" noGrp="1"/>
          </p:cNvSpPr>
          <p:nvPr/>
        </p:nvSpPr>
        <p:spPr>
          <a:xfrm xmlns:a="http://schemas.openxmlformats.org/drawingml/2006/main">
            <a:off x="609600" y="29908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13551191-A663-4A0B-9108-E9074BC19339}"/>
              </a:ext>
            </a:extLst>
          </p:cNvPr>
          <p:cNvSpPr>
            <a:spLocks xmlns:a="http://schemas.openxmlformats.org/drawingml/2006/main" noGrp="1"/>
          </p:cNvSpPr>
          <p:nvPr/>
        </p:nvSpPr>
        <p:spPr>
          <a:xfrm xmlns:a="http://schemas.openxmlformats.org/drawingml/2006/main">
            <a:off x="676275" y="29908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THEN</a:t>
            </a:r>
          </a:p>
        </p:txBody>
      </p:sp>
      <p:sp>
        <p:nvSpPr>
          <p:cNvPr id="13" name="">
            <a:extLst xmlns:a="http://schemas.openxmlformats.org/drawingml/2006/main">
              <a:ext uri="{FF2B5EF4-FFF2-40B4-BE49-F238E27FC236}">
                <a16:creationId xmlns:a16="http://schemas.microsoft.com/office/drawing/2014/main" id="{3DEC8299-9D01-41BB-AB2D-BAE48D23077B}"/>
              </a:ext>
            </a:extLst>
          </p:cNvPr>
          <p:cNvSpPr>
            <a:spLocks xmlns:a="http://schemas.openxmlformats.org/drawingml/2006/main" noGrp="1"/>
          </p:cNvSpPr>
          <p:nvPr/>
        </p:nvSpPr>
        <p:spPr>
          <a:xfrm xmlns:a="http://schemas.openxmlformats.org/drawingml/2006/main">
            <a:off x="2019300" y="29908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IoU and false alarms by action; show failures</a:t>
            </a:r>
          </a:p>
        </p:txBody>
      </p:sp>
      <p:sp>
        <p:nvSpPr>
          <p:cNvPr id="14" name="">
            <a:extLst xmlns:a="http://schemas.openxmlformats.org/drawingml/2006/main">
              <a:ext uri="{FF2B5EF4-FFF2-40B4-BE49-F238E27FC236}">
                <a16:creationId xmlns:a16="http://schemas.microsoft.com/office/drawing/2014/main" id="{1633FC51-3885-4A2A-BEC8-26CC5ABE4A0E}"/>
              </a:ext>
            </a:extLst>
          </p:cNvPr>
          <p:cNvSpPr>
            <a:spLocks xmlns:a="http://schemas.openxmlformats.org/drawingml/2006/main" noGrp="1"/>
          </p:cNvSpPr>
          <p:nvPr/>
        </p:nvSpPr>
        <p:spPr>
          <a:xfrm xmlns:a="http://schemas.openxmlformats.org/drawingml/2006/main">
            <a:off x="609600" y="3638550"/>
            <a:ext cx="12001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81C8BE3B-503C-463E-A828-908AD8E0474D}"/>
              </a:ext>
            </a:extLst>
          </p:cNvPr>
          <p:cNvSpPr>
            <a:spLocks xmlns:a="http://schemas.openxmlformats.org/drawingml/2006/main" noGrp="1"/>
          </p:cNvSpPr>
          <p:nvPr/>
        </p:nvSpPr>
        <p:spPr>
          <a:xfrm xmlns:a="http://schemas.openxmlformats.org/drawingml/2006/main">
            <a:off x="676275" y="36385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WEEKS 13–15</a:t>
            </a:r>
          </a:p>
        </p:txBody>
      </p:sp>
      <p:sp>
        <p:nvSpPr>
          <p:cNvPr id="16" name="">
            <a:extLst xmlns:a="http://schemas.openxmlformats.org/drawingml/2006/main">
              <a:ext uri="{FF2B5EF4-FFF2-40B4-BE49-F238E27FC236}">
                <a16:creationId xmlns:a16="http://schemas.microsoft.com/office/drawing/2014/main" id="{A8BF31E4-0AC1-469A-868A-E7CB1DACD315}"/>
              </a:ext>
            </a:extLst>
          </p:cNvPr>
          <p:cNvSpPr>
            <a:spLocks xmlns:a="http://schemas.openxmlformats.org/drawingml/2006/main" noGrp="1"/>
          </p:cNvSpPr>
          <p:nvPr/>
        </p:nvSpPr>
        <p:spPr>
          <a:xfrm xmlns:a="http://schemas.openxmlformats.org/drawingml/2006/main">
            <a:off x="2019300" y="3638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Write results and prepare the final presentation</a:t>
            </a:r>
          </a:p>
        </p:txBody>
      </p:sp>
      <p:sp>
        <p:nvSpPr>
          <p:cNvPr id="17" name="">
            <a:extLst xmlns:a="http://schemas.openxmlformats.org/drawingml/2006/main">
              <a:ext uri="{FF2B5EF4-FFF2-40B4-BE49-F238E27FC236}">
                <a16:creationId xmlns:a16="http://schemas.microsoft.com/office/drawing/2014/main" id="{446FB3CA-DB95-40BF-A28C-F1F958D2F406}"/>
              </a:ext>
            </a:extLst>
          </p:cNvPr>
          <p:cNvSpPr>
            <a:spLocks xmlns:a="http://schemas.openxmlformats.org/drawingml/2006/main" noGrp="1"/>
          </p:cNvSpPr>
          <p:nvPr/>
        </p:nvSpPr>
        <p:spPr>
          <a:xfrm xmlns:a="http://schemas.openxmlformats.org/drawingml/2006/main">
            <a:off x="8572500" y="1676400"/>
            <a:ext cx="3009900" cy="3105150"/>
          </a:xfrm>
          <a:prstGeom xmlns:a="http://schemas.openxmlformats.org/drawingml/2006/main" prst="roundRect">
            <a:avLst>
              <a:gd name="adj" fmla="val 2532"/>
            </a:avLst>
          </a:prstGeom>
          <a:solidFill xmlns:a="http://schemas.openxmlformats.org/drawingml/2006/main">
            <a:srgbClr val="102A43"/>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AE56D015-C6A6-4497-B711-5B1FA0DE7CF1}"/>
              </a:ext>
            </a:extLst>
          </p:cNvPr>
          <p:cNvSpPr>
            <a:spLocks xmlns:a="http://schemas.openxmlformats.org/drawingml/2006/main" noGrp="1"/>
          </p:cNvSpPr>
          <p:nvPr/>
        </p:nvSpPr>
        <p:spPr>
          <a:xfrm xmlns:a="http://schemas.openxmlformats.org/drawingml/2006/main">
            <a:off x="8820150" y="18859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MAIN LIMIT</a:t>
            </a:r>
          </a:p>
        </p:txBody>
      </p:sp>
      <p:sp>
        <p:nvSpPr>
          <p:cNvPr id="19" name="">
            <a:extLst xmlns:a="http://schemas.openxmlformats.org/drawingml/2006/main">
              <a:ext uri="{FF2B5EF4-FFF2-40B4-BE49-F238E27FC236}">
                <a16:creationId xmlns:a16="http://schemas.microsoft.com/office/drawing/2014/main" id="{ACDC5716-302B-42DD-B211-D0D7B7D86ADF}"/>
              </a:ext>
            </a:extLst>
          </p:cNvPr>
          <p:cNvSpPr>
            <a:spLocks xmlns:a="http://schemas.openxmlformats.org/drawingml/2006/main" noGrp="1"/>
          </p:cNvSpPr>
          <p:nvPr/>
        </p:nvSpPr>
        <p:spPr>
          <a:xfrm xmlns:a="http://schemas.openxmlformats.org/drawingml/2006/main">
            <a:off x="8820150" y="2324100"/>
            <a:ext cx="2524125"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a:solidFill>
                  <a:srgbClr val="FFFFFF"/>
                </a:solidFill>
                <a:latin typeface="Avenir"/>
                <a:ea typeface="Avenir"/>
                <a:cs typeface="Avenir"/>
              </a:defRPr>
            </a:defPPr>
          </a:lstStyle>
          <a:p xmlns:a="http://schemas.openxmlformats.org/drawingml/2006/main">
            <a:pPr algn="l">
              <a:defRPr sz="1575" b="1">
                <a:solidFill>
                  <a:srgbClr val="FFFFFF"/>
                </a:solidFill>
                <a:latin typeface="Avenir"/>
                <a:ea typeface="Avenir"/>
                <a:cs typeface="Avenir"/>
              </a:defRPr>
            </a:pPr>
            <a:r>
              <a:rPr sz="1575" b="1">
                <a:solidFill>
                  <a:srgbClr val="FFFFFF"/>
                </a:solidFill>
                <a:latin typeface="Avenir"/>
                <a:ea typeface="Avenir"/>
                <a:cs typeface="Avenir"/>
              </a:rPr>
              <a:t>The current validation data has already been used. A new untouched test set is best; otherwise call the new run exploratory.</a:t>
            </a:r>
          </a:p>
        </p:txBody>
      </p:sp>
      <p:sp>
        <p:nvSpPr>
          <p:cNvPr id="20" name="">
            <a:extLst xmlns:a="http://schemas.openxmlformats.org/drawingml/2006/main">
              <a:ext uri="{FF2B5EF4-FFF2-40B4-BE49-F238E27FC236}">
                <a16:creationId xmlns:a16="http://schemas.microsoft.com/office/drawing/2014/main" id="{4DBD4A67-9631-4935-A563-A854D41DB820}"/>
              </a:ext>
            </a:extLst>
          </p:cNvPr>
          <p:cNvSpPr>
            <a:spLocks xmlns:a="http://schemas.openxmlformats.org/drawingml/2006/main" noGrp="1"/>
          </p:cNvSpPr>
          <p:nvPr/>
        </p:nvSpPr>
        <p:spPr>
          <a:xfrm xmlns:a="http://schemas.openxmlformats.org/drawingml/2006/main">
            <a:off x="6096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C94747"/>
                </a:solidFill>
                <a:latin typeface="Avenir"/>
                <a:ea typeface="Avenir"/>
                <a:cs typeface="Avenir"/>
              </a:defRPr>
            </a:defPPr>
          </a:lstStyle>
          <a:p xmlns:a="http://schemas.openxmlformats.org/drawingml/2006/main">
            <a:pPr algn="l">
              <a:defRPr sz="1275" b="1">
                <a:solidFill>
                  <a:srgbClr val="C94747"/>
                </a:solidFill>
                <a:latin typeface="Avenir"/>
                <a:ea typeface="Avenir"/>
                <a:cs typeface="Avenir"/>
              </a:defRPr>
            </a:pPr>
            <a:r>
              <a:rPr sz="1275" b="1">
                <a:solidFill>
                  <a:srgbClr val="C94747"/>
                </a:solidFill>
                <a:latin typeface="Avenir"/>
                <a:ea typeface="Avenir"/>
                <a:cs typeface="Avenir"/>
              </a:rPr>
              <a:t>Guideline deadline: PDF to e-Class by 15 Oct 2026, 10:59 AM KST · teamNN_T14_proposal.pdf</a:t>
            </a:r>
          </a:p>
        </p:txBody>
      </p:sp>
    </p:spTree>
    <p:extLst>
      <p:ext uri="{BB962C8B-B14F-4D97-AF65-F5344CB8AC3E}">
        <p14:creationId xmlns:p14="http://schemas.microsoft.com/office/powerpoint/2010/main" val="3869538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2026-10-13T04:13:22.4640000Z</dcterms:created>
  <dcterms:modified xsi:type="dcterms:W3CDTF">2026-10-13T04:13:22.4640000Z</dcterms:modified>
</coreProperties>
</file>