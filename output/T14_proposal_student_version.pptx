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4f67b6d02a49eb" /><Relationship Type="http://schemas.openxmlformats.org/officeDocument/2006/relationships/extended-properties" Target="/docProps/app.xml" Id="Ree81f9f6ec0f4e11" /><Relationship Type="http://schemas.openxmlformats.org/officeDocument/2006/relationships/officeDocument" Target="/ppt/presentation.xml" Id="Rb85faef3d7bf4a72" /></Relationships>
</file>

<file path=ppt/presentation.xml><?xml version="1.0" encoding="utf-8"?>
<p:presentation xmlns:p="http://schemas.openxmlformats.org/presentationml/2006/main">
  <p:sldMasterIdLst>
    <p:sldMasterId xmlns:r="http://schemas.openxmlformats.org/officeDocument/2006/relationships" id="2147483648" r:id="R65f7d31c36864cca"/>
  </p:sldMasterIdLst>
  <p:notesMasterIdLst>
    <p:notesMasterId xmlns:r="http://schemas.openxmlformats.org/officeDocument/2006/relationships" r:id="Rec0732ba476d4e16"/>
  </p:notesMasterIdLst>
  <p:sldIdLst>
    <p:sldId xmlns:r="http://schemas.openxmlformats.org/officeDocument/2006/relationships" id="256" r:id="R8c555f1d2f5e4add"/>
    <p:sldId xmlns:r="http://schemas.openxmlformats.org/officeDocument/2006/relationships" id="257" r:id="R0a19eddc829740d9"/>
    <p:sldId xmlns:r="http://schemas.openxmlformats.org/officeDocument/2006/relationships" id="258" r:id="R01657cb66cde4140"/>
    <p:sldId xmlns:r="http://schemas.openxmlformats.org/officeDocument/2006/relationships" id="259" r:id="R2adfc585e5034406"/>
    <p:sldId xmlns:r="http://schemas.openxmlformats.org/officeDocument/2006/relationships" id="260" r:id="Re91a7dfa294d4193"/>
    <p:sldId xmlns:r="http://schemas.openxmlformats.org/officeDocument/2006/relationships" id="261" r:id="R9a8e7fe3f39d4f8e"/>
    <p:sldId xmlns:r="http://schemas.openxmlformats.org/officeDocument/2006/relationships" id="262" r:id="R50af1f664008409f"/>
    <p:sldId xmlns:r="http://schemas.openxmlformats.org/officeDocument/2006/relationships" id="263" r:id="R280e2fdbfb5140db"/>
    <p:sldId xmlns:r="http://schemas.openxmlformats.org/officeDocument/2006/relationships" id="264" r:id="Rd51c6ef904074e61"/>
    <p:sldId xmlns:r="http://schemas.openxmlformats.org/officeDocument/2006/relationships" id="265" r:id="R815cef70b2a647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8aa971c4e74b3a" /><Relationship Type="http://schemas.openxmlformats.org/officeDocument/2006/relationships/slideMaster" Target="/ppt/slideMasters/slideMaster1.xml" Id="R65f7d31c36864cca" /><Relationship Type="http://schemas.openxmlformats.org/officeDocument/2006/relationships/notesMaster" Target="/ppt/notesMasters/notesMaster1.xml" Id="Rec0732ba476d4e16" /><Relationship Type="http://schemas.openxmlformats.org/officeDocument/2006/relationships/presProps" Target="/ppt/presProps.xml" Id="Rbea005d9c37b4447" /><Relationship Type="http://schemas.openxmlformats.org/officeDocument/2006/relationships/tableStyles" Target="/ppt/tableStyles.xml" Id="Rb02df12ebdf94123" /><Relationship Type="http://schemas.openxmlformats.org/officeDocument/2006/relationships/slide" Target="/ppt/slides/slide1.xml" Id="R8c555f1d2f5e4add" /><Relationship Type="http://schemas.openxmlformats.org/officeDocument/2006/relationships/slide" Target="/ppt/slides/slide2.xml" Id="R0a19eddc829740d9" /><Relationship Type="http://schemas.openxmlformats.org/officeDocument/2006/relationships/slide" Target="/ppt/slides/slide3.xml" Id="R01657cb66cde4140" /><Relationship Type="http://schemas.openxmlformats.org/officeDocument/2006/relationships/slide" Target="/ppt/slides/slide4.xml" Id="R2adfc585e5034406" /><Relationship Type="http://schemas.openxmlformats.org/officeDocument/2006/relationships/slide" Target="/ppt/slides/slide5.xml" Id="Re91a7dfa294d4193" /><Relationship Type="http://schemas.openxmlformats.org/officeDocument/2006/relationships/slide" Target="/ppt/slides/slide6.xml" Id="R9a8e7fe3f39d4f8e" /><Relationship Type="http://schemas.openxmlformats.org/officeDocument/2006/relationships/slide" Target="/ppt/slides/slide7.xml" Id="R50af1f664008409f" /><Relationship Type="http://schemas.openxmlformats.org/officeDocument/2006/relationships/slide" Target="/ppt/slides/slide8.xml" Id="R280e2fdbfb5140db" /><Relationship Type="http://schemas.openxmlformats.org/officeDocument/2006/relationships/slide" Target="/ppt/slides/slide9.xml" Id="Rd51c6ef904074e61" /><Relationship Type="http://schemas.openxmlformats.org/officeDocument/2006/relationships/slide" Target="/ppt/slides/slide10.xml" Id="R815cef70b2a647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68986dd1684f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0899fdc9ad4b05" /><Relationship Type="http://schemas.openxmlformats.org/officeDocument/2006/relationships/notesMaster" Target="/ppt/notesMasters/notesMaster1.xml" Id="R4950c6a928d142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101339ffd24902" /><Relationship Type="http://schemas.openxmlformats.org/officeDocument/2006/relationships/notesMaster" Target="/ppt/notesMasters/notesMaster1.xml" Id="R27b5050e0f6749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a30ba655b2404f" /><Relationship Type="http://schemas.openxmlformats.org/officeDocument/2006/relationships/notesMaster" Target="/ppt/notesMasters/notesMaster1.xml" Id="R5115551196774e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81bb23d2264f9e" /><Relationship Type="http://schemas.openxmlformats.org/officeDocument/2006/relationships/notesMaster" Target="/ppt/notesMasters/notesMaster1.xml" Id="R839438f3bcd448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6c6d3f259e42b4" /><Relationship Type="http://schemas.openxmlformats.org/officeDocument/2006/relationships/notesMaster" Target="/ppt/notesMasters/notesMaster1.xml" Id="R36e970371c5447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5238d2ace44daf" /><Relationship Type="http://schemas.openxmlformats.org/officeDocument/2006/relationships/notesMaster" Target="/ppt/notesMasters/notesMaster1.xml" Id="R5a370cadfd0748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3ddd6c51a842d0" /><Relationship Type="http://schemas.openxmlformats.org/officeDocument/2006/relationships/notesMaster" Target="/ppt/notesMasters/notesMaster1.xml" Id="R68d528de92f54a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b9f68626fb4e44" /><Relationship Type="http://schemas.openxmlformats.org/officeDocument/2006/relationships/notesMaster" Target="/ppt/notesMasters/notesMaster1.xml" Id="R2a8ee01e36b047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18f9db07a744f2" /><Relationship Type="http://schemas.openxmlformats.org/officeDocument/2006/relationships/notesMaster" Target="/ppt/notesMasters/notesMaster1.xml" Id="R3efdf00db78449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ffa11e2a61493c" /><Relationship Type="http://schemas.openxmlformats.org/officeDocument/2006/relationships/notesMaster" Target="/ppt/notesMasters/notesMaster1.xml" Id="R54f2f5bace0248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team number and names. 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released OpenAD PN2 checkpoint (SHA-256 cbcfe9ff70448d97a7047f1ade817645a9be29dd2782fba57776792a8210f2ae) was evaluated on official AffordanceNet validation data. Partial 9,140 views / 2,285 shapes; full 2,285 shapes. Geometry features are shared within each paired query condition. CPU and MPS headline results agree within 0.0054 percentage points. One synchronized cold forward on 2,048 points took 0.5456s, after setup and without warmup. 1.295 GiB is the 5ms-sampled high-water Metal driver allocation estimate on unified memory, not physical peak VRAM. Source: archived E17 and profile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teammate’s preview came from the unofficial espresso-3d-reimplementation repository and Affogato-pretrained weights. Treat this as exploratory candidate-prompt work, not an official Affogato reproduction. Affostruction was not run on the user’s Mac; its paper results are related-work context only. Papers: Affogato https://arxiv.org/abs/2506.12009; Affostruction https://arxiv.org/abs/2601.09211.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updates the proposal to match the completed pilot: test one fixed, meaning-equivalent paraphrase per held-out action, not average five prompts. Primary hypothesis: higher 18-action macro IoU on partial views. Predeclare the prompt strings before evaluation. Falsify if paired object-level mean change is non-positive or its 95% interval includes zero. The prompt wording must be fixed without tuning on evaluation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instructor’s required baseline comparison: OpenAD as released versus one proposed prompt change. Use same object/view IDs and point samples, class slots, checkpoint, and argmax. Primary metric is point-wise IoU macro averaged over 18 affordances. Report the 19-class score including none separately. Secondary metrics: per-class IoU, AUC, false-positive fraction and any-alarm rate on negative objects. Analyze paired object-level differences, not individual points as independent. If no fresh split is available, label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proposal is submitted: replace team placeholders, confirm the seen/held-out vocabulary definition, and prepare an untouched object-disjoint test set if one is available. Otherwise present the planned work as exploratory validation. The guideline requires 8-minute English talk plus 2-minute Q&amp;A, 8–12 slides, and the PDF named teamNN_T14_proposal.pdf by Oct 15 at 10:59 AM KST. This deck has 10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fbac16afcd47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70e22255df4e3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4c6087748cc4f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b6aa6f0b9d4c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7b3688b33a4f4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15ec939412243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B7682D-1A82-472F-8657-4D9B1896B26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F3D0368-177D-43E8-995E-54778FB9AD8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90B7141-689C-46AC-96AD-F44AC8B994D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C04235-CCB4-4015-A10E-257C621083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B4C5680-2047-49F2-896E-AC0447197A9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63F6A6-2D29-456C-815D-A076E5909A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692A8B-3169-4D77-8016-61EDE81520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B8A06B-862D-40A7-B262-BF6E9A2B5B4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16165B-AF0F-4655-88CB-D6A7B29EAF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C530F6-0326-4F26-BB6D-13B5D3BC74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23ef7e2a5749b9" /><Relationship Type="http://schemas.openxmlformats.org/officeDocument/2006/relationships/slideLayout" Target="/ppt/slideLayouts/slideLayout1.xml" Id="R62a4025310c04724" /><Relationship Type="http://schemas.openxmlformats.org/officeDocument/2006/relationships/slideLayout" Target="/ppt/slideLayouts/slideLayout2.xml" Id="R13d41963c0524d0b" /><Relationship Type="http://schemas.openxmlformats.org/officeDocument/2006/relationships/slideLayout" Target="/ppt/slideLayouts/slideLayout3.xml" Id="R59abdcba58c54f68" /><Relationship Type="http://schemas.openxmlformats.org/officeDocument/2006/relationships/slideLayout" Target="/ppt/slideLayouts/slideLayout4.xml" Id="R2edff04af4be4da2" /><Relationship Type="http://schemas.openxmlformats.org/officeDocument/2006/relationships/slideLayout" Target="/ppt/slideLayouts/slideLayout5.xml" Id="Raf0bbffd8a514c25" /><Relationship Type="http://schemas.openxmlformats.org/officeDocument/2006/relationships/slideLayout" Target="/ppt/slideLayouts/slideLayout6.xml" Id="R9dae3838fd7943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a4025310c04724"/>
    <p:sldLayoutId xmlns:r="http://schemas.openxmlformats.org/officeDocument/2006/relationships" id="2147483650" r:id="R13d41963c0524d0b"/>
    <p:sldLayoutId xmlns:r="http://schemas.openxmlformats.org/officeDocument/2006/relationships" id="2147483651" r:id="R59abdcba58c54f68"/>
    <p:sldLayoutId xmlns:r="http://schemas.openxmlformats.org/officeDocument/2006/relationships" id="2147483652" r:id="R2edff04af4be4da2"/>
    <p:sldLayoutId xmlns:r="http://schemas.openxmlformats.org/officeDocument/2006/relationships" id="2147483653" r:id="Raf0bbffd8a514c25"/>
    <p:sldLayoutId xmlns:r="http://schemas.openxmlformats.org/officeDocument/2006/relationships" id="2147483654" r:id="R9dae3838fd7943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4426148652a4d79" /><Relationship Type="http://schemas.openxmlformats.org/officeDocument/2006/relationships/notesSlide" Target="/ppt/notesSlides/notesSlide1.xml" Id="R218a166b8f8d41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56d3bef26be4df9" /><Relationship Type="http://schemas.openxmlformats.org/officeDocument/2006/relationships/notesSlide" Target="/ppt/notesSlides/notesSlide2.xml" Id="Rec0155ae854c48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016cc002b9e4675" /><Relationship Type="http://schemas.openxmlformats.org/officeDocument/2006/relationships/notesSlide" Target="/ppt/notesSlides/notesSlide3.xml" Id="R6ca78f8c9af240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0797aa3bd684e31" /><Relationship Type="http://schemas.openxmlformats.org/officeDocument/2006/relationships/notesSlide" Target="/ppt/notesSlides/notesSlide4.xml" Id="Rfaea8eafe3c947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8b7d78b78754950" /><Relationship Type="http://schemas.openxmlformats.org/officeDocument/2006/relationships/image" Target="/ppt/media/image.png" Id="Rdf9895a4c0ae4461" /><Relationship Type="http://schemas.openxmlformats.org/officeDocument/2006/relationships/notesSlide" Target="/ppt/notesSlides/notesSlide5.xml" Id="R98ce7d11ada945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65bdfe8e74840d8" /><Relationship Type="http://schemas.openxmlformats.org/officeDocument/2006/relationships/notesSlide" Target="/ppt/notesSlides/notesSlide6.xml" Id="Raf8294eed86747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0a3dca256214246" /><Relationship Type="http://schemas.openxmlformats.org/officeDocument/2006/relationships/notesSlide" Target="/ppt/notesSlides/notesSlide7.xml" Id="R78d4634cca344d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a4a5e274be4308" /><Relationship Type="http://schemas.openxmlformats.org/officeDocument/2006/relationships/notesSlide" Target="/ppt/notesSlides/notesSlide8.xml" Id="Ra2f1b429240147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844fbce8cd94d23" /><Relationship Type="http://schemas.openxmlformats.org/officeDocument/2006/relationships/notesSlide" Target="/ppt/notesSlides/notesSlide9.xml" Id="R4841b49c2b4b47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56bbc4142d04276" /><Relationship Type="http://schemas.openxmlformats.org/officeDocument/2006/relationships/notesSlide" Target="/ppt/notesSlides/notesSlide10.xml" Id="Rbf7e7875a5094a2e"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D61894-1E17-406C-9669-636BC971F6CB}"/>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3225E80-C93F-4B81-B98F-F6D2B0DA261E}"/>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RESEARCH PROPOSAL · T14</a:t>
            </a:r>
          </a:p>
        </p:txBody>
      </p:sp>
      <p:sp>
        <p:nvSpPr>
          <p:cNvPr id="3" name="">
            <a:extLst xmlns:a="http://schemas.openxmlformats.org/drawingml/2006/main">
              <a:ext uri="{FF2B5EF4-FFF2-40B4-BE49-F238E27FC236}">
                <a16:creationId xmlns:a16="http://schemas.microsoft.com/office/drawing/2014/main" id="{97AC76C8-C9FA-4935-A64F-4C80287B278F}"/>
              </a:ext>
            </a:extLst>
          </p:cNvPr>
          <p:cNvSpPr>
            <a:spLocks xmlns:a="http://schemas.openxmlformats.org/drawingml/2006/main" noGrp="1"/>
          </p:cNvSpPr>
          <p:nvPr/>
        </p:nvSpPr>
        <p:spPr>
          <a:xfrm xmlns:a="http://schemas.openxmlformats.org/drawingml/2006/main">
            <a:off x="723900" y="14287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600" b="1">
                <a:solidFill>
                  <a:srgbClr val="FFFFFF"/>
                </a:solidFill>
                <a:latin typeface="Avenir"/>
                <a:ea typeface="Avenir"/>
                <a:cs typeface="Avenir"/>
              </a:defRPr>
            </a:defPPr>
          </a:lstStyle>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What I learned from my</a:t>
            </a:r>
          </a:p>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3D affordance experiments</a:t>
            </a:r>
          </a:p>
        </p:txBody>
      </p:sp>
      <p:sp>
        <p:nvSpPr>
          <p:cNvPr id="4" name="">
            <a:extLst xmlns:a="http://schemas.openxmlformats.org/drawingml/2006/main">
              <a:ext uri="{FF2B5EF4-FFF2-40B4-BE49-F238E27FC236}">
                <a16:creationId xmlns:a16="http://schemas.microsoft.com/office/drawing/2014/main" id="{765B6E63-FBD0-49A4-A342-6CCD6B6369BD}"/>
              </a:ext>
            </a:extLst>
          </p:cNvPr>
          <p:cNvSpPr>
            <a:spLocks xmlns:a="http://schemas.openxmlformats.org/drawingml/2006/main" noGrp="1"/>
          </p:cNvSpPr>
          <p:nvPr/>
        </p:nvSpPr>
        <p:spPr>
          <a:xfrm xmlns:a="http://schemas.openxmlformats.org/drawingml/2006/main">
            <a:off x="762000" y="3333750"/>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And the next question I plan to test</a:t>
            </a:r>
          </a:p>
        </p:txBody>
      </p:sp>
      <p:sp>
        <p:nvSpPr>
          <p:cNvPr id="5" name="">
            <a:extLst xmlns:a="http://schemas.openxmlformats.org/drawingml/2006/main">
              <a:ext uri="{FF2B5EF4-FFF2-40B4-BE49-F238E27FC236}">
                <a16:creationId xmlns:a16="http://schemas.microsoft.com/office/drawing/2014/main" id="{A77F2A29-A86C-46DD-AF31-B16704973BF2}"/>
              </a:ext>
            </a:extLst>
          </p:cNvPr>
          <p:cNvSpPr>
            <a:spLocks xmlns:a="http://schemas.openxmlformats.org/drawingml/2006/main" noGrp="1"/>
          </p:cNvSpPr>
          <p:nvPr/>
        </p:nvSpPr>
        <p:spPr>
          <a:xfrm xmlns:a="http://schemas.openxmlformats.org/drawingml/2006/main">
            <a:off x="762000" y="4591050"/>
            <a:ext cx="4953000" cy="857250"/>
          </a:xfrm>
          <a:prstGeom xmlns:a="http://schemas.openxmlformats.org/drawingml/2006/main" prst="roundRect">
            <a:avLst>
              <a:gd name="adj" fmla="val 8889"/>
            </a:avLst>
          </a:prstGeom>
          <a:solidFill xmlns:a="http://schemas.openxmlformats.org/drawingml/2006/main">
            <a:srgbClr val="193B55"/>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E6305129-DF51-4A38-88FA-C5A49C644BED}"/>
              </a:ext>
            </a:extLst>
          </p:cNvPr>
          <p:cNvSpPr>
            <a:spLocks xmlns:a="http://schemas.openxmlformats.org/drawingml/2006/main" noGrp="1"/>
          </p:cNvSpPr>
          <p:nvPr/>
        </p:nvSpPr>
        <p:spPr>
          <a:xfrm xmlns:a="http://schemas.openxmlformats.org/drawingml/2006/main">
            <a:off x="990600" y="4714875"/>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FFFFFF"/>
                </a:solidFill>
                <a:latin typeface="Avenir"/>
                <a:ea typeface="Avenir"/>
                <a:cs typeface="Avenir"/>
              </a:defRPr>
            </a:defPPr>
          </a:lstStyle>
          <a:p xmlns:a="http://schemas.openxmlformats.org/drawingml/2006/main">
            <a:pPr algn="l">
              <a:defRPr sz="1500" b="0">
                <a:solidFill>
                  <a:srgbClr val="FFFFFF"/>
                </a:solidFill>
                <a:latin typeface="Avenir"/>
                <a:ea typeface="Avenir"/>
                <a:cs typeface="Avenir"/>
              </a:defRPr>
            </a:pPr>
            <a:r>
              <a:rPr sz="1500" b="0">
                <a:solidFill>
                  <a:srgbClr val="FFFFFF"/>
                </a:solidFill>
                <a:latin typeface="Avenir"/>
                <a:ea typeface="Avenir"/>
                <a:cs typeface="Avenir"/>
              </a:rPr>
              <a:t>Team [NN] · [Names]</a:t>
            </a:r>
          </a:p>
          <a:p xmlns:a="http://schemas.openxmlformats.org/drawingml/2006/main">
            <a:pPr algn="l">
              <a:defRPr sz="1500" b="0">
                <a:solidFill>
                  <a:srgbClr val="FFFFFF"/>
                </a:solidFill>
                <a:latin typeface="Avenir"/>
                <a:ea typeface="Avenir"/>
                <a:cs typeface="Avenir"/>
              </a:defRPr>
            </a:pPr>
            <a:r>
              <a:rPr sz="1500" b="0">
                <a:solidFill>
                  <a:srgbClr val="FFFFFF"/>
                </a:solidFill>
                <a:latin typeface="Avenir"/>
                <a:ea typeface="Avenir"/>
                <a:cs typeface="Avenir"/>
              </a:rPr>
              <a:t>CSE 59358-01</a:t>
            </a:r>
          </a:p>
        </p:txBody>
      </p:sp>
      <p:sp>
        <p:nvSpPr>
          <p:cNvPr id="7" name="">
            <a:extLst xmlns:a="http://schemas.openxmlformats.org/drawingml/2006/main">
              <a:ext uri="{FF2B5EF4-FFF2-40B4-BE49-F238E27FC236}">
                <a16:creationId xmlns:a16="http://schemas.microsoft.com/office/drawing/2014/main" id="{351F8E02-164B-4AE7-A448-3EB1BC0F5D84}"/>
              </a:ext>
            </a:extLst>
          </p:cNvPr>
          <p:cNvSpPr>
            <a:spLocks xmlns:a="http://schemas.openxmlformats.org/drawingml/2006/main" noGrp="1"/>
          </p:cNvSpPr>
          <p:nvPr/>
        </p:nvSpPr>
        <p:spPr>
          <a:xfrm xmlns:a="http://schemas.openxmlformats.org/drawingml/2006/main">
            <a:off x="762000" y="611505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AFC5D3"/>
                </a:solidFill>
                <a:latin typeface="Avenir"/>
                <a:ea typeface="Avenir"/>
                <a:cs typeface="Avenir"/>
              </a:defRPr>
            </a:defPPr>
          </a:lstStyle>
          <a:p xmlns:a="http://schemas.openxmlformats.org/drawingml/2006/main">
            <a:pPr algn="l">
              <a:defRPr sz="1125" b="0">
                <a:solidFill>
                  <a:srgbClr val="AFC5D3"/>
                </a:solidFill>
                <a:latin typeface="Avenir"/>
                <a:ea typeface="Avenir"/>
                <a:cs typeface="Avenir"/>
              </a:defRPr>
            </a:pPr>
            <a:r>
              <a:rPr sz="1125" b="0">
                <a:solidFill>
                  <a:srgbClr val="AFC5D3"/>
                </a:solidFill>
                <a:latin typeface="Avenir"/>
                <a:ea typeface="Avenir"/>
                <a:cs typeface="Avenir"/>
              </a:rPr>
              <a:t>8-minute proposal · 13 October 2026</a:t>
            </a:r>
          </a:p>
        </p:txBody>
      </p:sp>
      <p:sp>
        <p:nvSpPr>
          <p:cNvPr id="8" name="">
            <a:extLst xmlns:a="http://schemas.openxmlformats.org/drawingml/2006/main">
              <a:ext uri="{FF2B5EF4-FFF2-40B4-BE49-F238E27FC236}">
                <a16:creationId xmlns:a16="http://schemas.microsoft.com/office/drawing/2014/main" id="{5F99CE73-F6F4-42B7-8752-081F28EA5C35}"/>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01 / 10</a:t>
            </a:r>
          </a:p>
        </p:txBody>
      </p:sp>
    </p:spTree>
    <p:extLst>
      <p:ext uri="{BB962C8B-B14F-4D97-AF65-F5344CB8AC3E}">
        <p14:creationId xmlns:p14="http://schemas.microsoft.com/office/powerpoint/2010/main" val="1302841172"/>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984AC4C-DF02-4696-9A1B-C8D8B4525BB8}"/>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60098356-C879-413E-B788-613095BBFBF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3" name="">
            <a:extLst xmlns:a="http://schemas.openxmlformats.org/drawingml/2006/main">
              <a:ext uri="{FF2B5EF4-FFF2-40B4-BE49-F238E27FC236}">
                <a16:creationId xmlns:a16="http://schemas.microsoft.com/office/drawing/2014/main" id="{7AE3D706-DF99-4E8C-BD6A-8E75D4D2F2B2}"/>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6B44D9E-6A33-49E0-8D8E-116EECFC7519}"/>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10</a:t>
            </a:r>
          </a:p>
        </p:txBody>
      </p:sp>
      <p:sp>
        <p:nvSpPr>
          <p:cNvPr id="5" name="">
            <a:extLst xmlns:a="http://schemas.openxmlformats.org/drawingml/2006/main">
              <a:ext uri="{FF2B5EF4-FFF2-40B4-BE49-F238E27FC236}">
                <a16:creationId xmlns:a16="http://schemas.microsoft.com/office/drawing/2014/main" id="{493E78E8-F8A4-4E41-BC8D-C4EC07B2057F}"/>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F2C6E25F-14E0-449B-AB9B-45F1173EFCCB}"/>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AE6D0D71-A811-4A24-B1F2-EE7011099356}"/>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8" name="">
            <a:extLst xmlns:a="http://schemas.openxmlformats.org/drawingml/2006/main">
              <a:ext uri="{FF2B5EF4-FFF2-40B4-BE49-F238E27FC236}">
                <a16:creationId xmlns:a16="http://schemas.microsoft.com/office/drawing/2014/main" id="{4B89463F-E21F-4699-A4F8-E739A18F1E1B}"/>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9" name="">
            <a:extLst xmlns:a="http://schemas.openxmlformats.org/drawingml/2006/main">
              <a:ext uri="{FF2B5EF4-FFF2-40B4-BE49-F238E27FC236}">
                <a16:creationId xmlns:a16="http://schemas.microsoft.com/office/drawing/2014/main" id="{EA0DBCB6-3626-4E41-A6B8-6704ABBD2DC8}"/>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0" name="">
            <a:extLst xmlns:a="http://schemas.openxmlformats.org/drawingml/2006/main">
              <a:ext uri="{FF2B5EF4-FFF2-40B4-BE49-F238E27FC236}">
                <a16:creationId xmlns:a16="http://schemas.microsoft.com/office/drawing/2014/main" id="{6D0188B5-A6DB-4809-81A0-B6BF708808BE}"/>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1" name="">
            <a:extLst xmlns:a="http://schemas.openxmlformats.org/drawingml/2006/main">
              <a:ext uri="{FF2B5EF4-FFF2-40B4-BE49-F238E27FC236}">
                <a16:creationId xmlns:a16="http://schemas.microsoft.com/office/drawing/2014/main" id="{6F37236F-1EE1-4595-8CB4-035098CE1E2D}"/>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B6A4D10-CC9E-483E-9953-1E109CCADB7A}"/>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3" name="">
            <a:extLst xmlns:a="http://schemas.openxmlformats.org/drawingml/2006/main">
              <a:ext uri="{FF2B5EF4-FFF2-40B4-BE49-F238E27FC236}">
                <a16:creationId xmlns:a16="http://schemas.microsoft.com/office/drawing/2014/main" id="{23CD4119-D983-4B90-99C6-4F1D5F645C9B}"/>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4" name="">
            <a:extLst xmlns:a="http://schemas.openxmlformats.org/drawingml/2006/main">
              <a:ext uri="{FF2B5EF4-FFF2-40B4-BE49-F238E27FC236}">
                <a16:creationId xmlns:a16="http://schemas.microsoft.com/office/drawing/2014/main" id="{1AA31697-55A2-4DF6-82DD-AAB5D613EFF1}"/>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5" name="">
            <a:extLst xmlns:a="http://schemas.openxmlformats.org/drawingml/2006/main">
              <a:ext uri="{FF2B5EF4-FFF2-40B4-BE49-F238E27FC236}">
                <a16:creationId xmlns:a16="http://schemas.microsoft.com/office/drawing/2014/main" id="{C7606D17-7014-4330-859D-FB3AAC6A0B75}"/>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6" name="">
            <a:extLst xmlns:a="http://schemas.openxmlformats.org/drawingml/2006/main">
              <a:ext uri="{FF2B5EF4-FFF2-40B4-BE49-F238E27FC236}">
                <a16:creationId xmlns:a16="http://schemas.microsoft.com/office/drawing/2014/main" id="{3C63A1D9-AD13-45D3-924B-F3FEEFCA4043}"/>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522462494"/>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D3E4985-9DA4-459E-B835-E55864580B92}"/>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66D92275-F045-4967-A49C-D889906DB0F9}"/>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What I ran: the same OpenAD model on the same data</a:t>
            </a:r>
          </a:p>
        </p:txBody>
      </p:sp>
      <p:sp>
        <p:nvSpPr>
          <p:cNvPr id="3" name="">
            <a:extLst xmlns:a="http://schemas.openxmlformats.org/drawingml/2006/main">
              <a:ext uri="{FF2B5EF4-FFF2-40B4-BE49-F238E27FC236}">
                <a16:creationId xmlns:a16="http://schemas.microsoft.com/office/drawing/2014/main" id="{DE4D1172-273C-4335-81D0-FA992FF009D5}"/>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299554B-EBD8-44E7-9D38-1D9F0C5699BF}"/>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10</a:t>
            </a:r>
          </a:p>
        </p:txBody>
      </p:sp>
      <p:sp>
        <p:nvSpPr>
          <p:cNvPr id="5" name="">
            <a:extLst xmlns:a="http://schemas.openxmlformats.org/drawingml/2006/main">
              <a:ext uri="{FF2B5EF4-FFF2-40B4-BE49-F238E27FC236}">
                <a16:creationId xmlns:a16="http://schemas.microsoft.com/office/drawing/2014/main" id="{A80FFB0F-43AA-4F9F-9776-7A974958FA17}"/>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A0BCC728-212E-4719-96CA-819160539869}"/>
              </a:ext>
            </a:extLst>
          </p:cNvPr>
          <p:cNvSpPr>
            <a:spLocks xmlns:a="http://schemas.openxmlformats.org/drawingml/2006/main" noGrp="1"/>
          </p:cNvSpPr>
          <p:nvPr/>
        </p:nvSpPr>
        <p:spPr>
          <a:xfrm xmlns:a="http://schemas.openxmlformats.org/drawingml/2006/main">
            <a:off x="85725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MY BASELINE</a:t>
            </a:r>
          </a:p>
        </p:txBody>
      </p:sp>
      <p:sp>
        <p:nvSpPr>
          <p:cNvPr id="7" name="">
            <a:extLst xmlns:a="http://schemas.openxmlformats.org/drawingml/2006/main">
              <a:ext uri="{FF2B5EF4-FFF2-40B4-BE49-F238E27FC236}">
                <a16:creationId xmlns:a16="http://schemas.microsoft.com/office/drawing/2014/main" id="{92347605-8A43-401B-B2E2-4C118ACE6A2F}"/>
              </a:ext>
            </a:extLst>
          </p:cNvPr>
          <p:cNvSpPr>
            <a:spLocks xmlns:a="http://schemas.openxmlformats.org/drawingml/2006/main" noGrp="1"/>
          </p:cNvSpPr>
          <p:nvPr/>
        </p:nvSpPr>
        <p:spPr>
          <a:xfrm xmlns:a="http://schemas.openxmlformats.org/drawingml/2006/main">
            <a:off x="857250" y="2200275"/>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8" name="">
            <a:extLst xmlns:a="http://schemas.openxmlformats.org/drawingml/2006/main">
              <a:ext uri="{FF2B5EF4-FFF2-40B4-BE49-F238E27FC236}">
                <a16:creationId xmlns:a16="http://schemas.microsoft.com/office/drawing/2014/main" id="{1DA8D492-64C9-4B03-8430-ACE70FD8EE51}"/>
              </a:ext>
            </a:extLst>
          </p:cNvPr>
          <p:cNvSpPr>
            <a:spLocks xmlns:a="http://schemas.openxmlformats.org/drawingml/2006/main" noGrp="1"/>
          </p:cNvSpPr>
          <p:nvPr/>
        </p:nvSpPr>
        <p:spPr>
          <a:xfrm xmlns:a="http://schemas.openxmlformats.org/drawingml/2006/main">
            <a:off x="857250" y="28003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9D12152-789A-4A74-8F68-6D77D1D538E9}"/>
              </a:ext>
            </a:extLst>
          </p:cNvPr>
          <p:cNvSpPr>
            <a:spLocks xmlns:a="http://schemas.openxmlformats.org/drawingml/2006/main" noGrp="1"/>
          </p:cNvSpPr>
          <p:nvPr/>
        </p:nvSpPr>
        <p:spPr>
          <a:xfrm xmlns:a="http://schemas.openxmlformats.org/drawingml/2006/main">
            <a:off x="1085850" y="27146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the released pretrained checkpoint</a:t>
            </a:r>
          </a:p>
        </p:txBody>
      </p:sp>
      <p:sp>
        <p:nvSpPr>
          <p:cNvPr id="10" name="">
            <a:extLst xmlns:a="http://schemas.openxmlformats.org/drawingml/2006/main">
              <a:ext uri="{FF2B5EF4-FFF2-40B4-BE49-F238E27FC236}">
                <a16:creationId xmlns:a16="http://schemas.microsoft.com/office/drawing/2014/main" id="{D352BF92-8CE1-4407-8FB5-B6B1C6B6B8EB}"/>
              </a:ext>
            </a:extLst>
          </p:cNvPr>
          <p:cNvSpPr>
            <a:spLocks xmlns:a="http://schemas.openxmlformats.org/drawingml/2006/main" noGrp="1"/>
          </p:cNvSpPr>
          <p:nvPr/>
        </p:nvSpPr>
        <p:spPr>
          <a:xfrm xmlns:a="http://schemas.openxmlformats.org/drawingml/2006/main">
            <a:off x="857250" y="33528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EBE56F6-8EC7-4730-9FC2-A893A6218BE8}"/>
              </a:ext>
            </a:extLst>
          </p:cNvPr>
          <p:cNvSpPr>
            <a:spLocks xmlns:a="http://schemas.openxmlformats.org/drawingml/2006/main" noGrp="1"/>
          </p:cNvSpPr>
          <p:nvPr/>
        </p:nvSpPr>
        <p:spPr>
          <a:xfrm xmlns:a="http://schemas.openxmlformats.org/drawingml/2006/main">
            <a:off x="1085850" y="32670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Kept the model weights fixed; no retraining</a:t>
            </a:r>
          </a:p>
        </p:txBody>
      </p:sp>
      <p:sp>
        <p:nvSpPr>
          <p:cNvPr id="12" name="">
            <a:extLst xmlns:a="http://schemas.openxmlformats.org/drawingml/2006/main">
              <a:ext uri="{FF2B5EF4-FFF2-40B4-BE49-F238E27FC236}">
                <a16:creationId xmlns:a16="http://schemas.microsoft.com/office/drawing/2014/main" id="{809D5B6A-0CFE-4AC7-B73D-2742801D0410}"/>
              </a:ext>
            </a:extLst>
          </p:cNvPr>
          <p:cNvSpPr>
            <a:spLocks xmlns:a="http://schemas.openxmlformats.org/drawingml/2006/main" noGrp="1"/>
          </p:cNvSpPr>
          <p:nvPr/>
        </p:nvSpPr>
        <p:spPr>
          <a:xfrm xmlns:a="http://schemas.openxmlformats.org/drawingml/2006/main">
            <a:off x="857250" y="39052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FFC9E2D-6E5F-4731-9EFA-777AE8C61763}"/>
              </a:ext>
            </a:extLst>
          </p:cNvPr>
          <p:cNvSpPr>
            <a:spLocks xmlns:a="http://schemas.openxmlformats.org/drawingml/2006/main" noGrp="1"/>
          </p:cNvSpPr>
          <p:nvPr/>
        </p:nvSpPr>
        <p:spPr>
          <a:xfrm xmlns:a="http://schemas.openxmlformats.org/drawingml/2006/main">
            <a:off x="1085850" y="38195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Compared training-name and held-out query words</a:t>
            </a:r>
          </a:p>
        </p:txBody>
      </p:sp>
      <p:sp>
        <p:nvSpPr>
          <p:cNvPr id="14" name="">
            <a:extLst xmlns:a="http://schemas.openxmlformats.org/drawingml/2006/main">
              <a:ext uri="{FF2B5EF4-FFF2-40B4-BE49-F238E27FC236}">
                <a16:creationId xmlns:a16="http://schemas.microsoft.com/office/drawing/2014/main" id="{A8C0F133-EA33-4657-B148-98466FF34278}"/>
              </a:ext>
            </a:extLst>
          </p:cNvPr>
          <p:cNvSpPr>
            <a:spLocks xmlns:a="http://schemas.openxmlformats.org/drawingml/2006/main" noGrp="1"/>
          </p:cNvSpPr>
          <p:nvPr/>
        </p:nvSpPr>
        <p:spPr>
          <a:xfrm xmlns:a="http://schemas.openxmlformats.org/drawingml/2006/main">
            <a:off x="857250" y="44577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AD1C1ED-8530-4AD9-9235-EC84D504F7EB}"/>
              </a:ext>
            </a:extLst>
          </p:cNvPr>
          <p:cNvSpPr>
            <a:spLocks xmlns:a="http://schemas.openxmlformats.org/drawingml/2006/main" noGrp="1"/>
          </p:cNvSpPr>
          <p:nvPr/>
        </p:nvSpPr>
        <p:spPr>
          <a:xfrm xmlns:a="http://schemas.openxmlformats.org/drawingml/2006/main">
            <a:off x="1085850" y="43719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Repeated the comparison on CPU and Apple MPS</a:t>
            </a:r>
          </a:p>
        </p:txBody>
      </p:sp>
      <p:sp>
        <p:nvSpPr>
          <p:cNvPr id="16" name="">
            <a:extLst xmlns:a="http://schemas.openxmlformats.org/drawingml/2006/main">
              <a:ext uri="{FF2B5EF4-FFF2-40B4-BE49-F238E27FC236}">
                <a16:creationId xmlns:a16="http://schemas.microsoft.com/office/drawing/2014/main" id="{F877B704-1CD5-4F58-BEE8-2974102C190D}"/>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6C49E565-471C-4924-8EC1-254BA867EAAF}"/>
              </a:ext>
            </a:extLst>
          </p:cNvPr>
          <p:cNvSpPr>
            <a:spLocks xmlns:a="http://schemas.openxmlformats.org/drawingml/2006/main" noGrp="1"/>
          </p:cNvSpPr>
          <p:nvPr/>
        </p:nvSpPr>
        <p:spPr>
          <a:xfrm xmlns:a="http://schemas.openxmlformats.org/drawingml/2006/main">
            <a:off x="6305550" y="18288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DATA AND RUN SETUP</a:t>
            </a:r>
          </a:p>
        </p:txBody>
      </p:sp>
      <p:sp>
        <p:nvSpPr>
          <p:cNvPr id="18" name="">
            <a:extLst xmlns:a="http://schemas.openxmlformats.org/drawingml/2006/main">
              <a:ext uri="{FF2B5EF4-FFF2-40B4-BE49-F238E27FC236}">
                <a16:creationId xmlns:a16="http://schemas.microsoft.com/office/drawing/2014/main" id="{60917258-067B-4554-BC87-02DE3C933073}"/>
              </a:ext>
            </a:extLst>
          </p:cNvPr>
          <p:cNvSpPr>
            <a:spLocks xmlns:a="http://schemas.openxmlformats.org/drawingml/2006/main" noGrp="1"/>
          </p:cNvSpPr>
          <p:nvPr/>
        </p:nvSpPr>
        <p:spPr>
          <a:xfrm xmlns:a="http://schemas.openxmlformats.org/drawingml/2006/main">
            <a:off x="6305550" y="22383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Partial views</a:t>
            </a:r>
          </a:p>
        </p:txBody>
      </p:sp>
      <p:sp>
        <p:nvSpPr>
          <p:cNvPr id="19" name="">
            <a:extLst xmlns:a="http://schemas.openxmlformats.org/drawingml/2006/main">
              <a:ext uri="{FF2B5EF4-FFF2-40B4-BE49-F238E27FC236}">
                <a16:creationId xmlns:a16="http://schemas.microsoft.com/office/drawing/2014/main" id="{59F6DF1B-7B01-4CFA-9E5D-0F60C0D0072F}"/>
              </a:ext>
            </a:extLst>
          </p:cNvPr>
          <p:cNvSpPr>
            <a:spLocks xmlns:a="http://schemas.openxmlformats.org/drawingml/2006/main" noGrp="1"/>
          </p:cNvSpPr>
          <p:nvPr/>
        </p:nvSpPr>
        <p:spPr>
          <a:xfrm xmlns:a="http://schemas.openxmlformats.org/drawingml/2006/main">
            <a:off x="6305550" y="25527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9,140 views from 2,285 objects</a:t>
            </a:r>
          </a:p>
        </p:txBody>
      </p:sp>
      <p:sp>
        <p:nvSpPr>
          <p:cNvPr id="20" name="">
            <a:extLst xmlns:a="http://schemas.openxmlformats.org/drawingml/2006/main">
              <a:ext uri="{FF2B5EF4-FFF2-40B4-BE49-F238E27FC236}">
                <a16:creationId xmlns:a16="http://schemas.microsoft.com/office/drawing/2014/main" id="{1717368C-1572-4475-BFB0-097FAE58FE36}"/>
              </a:ext>
            </a:extLst>
          </p:cNvPr>
          <p:cNvSpPr>
            <a:spLocks xmlns:a="http://schemas.openxmlformats.org/drawingml/2006/main" noGrp="1"/>
          </p:cNvSpPr>
          <p:nvPr/>
        </p:nvSpPr>
        <p:spPr>
          <a:xfrm xmlns:a="http://schemas.openxmlformats.org/drawingml/2006/main">
            <a:off x="6305550" y="30384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Full shapes</a:t>
            </a:r>
          </a:p>
        </p:txBody>
      </p:sp>
      <p:sp>
        <p:nvSpPr>
          <p:cNvPr id="21" name="">
            <a:extLst xmlns:a="http://schemas.openxmlformats.org/drawingml/2006/main">
              <a:ext uri="{FF2B5EF4-FFF2-40B4-BE49-F238E27FC236}">
                <a16:creationId xmlns:a16="http://schemas.microsoft.com/office/drawing/2014/main" id="{A01556A7-6940-4104-B6E2-D73A22F557E9}"/>
              </a:ext>
            </a:extLst>
          </p:cNvPr>
          <p:cNvSpPr>
            <a:spLocks xmlns:a="http://schemas.openxmlformats.org/drawingml/2006/main" noGrp="1"/>
          </p:cNvSpPr>
          <p:nvPr/>
        </p:nvSpPr>
        <p:spPr>
          <a:xfrm xmlns:a="http://schemas.openxmlformats.org/drawingml/2006/main">
            <a:off x="6305550" y="33528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2,285 complete objects</a:t>
            </a:r>
          </a:p>
        </p:txBody>
      </p:sp>
      <p:sp>
        <p:nvSpPr>
          <p:cNvPr id="22" name="">
            <a:extLst xmlns:a="http://schemas.openxmlformats.org/drawingml/2006/main">
              <a:ext uri="{FF2B5EF4-FFF2-40B4-BE49-F238E27FC236}">
                <a16:creationId xmlns:a16="http://schemas.microsoft.com/office/drawing/2014/main" id="{68073590-21BD-46AB-BE6C-82375300DF97}"/>
              </a:ext>
            </a:extLst>
          </p:cNvPr>
          <p:cNvSpPr>
            <a:spLocks xmlns:a="http://schemas.openxmlformats.org/drawingml/2006/main" noGrp="1"/>
          </p:cNvSpPr>
          <p:nvPr/>
        </p:nvSpPr>
        <p:spPr>
          <a:xfrm xmlns:a="http://schemas.openxmlformats.org/drawingml/2006/main">
            <a:off x="6305550" y="3867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2A43"/>
                </a:solidFill>
                <a:latin typeface="Avenir"/>
                <a:ea typeface="Avenir"/>
                <a:cs typeface="Avenir"/>
              </a:defRPr>
            </a:defPPr>
          </a:lstStyle>
          <a:p xmlns:a="http://schemas.openxmlformats.org/drawingml/2006/main">
            <a:pPr algn="l">
              <a:defRPr sz="1350" b="1">
                <a:solidFill>
                  <a:srgbClr val="102A43"/>
                </a:solidFill>
                <a:latin typeface="Avenir"/>
                <a:ea typeface="Avenir"/>
                <a:cs typeface="Avenir"/>
              </a:defRPr>
            </a:pPr>
            <a:r>
              <a:rPr sz="1350" b="1">
                <a:solidFill>
                  <a:srgbClr val="102A43"/>
                </a:solidFill>
                <a:latin typeface="Avenir"/>
                <a:ea typeface="Avenir"/>
                <a:cs typeface="Avenir"/>
              </a:rPr>
              <a:t>One 2,048-point forward pass: 0.546 s</a:t>
            </a:r>
          </a:p>
        </p:txBody>
      </p:sp>
      <p:sp>
        <p:nvSpPr>
          <p:cNvPr id="23" name="">
            <a:extLst xmlns:a="http://schemas.openxmlformats.org/drawingml/2006/main">
              <a:ext uri="{FF2B5EF4-FFF2-40B4-BE49-F238E27FC236}">
                <a16:creationId xmlns:a16="http://schemas.microsoft.com/office/drawing/2014/main" id="{DB97164D-5EE3-4FBC-96D6-E1E4CE3DD03C}"/>
              </a:ext>
            </a:extLst>
          </p:cNvPr>
          <p:cNvSpPr>
            <a:spLocks xmlns:a="http://schemas.openxmlformats.org/drawingml/2006/main" noGrp="1"/>
          </p:cNvSpPr>
          <p:nvPr/>
        </p:nvSpPr>
        <p:spPr>
          <a:xfrm xmlns:a="http://schemas.openxmlformats.org/drawingml/2006/main">
            <a:off x="6305550" y="419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~1.295 GiB sampled Metal allocation¹</a:t>
            </a:r>
          </a:p>
        </p:txBody>
      </p:sp>
      <p:sp>
        <p:nvSpPr>
          <p:cNvPr id="24" name="">
            <a:extLst xmlns:a="http://schemas.openxmlformats.org/drawingml/2006/main">
              <a:ext uri="{FF2B5EF4-FFF2-40B4-BE49-F238E27FC236}">
                <a16:creationId xmlns:a16="http://schemas.microsoft.com/office/drawing/2014/main" id="{3F507F48-E61C-49DA-8599-ED78466F0FF3}"/>
              </a:ext>
            </a:extLst>
          </p:cNvPr>
          <p:cNvSpPr>
            <a:spLocks xmlns:a="http://schemas.openxmlformats.org/drawingml/2006/main" noGrp="1"/>
          </p:cNvSpPr>
          <p:nvPr/>
        </p:nvSpPr>
        <p:spPr>
          <a:xfrm xmlns:a="http://schemas.openxmlformats.org/drawingml/2006/main">
            <a:off x="6305550" y="4591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526777"/>
                </a:solidFill>
                <a:latin typeface="Avenir"/>
                <a:ea typeface="Avenir"/>
                <a:cs typeface="Avenir"/>
              </a:defRPr>
            </a:defPPr>
          </a:lstStyle>
          <a:p xmlns:a="http://schemas.openxmlformats.org/drawingml/2006/main">
            <a:pPr algn="l">
              <a:defRPr sz="1125" b="0">
                <a:solidFill>
                  <a:srgbClr val="526777"/>
                </a:solidFill>
                <a:latin typeface="Avenir"/>
                <a:ea typeface="Avenir"/>
                <a:cs typeface="Avenir"/>
              </a:defRPr>
            </a:pPr>
            <a:r>
              <a:rPr sz="1125" b="0">
                <a:solidFill>
                  <a:srgbClr val="526777"/>
                </a:solidFill>
                <a:latin typeface="Avenir"/>
                <a:ea typeface="Avenir"/>
                <a:cs typeface="Avenir"/>
              </a:rPr>
              <a:t>¹5 ms sampling on unified memory; not a separate VRAM peak.</a:t>
            </a:r>
          </a:p>
        </p:txBody>
      </p:sp>
      <p:sp>
        <p:nvSpPr>
          <p:cNvPr id="25" name="">
            <a:extLst xmlns:a="http://schemas.openxmlformats.org/drawingml/2006/main">
              <a:ext uri="{FF2B5EF4-FFF2-40B4-BE49-F238E27FC236}">
                <a16:creationId xmlns:a16="http://schemas.microsoft.com/office/drawing/2014/main" id="{B9AD0924-0E85-4808-8A44-6902D8ECB458}"/>
              </a:ext>
            </a:extLst>
          </p:cNvPr>
          <p:cNvSpPr>
            <a:spLocks xmlns:a="http://schemas.openxmlformats.org/drawingml/2006/main" noGrp="1"/>
          </p:cNvSpPr>
          <p:nvPr/>
        </p:nvSpPr>
        <p:spPr>
          <a:xfrm xmlns:a="http://schemas.openxmlformats.org/drawingml/2006/main">
            <a:off x="609600" y="5667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Checkpoint: released OpenAD partial-view model · MPS-adapted evaluation</a:t>
            </a:r>
          </a:p>
        </p:txBody>
      </p:sp>
    </p:spTree>
    <p:extLst>
      <p:ext uri="{BB962C8B-B14F-4D97-AF65-F5344CB8AC3E}">
        <p14:creationId xmlns:p14="http://schemas.microsoft.com/office/powerpoint/2010/main" val="347692684"/>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2E4B4AD-2347-4DB1-88E8-D57237BEDB6F}"/>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3ECA4228-BB81-40DE-AC75-FE56FE3BCABB}"/>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Changing the query words changed the baseline scores</a:t>
            </a:r>
          </a:p>
        </p:txBody>
      </p:sp>
      <p:sp>
        <p:nvSpPr>
          <p:cNvPr id="3" name="">
            <a:extLst xmlns:a="http://schemas.openxmlformats.org/drawingml/2006/main">
              <a:ext uri="{FF2B5EF4-FFF2-40B4-BE49-F238E27FC236}">
                <a16:creationId xmlns:a16="http://schemas.microsoft.com/office/drawing/2014/main" id="{5E32AE61-9139-45E4-AE77-73931E5DFAB2}"/>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E076FF2-4F94-4FE8-AE64-A622D8D64AEE}"/>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10</a:t>
            </a:r>
          </a:p>
        </p:txBody>
      </p:sp>
      <p:sp>
        <p:nvSpPr>
          <p:cNvPr id="5" name="">
            <a:extLst xmlns:a="http://schemas.openxmlformats.org/drawingml/2006/main">
              <a:ext uri="{FF2B5EF4-FFF2-40B4-BE49-F238E27FC236}">
                <a16:creationId xmlns:a16="http://schemas.microsoft.com/office/drawing/2014/main" id="{8F3D1304-37CA-4A96-A309-6AF3A9F175F5}"/>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6" name="">
            <a:extLst xmlns:a="http://schemas.openxmlformats.org/drawingml/2006/main">
              <a:ext uri="{FF2B5EF4-FFF2-40B4-BE49-F238E27FC236}">
                <a16:creationId xmlns:a16="http://schemas.microsoft.com/office/drawing/2014/main" id="{8F2F160A-4D9F-45DF-BF90-238FF4AAC54D}"/>
              </a:ext>
            </a:extLst>
          </p:cNvPr>
          <p:cNvSpPr>
            <a:spLocks xmlns:a="http://schemas.openxmlformats.org/drawingml/2006/main" noGrp="1"/>
          </p:cNvSpPr>
          <p:nvPr/>
        </p:nvSpPr>
        <p:spPr>
          <a:xfrm xmlns:a="http://schemas.openxmlformats.org/drawingml/2006/main">
            <a:off x="609600" y="195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67DAD"/>
                </a:solidFill>
                <a:latin typeface="Avenir"/>
                <a:ea typeface="Avenir"/>
                <a:cs typeface="Avenir"/>
              </a:defRPr>
            </a:defPPr>
          </a:lstStyle>
          <a:p xmlns:a="http://schemas.openxmlformats.org/drawingml/2006/main">
            <a:pPr algn="l">
              <a:defRPr sz="1275" b="1">
                <a:solidFill>
                  <a:srgbClr val="167DAD"/>
                </a:solidFill>
                <a:latin typeface="Avenir"/>
                <a:ea typeface="Avenir"/>
                <a:cs typeface="Avenir"/>
              </a:defRPr>
            </a:pPr>
            <a:r>
              <a:rPr sz="1275" b="1">
                <a:solidFill>
                  <a:srgbClr val="167DAD"/>
                </a:solidFill>
                <a:latin typeface="Avenir"/>
                <a:ea typeface="Avenir"/>
                <a:cs typeface="Avenir"/>
              </a:rPr>
              <a:t>Mean point-wise IoU¹</a:t>
            </a:r>
          </a:p>
        </p:txBody>
      </p:sp>
      <p:sp>
        <p:nvSpPr>
          <p:cNvPr id="7" name="">
            <a:extLst xmlns:a="http://schemas.openxmlformats.org/drawingml/2006/main">
              <a:ext uri="{FF2B5EF4-FFF2-40B4-BE49-F238E27FC236}">
                <a16:creationId xmlns:a16="http://schemas.microsoft.com/office/drawing/2014/main" id="{3B8A5369-1593-41E9-971B-19251F6CE01A}"/>
              </a:ext>
            </a:extLst>
          </p:cNvPr>
          <p:cNvSpPr>
            <a:spLocks xmlns:a="http://schemas.openxmlformats.org/drawingml/2006/main" noGrp="1"/>
          </p:cNvSpPr>
          <p:nvPr/>
        </p:nvSpPr>
        <p:spPr>
          <a:xfrm xmlns:a="http://schemas.openxmlformats.org/drawingml/2006/main">
            <a:off x="609600" y="2343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Partial · 18 actions</a:t>
            </a:r>
          </a:p>
        </p:txBody>
      </p:sp>
      <p:sp>
        <p:nvSpPr>
          <p:cNvPr id="8" name="">
            <a:extLst xmlns:a="http://schemas.openxmlformats.org/drawingml/2006/main">
              <a:ext uri="{FF2B5EF4-FFF2-40B4-BE49-F238E27FC236}">
                <a16:creationId xmlns:a16="http://schemas.microsoft.com/office/drawing/2014/main" id="{9484B5A2-47DF-47B9-ACFE-800D6BC09F32}"/>
              </a:ext>
            </a:extLst>
          </p:cNvPr>
          <p:cNvSpPr>
            <a:spLocks xmlns:a="http://schemas.openxmlformats.org/drawingml/2006/main" noGrp="1"/>
          </p:cNvSpPr>
          <p:nvPr/>
        </p:nvSpPr>
        <p:spPr>
          <a:xfrm xmlns:a="http://schemas.openxmlformats.org/drawingml/2006/main">
            <a:off x="3333750" y="2371725"/>
            <a:ext cx="4231862" cy="238125"/>
          </a:xfrm>
          <a:prstGeom xmlns:a="http://schemas.openxmlformats.org/drawingml/2006/main" prst="roundRect">
            <a:avLst>
              <a:gd name="adj" fmla="val 32000"/>
            </a:avLst>
          </a:prstGeom>
          <a:solidFill xmlns:a="http://schemas.openxmlformats.org/drawingml/2006/main">
            <a:srgbClr val="167DA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D565AC5-6D50-4902-92C2-5ABF54CF829C}"/>
              </a:ext>
            </a:extLst>
          </p:cNvPr>
          <p:cNvSpPr>
            <a:spLocks xmlns:a="http://schemas.openxmlformats.org/drawingml/2006/main" noGrp="1"/>
          </p:cNvSpPr>
          <p:nvPr/>
        </p:nvSpPr>
        <p:spPr>
          <a:xfrm xmlns:a="http://schemas.openxmlformats.org/drawingml/2006/main">
            <a:off x="7660862" y="2343150"/>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40.39%</a:t>
            </a:r>
          </a:p>
        </p:txBody>
      </p:sp>
      <p:sp>
        <p:nvSpPr>
          <p:cNvPr id="10" name="">
            <a:extLst xmlns:a="http://schemas.openxmlformats.org/drawingml/2006/main">
              <a:ext uri="{FF2B5EF4-FFF2-40B4-BE49-F238E27FC236}">
                <a16:creationId xmlns:a16="http://schemas.microsoft.com/office/drawing/2014/main" id="{BD062911-2B32-41EC-A5A3-3303D6BE39D2}"/>
              </a:ext>
            </a:extLst>
          </p:cNvPr>
          <p:cNvSpPr>
            <a:spLocks xmlns:a="http://schemas.openxmlformats.org/drawingml/2006/main" noGrp="1"/>
          </p:cNvSpPr>
          <p:nvPr/>
        </p:nvSpPr>
        <p:spPr>
          <a:xfrm xmlns:a="http://schemas.openxmlformats.org/drawingml/2006/main">
            <a:off x="6000750" y="2371725"/>
            <a:ext cx="1128427" cy="238125"/>
          </a:xfrm>
          <a:prstGeom xmlns:a="http://schemas.openxmlformats.org/drawingml/2006/main" prst="roundRect">
            <a:avLst>
              <a:gd name="adj" fmla="val 32000"/>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18BFA9B-2552-4CAB-A2B5-6825F6E8F9D1}"/>
              </a:ext>
            </a:extLst>
          </p:cNvPr>
          <p:cNvSpPr>
            <a:spLocks xmlns:a="http://schemas.openxmlformats.org/drawingml/2006/main" noGrp="1"/>
          </p:cNvSpPr>
          <p:nvPr/>
        </p:nvSpPr>
        <p:spPr>
          <a:xfrm xmlns:a="http://schemas.openxmlformats.org/drawingml/2006/main">
            <a:off x="7224427" y="2343150"/>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10.77%</a:t>
            </a:r>
          </a:p>
        </p:txBody>
      </p:sp>
      <p:sp>
        <p:nvSpPr>
          <p:cNvPr id="12" name="">
            <a:extLst xmlns:a="http://schemas.openxmlformats.org/drawingml/2006/main">
              <a:ext uri="{FF2B5EF4-FFF2-40B4-BE49-F238E27FC236}">
                <a16:creationId xmlns:a16="http://schemas.microsoft.com/office/drawing/2014/main" id="{10F3B777-7493-45A8-83DE-B0D0777F05AD}"/>
              </a:ext>
            </a:extLst>
          </p:cNvPr>
          <p:cNvSpPr>
            <a:spLocks xmlns:a="http://schemas.openxmlformats.org/drawingml/2006/main" noGrp="1"/>
          </p:cNvSpPr>
          <p:nvPr/>
        </p:nvSpPr>
        <p:spPr>
          <a:xfrm xmlns:a="http://schemas.openxmlformats.org/drawingml/2006/main">
            <a:off x="609600" y="30289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Partial · incl. “none”</a:t>
            </a:r>
          </a:p>
        </p:txBody>
      </p:sp>
      <p:sp>
        <p:nvSpPr>
          <p:cNvPr id="13" name="">
            <a:extLst xmlns:a="http://schemas.openxmlformats.org/drawingml/2006/main">
              <a:ext uri="{FF2B5EF4-FFF2-40B4-BE49-F238E27FC236}">
                <a16:creationId xmlns:a16="http://schemas.microsoft.com/office/drawing/2014/main" id="{DD738F53-8187-4581-8BDE-EDA972AE8636}"/>
              </a:ext>
            </a:extLst>
          </p:cNvPr>
          <p:cNvSpPr>
            <a:spLocks xmlns:a="http://schemas.openxmlformats.org/drawingml/2006/main" noGrp="1"/>
          </p:cNvSpPr>
          <p:nvPr/>
        </p:nvSpPr>
        <p:spPr>
          <a:xfrm xmlns:a="http://schemas.openxmlformats.org/drawingml/2006/main">
            <a:off x="3333750" y="3057525"/>
            <a:ext cx="4342924" cy="238125"/>
          </a:xfrm>
          <a:prstGeom xmlns:a="http://schemas.openxmlformats.org/drawingml/2006/main" prst="roundRect">
            <a:avLst>
              <a:gd name="adj" fmla="val 32000"/>
            </a:avLst>
          </a:prstGeom>
          <a:solidFill xmlns:a="http://schemas.openxmlformats.org/drawingml/2006/main">
            <a:srgbClr val="167DA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168F260-57EE-473B-ACC3-4A49C633732C}"/>
              </a:ext>
            </a:extLst>
          </p:cNvPr>
          <p:cNvSpPr>
            <a:spLocks xmlns:a="http://schemas.openxmlformats.org/drawingml/2006/main" noGrp="1"/>
          </p:cNvSpPr>
          <p:nvPr/>
        </p:nvSpPr>
        <p:spPr>
          <a:xfrm xmlns:a="http://schemas.openxmlformats.org/drawingml/2006/main">
            <a:off x="7771924" y="3028950"/>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41.45%</a:t>
            </a:r>
          </a:p>
        </p:txBody>
      </p:sp>
      <p:sp>
        <p:nvSpPr>
          <p:cNvPr id="15" name="">
            <a:extLst xmlns:a="http://schemas.openxmlformats.org/drawingml/2006/main">
              <a:ext uri="{FF2B5EF4-FFF2-40B4-BE49-F238E27FC236}">
                <a16:creationId xmlns:a16="http://schemas.microsoft.com/office/drawing/2014/main" id="{7C07D903-B44B-4808-AEA7-B8DF2E77B8C5}"/>
              </a:ext>
            </a:extLst>
          </p:cNvPr>
          <p:cNvSpPr>
            <a:spLocks xmlns:a="http://schemas.openxmlformats.org/drawingml/2006/main" noGrp="1"/>
          </p:cNvSpPr>
          <p:nvPr/>
        </p:nvSpPr>
        <p:spPr>
          <a:xfrm xmlns:a="http://schemas.openxmlformats.org/drawingml/2006/main">
            <a:off x="6000750" y="3057525"/>
            <a:ext cx="1312831" cy="238125"/>
          </a:xfrm>
          <a:prstGeom xmlns:a="http://schemas.openxmlformats.org/drawingml/2006/main" prst="roundRect">
            <a:avLst>
              <a:gd name="adj" fmla="val 32000"/>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8CFDACC-7203-45D6-A550-9E75B75EF218}"/>
              </a:ext>
            </a:extLst>
          </p:cNvPr>
          <p:cNvSpPr>
            <a:spLocks xmlns:a="http://schemas.openxmlformats.org/drawingml/2006/main" noGrp="1"/>
          </p:cNvSpPr>
          <p:nvPr/>
        </p:nvSpPr>
        <p:spPr>
          <a:xfrm xmlns:a="http://schemas.openxmlformats.org/drawingml/2006/main">
            <a:off x="7408831" y="3028950"/>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12.53%</a:t>
            </a:r>
          </a:p>
        </p:txBody>
      </p:sp>
      <p:sp>
        <p:nvSpPr>
          <p:cNvPr id="17" name="">
            <a:extLst xmlns:a="http://schemas.openxmlformats.org/drawingml/2006/main">
              <a:ext uri="{FF2B5EF4-FFF2-40B4-BE49-F238E27FC236}">
                <a16:creationId xmlns:a16="http://schemas.microsoft.com/office/drawing/2014/main" id="{26EE99D1-C33B-4295-8F41-9D96F971A090}"/>
              </a:ext>
            </a:extLst>
          </p:cNvPr>
          <p:cNvSpPr>
            <a:spLocks xmlns:a="http://schemas.openxmlformats.org/drawingml/2006/main" noGrp="1"/>
          </p:cNvSpPr>
          <p:nvPr/>
        </p:nvSpPr>
        <p:spPr>
          <a:xfrm xmlns:a="http://schemas.openxmlformats.org/drawingml/2006/main">
            <a:off x="609600" y="37147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Full · 18 actions</a:t>
            </a:r>
          </a:p>
        </p:txBody>
      </p:sp>
      <p:sp>
        <p:nvSpPr>
          <p:cNvPr id="18" name="">
            <a:extLst xmlns:a="http://schemas.openxmlformats.org/drawingml/2006/main">
              <a:ext uri="{FF2B5EF4-FFF2-40B4-BE49-F238E27FC236}">
                <a16:creationId xmlns:a16="http://schemas.microsoft.com/office/drawing/2014/main" id="{891848DF-9223-4A28-841B-B7ECBC1B4045}"/>
              </a:ext>
            </a:extLst>
          </p:cNvPr>
          <p:cNvSpPr>
            <a:spLocks xmlns:a="http://schemas.openxmlformats.org/drawingml/2006/main" noGrp="1"/>
          </p:cNvSpPr>
          <p:nvPr/>
        </p:nvSpPr>
        <p:spPr>
          <a:xfrm xmlns:a="http://schemas.openxmlformats.org/drawingml/2006/main">
            <a:off x="3333750" y="3743325"/>
            <a:ext cx="3685985" cy="238125"/>
          </a:xfrm>
          <a:prstGeom xmlns:a="http://schemas.openxmlformats.org/drawingml/2006/main" prst="roundRect">
            <a:avLst>
              <a:gd name="adj" fmla="val 32000"/>
            </a:avLst>
          </a:prstGeom>
          <a:solidFill xmlns:a="http://schemas.openxmlformats.org/drawingml/2006/main">
            <a:srgbClr val="167DA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16A9DCA-521C-4C4B-A3CD-9BD895ECE1AF}"/>
              </a:ext>
            </a:extLst>
          </p:cNvPr>
          <p:cNvSpPr>
            <a:spLocks xmlns:a="http://schemas.openxmlformats.org/drawingml/2006/main" noGrp="1"/>
          </p:cNvSpPr>
          <p:nvPr/>
        </p:nvSpPr>
        <p:spPr>
          <a:xfrm xmlns:a="http://schemas.openxmlformats.org/drawingml/2006/main">
            <a:off x="7114985" y="3714750"/>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35.18%</a:t>
            </a:r>
          </a:p>
        </p:txBody>
      </p:sp>
      <p:sp>
        <p:nvSpPr>
          <p:cNvPr id="20" name="">
            <a:extLst xmlns:a="http://schemas.openxmlformats.org/drawingml/2006/main">
              <a:ext uri="{FF2B5EF4-FFF2-40B4-BE49-F238E27FC236}">
                <a16:creationId xmlns:a16="http://schemas.microsoft.com/office/drawing/2014/main" id="{2642488E-F56A-49CE-ADB3-5620617B50F0}"/>
              </a:ext>
            </a:extLst>
          </p:cNvPr>
          <p:cNvSpPr>
            <a:spLocks xmlns:a="http://schemas.openxmlformats.org/drawingml/2006/main" noGrp="1"/>
          </p:cNvSpPr>
          <p:nvPr/>
        </p:nvSpPr>
        <p:spPr>
          <a:xfrm xmlns:a="http://schemas.openxmlformats.org/drawingml/2006/main">
            <a:off x="6000750" y="3743325"/>
            <a:ext cx="824579" cy="238125"/>
          </a:xfrm>
          <a:prstGeom xmlns:a="http://schemas.openxmlformats.org/drawingml/2006/main" prst="roundRect">
            <a:avLst>
              <a:gd name="adj" fmla="val 32000"/>
            </a:avLst>
          </a:prstGeom>
          <a:solidFill xmlns:a="http://schemas.openxmlformats.org/drawingml/2006/main">
            <a:srgbClr val="F2B84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F79F7A3-ED16-41B4-BB6B-52C6A8A155AC}"/>
              </a:ext>
            </a:extLst>
          </p:cNvPr>
          <p:cNvSpPr>
            <a:spLocks xmlns:a="http://schemas.openxmlformats.org/drawingml/2006/main" noGrp="1"/>
          </p:cNvSpPr>
          <p:nvPr/>
        </p:nvSpPr>
        <p:spPr>
          <a:xfrm xmlns:a="http://schemas.openxmlformats.org/drawingml/2006/main">
            <a:off x="6920579" y="3714750"/>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7.87%</a:t>
            </a:r>
          </a:p>
        </p:txBody>
      </p:sp>
      <p:sp>
        <p:nvSpPr>
          <p:cNvPr id="22" name="">
            <a:extLst xmlns:a="http://schemas.openxmlformats.org/drawingml/2006/main">
              <a:ext uri="{FF2B5EF4-FFF2-40B4-BE49-F238E27FC236}">
                <a16:creationId xmlns:a16="http://schemas.microsoft.com/office/drawing/2014/main" id="{32EAFFBD-219D-4961-81BB-54846B375F57}"/>
              </a:ext>
            </a:extLst>
          </p:cNvPr>
          <p:cNvSpPr>
            <a:spLocks xmlns:a="http://schemas.openxmlformats.org/drawingml/2006/main" noGrp="1"/>
          </p:cNvSpPr>
          <p:nvPr/>
        </p:nvSpPr>
        <p:spPr>
          <a:xfrm xmlns:a="http://schemas.openxmlformats.org/drawingml/2006/main">
            <a:off x="609600" y="44005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Full · incl. “none”</a:t>
            </a:r>
          </a:p>
        </p:txBody>
      </p:sp>
      <p:sp>
        <p:nvSpPr>
          <p:cNvPr id="23" name="">
            <a:extLst xmlns:a="http://schemas.openxmlformats.org/drawingml/2006/main">
              <a:ext uri="{FF2B5EF4-FFF2-40B4-BE49-F238E27FC236}">
                <a16:creationId xmlns:a16="http://schemas.microsoft.com/office/drawing/2014/main" id="{A115FC6B-616E-4277-8C9E-B94A741C510D}"/>
              </a:ext>
            </a:extLst>
          </p:cNvPr>
          <p:cNvSpPr>
            <a:spLocks xmlns:a="http://schemas.openxmlformats.org/drawingml/2006/main" noGrp="1"/>
          </p:cNvSpPr>
          <p:nvPr/>
        </p:nvSpPr>
        <p:spPr>
          <a:xfrm xmlns:a="http://schemas.openxmlformats.org/drawingml/2006/main">
            <a:off x="3333750" y="4429125"/>
            <a:ext cx="3790760" cy="238125"/>
          </a:xfrm>
          <a:prstGeom xmlns:a="http://schemas.openxmlformats.org/drawingml/2006/main" prst="roundRect">
            <a:avLst>
              <a:gd name="adj" fmla="val 32000"/>
            </a:avLst>
          </a:prstGeom>
          <a:solidFill xmlns:a="http://schemas.openxmlformats.org/drawingml/2006/main">
            <a:srgbClr val="167DA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7AF4356-018B-4BEE-941E-84C41228F796}"/>
              </a:ext>
            </a:extLst>
          </p:cNvPr>
          <p:cNvSpPr>
            <a:spLocks xmlns:a="http://schemas.openxmlformats.org/drawingml/2006/main" noGrp="1"/>
          </p:cNvSpPr>
          <p:nvPr/>
        </p:nvSpPr>
        <p:spPr>
          <a:xfrm xmlns:a="http://schemas.openxmlformats.org/drawingml/2006/main">
            <a:off x="7219760" y="4400550"/>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36.18%</a:t>
            </a:r>
          </a:p>
        </p:txBody>
      </p:sp>
      <p:sp>
        <p:nvSpPr>
          <p:cNvPr id="25" name="">
            <a:extLst xmlns:a="http://schemas.openxmlformats.org/drawingml/2006/main">
              <a:ext uri="{FF2B5EF4-FFF2-40B4-BE49-F238E27FC236}">
                <a16:creationId xmlns:a16="http://schemas.microsoft.com/office/drawing/2014/main" id="{A2EE5FFA-92D0-4CEC-9228-8E985F81D7F9}"/>
              </a:ext>
            </a:extLst>
          </p:cNvPr>
          <p:cNvSpPr>
            <a:spLocks xmlns:a="http://schemas.openxmlformats.org/drawingml/2006/main" noGrp="1"/>
          </p:cNvSpPr>
          <p:nvPr/>
        </p:nvSpPr>
        <p:spPr>
          <a:xfrm xmlns:a="http://schemas.openxmlformats.org/drawingml/2006/main">
            <a:off x="6000750" y="4429125"/>
            <a:ext cx="1022604" cy="238125"/>
          </a:xfrm>
          <a:prstGeom xmlns:a="http://schemas.openxmlformats.org/drawingml/2006/main" prst="roundRect">
            <a:avLst>
              <a:gd name="adj" fmla="val 32000"/>
            </a:avLst>
          </a:prstGeom>
          <a:solidFill xmlns:a="http://schemas.openxmlformats.org/drawingml/2006/main">
            <a:srgbClr val="F2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C635800-205E-4588-B9ED-8032E4C6E61F}"/>
              </a:ext>
            </a:extLst>
          </p:cNvPr>
          <p:cNvSpPr>
            <a:spLocks xmlns:a="http://schemas.openxmlformats.org/drawingml/2006/main" noGrp="1"/>
          </p:cNvSpPr>
          <p:nvPr/>
        </p:nvSpPr>
        <p:spPr>
          <a:xfrm xmlns:a="http://schemas.openxmlformats.org/drawingml/2006/main">
            <a:off x="7118604" y="4400550"/>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9.76%</a:t>
            </a:r>
          </a:p>
        </p:txBody>
      </p:sp>
      <p:sp>
        <p:nvSpPr>
          <p:cNvPr id="27" name="">
            <a:extLst xmlns:a="http://schemas.openxmlformats.org/drawingml/2006/main">
              <a:ext uri="{FF2B5EF4-FFF2-40B4-BE49-F238E27FC236}">
                <a16:creationId xmlns:a16="http://schemas.microsoft.com/office/drawing/2014/main" id="{690C00FF-1F7F-4089-B38E-FB96A2015D45}"/>
              </a:ext>
            </a:extLst>
          </p:cNvPr>
          <p:cNvSpPr>
            <a:spLocks xmlns:a="http://schemas.openxmlformats.org/drawingml/2006/main" noGrp="1"/>
          </p:cNvSpPr>
          <p:nvPr/>
        </p:nvSpPr>
        <p:spPr>
          <a:xfrm xmlns:a="http://schemas.openxmlformats.org/drawingml/2006/main">
            <a:off x="609600" y="5267325"/>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28" name="">
            <a:extLst xmlns:a="http://schemas.openxmlformats.org/drawingml/2006/main">
              <a:ext uri="{FF2B5EF4-FFF2-40B4-BE49-F238E27FC236}">
                <a16:creationId xmlns:a16="http://schemas.microsoft.com/office/drawing/2014/main" id="{2F34748B-20C0-4492-8ECD-C9435AF9E2C2}"/>
              </a:ext>
            </a:extLst>
          </p:cNvPr>
          <p:cNvSpPr>
            <a:spLocks xmlns:a="http://schemas.openxmlformats.org/drawingml/2006/main" noGrp="1"/>
          </p:cNvSpPr>
          <p:nvPr/>
        </p:nvSpPr>
        <p:spPr>
          <a:xfrm xmlns:a="http://schemas.openxmlformats.org/drawingml/2006/main">
            <a:off x="676275" y="5267325"/>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BLUE = TRAINING-NAME QUERIES</a:t>
            </a:r>
          </a:p>
        </p:txBody>
      </p:sp>
      <p:sp>
        <p:nvSpPr>
          <p:cNvPr id="29" name="">
            <a:extLst xmlns:a="http://schemas.openxmlformats.org/drawingml/2006/main">
              <a:ext uri="{FF2B5EF4-FFF2-40B4-BE49-F238E27FC236}">
                <a16:creationId xmlns:a16="http://schemas.microsoft.com/office/drawing/2014/main" id="{4358EA3C-6E72-407A-85E4-24952D87804C}"/>
              </a:ext>
            </a:extLst>
          </p:cNvPr>
          <p:cNvSpPr>
            <a:spLocks xmlns:a="http://schemas.openxmlformats.org/drawingml/2006/main" noGrp="1"/>
          </p:cNvSpPr>
          <p:nvPr/>
        </p:nvSpPr>
        <p:spPr>
          <a:xfrm xmlns:a="http://schemas.openxmlformats.org/drawingml/2006/main">
            <a:off x="3638550" y="5267325"/>
            <a:ext cx="3095625"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30" name="">
            <a:extLst xmlns:a="http://schemas.openxmlformats.org/drawingml/2006/main">
              <a:ext uri="{FF2B5EF4-FFF2-40B4-BE49-F238E27FC236}">
                <a16:creationId xmlns:a16="http://schemas.microsoft.com/office/drawing/2014/main" id="{5D652EDD-26BA-4AD5-B3C1-B4BC029D3C72}"/>
              </a:ext>
            </a:extLst>
          </p:cNvPr>
          <p:cNvSpPr>
            <a:spLocks xmlns:a="http://schemas.openxmlformats.org/drawingml/2006/main" noGrp="1"/>
          </p:cNvSpPr>
          <p:nvPr/>
        </p:nvSpPr>
        <p:spPr>
          <a:xfrm xmlns:a="http://schemas.openxmlformats.org/drawingml/2006/main">
            <a:off x="3705225" y="5267325"/>
            <a:ext cx="2962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GOLD = HELD-OUT QUERY NAMES</a:t>
            </a:r>
          </a:p>
        </p:txBody>
      </p:sp>
      <p:sp>
        <p:nvSpPr>
          <p:cNvPr id="31" name="">
            <a:extLst xmlns:a="http://schemas.openxmlformats.org/drawingml/2006/main">
              <a:ext uri="{FF2B5EF4-FFF2-40B4-BE49-F238E27FC236}">
                <a16:creationId xmlns:a16="http://schemas.microsoft.com/office/drawing/2014/main" id="{1F829713-8E70-4152-91D4-6C25FBEC3B31}"/>
              </a:ext>
            </a:extLst>
          </p:cNvPr>
          <p:cNvSpPr>
            <a:spLocks xmlns:a="http://schemas.openxmlformats.org/drawingml/2006/main" noGrp="1"/>
          </p:cNvSpPr>
          <p:nvPr/>
        </p:nvSpPr>
        <p:spPr>
          <a:xfrm xmlns:a="http://schemas.openxmlformats.org/drawingml/2006/main">
            <a:off x="609600" y="576262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526777"/>
                </a:solidFill>
                <a:latin typeface="Avenir"/>
                <a:ea typeface="Avenir"/>
                <a:cs typeface="Avenir"/>
              </a:defRPr>
            </a:defPPr>
          </a:lstStyle>
          <a:p xmlns:a="http://schemas.openxmlformats.org/drawingml/2006/main">
            <a:pPr algn="l">
              <a:defRPr sz="1350" b="1">
                <a:solidFill>
                  <a:srgbClr val="526777"/>
                </a:solidFill>
                <a:latin typeface="Avenir"/>
                <a:ea typeface="Avenir"/>
                <a:cs typeface="Avenir"/>
              </a:defRPr>
            </a:pPr>
            <a:r>
              <a:rPr sz="1350" b="1">
                <a:solidFill>
                  <a:srgbClr val="526777"/>
                </a:solidFill>
                <a:latin typeface="Avenir"/>
                <a:ea typeface="Avenir"/>
                <a:cs typeface="Avenir"/>
              </a:rPr>
              <a:t>Higher means predicted points overlap more with the labeled parts.</a:t>
            </a:r>
          </a:p>
        </p:txBody>
      </p:sp>
    </p:spTree>
    <p:extLst>
      <p:ext uri="{BB962C8B-B14F-4D97-AF65-F5344CB8AC3E}">
        <p14:creationId xmlns:p14="http://schemas.microsoft.com/office/powerpoint/2010/main" val="2040010979"/>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B46B256-20DE-4C8C-9B3E-12A231D72F9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8980FC65-4F2D-4D23-A6C4-21AB97E0058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I found a clear failure on one partial vase</a:t>
            </a:r>
          </a:p>
        </p:txBody>
      </p:sp>
      <p:sp>
        <p:nvSpPr>
          <p:cNvPr id="3" name="">
            <a:extLst xmlns:a="http://schemas.openxmlformats.org/drawingml/2006/main">
              <a:ext uri="{FF2B5EF4-FFF2-40B4-BE49-F238E27FC236}">
                <a16:creationId xmlns:a16="http://schemas.microsoft.com/office/drawing/2014/main" id="{12317D68-DE14-4CB4-BE41-D5A95C591AEE}"/>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715497E-0A60-48D0-90D3-9692C2CE4183}"/>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10</a:t>
            </a:r>
          </a:p>
        </p:txBody>
      </p:sp>
      <p:pic>
        <p:nvPicPr>
          <p:cNvPr id="5" name="">
            <a:extLst xmlns:a="http://schemas.openxmlformats.org/drawingml/2006/main">
              <a:ext uri="{FF2B5EF4-FFF2-40B4-BE49-F238E27FC236}">
                <a16:creationId xmlns:a16="http://schemas.microsoft.com/office/drawing/2014/main" id="{61FF10DE-6FA4-4751-A645-C2589351F28D}"/>
              </a:ext>
            </a:extLst>
          </p:cNvPr>
          <p:cNvPicPr>
            <a:picLocks xmlns:a="http://schemas.openxmlformats.org/drawingml/2006/main" noChangeAspect="1"/>
          </p:cNvPicPr>
          <p:nvPr/>
        </p:nvPicPr>
        <p:blipFill>
          <a:blip xmlns:r="http://schemas.openxmlformats.org/officeDocument/2006/relationships" xmlns:a="http://schemas.openxmlformats.org/drawingml/2006/main" r:embed="Rdf9895a4c0ae4461"/>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B1E709C-2C80-4E37-A1D7-DE16A2BCA000}"/>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30D31767-9929-4EBE-A791-815BFCFE8103}"/>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8" name="">
            <a:extLst xmlns:a="http://schemas.openxmlformats.org/drawingml/2006/main">
              <a:ext uri="{FF2B5EF4-FFF2-40B4-BE49-F238E27FC236}">
                <a16:creationId xmlns:a16="http://schemas.microsoft.com/office/drawing/2014/main" id="{78300B75-9CFA-4537-BF50-B968AB8E3A55}"/>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9" name="">
            <a:extLst xmlns:a="http://schemas.openxmlformats.org/drawingml/2006/main">
              <a:ext uri="{FF2B5EF4-FFF2-40B4-BE49-F238E27FC236}">
                <a16:creationId xmlns:a16="http://schemas.microsoft.com/office/drawing/2014/main" id="{E3AE78F9-3DF7-468A-9044-E50B83A0F4FC}"/>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0" name="">
            <a:extLst xmlns:a="http://schemas.openxmlformats.org/drawingml/2006/main">
              <a:ext uri="{FF2B5EF4-FFF2-40B4-BE49-F238E27FC236}">
                <a16:creationId xmlns:a16="http://schemas.microsoft.com/office/drawing/2014/main" id="{20B39790-2C04-4EF7-BE70-27EEAA6D5C3F}"/>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1" name="">
            <a:extLst xmlns:a="http://schemas.openxmlformats.org/drawingml/2006/main">
              <a:ext uri="{FF2B5EF4-FFF2-40B4-BE49-F238E27FC236}">
                <a16:creationId xmlns:a16="http://schemas.microsoft.com/office/drawing/2014/main" id="{DEDEC391-2E66-416B-B53F-3E94DA08515A}"/>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2" name="">
            <a:extLst xmlns:a="http://schemas.openxmlformats.org/drawingml/2006/main">
              <a:ext uri="{FF2B5EF4-FFF2-40B4-BE49-F238E27FC236}">
                <a16:creationId xmlns:a16="http://schemas.microsoft.com/office/drawing/2014/main" id="{86AB01E6-B26D-4A1A-B542-AC41CA8695C0}"/>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3" name="">
            <a:extLst xmlns:a="http://schemas.openxmlformats.org/drawingml/2006/main">
              <a:ext uri="{FF2B5EF4-FFF2-40B4-BE49-F238E27FC236}">
                <a16:creationId xmlns:a16="http://schemas.microsoft.com/office/drawing/2014/main" id="{9F1C475C-50AB-49E6-9F98-40C3BF87236B}"/>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4800A914-AACF-4B72-ABF5-61373E1C9514}"/>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1516861805"/>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6519D0E-8B26-4265-B013-1A1DCB2CDFB4}"/>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757C081B-A1AA-41F6-A48C-4E164BA96EB6}"/>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3" name="">
            <a:extLst xmlns:a="http://schemas.openxmlformats.org/drawingml/2006/main">
              <a:ext uri="{FF2B5EF4-FFF2-40B4-BE49-F238E27FC236}">
                <a16:creationId xmlns:a16="http://schemas.microsoft.com/office/drawing/2014/main" id="{FB06DE2F-7064-449B-A4A4-8A242B002EF5}"/>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B8968ED-133D-4268-AD77-E7FA1E4C8A78}"/>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10</a:t>
            </a:r>
          </a:p>
        </p:txBody>
      </p:sp>
      <p:sp>
        <p:nvSpPr>
          <p:cNvPr id="5" name="">
            <a:extLst xmlns:a="http://schemas.openxmlformats.org/drawingml/2006/main">
              <a:ext uri="{FF2B5EF4-FFF2-40B4-BE49-F238E27FC236}">
                <a16:creationId xmlns:a16="http://schemas.microsoft.com/office/drawing/2014/main" id="{BF19125F-CAB0-446E-A9DF-A6462903F9EA}"/>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54F1387A-D5BD-4019-BA06-6843A71FA1FB}"/>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7" name="">
            <a:extLst xmlns:a="http://schemas.openxmlformats.org/drawingml/2006/main">
              <a:ext uri="{FF2B5EF4-FFF2-40B4-BE49-F238E27FC236}">
                <a16:creationId xmlns:a16="http://schemas.microsoft.com/office/drawing/2014/main" id="{7C9A40B4-005D-4323-A5AF-93EBEAE624E5}"/>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8" name="">
            <a:extLst xmlns:a="http://schemas.openxmlformats.org/drawingml/2006/main">
              <a:ext uri="{FF2B5EF4-FFF2-40B4-BE49-F238E27FC236}">
                <a16:creationId xmlns:a16="http://schemas.microsoft.com/office/drawing/2014/main" id="{18CFF006-3C1B-4166-8DD7-8CB3DBB04E1B}"/>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9" name="">
            <a:extLst xmlns:a="http://schemas.openxmlformats.org/drawingml/2006/main">
              <a:ext uri="{FF2B5EF4-FFF2-40B4-BE49-F238E27FC236}">
                <a16:creationId xmlns:a16="http://schemas.microsoft.com/office/drawing/2014/main" id="{AF68E64F-3DA6-4FCC-B8CA-18FE7337C76B}"/>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ED3C25E-3CB2-4C26-972A-48AB1E0C86A7}"/>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1" name="">
            <a:extLst xmlns:a="http://schemas.openxmlformats.org/drawingml/2006/main">
              <a:ext uri="{FF2B5EF4-FFF2-40B4-BE49-F238E27FC236}">
                <a16:creationId xmlns:a16="http://schemas.microsoft.com/office/drawing/2014/main" id="{76390587-4700-454B-9959-A01438476C2A}"/>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2" name="">
            <a:extLst xmlns:a="http://schemas.openxmlformats.org/drawingml/2006/main">
              <a:ext uri="{FF2B5EF4-FFF2-40B4-BE49-F238E27FC236}">
                <a16:creationId xmlns:a16="http://schemas.microsoft.com/office/drawing/2014/main" id="{08FC6163-B777-4E13-B08E-F3D1B3203CB3}"/>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F457442-99E8-4877-BB59-C5F245D3F3CD}"/>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4" name="">
            <a:extLst xmlns:a="http://schemas.openxmlformats.org/drawingml/2006/main">
              <a:ext uri="{FF2B5EF4-FFF2-40B4-BE49-F238E27FC236}">
                <a16:creationId xmlns:a16="http://schemas.microsoft.com/office/drawing/2014/main" id="{BF2DF02A-BCA4-48C2-AE87-37CB9BD7B916}"/>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5" name="">
            <a:extLst xmlns:a="http://schemas.openxmlformats.org/drawingml/2006/main">
              <a:ext uri="{FF2B5EF4-FFF2-40B4-BE49-F238E27FC236}">
                <a16:creationId xmlns:a16="http://schemas.microsoft.com/office/drawing/2014/main" id="{C4981C7F-05B4-4A07-9C02-7DC66490B04C}"/>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DAA5CBC-D6E9-40AA-A8DC-78834726D763}"/>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7" name="">
            <a:extLst xmlns:a="http://schemas.openxmlformats.org/drawingml/2006/main">
              <a:ext uri="{FF2B5EF4-FFF2-40B4-BE49-F238E27FC236}">
                <a16:creationId xmlns:a16="http://schemas.microsoft.com/office/drawing/2014/main" id="{3D2EEC49-5087-4E22-ACD7-9206BF7E58DB}"/>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C32D2158-93A6-47B9-B790-2C38128765B0}"/>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19" name="">
            <a:extLst xmlns:a="http://schemas.openxmlformats.org/drawingml/2006/main">
              <a:ext uri="{FF2B5EF4-FFF2-40B4-BE49-F238E27FC236}">
                <a16:creationId xmlns:a16="http://schemas.microsoft.com/office/drawing/2014/main" id="{B83FD5B4-54D3-48DC-8B8D-9560C951C2CE}"/>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0" name="">
            <a:extLst xmlns:a="http://schemas.openxmlformats.org/drawingml/2006/main">
              <a:ext uri="{FF2B5EF4-FFF2-40B4-BE49-F238E27FC236}">
                <a16:creationId xmlns:a16="http://schemas.microsoft.com/office/drawing/2014/main" id="{5AAA948C-D520-43BD-ABB9-02696A895FE0}"/>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1" name="">
            <a:extLst xmlns:a="http://schemas.openxmlformats.org/drawingml/2006/main">
              <a:ext uri="{FF2B5EF4-FFF2-40B4-BE49-F238E27FC236}">
                <a16:creationId xmlns:a16="http://schemas.microsoft.com/office/drawing/2014/main" id="{33EDA235-2DEA-4CC8-91D7-C536DFF2BAB9}"/>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Four of the other five tested prompts did not show a similar gain.</a:t>
            </a:r>
          </a:p>
        </p:txBody>
      </p:sp>
      <p:sp>
        <p:nvSpPr>
          <p:cNvPr id="22" name="">
            <a:extLst xmlns:a="http://schemas.openxmlformats.org/drawingml/2006/main">
              <a:ext uri="{FF2B5EF4-FFF2-40B4-BE49-F238E27FC236}">
                <a16:creationId xmlns:a16="http://schemas.microsoft.com/office/drawing/2014/main" id="{F51BFC01-6768-4821-A66B-927654923120}"/>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183798097"/>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FD7A940-84DE-4693-9C34-198CD8C59B7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9F714FF0-7CF5-4B57-9BA3-FE0B6772B724}"/>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Affogato helped generate ideas; Affostruction is still untested</a:t>
            </a:r>
          </a:p>
        </p:txBody>
      </p:sp>
      <p:sp>
        <p:nvSpPr>
          <p:cNvPr id="3" name="">
            <a:extLst xmlns:a="http://schemas.openxmlformats.org/drawingml/2006/main">
              <a:ext uri="{FF2B5EF4-FFF2-40B4-BE49-F238E27FC236}">
                <a16:creationId xmlns:a16="http://schemas.microsoft.com/office/drawing/2014/main" id="{3DA7FF00-23FD-4F34-A8BF-4C492AAEB480}"/>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7953F61-F7DA-4771-9FFC-473BA544365B}"/>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10</a:t>
            </a:r>
          </a:p>
        </p:txBody>
      </p:sp>
      <p:sp>
        <p:nvSpPr>
          <p:cNvPr id="5" name="">
            <a:extLst xmlns:a="http://schemas.openxmlformats.org/drawingml/2006/main">
              <a:ext uri="{FF2B5EF4-FFF2-40B4-BE49-F238E27FC236}">
                <a16:creationId xmlns:a16="http://schemas.microsoft.com/office/drawing/2014/main" id="{E25571A1-D16F-4B29-9F7C-836822C5A241}"/>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586D5701-47EA-4837-8BCE-9B7701E5951B}"/>
              </a:ext>
            </a:extLst>
          </p:cNvPr>
          <p:cNvSpPr>
            <a:spLocks xmlns:a="http://schemas.openxmlformats.org/drawingml/2006/main" noGrp="1"/>
          </p:cNvSpPr>
          <p:nvPr/>
        </p:nvSpPr>
        <p:spPr>
          <a:xfrm xmlns:a="http://schemas.openxmlformats.org/drawingml/2006/main">
            <a:off x="857250" y="1847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AFFOGATO + ESPRESSO</a:t>
            </a:r>
          </a:p>
        </p:txBody>
      </p:sp>
      <p:sp>
        <p:nvSpPr>
          <p:cNvPr id="7" name="">
            <a:extLst xmlns:a="http://schemas.openxmlformats.org/drawingml/2006/main">
              <a:ext uri="{FF2B5EF4-FFF2-40B4-BE49-F238E27FC236}">
                <a16:creationId xmlns:a16="http://schemas.microsoft.com/office/drawing/2014/main" id="{5B0D9417-E4EC-4C1E-9503-7A1CB1CFF9DE}"/>
              </a:ext>
            </a:extLst>
          </p:cNvPr>
          <p:cNvSpPr>
            <a:spLocks xmlns:a="http://schemas.openxmlformats.org/drawingml/2006/main" noGrp="1"/>
          </p:cNvSpPr>
          <p:nvPr/>
        </p:nvSpPr>
        <p:spPr>
          <a:xfrm xmlns:a="http://schemas.openxmlformats.org/drawingml/2006/main">
            <a:off x="857250" y="22669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What the teammate explored</a:t>
            </a:r>
          </a:p>
        </p:txBody>
      </p:sp>
      <p:sp>
        <p:nvSpPr>
          <p:cNvPr id="8" name="">
            <a:extLst xmlns:a="http://schemas.openxmlformats.org/drawingml/2006/main">
              <a:ext uri="{FF2B5EF4-FFF2-40B4-BE49-F238E27FC236}">
                <a16:creationId xmlns:a16="http://schemas.microsoft.com/office/drawing/2014/main" id="{0BFC49BC-F3B4-4A77-9D9D-8CD80DC306B1}"/>
              </a:ext>
            </a:extLst>
          </p:cNvPr>
          <p:cNvSpPr>
            <a:spLocks xmlns:a="http://schemas.openxmlformats.org/drawingml/2006/main" noGrp="1"/>
          </p:cNvSpPr>
          <p:nvPr/>
        </p:nvSpPr>
        <p:spPr>
          <a:xfrm xmlns:a="http://schemas.openxmlformats.org/drawingml/2006/main">
            <a:off x="857250" y="2905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294913F-88EB-4FAF-91E9-DFBFBC260051}"/>
              </a:ext>
            </a:extLst>
          </p:cNvPr>
          <p:cNvSpPr>
            <a:spLocks xmlns:a="http://schemas.openxmlformats.org/drawingml/2006/main" noGrp="1"/>
          </p:cNvSpPr>
          <p:nvPr/>
        </p:nvSpPr>
        <p:spPr>
          <a:xfrm xmlns:a="http://schemas.openxmlformats.org/drawingml/2006/main">
            <a:off x="1085850" y="28194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Unofficial Espresso-3D reimplementation</a:t>
            </a:r>
          </a:p>
        </p:txBody>
      </p:sp>
      <p:sp>
        <p:nvSpPr>
          <p:cNvPr id="10" name="">
            <a:extLst xmlns:a="http://schemas.openxmlformats.org/drawingml/2006/main">
              <a:ext uri="{FF2B5EF4-FFF2-40B4-BE49-F238E27FC236}">
                <a16:creationId xmlns:a16="http://schemas.microsoft.com/office/drawing/2014/main" id="{B512BC0A-9EBE-4D07-827E-789F4A69C047}"/>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8775C7F-D756-4F37-930F-9B1694F2C225}"/>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Affogato-pretrained weights</a:t>
            </a:r>
          </a:p>
        </p:txBody>
      </p:sp>
      <p:sp>
        <p:nvSpPr>
          <p:cNvPr id="12" name="">
            <a:extLst xmlns:a="http://schemas.openxmlformats.org/drawingml/2006/main">
              <a:ext uri="{FF2B5EF4-FFF2-40B4-BE49-F238E27FC236}">
                <a16:creationId xmlns:a16="http://schemas.microsoft.com/office/drawing/2014/main" id="{91EBB154-AA4B-40FC-8AC1-07954BC61352}"/>
              </a:ext>
            </a:extLst>
          </p:cNvPr>
          <p:cNvSpPr>
            <a:spLocks xmlns:a="http://schemas.openxmlformats.org/drawingml/2006/main" noGrp="1"/>
          </p:cNvSpPr>
          <p:nvPr/>
        </p:nvSpPr>
        <p:spPr>
          <a:xfrm xmlns:a="http://schemas.openxmlformats.org/drawingml/2006/main">
            <a:off x="857250" y="4086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41C2E07-59A5-4320-8968-62503F86B62A}"/>
              </a:ext>
            </a:extLst>
          </p:cNvPr>
          <p:cNvSpPr>
            <a:spLocks xmlns:a="http://schemas.openxmlformats.org/drawingml/2006/main" noGrp="1"/>
          </p:cNvSpPr>
          <p:nvPr/>
        </p:nvSpPr>
        <p:spPr>
          <a:xfrm xmlns:a="http://schemas.openxmlformats.org/drawingml/2006/main">
            <a:off x="1085850" y="40005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Generated candidate query prompts and previews</a:t>
            </a:r>
          </a:p>
        </p:txBody>
      </p:sp>
      <p:sp>
        <p:nvSpPr>
          <p:cNvPr id="14" name="">
            <a:extLst xmlns:a="http://schemas.openxmlformats.org/drawingml/2006/main">
              <a:ext uri="{FF2B5EF4-FFF2-40B4-BE49-F238E27FC236}">
                <a16:creationId xmlns:a16="http://schemas.microsoft.com/office/drawing/2014/main" id="{1614E54C-784C-4F51-ABC1-FF9CFA89BF46}"/>
              </a:ext>
            </a:extLst>
          </p:cNvPr>
          <p:cNvSpPr>
            <a:spLocks xmlns:a="http://schemas.openxmlformats.org/drawingml/2006/main" noGrp="1"/>
          </p:cNvSpPr>
          <p:nvPr/>
        </p:nvSpPr>
        <p:spPr>
          <a:xfrm xmlns:a="http://schemas.openxmlformats.org/drawingml/2006/main">
            <a:off x="857250" y="4619625"/>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Useful pilot evidence, but not an official Affogato benchmark.</a:t>
            </a:r>
          </a:p>
        </p:txBody>
      </p:sp>
      <p:sp>
        <p:nvSpPr>
          <p:cNvPr id="15" name="">
            <a:extLst xmlns:a="http://schemas.openxmlformats.org/drawingml/2006/main">
              <a:ext uri="{FF2B5EF4-FFF2-40B4-BE49-F238E27FC236}">
                <a16:creationId xmlns:a16="http://schemas.microsoft.com/office/drawing/2014/main" id="{44CAB217-3A1B-4F00-96D2-03620C5033FE}"/>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16" name="">
            <a:extLst xmlns:a="http://schemas.openxmlformats.org/drawingml/2006/main">
              <a:ext uri="{FF2B5EF4-FFF2-40B4-BE49-F238E27FC236}">
                <a16:creationId xmlns:a16="http://schemas.microsoft.com/office/drawing/2014/main" id="{FE093C63-DB5B-4254-8E51-1DE21EAFD2B7}"/>
              </a:ext>
            </a:extLst>
          </p:cNvPr>
          <p:cNvSpPr>
            <a:spLocks xmlns:a="http://schemas.openxmlformats.org/drawingml/2006/main" noGrp="1"/>
          </p:cNvSpPr>
          <p:nvPr/>
        </p:nvSpPr>
        <p:spPr>
          <a:xfrm xmlns:a="http://schemas.openxmlformats.org/drawingml/2006/main">
            <a:off x="6305550" y="1847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AFFOSTRUCTION</a:t>
            </a:r>
          </a:p>
        </p:txBody>
      </p:sp>
      <p:sp>
        <p:nvSpPr>
          <p:cNvPr id="17" name="">
            <a:extLst xmlns:a="http://schemas.openxmlformats.org/drawingml/2006/main">
              <a:ext uri="{FF2B5EF4-FFF2-40B4-BE49-F238E27FC236}">
                <a16:creationId xmlns:a16="http://schemas.microsoft.com/office/drawing/2014/main" id="{C4EAD3B2-D441-43B5-AA70-30210A6D30FB}"/>
              </a:ext>
            </a:extLst>
          </p:cNvPr>
          <p:cNvSpPr>
            <a:spLocks xmlns:a="http://schemas.openxmlformats.org/drawingml/2006/main" noGrp="1"/>
          </p:cNvSpPr>
          <p:nvPr/>
        </p:nvSpPr>
        <p:spPr>
          <a:xfrm xmlns:a="http://schemas.openxmlformats.org/drawingml/2006/main">
            <a:off x="6305550" y="226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Not run in my experiments</a:t>
            </a:r>
          </a:p>
        </p:txBody>
      </p:sp>
      <p:sp>
        <p:nvSpPr>
          <p:cNvPr id="18" name="">
            <a:extLst xmlns:a="http://schemas.openxmlformats.org/drawingml/2006/main">
              <a:ext uri="{FF2B5EF4-FFF2-40B4-BE49-F238E27FC236}">
                <a16:creationId xmlns:a16="http://schemas.microsoft.com/office/drawing/2014/main" id="{6185670B-2B9F-408F-8EF4-484D300CA13E}"/>
              </a:ext>
            </a:extLst>
          </p:cNvPr>
          <p:cNvSpPr>
            <a:spLocks xmlns:a="http://schemas.openxmlformats.org/drawingml/2006/main" noGrp="1"/>
          </p:cNvSpPr>
          <p:nvPr/>
        </p:nvSpPr>
        <p:spPr>
          <a:xfrm xmlns:a="http://schemas.openxmlformats.org/drawingml/2006/main">
            <a:off x="6305550" y="278130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B3A"/>
                </a:solidFill>
                <a:latin typeface="Avenir"/>
                <a:ea typeface="Avenir"/>
                <a:cs typeface="Avenir"/>
              </a:defRPr>
            </a:defPPr>
          </a:lstStyle>
          <a:p xmlns:a="http://schemas.openxmlformats.org/drawingml/2006/main">
            <a:pPr algn="l">
              <a:defRPr sz="1500" b="0">
                <a:solidFill>
                  <a:srgbClr val="172B3A"/>
                </a:solidFill>
                <a:latin typeface="Avenir"/>
                <a:ea typeface="Avenir"/>
                <a:cs typeface="Avenir"/>
              </a:defRPr>
            </a:pPr>
            <a:r>
              <a:rPr sz="1500" b="0">
                <a:solidFill>
                  <a:srgbClr val="172B3A"/>
                </a:solidFill>
                <a:latin typeface="Avenir"/>
                <a:ea typeface="Avenir"/>
                <a:cs typeface="Avenir"/>
              </a:rPr>
              <a:t>I cite it as related work only. Its reported results are from the paper, not from my Mac.</a:t>
            </a:r>
          </a:p>
        </p:txBody>
      </p:sp>
      <p:sp>
        <p:nvSpPr>
          <p:cNvPr id="19" name="">
            <a:extLst xmlns:a="http://schemas.openxmlformats.org/drawingml/2006/main">
              <a:ext uri="{FF2B5EF4-FFF2-40B4-BE49-F238E27FC236}">
                <a16:creationId xmlns:a16="http://schemas.microsoft.com/office/drawing/2014/main" id="{6A219BF4-373C-461C-83ED-AEDD630E1FB4}"/>
              </a:ext>
            </a:extLst>
          </p:cNvPr>
          <p:cNvSpPr>
            <a:spLocks xmlns:a="http://schemas.openxmlformats.org/drawingml/2006/main" noGrp="1"/>
          </p:cNvSpPr>
          <p:nvPr/>
        </p:nvSpPr>
        <p:spPr>
          <a:xfrm xmlns:a="http://schemas.openxmlformats.org/drawingml/2006/main">
            <a:off x="6305550" y="4067175"/>
            <a:ext cx="3429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5C6276FA-2738-4669-A9E3-6CC51F47E75E}"/>
              </a:ext>
            </a:extLst>
          </p:cNvPr>
          <p:cNvSpPr>
            <a:spLocks xmlns:a="http://schemas.openxmlformats.org/drawingml/2006/main" noGrp="1"/>
          </p:cNvSpPr>
          <p:nvPr/>
        </p:nvSpPr>
        <p:spPr>
          <a:xfrm xmlns:a="http://schemas.openxmlformats.org/drawingml/2006/main">
            <a:off x="6372225" y="4067175"/>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DO NOT MIX THESE WITH OPENAD SCORES</a:t>
            </a:r>
          </a:p>
        </p:txBody>
      </p:sp>
      <p:sp>
        <p:nvSpPr>
          <p:cNvPr id="21" name="">
            <a:extLst xmlns:a="http://schemas.openxmlformats.org/drawingml/2006/main">
              <a:ext uri="{FF2B5EF4-FFF2-40B4-BE49-F238E27FC236}">
                <a16:creationId xmlns:a16="http://schemas.microsoft.com/office/drawing/2014/main" id="{B77858D1-554E-4E28-AF68-B18CD3A8A5FD}"/>
              </a:ext>
            </a:extLst>
          </p:cNvPr>
          <p:cNvSpPr>
            <a:spLocks xmlns:a="http://schemas.openxmlformats.org/drawingml/2006/main" noGrp="1"/>
          </p:cNvSpPr>
          <p:nvPr/>
        </p:nvSpPr>
        <p:spPr>
          <a:xfrm xmlns:a="http://schemas.openxmlformats.org/drawingml/2006/main">
            <a:off x="60960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My measured results in this proposal are OpenAD results.</a:t>
            </a:r>
          </a:p>
        </p:txBody>
      </p:sp>
    </p:spTree>
    <p:extLst>
      <p:ext uri="{BB962C8B-B14F-4D97-AF65-F5344CB8AC3E}">
        <p14:creationId xmlns:p14="http://schemas.microsoft.com/office/powerpoint/2010/main" val="1002833366"/>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43945E4-8EEC-4E09-9451-2054FA208142}"/>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10B3B26C-E0C4-45FB-9B4F-DA54A455F2D9}"/>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My next question is whether one fixed paraphrase helps</a:t>
            </a:r>
          </a:p>
        </p:txBody>
      </p:sp>
      <p:sp>
        <p:nvSpPr>
          <p:cNvPr id="3" name="">
            <a:extLst xmlns:a="http://schemas.openxmlformats.org/drawingml/2006/main">
              <a:ext uri="{FF2B5EF4-FFF2-40B4-BE49-F238E27FC236}">
                <a16:creationId xmlns:a16="http://schemas.microsoft.com/office/drawing/2014/main" id="{94A14CCD-07E8-478C-942C-B51AB3C0D2B9}"/>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77B9ACD-A416-4B58-8B8B-7EE9C48C3268}"/>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10</a:t>
            </a:r>
          </a:p>
        </p:txBody>
      </p:sp>
      <p:sp>
        <p:nvSpPr>
          <p:cNvPr id="5" name="">
            <a:extLst xmlns:a="http://schemas.openxmlformats.org/drawingml/2006/main">
              <a:ext uri="{FF2B5EF4-FFF2-40B4-BE49-F238E27FC236}">
                <a16:creationId xmlns:a16="http://schemas.microsoft.com/office/drawing/2014/main" id="{CA76DFFB-028B-45C7-9351-59030C35CC21}"/>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3F00F72E-E36C-4BCC-9C35-37539E1D824A}"/>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7" name="">
            <a:extLst xmlns:a="http://schemas.openxmlformats.org/drawingml/2006/main">
              <a:ext uri="{FF2B5EF4-FFF2-40B4-BE49-F238E27FC236}">
                <a16:creationId xmlns:a16="http://schemas.microsoft.com/office/drawing/2014/main" id="{A1A8A5CC-FC43-4B38-B727-69BE96EDF301}"/>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025" b="1">
                <a:solidFill>
                  <a:srgbClr val="FFFFFF"/>
                </a:solidFill>
                <a:latin typeface="Avenir"/>
                <a:ea typeface="Avenir"/>
                <a:cs typeface="Avenir"/>
              </a:defRPr>
            </a:defPPr>
          </a:lstStyle>
          <a:p xmlns:a="http://schemas.openxmlformats.org/drawingml/2006/main">
            <a:pPr algn="l">
              <a:defRPr sz="2025" b="1">
                <a:solidFill>
                  <a:srgbClr val="FFFFFF"/>
                </a:solidFill>
                <a:latin typeface="Avenir"/>
                <a:ea typeface="Avenir"/>
                <a:cs typeface="Avenir"/>
              </a:defRPr>
            </a:pPr>
            <a:r>
              <a:rPr sz="2025" b="1">
                <a:solidFill>
                  <a:srgbClr val="FFFFFF"/>
                </a:solidFill>
                <a:latin typeface="Avenir"/>
                <a:ea typeface="Avenir"/>
                <a:cs typeface="Avenir"/>
              </a:rPr>
              <a:t>On partial point clouds, does one prewritten paraphrase per action improve OpenAD localization over the original query—and does it cause more false alarms?</a:t>
            </a:r>
          </a:p>
        </p:txBody>
      </p:sp>
      <p:sp>
        <p:nvSpPr>
          <p:cNvPr id="8" name="">
            <a:extLst xmlns:a="http://schemas.openxmlformats.org/drawingml/2006/main">
              <a:ext uri="{FF2B5EF4-FFF2-40B4-BE49-F238E27FC236}">
                <a16:creationId xmlns:a16="http://schemas.microsoft.com/office/drawing/2014/main" id="{5AD5D462-83C7-4326-A433-CE7B762A9B06}"/>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9" name="">
            <a:extLst xmlns:a="http://schemas.openxmlformats.org/drawingml/2006/main">
              <a:ext uri="{FF2B5EF4-FFF2-40B4-BE49-F238E27FC236}">
                <a16:creationId xmlns:a16="http://schemas.microsoft.com/office/drawing/2014/main" id="{3AAE4E69-836E-471B-9E7C-295E78C5C392}"/>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92583AA4-2F5F-4C74-B1F8-F44E05E8D829}"/>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1" name="">
            <a:extLst xmlns:a="http://schemas.openxmlformats.org/drawingml/2006/main">
              <a:ext uri="{FF2B5EF4-FFF2-40B4-BE49-F238E27FC236}">
                <a16:creationId xmlns:a16="http://schemas.microsoft.com/office/drawing/2014/main" id="{3634AA57-5874-462B-B586-90B6E87CD322}"/>
              </a:ext>
            </a:extLst>
          </p:cNvPr>
          <p:cNvSpPr>
            <a:spLocks xmlns:a="http://schemas.openxmlformats.org/drawingml/2006/main" noGrp="1"/>
          </p:cNvSpPr>
          <p:nvPr/>
        </p:nvSpPr>
        <p:spPr>
          <a:xfrm xmlns:a="http://schemas.openxmlformats.org/drawingml/2006/main">
            <a:off x="876300" y="45148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The paraphrase will raise average IoU across 18 actions; some actions may improve more than others.</a:t>
            </a:r>
          </a:p>
        </p:txBody>
      </p:sp>
      <p:sp>
        <p:nvSpPr>
          <p:cNvPr id="12" name="">
            <a:extLst xmlns:a="http://schemas.openxmlformats.org/drawingml/2006/main">
              <a:ext uri="{FF2B5EF4-FFF2-40B4-BE49-F238E27FC236}">
                <a16:creationId xmlns:a16="http://schemas.microsoft.com/office/drawing/2014/main" id="{D3BAE32B-39A5-4DBC-88BD-9D107D7C926A}"/>
              </a:ext>
            </a:extLst>
          </p:cNvPr>
          <p:cNvSpPr>
            <a:spLocks xmlns:a="http://schemas.openxmlformats.org/drawingml/2006/main" noGrp="1"/>
          </p:cNvSpPr>
          <p:nvPr/>
        </p:nvSpPr>
        <p:spPr>
          <a:xfrm xmlns:a="http://schemas.openxmlformats.org/drawingml/2006/main">
            <a:off x="876300" y="4953000"/>
            <a:ext cx="1014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26777"/>
                </a:solidFill>
                <a:latin typeface="Avenir"/>
                <a:ea typeface="Avenir"/>
                <a:cs typeface="Avenir"/>
              </a:defRPr>
            </a:defPPr>
          </a:lstStyle>
          <a:p xmlns:a="http://schemas.openxmlformats.org/drawingml/2006/main">
            <a:pPr algn="l">
              <a:defRPr sz="1350" b="0">
                <a:solidFill>
                  <a:srgbClr val="526777"/>
                </a:solidFill>
                <a:latin typeface="Avenir"/>
                <a:ea typeface="Avenir"/>
                <a:cs typeface="Avenir"/>
              </a:defRPr>
            </a:pPr>
            <a:r>
              <a:rPr sz="1350" b="0">
                <a:solidFill>
                  <a:srgbClr val="526777"/>
                </a:solidFill>
                <a:latin typeface="Avenir"/>
                <a:ea typeface="Avenir"/>
                <a:cs typeface="Avenir"/>
              </a:rPr>
              <a:t>It is not supported if the paired object-level gain is zero or negative.</a:t>
            </a:r>
          </a:p>
        </p:txBody>
      </p:sp>
    </p:spTree>
    <p:extLst>
      <p:ext uri="{BB962C8B-B14F-4D97-AF65-F5344CB8AC3E}">
        <p14:creationId xmlns:p14="http://schemas.microsoft.com/office/powerpoint/2010/main" val="1296381176"/>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2190BDF-81CC-4148-BBC6-F1BA51B763D5}"/>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DAEBC1A0-F885-4530-9EDD-17E47A96EE52}"/>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I will change the words and hold the rest constant</a:t>
            </a:r>
          </a:p>
        </p:txBody>
      </p:sp>
      <p:sp>
        <p:nvSpPr>
          <p:cNvPr id="3" name="">
            <a:extLst xmlns:a="http://schemas.openxmlformats.org/drawingml/2006/main">
              <a:ext uri="{FF2B5EF4-FFF2-40B4-BE49-F238E27FC236}">
                <a16:creationId xmlns:a16="http://schemas.microsoft.com/office/drawing/2014/main" id="{2C27A65F-FB23-4FC1-89CC-6C8B4B3A25CA}"/>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1F9BB96-A271-4A71-B11A-E9D4F7AC38B6}"/>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10</a:t>
            </a:r>
          </a:p>
        </p:txBody>
      </p:sp>
      <p:sp>
        <p:nvSpPr>
          <p:cNvPr id="5" name="">
            <a:extLst xmlns:a="http://schemas.openxmlformats.org/drawingml/2006/main">
              <a:ext uri="{FF2B5EF4-FFF2-40B4-BE49-F238E27FC236}">
                <a16:creationId xmlns:a16="http://schemas.microsoft.com/office/drawing/2014/main" id="{64F0C56F-19B5-4AF3-AB4A-7629AE459B4F}"/>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C0312933-A870-442A-88AB-C3AAC6B42CFD}"/>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7" name="">
            <a:extLst xmlns:a="http://schemas.openxmlformats.org/drawingml/2006/main">
              <a:ext uri="{FF2B5EF4-FFF2-40B4-BE49-F238E27FC236}">
                <a16:creationId xmlns:a16="http://schemas.microsoft.com/office/drawing/2014/main" id="{EDE78726-6A79-4334-9DD6-DBA6361BE72C}"/>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85EED5D-FC8B-4162-9E1B-20B093D7E2A3}"/>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Released OpenAD model stays frozen</a:t>
            </a:r>
          </a:p>
        </p:txBody>
      </p:sp>
      <p:sp>
        <p:nvSpPr>
          <p:cNvPr id="9" name="">
            <a:extLst xmlns:a="http://schemas.openxmlformats.org/drawingml/2006/main">
              <a:ext uri="{FF2B5EF4-FFF2-40B4-BE49-F238E27FC236}">
                <a16:creationId xmlns:a16="http://schemas.microsoft.com/office/drawing/2014/main" id="{79909923-6633-4AD4-B0F8-237972935320}"/>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CFD2053-D3FC-47EC-9542-67E5A9490902}"/>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Same objects, views, points, and labels</a:t>
            </a:r>
          </a:p>
        </p:txBody>
      </p:sp>
      <p:sp>
        <p:nvSpPr>
          <p:cNvPr id="11" name="">
            <a:extLst xmlns:a="http://schemas.openxmlformats.org/drawingml/2006/main">
              <a:ext uri="{FF2B5EF4-FFF2-40B4-BE49-F238E27FC236}">
                <a16:creationId xmlns:a16="http://schemas.microsoft.com/office/drawing/2014/main" id="{8DF8AEE1-101A-4AC0-A0EF-E89819E6A6A0}"/>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672498C-FD9F-46F7-8E0D-9C87517EC13D}"/>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original query vs one fixed paraphrase</a:t>
            </a:r>
          </a:p>
        </p:txBody>
      </p:sp>
      <p:sp>
        <p:nvSpPr>
          <p:cNvPr id="13" name="">
            <a:extLst xmlns:a="http://schemas.openxmlformats.org/drawingml/2006/main">
              <a:ext uri="{FF2B5EF4-FFF2-40B4-BE49-F238E27FC236}">
                <a16:creationId xmlns:a16="http://schemas.microsoft.com/office/drawing/2014/main" id="{BF4D0BC6-67A2-4892-AAF4-DC0D7A0CE531}"/>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DBF2561-F5BD-449C-96C5-EAA4A4CBFF8D}"/>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Partial views are primary; full shapes are a control</a:t>
            </a:r>
          </a:p>
        </p:txBody>
      </p:sp>
      <p:sp>
        <p:nvSpPr>
          <p:cNvPr id="15" name="">
            <a:extLst xmlns:a="http://schemas.openxmlformats.org/drawingml/2006/main">
              <a:ext uri="{FF2B5EF4-FFF2-40B4-BE49-F238E27FC236}">
                <a16:creationId xmlns:a16="http://schemas.microsoft.com/office/drawing/2014/main" id="{E008EF1B-9842-440C-A3E3-FB50F73E67C4}"/>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D7C96B4-BE18-4C90-B77E-05216E72A8CA}"/>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Keep “none” and the prediction rule unchanged</a:t>
            </a:r>
          </a:p>
        </p:txBody>
      </p:sp>
      <p:sp>
        <p:nvSpPr>
          <p:cNvPr id="17" name="">
            <a:extLst xmlns:a="http://schemas.openxmlformats.org/drawingml/2006/main">
              <a:ext uri="{FF2B5EF4-FFF2-40B4-BE49-F238E27FC236}">
                <a16:creationId xmlns:a16="http://schemas.microsoft.com/office/drawing/2014/main" id="{07D96C83-0692-46F4-92AC-30F8DC7E278A}"/>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BA6AE333-E86C-4ED6-A49D-CF05A50A55D0}"/>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I WILL REPORT</a:t>
            </a:r>
          </a:p>
        </p:txBody>
      </p:sp>
      <p:sp>
        <p:nvSpPr>
          <p:cNvPr id="19" name="">
            <a:extLst xmlns:a="http://schemas.openxmlformats.org/drawingml/2006/main">
              <a:ext uri="{FF2B5EF4-FFF2-40B4-BE49-F238E27FC236}">
                <a16:creationId xmlns:a16="http://schemas.microsoft.com/office/drawing/2014/main" id="{EEF1B6A2-E9EB-404E-A95C-0F17A9DCAA1C}"/>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5AA8360-4903-454C-A056-954239A97288}"/>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(exclude none)</a:t>
            </a:r>
          </a:p>
        </p:txBody>
      </p:sp>
      <p:sp>
        <p:nvSpPr>
          <p:cNvPr id="21" name="">
            <a:extLst xmlns:a="http://schemas.openxmlformats.org/drawingml/2006/main">
              <a:ext uri="{FF2B5EF4-FFF2-40B4-BE49-F238E27FC236}">
                <a16:creationId xmlns:a16="http://schemas.microsoft.com/office/drawing/2014/main" id="{278CC57B-4AAA-4919-91C6-71D5B97F8319}"/>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65F49E0-6B44-4F3C-93EF-EA7D6EA7FEF8}"/>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Also report 19-class mean IoU (include none)</a:t>
            </a:r>
          </a:p>
        </p:txBody>
      </p:sp>
      <p:sp>
        <p:nvSpPr>
          <p:cNvPr id="23" name="">
            <a:extLst xmlns:a="http://schemas.openxmlformats.org/drawingml/2006/main">
              <a:ext uri="{FF2B5EF4-FFF2-40B4-BE49-F238E27FC236}">
                <a16:creationId xmlns:a16="http://schemas.microsoft.com/office/drawing/2014/main" id="{9B14F081-2BAF-42D1-B1A7-D0302EB40587}"/>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0C2D361-9507-4312-BFC0-1CE38C590CE2}"/>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Per-action IoU and AUC</a:t>
            </a:r>
          </a:p>
        </p:txBody>
      </p:sp>
      <p:sp>
        <p:nvSpPr>
          <p:cNvPr id="25" name="">
            <a:extLst xmlns:a="http://schemas.openxmlformats.org/drawingml/2006/main">
              <a:ext uri="{FF2B5EF4-FFF2-40B4-BE49-F238E27FC236}">
                <a16:creationId xmlns:a16="http://schemas.microsoft.com/office/drawing/2014/main" id="{30567EC7-AB6F-450E-B623-DC0B71F415FF}"/>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9C8C908-AB9E-4292-A72F-CED23D055B18}"/>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False-positive rate on objects without the action</a:t>
            </a:r>
          </a:p>
        </p:txBody>
      </p:sp>
      <p:sp>
        <p:nvSpPr>
          <p:cNvPr id="27" name="">
            <a:extLst xmlns:a="http://schemas.openxmlformats.org/drawingml/2006/main">
              <a:ext uri="{FF2B5EF4-FFF2-40B4-BE49-F238E27FC236}">
                <a16:creationId xmlns:a16="http://schemas.microsoft.com/office/drawing/2014/main" id="{4C6E50DA-1B93-4406-A6BC-DB423CE0B0E1}"/>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B26B748-2080-44DB-8A8B-33A8048F8585}"/>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Paired confidence interval, resampling objects</a:t>
            </a:r>
          </a:p>
        </p:txBody>
      </p:sp>
    </p:spTree>
    <p:extLst>
      <p:ext uri="{BB962C8B-B14F-4D97-AF65-F5344CB8AC3E}">
        <p14:creationId xmlns:p14="http://schemas.microsoft.com/office/powerpoint/2010/main" val="806383244"/>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0B0C2D9-BCB1-4E97-B182-E79C7271A33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53B5FD08-7DBC-424D-B3FE-97BD3BDF8F11}"/>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steps: lock the test, run the comparison, report honestly</a:t>
            </a:r>
          </a:p>
        </p:txBody>
      </p:sp>
      <p:sp>
        <p:nvSpPr>
          <p:cNvPr id="3" name="">
            <a:extLst xmlns:a="http://schemas.openxmlformats.org/drawingml/2006/main">
              <a:ext uri="{FF2B5EF4-FFF2-40B4-BE49-F238E27FC236}">
                <a16:creationId xmlns:a16="http://schemas.microsoft.com/office/drawing/2014/main" id="{AF9E939F-1C41-41A7-84D9-970C15CBF17E}"/>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DFE15FB-5933-4F04-8749-C44379244BDF}"/>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10</a:t>
            </a:r>
          </a:p>
        </p:txBody>
      </p:sp>
      <p:sp>
        <p:nvSpPr>
          <p:cNvPr id="5" name="">
            <a:extLst xmlns:a="http://schemas.openxmlformats.org/drawingml/2006/main">
              <a:ext uri="{FF2B5EF4-FFF2-40B4-BE49-F238E27FC236}">
                <a16:creationId xmlns:a16="http://schemas.microsoft.com/office/drawing/2014/main" id="{45BD2D03-C386-4F0C-8249-390304B23555}"/>
              </a:ext>
            </a:extLst>
          </p:cNvPr>
          <p:cNvSpPr>
            <a:spLocks xmlns:a="http://schemas.openxmlformats.org/drawingml/2006/main" noGrp="1"/>
          </p:cNvSpPr>
          <p:nvPr/>
        </p:nvSpPr>
        <p:spPr>
          <a:xfrm xmlns:a="http://schemas.openxmlformats.org/drawingml/2006/main">
            <a:off x="609600" y="16954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42F0ED7C-51CB-43B1-A35F-A8217EDDF0D2}"/>
              </a:ext>
            </a:extLst>
          </p:cNvPr>
          <p:cNvSpPr>
            <a:spLocks xmlns:a="http://schemas.openxmlformats.org/drawingml/2006/main" noGrp="1"/>
          </p:cNvSpPr>
          <p:nvPr/>
        </p:nvSpPr>
        <p:spPr>
          <a:xfrm xmlns:a="http://schemas.openxmlformats.org/drawingml/2006/main">
            <a:off x="676275" y="16954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NOW</a:t>
            </a:r>
          </a:p>
        </p:txBody>
      </p:sp>
      <p:sp>
        <p:nvSpPr>
          <p:cNvPr id="7" name="">
            <a:extLst xmlns:a="http://schemas.openxmlformats.org/drawingml/2006/main">
              <a:ext uri="{FF2B5EF4-FFF2-40B4-BE49-F238E27FC236}">
                <a16:creationId xmlns:a16="http://schemas.microsoft.com/office/drawing/2014/main" id="{F95B1311-D12A-4545-A895-9E8873E08B6D}"/>
              </a:ext>
            </a:extLst>
          </p:cNvPr>
          <p:cNvSpPr>
            <a:spLocks xmlns:a="http://schemas.openxmlformats.org/drawingml/2006/main" noGrp="1"/>
          </p:cNvSpPr>
          <p:nvPr/>
        </p:nvSpPr>
        <p:spPr>
          <a:xfrm xmlns:a="http://schemas.openxmlformats.org/drawingml/2006/main">
            <a:off x="2019300" y="1695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Write and freeze all 18 paraphrases; confirm the split</a:t>
            </a:r>
          </a:p>
        </p:txBody>
      </p:sp>
      <p:sp>
        <p:nvSpPr>
          <p:cNvPr id="8" name="">
            <a:extLst xmlns:a="http://schemas.openxmlformats.org/drawingml/2006/main">
              <a:ext uri="{FF2B5EF4-FFF2-40B4-BE49-F238E27FC236}">
                <a16:creationId xmlns:a16="http://schemas.microsoft.com/office/drawing/2014/main" id="{F9E367C5-B98A-401D-9044-7F5E2498CDD0}"/>
              </a:ext>
            </a:extLst>
          </p:cNvPr>
          <p:cNvSpPr>
            <a:spLocks xmlns:a="http://schemas.openxmlformats.org/drawingml/2006/main" noGrp="1"/>
          </p:cNvSpPr>
          <p:nvPr/>
        </p:nvSpPr>
        <p:spPr>
          <a:xfrm xmlns:a="http://schemas.openxmlformats.org/drawingml/2006/main">
            <a:off x="609600" y="23431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9" name="">
            <a:extLst xmlns:a="http://schemas.openxmlformats.org/drawingml/2006/main">
              <a:ext uri="{FF2B5EF4-FFF2-40B4-BE49-F238E27FC236}">
                <a16:creationId xmlns:a16="http://schemas.microsoft.com/office/drawing/2014/main" id="{7A914C51-67C3-4715-ADC5-3F38C9D81551}"/>
              </a:ext>
            </a:extLst>
          </p:cNvPr>
          <p:cNvSpPr>
            <a:spLocks xmlns:a="http://schemas.openxmlformats.org/drawingml/2006/main" noGrp="1"/>
          </p:cNvSpPr>
          <p:nvPr/>
        </p:nvSpPr>
        <p:spPr>
          <a:xfrm xmlns:a="http://schemas.openxmlformats.org/drawingml/2006/main">
            <a:off x="676275" y="23431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NEXT</a:t>
            </a:r>
          </a:p>
        </p:txBody>
      </p:sp>
      <p:sp>
        <p:nvSpPr>
          <p:cNvPr id="10" name="">
            <a:extLst xmlns:a="http://schemas.openxmlformats.org/drawingml/2006/main">
              <a:ext uri="{FF2B5EF4-FFF2-40B4-BE49-F238E27FC236}">
                <a16:creationId xmlns:a16="http://schemas.microsoft.com/office/drawing/2014/main" id="{4181965E-E59F-42D5-B014-810C4CBEB42D}"/>
              </a:ext>
            </a:extLst>
          </p:cNvPr>
          <p:cNvSpPr>
            <a:spLocks xmlns:a="http://schemas.openxmlformats.org/drawingml/2006/main" noGrp="1"/>
          </p:cNvSpPr>
          <p:nvPr/>
        </p:nvSpPr>
        <p:spPr>
          <a:xfrm xmlns:a="http://schemas.openxmlformats.org/drawingml/2006/main">
            <a:off x="2019300" y="23431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Run original and paraphrased queries on identical inputs</a:t>
            </a:r>
          </a:p>
        </p:txBody>
      </p:sp>
      <p:sp>
        <p:nvSpPr>
          <p:cNvPr id="11" name="">
            <a:extLst xmlns:a="http://schemas.openxmlformats.org/drawingml/2006/main">
              <a:ext uri="{FF2B5EF4-FFF2-40B4-BE49-F238E27FC236}">
                <a16:creationId xmlns:a16="http://schemas.microsoft.com/office/drawing/2014/main" id="{06377838-3DE1-42B4-8A7F-A0D79C142014}"/>
              </a:ext>
            </a:extLst>
          </p:cNvPr>
          <p:cNvSpPr>
            <a:spLocks xmlns:a="http://schemas.openxmlformats.org/drawingml/2006/main" noGrp="1"/>
          </p:cNvSpPr>
          <p:nvPr/>
        </p:nvSpPr>
        <p:spPr>
          <a:xfrm xmlns:a="http://schemas.openxmlformats.org/drawingml/2006/main">
            <a:off x="609600" y="29908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2" name="">
            <a:extLst xmlns:a="http://schemas.openxmlformats.org/drawingml/2006/main">
              <a:ext uri="{FF2B5EF4-FFF2-40B4-BE49-F238E27FC236}">
                <a16:creationId xmlns:a16="http://schemas.microsoft.com/office/drawing/2014/main" id="{E3F06689-A3AB-4754-B0E0-FD51A5481B9F}"/>
              </a:ext>
            </a:extLst>
          </p:cNvPr>
          <p:cNvSpPr>
            <a:spLocks xmlns:a="http://schemas.openxmlformats.org/drawingml/2006/main" noGrp="1"/>
          </p:cNvSpPr>
          <p:nvPr/>
        </p:nvSpPr>
        <p:spPr>
          <a:xfrm xmlns:a="http://schemas.openxmlformats.org/drawingml/2006/main">
            <a:off x="676275" y="29908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THEN</a:t>
            </a:r>
          </a:p>
        </p:txBody>
      </p:sp>
      <p:sp>
        <p:nvSpPr>
          <p:cNvPr id="13" name="">
            <a:extLst xmlns:a="http://schemas.openxmlformats.org/drawingml/2006/main">
              <a:ext uri="{FF2B5EF4-FFF2-40B4-BE49-F238E27FC236}">
                <a16:creationId xmlns:a16="http://schemas.microsoft.com/office/drawing/2014/main" id="{967CA899-21D0-4ECB-91C2-FCA7F67824EE}"/>
              </a:ext>
            </a:extLst>
          </p:cNvPr>
          <p:cNvSpPr>
            <a:spLocks xmlns:a="http://schemas.openxmlformats.org/drawingml/2006/main" noGrp="1"/>
          </p:cNvSpPr>
          <p:nvPr/>
        </p:nvSpPr>
        <p:spPr>
          <a:xfrm xmlns:a="http://schemas.openxmlformats.org/drawingml/2006/main">
            <a:off x="2019300" y="29908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IoU and false alarms by action; show failures</a:t>
            </a:r>
          </a:p>
        </p:txBody>
      </p:sp>
      <p:sp>
        <p:nvSpPr>
          <p:cNvPr id="14" name="">
            <a:extLst xmlns:a="http://schemas.openxmlformats.org/drawingml/2006/main">
              <a:ext uri="{FF2B5EF4-FFF2-40B4-BE49-F238E27FC236}">
                <a16:creationId xmlns:a16="http://schemas.microsoft.com/office/drawing/2014/main" id="{A681C734-AE41-4EBE-B941-BB3DA0DD0E85}"/>
              </a:ext>
            </a:extLst>
          </p:cNvPr>
          <p:cNvSpPr>
            <a:spLocks xmlns:a="http://schemas.openxmlformats.org/drawingml/2006/main" noGrp="1"/>
          </p:cNvSpPr>
          <p:nvPr/>
        </p:nvSpPr>
        <p:spPr>
          <a:xfrm xmlns:a="http://schemas.openxmlformats.org/drawingml/2006/main">
            <a:off x="609600" y="3638550"/>
            <a:ext cx="12001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FB863202-F7CB-4E0E-8F15-CFEC90E7A948}"/>
              </a:ext>
            </a:extLst>
          </p:cNvPr>
          <p:cNvSpPr>
            <a:spLocks xmlns:a="http://schemas.openxmlformats.org/drawingml/2006/main" noGrp="1"/>
          </p:cNvSpPr>
          <p:nvPr/>
        </p:nvSpPr>
        <p:spPr>
          <a:xfrm xmlns:a="http://schemas.openxmlformats.org/drawingml/2006/main">
            <a:off x="676275" y="36385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WEEKS 13–15</a:t>
            </a:r>
          </a:p>
        </p:txBody>
      </p:sp>
      <p:sp>
        <p:nvSpPr>
          <p:cNvPr id="16" name="">
            <a:extLst xmlns:a="http://schemas.openxmlformats.org/drawingml/2006/main">
              <a:ext uri="{FF2B5EF4-FFF2-40B4-BE49-F238E27FC236}">
                <a16:creationId xmlns:a16="http://schemas.microsoft.com/office/drawing/2014/main" id="{97840CED-274F-4E19-8BFE-9CC21D496AB7}"/>
              </a:ext>
            </a:extLst>
          </p:cNvPr>
          <p:cNvSpPr>
            <a:spLocks xmlns:a="http://schemas.openxmlformats.org/drawingml/2006/main" noGrp="1"/>
          </p:cNvSpPr>
          <p:nvPr/>
        </p:nvSpPr>
        <p:spPr>
          <a:xfrm xmlns:a="http://schemas.openxmlformats.org/drawingml/2006/main">
            <a:off x="2019300" y="3638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Write results and prepare the final presentation</a:t>
            </a:r>
          </a:p>
        </p:txBody>
      </p:sp>
      <p:sp>
        <p:nvSpPr>
          <p:cNvPr id="17" name="">
            <a:extLst xmlns:a="http://schemas.openxmlformats.org/drawingml/2006/main">
              <a:ext uri="{FF2B5EF4-FFF2-40B4-BE49-F238E27FC236}">
                <a16:creationId xmlns:a16="http://schemas.microsoft.com/office/drawing/2014/main" id="{BFA3077E-6171-4324-94B5-27AAF117C9B9}"/>
              </a:ext>
            </a:extLst>
          </p:cNvPr>
          <p:cNvSpPr>
            <a:spLocks xmlns:a="http://schemas.openxmlformats.org/drawingml/2006/main" noGrp="1"/>
          </p:cNvSpPr>
          <p:nvPr/>
        </p:nvSpPr>
        <p:spPr>
          <a:xfrm xmlns:a="http://schemas.openxmlformats.org/drawingml/2006/main">
            <a:off x="8572500" y="1676400"/>
            <a:ext cx="3009900" cy="3105150"/>
          </a:xfrm>
          <a:prstGeom xmlns:a="http://schemas.openxmlformats.org/drawingml/2006/main" prst="roundRect">
            <a:avLst>
              <a:gd name="adj" fmla="val 2532"/>
            </a:avLst>
          </a:prstGeom>
          <a:solidFill xmlns:a="http://schemas.openxmlformats.org/drawingml/2006/main">
            <a:srgbClr val="102A43"/>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ED272359-BB54-4D87-B8E9-A3B3BEE1FC6A}"/>
              </a:ext>
            </a:extLst>
          </p:cNvPr>
          <p:cNvSpPr>
            <a:spLocks xmlns:a="http://schemas.openxmlformats.org/drawingml/2006/main" noGrp="1"/>
          </p:cNvSpPr>
          <p:nvPr/>
        </p:nvSpPr>
        <p:spPr>
          <a:xfrm xmlns:a="http://schemas.openxmlformats.org/drawingml/2006/main">
            <a:off x="8820150" y="18859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MAIN LIMIT</a:t>
            </a:r>
          </a:p>
        </p:txBody>
      </p:sp>
      <p:sp>
        <p:nvSpPr>
          <p:cNvPr id="19" name="">
            <a:extLst xmlns:a="http://schemas.openxmlformats.org/drawingml/2006/main">
              <a:ext uri="{FF2B5EF4-FFF2-40B4-BE49-F238E27FC236}">
                <a16:creationId xmlns:a16="http://schemas.microsoft.com/office/drawing/2014/main" id="{0DE1F2F2-B921-463B-B0E1-BE8C3BF5EC83}"/>
              </a:ext>
            </a:extLst>
          </p:cNvPr>
          <p:cNvSpPr>
            <a:spLocks xmlns:a="http://schemas.openxmlformats.org/drawingml/2006/main" noGrp="1"/>
          </p:cNvSpPr>
          <p:nvPr/>
        </p:nvSpPr>
        <p:spPr>
          <a:xfrm xmlns:a="http://schemas.openxmlformats.org/drawingml/2006/main">
            <a:off x="8820150" y="2324100"/>
            <a:ext cx="2524125"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a:solidFill>
                  <a:srgbClr val="FFFFFF"/>
                </a:solidFill>
                <a:latin typeface="Avenir"/>
                <a:ea typeface="Avenir"/>
                <a:cs typeface="Avenir"/>
              </a:defRPr>
            </a:defPPr>
          </a:lstStyle>
          <a:p xmlns:a="http://schemas.openxmlformats.org/drawingml/2006/main">
            <a:pPr algn="l">
              <a:defRPr sz="1575" b="1">
                <a:solidFill>
                  <a:srgbClr val="FFFFFF"/>
                </a:solidFill>
                <a:latin typeface="Avenir"/>
                <a:ea typeface="Avenir"/>
                <a:cs typeface="Avenir"/>
              </a:defRPr>
            </a:pPr>
            <a:r>
              <a:rPr sz="1575" b="1">
                <a:solidFill>
                  <a:srgbClr val="FFFFFF"/>
                </a:solidFill>
                <a:latin typeface="Avenir"/>
                <a:ea typeface="Avenir"/>
                <a:cs typeface="Avenir"/>
              </a:rPr>
              <a:t>The current validation data has already been used. A new untouched test set is best; otherwise call the new run exploratory.</a:t>
            </a:r>
          </a:p>
        </p:txBody>
      </p:sp>
      <p:sp>
        <p:nvSpPr>
          <p:cNvPr id="20" name="">
            <a:extLst xmlns:a="http://schemas.openxmlformats.org/drawingml/2006/main">
              <a:ext uri="{FF2B5EF4-FFF2-40B4-BE49-F238E27FC236}">
                <a16:creationId xmlns:a16="http://schemas.microsoft.com/office/drawing/2014/main" id="{EBDE2CEF-05BE-46FE-8561-415E1CD16738}"/>
              </a:ext>
            </a:extLst>
          </p:cNvPr>
          <p:cNvSpPr>
            <a:spLocks xmlns:a="http://schemas.openxmlformats.org/drawingml/2006/main" noGrp="1"/>
          </p:cNvSpPr>
          <p:nvPr/>
        </p:nvSpPr>
        <p:spPr>
          <a:xfrm xmlns:a="http://schemas.openxmlformats.org/drawingml/2006/main">
            <a:off x="609600" y="521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C94747"/>
                </a:solidFill>
                <a:latin typeface="Avenir"/>
                <a:ea typeface="Avenir"/>
                <a:cs typeface="Avenir"/>
              </a:defRPr>
            </a:defPPr>
          </a:lstStyle>
          <a:p xmlns:a="http://schemas.openxmlformats.org/drawingml/2006/main">
            <a:pPr algn="l">
              <a:defRPr sz="1275" b="1">
                <a:solidFill>
                  <a:srgbClr val="C94747"/>
                </a:solidFill>
                <a:latin typeface="Avenir"/>
                <a:ea typeface="Avenir"/>
                <a:cs typeface="Avenir"/>
              </a:defRPr>
            </a:pPr>
            <a:r>
              <a:rPr sz="1275" b="1">
                <a:solidFill>
                  <a:srgbClr val="C94747"/>
                </a:solidFill>
                <a:latin typeface="Avenir"/>
                <a:ea typeface="Avenir"/>
                <a:cs typeface="Avenir"/>
              </a:rPr>
              <a:t>Guideline deadline: PDF to e-Class by 15 Oct 2026, 10:59 AM KST · teamNN_T14_proposal.pdf</a:t>
            </a:r>
          </a:p>
        </p:txBody>
      </p:sp>
    </p:spTree>
    <p:extLst>
      <p:ext uri="{BB962C8B-B14F-4D97-AF65-F5344CB8AC3E}">
        <p14:creationId xmlns:p14="http://schemas.microsoft.com/office/powerpoint/2010/main" val="5184455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2026-10-13T04:10:26.6520000Z</dcterms:created>
  <dcterms:modified xsi:type="dcterms:W3CDTF">2026-10-13T04:10:26.6520000Z</dcterms:modified>
</coreProperties>
</file>